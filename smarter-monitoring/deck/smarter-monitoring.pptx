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60" r:id="rId3"/>
    <p:sldId id="257" r:id="rId5"/>
    <p:sldId id="258" r:id="rId6"/>
    <p:sldId id="259" r:id="rId4"/>
    <p:sldId id="261" r:id="rId7"/>
    <p:sldId id="263" r:id="rId10"/>
    <p:sldId id="284" r:id="rId9"/>
    <p:sldId id="279" r:id="rId11"/>
    <p:sldId id="264" r:id="rId12"/>
    <p:sldId id="285" r:id="rId13"/>
    <p:sldId id="280" r:id="rId17"/>
    <p:sldId id="281" r:id="rId18"/>
    <p:sldId id="282" r:id="rId19"/>
    <p:sldId id="267" r:id="rId20"/>
    <p:sldId id="268" r:id="rId21"/>
    <p:sldId id="269" r:id="rId22"/>
    <p:sldId id="283" r:id="rId24"/>
    <p:sldId id="270" r:id="rId23"/>
    <p:sldId id="271" r:id="rId25"/>
    <p:sldId id="272" r:id="rId26"/>
    <p:sldId id="273" r:id="rId27"/>
    <p:sldId id="275" r:id="rId28"/>
    <p:sldId id="276" r:id="rId29"/>
    <p:sldId id="277" r:id="rId30"/>
    <p:sldId id="278" r:id="rId31"/>
    <p:sldId id="28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27.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9.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710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Do not introduce yourself yet - go straight to the firehose slide and let them try to find the cause. Come back to who you are after they have felt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this entire slide with the sponsor slide CAS emails you. Do not skip it - sponsors are why the ticket price is what it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sixty seconds. They came for the pipeline, not the resume.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cold open. Read two or three lines out loud, then stop talking and let the room look. Ask it straight: which one caused the others? Take a couple of guesses from the audience - people usually pick a critical. Nobody picks the backup job. That is the whole talk in thirty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and move. The room has just failed to find the cause, so this is a release valve, not a bit. If it gets a laugh, ride it straight into the introduction.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makes the rest of the session legible. Most monitoring tools do the first. Some do the second. Almost nothing does the third, and the third is what the on-call engineer actually needs at 3am.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slide. Walk it left to right once, then point at the two things that are not obvious: the dashed loop is the AI pass reading and writing the same table the ingest path writes, and the three question chips - same symptom, same incident, same problem - are the spine of the session. Roughly ninety seconds; do not narrate every box.</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genuinely different shapes arriving on one hub. The point of the third is that it is fake infrastructure - I am not deploying a SQL box to prove a correlation engine works.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before the first demo. The point is that the function that reads the hub is trivially small - all the interesting work is behind three verbs. Read the three lines in the inner loop out loud and move on; the next slides open each one 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and talk over it. The checkouts going red in the terminal are real HTTP calls against the Flask app on this machine. Do not skip the raw view - that is the "can you find it" screen again, now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slide. Three swim lanes, one per trigger. The top lane is the one to spend time on: point at the row inside Add-EventToIncident and say that the incident is decided before the symptom - question two before question one - because they are the two halves of one row address. The other two lanes are a sentence each.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Do not read it aloud; let it sit while you say the one sentence at the bottom. The thing to point at is the same-symptom row: one function, four lines, and the middle row - the plumbing - which is its own module now and knows nothing about correlation.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completely different JSON shapes, and none of them agree on what a field is called. This is the unglamorous half of any pipeline like this and it is worth saying so - people underestimate it every time.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one, in full. Three lines. Say plainly that this is the entire deduplication engine and that it involves no intelligence of any kind - it is a hash of a string with the numbers taken out. Then be honest about the cost: "Port 22 closed" and "Port 443 closed" collapse together too. Worth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two. Read the four lines top to bottom: host if there is one, otherwise the Azure resource, otherwise the service. Trace is last on purpose - every request has its own, so it is the worst thing to group on. Then the last line: the incident id is just a hash of that key. Same host, same id, every time. No lookup.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advocacy slide and probably the most useful thing anyone takes home. Five lines of span attributes did work that would otherwise need a model. Say it plainly: good telemetry is cheaper than inference.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bullet hard. Thirteen incidents is a real improvement and it is still thirteen things to look at. The backup job is sitting there as a warning nobody would open.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earns its place. The link between backup-01 and sql-prod-03 exists only in English - no shared host, no shared resource, no trace. No amount of key matching finds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best-fitting joke in the deck because the picture IS the point. Set up the next demo with it: the interesting question is not what the model connects, it is what it refuses to connect. Then go run the analysis.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Deflate the AI stage deliberately. It is one HTTP call with temperature zero and a JSON contract. The interesting engineering is everywhere except here - and that is the honest shape of most production AI features.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at the red herrings as hard as at the root cause. A correlator that connects everything is as useless as one that connects nothing. The firewall packet loss during carrier maintenance is there to be left alone, and it was.</a:t>
            </a:r>
          </a:p>
          <a:p/>
          <a:p>
            <a:r>
              <a:t>STAGING: the AnalyzeTimer must be OFF during the talk (app setting AzureWebJobs.AnalyzeTimer.Disabled = 1), or the dashboard shows root cause a minute after Demo 1 and this reveal is gone. This demo is the forced call: POST /api/analyze. Turn the timer back on afterwards.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top line out loud - it is the single most portable idea in the session and the thing people will repeat to their team on Monday. Then go to the chain slide and walk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back here if the room loses the thread during any demo. This is the scenario on one slide.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one. Saying where it breaks is what makes the rest credible, and this room can smell a sales pitch.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not seven. If they remember one, make it the middle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the last questions. Invite people up - CAS specifically asks speakers to be findable afterwards.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safety net. If the network dies, walk these screenshots instead of the live demo. Capture them at the end of a good rehearsal run and drop them in behind this slide.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1965960"/>
            <a:ext cx="10972800" cy="365760"/>
          </a:xfrm>
          <a:prstGeom prst="rect">
            <a:avLst/>
          </a:prstGeom>
          <a:noFill/>
          <a:ln/>
        </p:spPr>
        <p:txBody>
          <a:bodyPr wrap="square" lIns="0" tIns="0" rIns="0" bIns="0" rtlCol="0" anchor="ctr"/>
          <a:lstStyle/>
          <a:p>
            <a:pPr marL="0" indent="0">
              <a:buNone/>
            </a:pPr>
            <a:r>
              <a:rPr lang="en-US" sz="1500" b="1" kern="0" spc="400" dirty="0">
                <a:solidFill>
                  <a:srgbClr val="E8A33D"/>
                </a:solidFill>
                <a:latin typeface="Calibri" pitchFamily="34" charset="0"/>
                <a:ea typeface="Calibri" pitchFamily="34" charset="-122"/>
                <a:cs typeface="Calibri" pitchFamily="34" charset="-120"/>
              </a:rPr>
              <a:t>SMARTER MONITORING</a:t>
            </a:r>
            <a:endParaRPr lang="en-US" sz="1500" dirty="0"/>
          </a:p>
        </p:txBody>
      </p:sp>
      <p:sp>
        <p:nvSpPr>
          <p:cNvPr id="4" name="Text 1"/>
          <p:cNvSpPr txBox="1"/>
          <p:nvPr/>
        </p:nvSpPr>
        <p:spPr>
          <a:xfrm>
            <a:off x="594360" y="2377440"/>
            <a:ext cx="10515600" cy="1737360"/>
          </a:xfrm>
          <a:prstGeom prst="rect">
            <a:avLst/>
          </a:prstGeom>
          <a:noFill/>
          <a:ln/>
        </p:spPr>
        <p:txBody>
          <a:bodyPr wrap="square" lIns="0" tIns="0" rIns="0" bIns="0" rtlCol="0" anchor="ctr"/>
          <a:lstStyle/>
          <a:p>
            <a:pPr marL="0" indent="0">
              <a:lnSpc>
                <a:spcPts val="5200"/>
              </a:lnSpc>
              <a:buNone/>
            </a:pPr>
            <a:r>
              <a:rPr lang="en-US" sz="4600" b="1" dirty="0">
                <a:solidFill>
                  <a:srgbClr val="FFFFFF"/>
                </a:solidFill>
                <a:latin typeface="Calibri" pitchFamily="34" charset="0"/>
                <a:ea typeface="Calibri" pitchFamily="34" charset="-122"/>
                <a:cs typeface="Calibri" pitchFamily="34" charset="-120"/>
              </a:rPr>
              <a:t>Building an AI-Enhanced</a:t>
            </a:r>
            <a:endParaRPr lang="en-US" sz="4600" dirty="0"/>
          </a:p>
          <a:p>
            <a:pPr marL="0" indent="0">
              <a:lnSpc>
                <a:spcPts val="5200"/>
              </a:lnSpc>
              <a:buNone/>
            </a:pPr>
            <a:r>
              <a:rPr lang="en-US" sz="4600" b="1" dirty="0">
                <a:solidFill>
                  <a:srgbClr val="FFFFFF"/>
                </a:solidFill>
                <a:latin typeface="Calibri" pitchFamily="34" charset="0"/>
                <a:ea typeface="Calibri" pitchFamily="34" charset="-122"/>
                <a:cs typeface="Calibri" pitchFamily="34" charset="-120"/>
              </a:rPr>
              <a:t>Event Pipeline</a:t>
            </a:r>
            <a:endParaRPr lang="en-US" sz="4600" dirty="0"/>
          </a:p>
        </p:txBody>
      </p:sp>
      <p:sp>
        <p:nvSpPr>
          <p:cNvPr id="5" name="Text 2"/>
          <p:cNvSpPr txBox="1"/>
          <p:nvPr/>
        </p:nvSpPr>
        <p:spPr>
          <a:xfrm>
            <a:off x="594360" y="4160520"/>
            <a:ext cx="9144000" cy="365760"/>
          </a:xfrm>
          <a:prstGeom prst="rect">
            <a:avLst/>
          </a:prstGeom>
          <a:noFill/>
          <a:ln/>
        </p:spPr>
        <p:txBody>
          <a:bodyPr wrap="square" lIns="0" tIns="0" rIns="0" bIns="0" rtlCol="0" anchor="ctr"/>
          <a:lstStyle/>
          <a:p>
            <a:pPr marL="0" indent="0">
              <a:buNone/>
            </a:pPr>
            <a:r>
              <a:rPr lang="en-US" sz="1700" i="1" dirty="0">
                <a:solidFill>
                  <a:srgbClr val="8FA3B8"/>
                </a:solidFill>
                <a:latin typeface="Calibri" pitchFamily="34" charset="0"/>
                <a:ea typeface="Calibri" pitchFamily="34" charset="-122"/>
                <a:cs typeface="Calibri" pitchFamily="34" charset="-120"/>
              </a:rPr>
              <a:t>Correlating events from everywhere into the two that matter.</a:t>
            </a:r>
            <a:endParaRPr lang="en-US" sz="1700" dirty="0"/>
          </a:p>
        </p:txBody>
      </p:sp>
      <p:sp>
        <p:nvSpPr>
          <p:cNvPr id="6" name="Text 3"/>
          <p:cNvSpPr txBox="1"/>
          <p:nvPr/>
        </p:nvSpPr>
        <p:spPr>
          <a:xfrm>
            <a:off x="594360" y="5029200"/>
            <a:ext cx="9144000" cy="320040"/>
          </a:xfrm>
          <a:prstGeom prst="rect">
            <a:avLst/>
          </a:prstGeom>
          <a:noFill/>
          <a:ln/>
        </p:spPr>
        <p:txBody>
          <a:bodyPr wrap="square" lIns="0" tIns="0" rIns="0" bIns="0" rtlCol="0" anchor="ctr"/>
          <a:lstStyle/>
          <a:p>
            <a:pPr marL="0" indent="0">
              <a:buNone/>
            </a:pPr>
            <a:r>
              <a:rPr lang="en-US" sz="1500" dirty="0">
                <a:solidFill>
                  <a:srgbClr val="E9EFF6"/>
                </a:solidFill>
                <a:latin typeface="Calibri" pitchFamily="34" charset="0"/>
                <a:ea typeface="Calibri" pitchFamily="34" charset="-122"/>
                <a:cs typeface="Calibri" pitchFamily="34" charset="-120"/>
              </a:rPr>
              <a:t>Donnie Taylor   ·   The Cloud &amp; AI Summit 2026</a:t>
            </a:r>
            <a:endParaRPr lang="en-US" sz="1500" dirty="0"/>
          </a:p>
        </p:txBody>
      </p:sp>
      <p:sp>
        <p:nvSpPr>
          <p:cNvPr id="7" name="Shape 4"/>
          <p:cNvSpPr/>
          <p:nvPr/>
        </p:nvSpPr>
        <p:spPr>
          <a:xfrm>
            <a:off x="10643616" y="5806440"/>
            <a:ext cx="201168" cy="201168"/>
          </a:xfrm>
          <a:prstGeom prst="ellipse">
            <a:avLst/>
          </a:prstGeom>
          <a:solidFill>
            <a:srgbClr val="E0443E"/>
          </a:solidFill>
          <a:ln/>
        </p:spPr>
        <p:txBody>
          <a:bodyPr/>
          <a:lstStyle/>
          <a:p>
            <a:endParaRPr lang="en-US"/>
          </a:p>
        </p:txBody>
      </p:sp>
      <p:sp>
        <p:nvSpPr>
          <p:cNvPr id="8" name="Shape 5"/>
          <p:cNvSpPr/>
          <p:nvPr/>
        </p:nvSpPr>
        <p:spPr>
          <a:xfrm>
            <a:off x="11027664" y="5806440"/>
            <a:ext cx="201168" cy="201168"/>
          </a:xfrm>
          <a:prstGeom prst="ellipse">
            <a:avLst/>
          </a:prstGeom>
          <a:solidFill>
            <a:srgbClr val="E8A33D"/>
          </a:solidFill>
          <a:ln/>
        </p:spPr>
        <p:txBody>
          <a:bodyPr/>
          <a:lstStyle/>
          <a:p>
            <a:endParaRPr lang="en-US"/>
          </a:p>
        </p:txBody>
      </p:sp>
      <p:sp>
        <p:nvSpPr>
          <p:cNvPr id="9" name="Shape 6"/>
          <p:cNvSpPr/>
          <p:nvPr/>
        </p:nvSpPr>
        <p:spPr>
          <a:xfrm>
            <a:off x="11411712" y="5806440"/>
            <a:ext cx="201168" cy="201168"/>
          </a:xfrm>
          <a:prstGeom prst="ellipse">
            <a:avLst/>
          </a:prstGeom>
          <a:solidFill>
            <a:srgbClr val="46B98A"/>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2194560" y="2514600"/>
            <a:ext cx="7772400" cy="1691640"/>
          </a:xfrm>
          <a:prstGeom prst="roundRect">
            <a:avLst>
              <a:gd name="adj" fmla="val 3243"/>
            </a:avLst>
          </a:prstGeom>
          <a:solidFill>
            <a:srgbClr val="19242F"/>
          </a:solidFill>
          <a:ln/>
        </p:spPr>
        <p:txBody>
          <a:bodyPr/>
          <a:lstStyle/>
          <a:p>
            <a:endParaRPr lang="en-US"/>
          </a:p>
        </p:txBody>
      </p:sp>
      <p:sp>
        <p:nvSpPr>
          <p:cNvPr id="4" name="Text 1"/>
          <p:cNvSpPr txBox="1"/>
          <p:nvPr/>
        </p:nvSpPr>
        <p:spPr>
          <a:xfrm>
            <a:off x="2194560" y="2834640"/>
            <a:ext cx="7772400" cy="457200"/>
          </a:xfrm>
          <a:prstGeom prst="rect">
            <a:avLst/>
          </a:prstGeom>
          <a:noFill/>
          <a:ln/>
        </p:spPr>
        <p:txBody>
          <a:bodyPr wrap="square" lIns="0" tIns="0" rIns="0" bIns="0" rtlCol="0" anchor="ctr"/>
          <a:lstStyle/>
          <a:p>
            <a:pPr marL="0" indent="0" algn="ctr">
              <a:buNone/>
            </a:pPr>
            <a:r>
              <a:rPr lang="en-US" sz="2600" b="1" kern="0" spc="300" dirty="0">
                <a:solidFill>
                  <a:srgbClr val="E8A33D"/>
                </a:solidFill>
                <a:latin typeface="Calibri" pitchFamily="34" charset="0"/>
                <a:ea typeface="Calibri" pitchFamily="34" charset="-122"/>
                <a:cs typeface="Calibri" pitchFamily="34" charset="-120"/>
              </a:rPr>
              <a:t>SPONSOR SLIDE</a:t>
            </a:r>
            <a:endParaRPr lang="en-US" sz="2600" dirty="0"/>
          </a:p>
        </p:txBody>
      </p:sp>
      <p:sp>
        <p:nvSpPr>
          <p:cNvPr id="5" name="Text 2"/>
          <p:cNvSpPr txBox="1"/>
          <p:nvPr/>
        </p:nvSpPr>
        <p:spPr>
          <a:xfrm>
            <a:off x="2194560" y="3429000"/>
            <a:ext cx="7772400" cy="365760"/>
          </a:xfrm>
          <a:prstGeom prst="rect">
            <a:avLst/>
          </a:prstGeom>
          <a:noFill/>
          <a:ln/>
        </p:spPr>
        <p:txBody>
          <a:bodyPr wrap="square" lIns="0" tIns="0" rIns="0" bIns="0" rtlCol="0" anchor="ctr"/>
          <a:lstStyle/>
          <a:p>
            <a:pPr marL="0" indent="0" algn="ctr">
              <a:buNone/>
            </a:pPr>
            <a:r>
              <a:rPr lang="en-US" sz="1600" dirty="0">
                <a:solidFill>
                  <a:srgbClr val="8FA3B8"/>
                </a:solidFill>
                <a:latin typeface="Calibri" pitchFamily="34" charset="0"/>
                <a:ea typeface="Calibri" pitchFamily="34" charset="-122"/>
                <a:cs typeface="Calibri" pitchFamily="34" charset="-120"/>
              </a:rPr>
              <a:t>Drop in the slide CAS sends. Delete this placeholder.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THREE MINUTES OF PRODUCTION</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179 events. 12 tools. One cause.</a:t>
            </a:r>
            <a:endParaRPr lang="en-US" sz="3600" dirty="0"/>
          </a:p>
        </p:txBody>
      </p:sp>
      <p:sp>
        <p:nvSpPr>
          <p:cNvPr id="5" name="Shape 2"/>
          <p:cNvSpPr/>
          <p:nvPr/>
        </p:nvSpPr>
        <p:spPr>
          <a:xfrm>
            <a:off x="594360" y="1600200"/>
            <a:ext cx="11018520" cy="4114800"/>
          </a:xfrm>
          <a:prstGeom prst="roundRect">
            <a:avLst>
              <a:gd name="adj" fmla="val 1333"/>
            </a:avLst>
          </a:prstGeom>
          <a:solidFill>
            <a:srgbClr val="19242F"/>
          </a:solidFill>
          <a:ln/>
        </p:spPr>
        <p:txBody>
          <a:bodyPr/>
          <a:lstStyle/>
          <a:p>
            <a:endParaRPr lang="en-US"/>
          </a:p>
        </p:txBody>
      </p:sp>
      <p:sp>
        <p:nvSpPr>
          <p:cNvPr id="6" name="Text 3"/>
          <p:cNvSpPr txBox="1"/>
          <p:nvPr/>
        </p:nvSpPr>
        <p:spPr>
          <a:xfrm>
            <a:off x="822960" y="173736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16:54:31</a:t>
            </a:r>
            <a:endParaRPr lang="en-US" sz="1100" dirty="0"/>
          </a:p>
        </p:txBody>
      </p:sp>
      <p:sp>
        <p:nvSpPr>
          <p:cNvPr id="7" name="Text 4"/>
          <p:cNvSpPr txBox="1"/>
          <p:nvPr/>
        </p:nvSpPr>
        <p:spPr>
          <a:xfrm>
            <a:off x="1783080" y="173736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8" name="Text 5"/>
          <p:cNvSpPr txBox="1"/>
          <p:nvPr/>
        </p:nvSpPr>
        <p:spPr>
          <a:xfrm>
            <a:off x="2651760" y="173736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sql-watch      sql-prod-03    Connection pool exhausted, 97 of 100 in use</a:t>
            </a:r>
            <a:endParaRPr lang="en-US" sz="1100" dirty="0"/>
          </a:p>
        </p:txBody>
      </p:sp>
      <p:sp>
        <p:nvSpPr>
          <p:cNvPr id="9" name="Text 6"/>
          <p:cNvSpPr txBox="1"/>
          <p:nvPr/>
        </p:nvSpPr>
        <p:spPr>
          <a:xfrm>
            <a:off x="822960" y="203454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0" name="Text 7"/>
          <p:cNvSpPr txBox="1"/>
          <p:nvPr/>
        </p:nvSpPr>
        <p:spPr>
          <a:xfrm>
            <a:off x="1783080" y="203454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1" name="Text 8"/>
          <p:cNvSpPr txBox="1"/>
          <p:nvPr/>
        </p:nvSpPr>
        <p:spPr>
          <a:xfrm>
            <a:off x="2651760" y="203454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storage-watch  sql-prod-03    Disk read latency 480 ms, sustained</a:t>
            </a:r>
            <a:endParaRPr lang="en-US" sz="1100" dirty="0"/>
          </a:p>
        </p:txBody>
      </p:sp>
      <p:sp>
        <p:nvSpPr>
          <p:cNvPr id="12" name="Text 9"/>
          <p:cNvSpPr txBox="1"/>
          <p:nvPr/>
        </p:nvSpPr>
        <p:spPr>
          <a:xfrm>
            <a:off x="822960" y="233172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3" name="Text 10"/>
          <p:cNvSpPr txBox="1"/>
          <p:nvPr/>
        </p:nvSpPr>
        <p:spPr>
          <a:xfrm>
            <a:off x="1783080" y="233172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14" name="Text 11"/>
          <p:cNvSpPr txBox="1"/>
          <p:nvPr/>
        </p:nvSpPr>
        <p:spPr>
          <a:xfrm>
            <a:off x="2651760" y="233172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apm            app-web-01     Checkout failures 27 percent of requests</a:t>
            </a:r>
            <a:endParaRPr lang="en-US" sz="1100" dirty="0"/>
          </a:p>
        </p:txBody>
      </p:sp>
      <p:sp>
        <p:nvSpPr>
          <p:cNvPr id="15" name="Text 12"/>
          <p:cNvSpPr txBox="1"/>
          <p:nvPr/>
        </p:nvSpPr>
        <p:spPr>
          <a:xfrm>
            <a:off x="822960" y="262890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16:54:29</a:t>
            </a:r>
            <a:endParaRPr lang="en-US" sz="1100" dirty="0"/>
          </a:p>
        </p:txBody>
      </p:sp>
      <p:sp>
        <p:nvSpPr>
          <p:cNvPr id="16" name="Text 13"/>
          <p:cNvSpPr txBox="1"/>
          <p:nvPr/>
        </p:nvSpPr>
        <p:spPr>
          <a:xfrm>
            <a:off x="1783080" y="262890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7" name="Text 14"/>
          <p:cNvSpPr txBox="1"/>
          <p:nvPr/>
        </p:nvSpPr>
        <p:spPr>
          <a:xfrm>
            <a:off x="2651760" y="262890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auth-svc       app-api-03     Token validation failing, upstream returned 526</a:t>
            </a:r>
            <a:endParaRPr lang="en-US" sz="1100" dirty="0"/>
          </a:p>
        </p:txBody>
      </p:sp>
      <p:sp>
        <p:nvSpPr>
          <p:cNvPr id="18" name="Text 15"/>
          <p:cNvSpPr txBox="1"/>
          <p:nvPr/>
        </p:nvSpPr>
        <p:spPr>
          <a:xfrm>
            <a:off x="822960" y="292608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19" name="Text 16"/>
          <p:cNvSpPr txBox="1"/>
          <p:nvPr/>
        </p:nvSpPr>
        <p:spPr>
          <a:xfrm>
            <a:off x="1783080" y="292608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20" name="Text 17"/>
          <p:cNvSpPr txBox="1"/>
          <p:nvPr/>
        </p:nvSpPr>
        <p:spPr>
          <a:xfrm>
            <a:off x="2651760" y="292608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net-monitor    fw-edge-01     Packet loss 2 percent on WAN interface</a:t>
            </a:r>
            <a:endParaRPr lang="en-US" sz="1100" dirty="0"/>
          </a:p>
        </p:txBody>
      </p:sp>
      <p:sp>
        <p:nvSpPr>
          <p:cNvPr id="21" name="Text 18"/>
          <p:cNvSpPr txBox="1"/>
          <p:nvPr/>
        </p:nvSpPr>
        <p:spPr>
          <a:xfrm>
            <a:off x="822960" y="322326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22" name="Text 19"/>
          <p:cNvSpPr txBox="1"/>
          <p:nvPr/>
        </p:nvSpPr>
        <p:spPr>
          <a:xfrm>
            <a:off x="1783080" y="322326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23" name="Text 20"/>
          <p:cNvSpPr txBox="1"/>
          <p:nvPr/>
        </p:nvSpPr>
        <p:spPr>
          <a:xfrm>
            <a:off x="2651760" y="322326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store-api      sql-prod-03    Call to sql-prod-03 failed (500)</a:t>
            </a:r>
            <a:endParaRPr lang="en-US" sz="1100" dirty="0"/>
          </a:p>
        </p:txBody>
      </p:sp>
      <p:sp>
        <p:nvSpPr>
          <p:cNvPr id="24" name="Text 21"/>
          <p:cNvSpPr txBox="1"/>
          <p:nvPr/>
        </p:nvSpPr>
        <p:spPr>
          <a:xfrm>
            <a:off x="822960" y="352044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25" name="Text 22"/>
          <p:cNvSpPr txBox="1"/>
          <p:nvPr/>
        </p:nvSpPr>
        <p:spPr>
          <a:xfrm>
            <a:off x="1783080" y="352044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26" name="Text 23"/>
          <p:cNvSpPr txBox="1"/>
          <p:nvPr/>
        </p:nvSpPr>
        <p:spPr>
          <a:xfrm>
            <a:off x="2651760" y="352044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backup-agent   backup-01      Nightly backup of sql-prod-03 still running, 4 hours over window</a:t>
            </a:r>
            <a:endParaRPr lang="en-US" sz="1100" dirty="0"/>
          </a:p>
        </p:txBody>
      </p:sp>
      <p:sp>
        <p:nvSpPr>
          <p:cNvPr id="27" name="Text 24"/>
          <p:cNvSpPr txBox="1"/>
          <p:nvPr/>
        </p:nvSpPr>
        <p:spPr>
          <a:xfrm>
            <a:off x="822960" y="381762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28" name="Text 25"/>
          <p:cNvSpPr txBox="1"/>
          <p:nvPr/>
        </p:nvSpPr>
        <p:spPr>
          <a:xfrm>
            <a:off x="1783080" y="381762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29" name="Text 26"/>
          <p:cNvSpPr txBox="1"/>
          <p:nvPr/>
        </p:nvSpPr>
        <p:spPr>
          <a:xfrm>
            <a:off x="2651760" y="381762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sql-watch      sql-prod-03    Lock wait time 4400 ms on OrderLines</a:t>
            </a:r>
            <a:endParaRPr lang="en-US" sz="1100" dirty="0"/>
          </a:p>
        </p:txBody>
      </p:sp>
      <p:sp>
        <p:nvSpPr>
          <p:cNvPr id="30" name="Text 27"/>
          <p:cNvSpPr txBox="1"/>
          <p:nvPr/>
        </p:nvSpPr>
        <p:spPr>
          <a:xfrm>
            <a:off x="822960" y="411480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16:54:26</a:t>
            </a:r>
            <a:endParaRPr lang="en-US" sz="1100" dirty="0"/>
          </a:p>
        </p:txBody>
      </p:sp>
      <p:sp>
        <p:nvSpPr>
          <p:cNvPr id="31" name="Text 28"/>
          <p:cNvSpPr txBox="1"/>
          <p:nvPr/>
        </p:nvSpPr>
        <p:spPr>
          <a:xfrm>
            <a:off x="1783080" y="411480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32" name="Text 29"/>
          <p:cNvSpPr txBox="1"/>
          <p:nvPr/>
        </p:nvSpPr>
        <p:spPr>
          <a:xfrm>
            <a:off x="2651760" y="411480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cert-watch     lb-edge-02     TLS certificate for api.contoso.com expired</a:t>
            </a:r>
            <a:endParaRPr lang="en-US" sz="1100" dirty="0"/>
          </a:p>
        </p:txBody>
      </p:sp>
      <p:sp>
        <p:nvSpPr>
          <p:cNvPr id="33" name="Text 30"/>
          <p:cNvSpPr txBox="1"/>
          <p:nvPr/>
        </p:nvSpPr>
        <p:spPr>
          <a:xfrm>
            <a:off x="822960" y="441198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16:54:26</a:t>
            </a:r>
            <a:endParaRPr lang="en-US" sz="1100" dirty="0"/>
          </a:p>
        </p:txBody>
      </p:sp>
      <p:sp>
        <p:nvSpPr>
          <p:cNvPr id="34" name="Text 31"/>
          <p:cNvSpPr txBox="1"/>
          <p:nvPr/>
        </p:nvSpPr>
        <p:spPr>
          <a:xfrm>
            <a:off x="1783080" y="441198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35" name="Text 32"/>
          <p:cNvSpPr txBox="1"/>
          <p:nvPr/>
        </p:nvSpPr>
        <p:spPr>
          <a:xfrm>
            <a:off x="2651760" y="441198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vsphere        esx-04         Datastore DS-VOL-02 at 82 percent capacity</a:t>
            </a:r>
            <a:endParaRPr lang="en-US" sz="1100" dirty="0"/>
          </a:p>
        </p:txBody>
      </p:sp>
      <p:sp>
        <p:nvSpPr>
          <p:cNvPr id="36" name="Text 33"/>
          <p:cNvSpPr txBox="1"/>
          <p:nvPr/>
        </p:nvSpPr>
        <p:spPr>
          <a:xfrm>
            <a:off x="822960" y="470916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16:54:25</a:t>
            </a:r>
            <a:endParaRPr lang="en-US" sz="1100" dirty="0"/>
          </a:p>
        </p:txBody>
      </p:sp>
      <p:sp>
        <p:nvSpPr>
          <p:cNvPr id="37" name="Text 34"/>
          <p:cNvSpPr txBox="1"/>
          <p:nvPr/>
        </p:nvSpPr>
        <p:spPr>
          <a:xfrm>
            <a:off x="1783080" y="470916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38" name="Text 35"/>
          <p:cNvSpPr txBox="1"/>
          <p:nvPr/>
        </p:nvSpPr>
        <p:spPr>
          <a:xfrm>
            <a:off x="2651760" y="470916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synthetic      probe-dfw      Login journey failing from 3 of 4 regions</a:t>
            </a:r>
            <a:endParaRPr lang="en-US" sz="1100" dirty="0"/>
          </a:p>
        </p:txBody>
      </p:sp>
      <p:sp>
        <p:nvSpPr>
          <p:cNvPr id="39" name="Text 36"/>
          <p:cNvSpPr txBox="1"/>
          <p:nvPr/>
        </p:nvSpPr>
        <p:spPr>
          <a:xfrm>
            <a:off x="822960" y="500634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16:54:25</a:t>
            </a:r>
            <a:endParaRPr lang="en-US" sz="1100" dirty="0"/>
          </a:p>
        </p:txBody>
      </p:sp>
      <p:sp>
        <p:nvSpPr>
          <p:cNvPr id="40" name="Text 37"/>
          <p:cNvSpPr txBox="1"/>
          <p:nvPr/>
        </p:nvSpPr>
        <p:spPr>
          <a:xfrm>
            <a:off x="1783080" y="500634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41" name="Text 38"/>
          <p:cNvSpPr txBox="1"/>
          <p:nvPr/>
        </p:nvSpPr>
        <p:spPr>
          <a:xfrm>
            <a:off x="2651760" y="500634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apm            app-web-01     Payments database connection timeout after 1500 ms</a:t>
            </a:r>
            <a:endParaRPr lang="en-US" sz="1100" dirty="0"/>
          </a:p>
        </p:txBody>
      </p:sp>
      <p:sp>
        <p:nvSpPr>
          <p:cNvPr id="42" name="Text 39"/>
          <p:cNvSpPr txBox="1"/>
          <p:nvPr/>
        </p:nvSpPr>
        <p:spPr>
          <a:xfrm>
            <a:off x="822960" y="530352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16:54:24</a:t>
            </a:r>
            <a:endParaRPr lang="en-US" sz="1100" dirty="0"/>
          </a:p>
        </p:txBody>
      </p:sp>
      <p:sp>
        <p:nvSpPr>
          <p:cNvPr id="43" name="Text 40"/>
          <p:cNvSpPr txBox="1"/>
          <p:nvPr/>
        </p:nvSpPr>
        <p:spPr>
          <a:xfrm>
            <a:off x="1783080" y="530352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44" name="Text 41"/>
          <p:cNvSpPr txBox="1"/>
          <p:nvPr/>
        </p:nvSpPr>
        <p:spPr>
          <a:xfrm>
            <a:off x="2651760" y="530352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patch-agent    win-print-02   Reboot pending for 11 days</a:t>
            </a:r>
            <a:endParaRPr lang="en-US" sz="1100" dirty="0"/>
          </a:p>
        </p:txBody>
      </p:sp>
      <p:sp>
        <p:nvSpPr>
          <p:cNvPr id="45" name="Text 42"/>
          <p:cNvSpPr txBox="1"/>
          <p:nvPr/>
        </p:nvSpPr>
        <p:spPr>
          <a:xfrm>
            <a:off x="822960" y="5760720"/>
            <a:ext cx="3657600" cy="274320"/>
          </a:xfrm>
          <a:prstGeom prst="rect">
            <a:avLst/>
          </a:prstGeom>
          <a:noFill/>
          <a:ln/>
        </p:spPr>
        <p:txBody>
          <a:bodyPr wrap="square" lIns="0" tIns="0" rIns="0" bIns="0" rtlCol="0" anchor="ctr"/>
          <a:lstStyle/>
          <a:p>
            <a:pPr marL="0" indent="0">
              <a:buNone/>
            </a:pPr>
            <a:r>
              <a:rPr lang="en-US" sz="1200" i="1" dirty="0">
                <a:solidFill>
                  <a:srgbClr val="7C90A6"/>
                </a:solidFill>
                <a:latin typeface="Courier New" pitchFamily="34" charset="0"/>
                <a:ea typeface="Courier New" pitchFamily="34" charset="-122"/>
                <a:cs typeface="Courier New" pitchFamily="34" charset="-120"/>
              </a:rPr>
              <a:t>...and 166 more.</a:t>
            </a:r>
            <a:endParaRPr lang="en-US" sz="1200" dirty="0"/>
          </a:p>
        </p:txBody>
      </p:sp>
      <p:sp>
        <p:nvSpPr>
          <p:cNvPr id="46" name="Text 43"/>
          <p:cNvSpPr txBox="1"/>
          <p:nvPr/>
        </p:nvSpPr>
        <p:spPr>
          <a:xfrm>
            <a:off x="6949440" y="5742432"/>
            <a:ext cx="4663440" cy="365760"/>
          </a:xfrm>
          <a:prstGeom prst="rect">
            <a:avLst/>
          </a:prstGeom>
          <a:noFill/>
          <a:ln/>
        </p:spPr>
        <p:txBody>
          <a:bodyPr wrap="square" lIns="0" tIns="0" rIns="0" bIns="0"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Which one caused the rest?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MEANWHILE, IN THE ON-CALL CHANNEL</a:t>
            </a:r>
            <a:endParaRPr lang="en-US" sz="1200" dirty="0"/>
          </a:p>
        </p:txBody>
      </p:sp>
      <p:sp>
        <p:nvSpPr>
          <p:cNvPr id="8" name="Text 5"/>
          <p:cNvSpPr txBox="1"/>
          <p:nvPr/>
        </p:nvSpPr>
        <p:spPr>
          <a:xfrm>
            <a:off x="586740" y="5609191"/>
            <a:ext cx="11018520" cy="868680"/>
          </a:xfrm>
          <a:prstGeom prst="rect">
            <a:avLst/>
          </a:prstGeom>
          <a:noFill/>
          <a:ln/>
        </p:spPr>
        <p:txBody>
          <a:bodyPr wrap="square" lIns="0" tIns="0" rIns="0" bIns="0" rtlCol="0" anchor="t"/>
          <a:lstStyle/>
          <a:p>
            <a:pPr marL="0" indent="0" algn="ctr">
              <a:buNone/>
            </a:pPr>
            <a:r>
              <a:rPr lang="en-US" sz="2700" b="1" dirty="0">
                <a:solidFill>
                  <a:srgbClr val="FFFFFF"/>
                </a:solidFill>
                <a:latin typeface="Calibri" pitchFamily="34" charset="0"/>
                <a:ea typeface="Calibri" pitchFamily="34" charset="-122"/>
                <a:cs typeface="Calibri" pitchFamily="34" charset="-120"/>
              </a:rPr>
              <a:t>Nobody finds it by reading faster.</a:t>
            </a:r>
            <a:endParaRPr lang="en-US" sz="2700" dirty="0"/>
          </a:p>
        </p:txBody>
      </p:sp>
      <p:pic>
        <p:nvPicPr>
          <p:cNvPr id="2" name="Picture 1" descr="Everything Is Fine GIFs - Download &amp; Share | GIFDB.com">
            <a:extLst>
              <a:ext uri="{FF2B5EF4-FFF2-40B4-BE49-F238E27FC236}">
                <a16:creationId xmlns:a16="http://schemas.microsoft.com/office/drawing/2014/main" id="{94B8AF11-65EE-144A-8994-B6E0EE4B09D5}"/>
              </a:ext>
            </a:extLst>
          </p:cNvPr>
          <p:cNvPicPr>
            <a:picLocks noChangeAspect="1"/>
          </p:cNvPicPr>
          <p:nvPr/>
        </p:nvPicPr>
        <p:blipFill>
          <a:blip r:embed="rId3"/>
          <a:stretch>
            <a:fillRect/>
          </a:stretch>
        </p:blipFill>
        <p:spPr>
          <a:xfrm>
            <a:off x="3605522" y="731520"/>
            <a:ext cx="4743450" cy="4743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BEFORE WE GO FURTHER</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Donnie Taylor</a:t>
            </a:r>
            <a:endParaRPr lang="en-US" sz="3600" dirty="0"/>
          </a:p>
        </p:txBody>
      </p:sp>
      <p:sp>
        <p:nvSpPr>
          <p:cNvPr id="5" name="Shape 2"/>
          <p:cNvSpPr/>
          <p:nvPr/>
        </p:nvSpPr>
        <p:spPr>
          <a:xfrm>
            <a:off x="594360" y="1783080"/>
            <a:ext cx="475488" cy="475488"/>
          </a:xfrm>
          <a:prstGeom prst="ellipse">
            <a:avLst/>
          </a:prstGeom>
          <a:solidFill>
            <a:srgbClr val="E8A33D"/>
          </a:solidFill>
          <a:ln/>
        </p:spPr>
        <p:txBody>
          <a:bodyPr/>
          <a:lstStyle/>
          <a:p>
            <a:endParaRPr lang="en-US"/>
          </a:p>
        </p:txBody>
      </p:sp>
      <p:sp>
        <p:nvSpPr>
          <p:cNvPr id="6" name="Text 3"/>
          <p:cNvSpPr txBox="1"/>
          <p:nvPr/>
        </p:nvSpPr>
        <p:spPr>
          <a:xfrm>
            <a:off x="594360" y="1783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371600" y="1746504"/>
            <a:ext cx="9601200" cy="36576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Microsoft MVP, ninth consecutive year</a:t>
            </a:r>
            <a:endParaRPr lang="en-US" sz="2000" dirty="0"/>
          </a:p>
        </p:txBody>
      </p:sp>
      <p:sp>
        <p:nvSpPr>
          <p:cNvPr id="8" name="Text 5"/>
          <p:cNvSpPr txBox="1"/>
          <p:nvPr/>
        </p:nvSpPr>
        <p:spPr>
          <a:xfrm>
            <a:off x="1371600" y="2130552"/>
            <a:ext cx="9601200" cy="3657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Azure, PowerShell, and increasingly AI plumbing.</a:t>
            </a:r>
            <a:endParaRPr lang="en-US" sz="1500" dirty="0"/>
          </a:p>
        </p:txBody>
      </p:sp>
      <p:sp>
        <p:nvSpPr>
          <p:cNvPr id="9" name="Shape 6"/>
          <p:cNvSpPr/>
          <p:nvPr/>
        </p:nvSpPr>
        <p:spPr>
          <a:xfrm>
            <a:off x="594360" y="2926080"/>
            <a:ext cx="475488" cy="475488"/>
          </a:xfrm>
          <a:prstGeom prst="ellipse">
            <a:avLst/>
          </a:prstGeom>
          <a:solidFill>
            <a:srgbClr val="5B9BD5"/>
          </a:solidFill>
          <a:ln/>
        </p:spPr>
        <p:txBody>
          <a:bodyPr/>
          <a:lstStyle/>
          <a:p>
            <a:endParaRPr lang="en-US"/>
          </a:p>
        </p:txBody>
      </p:sp>
      <p:sp>
        <p:nvSpPr>
          <p:cNvPr id="10" name="Text 7"/>
          <p:cNvSpPr txBox="1"/>
          <p:nvPr/>
        </p:nvSpPr>
        <p:spPr>
          <a:xfrm>
            <a:off x="594360" y="2926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1371600" y="2889504"/>
            <a:ext cx="9601200" cy="36576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Woodworker, solar enthusiast, home automation</a:t>
            </a:r>
            <a:endParaRPr lang="en-US" sz="2000" dirty="0"/>
          </a:p>
        </p:txBody>
      </p:sp>
      <p:sp>
        <p:nvSpPr>
          <p:cNvPr id="12" name="Text 9"/>
          <p:cNvSpPr txBox="1"/>
          <p:nvPr/>
        </p:nvSpPr>
        <p:spPr>
          <a:xfrm>
            <a:off x="1371600" y="3273552"/>
            <a:ext cx="9601200" cy="3657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No good way to tie those together – or is there?</a:t>
            </a:r>
            <a:endParaRPr lang="en-US" sz="1500" dirty="0"/>
          </a:p>
        </p:txBody>
      </p:sp>
      <p:sp>
        <p:nvSpPr>
          <p:cNvPr id="13" name="Shape 10"/>
          <p:cNvSpPr/>
          <p:nvPr/>
        </p:nvSpPr>
        <p:spPr>
          <a:xfrm>
            <a:off x="594360" y="4069080"/>
            <a:ext cx="475488" cy="475488"/>
          </a:xfrm>
          <a:prstGeom prst="ellipse">
            <a:avLst/>
          </a:prstGeom>
          <a:solidFill>
            <a:srgbClr val="46B98A"/>
          </a:solidFill>
          <a:ln/>
        </p:spPr>
        <p:txBody>
          <a:bodyPr/>
          <a:lstStyle/>
          <a:p>
            <a:endParaRPr lang="en-US"/>
          </a:p>
        </p:txBody>
      </p:sp>
      <p:sp>
        <p:nvSpPr>
          <p:cNvPr id="14" name="Text 11"/>
          <p:cNvSpPr txBox="1"/>
          <p:nvPr/>
        </p:nvSpPr>
        <p:spPr>
          <a:xfrm>
            <a:off x="594360" y="4069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1371600" y="4032504"/>
            <a:ext cx="9601200" cy="36576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Everything here is on GitHub</a:t>
            </a:r>
            <a:endParaRPr lang="en-US" sz="2000" dirty="0"/>
          </a:p>
        </p:txBody>
      </p:sp>
      <p:sp>
        <p:nvSpPr>
          <p:cNvPr id="16" name="Text 13"/>
          <p:cNvSpPr txBox="1"/>
          <p:nvPr/>
        </p:nvSpPr>
        <p:spPr>
          <a:xfrm>
            <a:off x="1371600" y="4416552"/>
            <a:ext cx="9601200" cy="3657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github.com/donnietaylor - deploy it in your own tenant in about ten minutes.</a:t>
            </a:r>
            <a:endParaRPr lang="en-US" sz="1500" dirty="0"/>
          </a:p>
        </p:txBody>
      </p:sp>
      <p:sp>
        <p:nvSpPr>
          <p:cNvPr id="17" name="Text 14"/>
          <p:cNvSpPr txBox="1"/>
          <p:nvPr/>
        </p:nvSpPr>
        <p:spPr>
          <a:xfrm>
            <a:off x="594360" y="5806440"/>
            <a:ext cx="10972800" cy="320040"/>
          </a:xfrm>
          <a:prstGeom prst="rect">
            <a:avLst/>
          </a:prstGeom>
          <a:noFill/>
          <a:ln/>
        </p:spPr>
        <p:txBody>
          <a:bodyPr wrap="square" lIns="0" tIns="0" rIns="0" bIns="0" rtlCol="0" anchor="ctr"/>
          <a:lstStyle/>
          <a:p>
            <a:pPr marL="0" indent="0">
              <a:buNone/>
            </a:pPr>
            <a:r>
              <a:rPr lang="en-US" sz="1400" dirty="0">
                <a:solidFill>
                  <a:srgbClr val="7C90A6"/>
                </a:solidFill>
                <a:latin typeface="Calibri" pitchFamily="34" charset="0"/>
                <a:ea typeface="Calibri" pitchFamily="34" charset="-122"/>
                <a:cs typeface="Calibri" pitchFamily="34" charset="-120"/>
              </a:rPr>
              <a:t>draith.com   ·   linkedin.com/in/donnietaylor   ·   @donnietaylor.bsky.social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WORD THAT DOES A LOT OF WORK</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Correlation - Three different things</a:t>
            </a:r>
            <a:endParaRPr lang="en-US" sz="3600" dirty="0"/>
          </a:p>
        </p:txBody>
      </p:sp>
      <p:sp>
        <p:nvSpPr>
          <p:cNvPr id="5" name="Shape 2"/>
          <p:cNvSpPr/>
          <p:nvPr/>
        </p:nvSpPr>
        <p:spPr>
          <a:xfrm>
            <a:off x="594360" y="1783080"/>
            <a:ext cx="3429000" cy="3703320"/>
          </a:xfrm>
          <a:prstGeom prst="roundRect">
            <a:avLst>
              <a:gd name="adj" fmla="val 1600"/>
            </a:avLst>
          </a:prstGeom>
          <a:solidFill>
            <a:srgbClr val="19242F"/>
          </a:solidFill>
          <a:ln/>
        </p:spPr>
        <p:txBody>
          <a:bodyPr/>
          <a:lstStyle/>
          <a:p>
            <a:endParaRPr lang="en-US"/>
          </a:p>
        </p:txBody>
      </p:sp>
      <p:sp>
        <p:nvSpPr>
          <p:cNvPr id="6" name="Shape 3"/>
          <p:cNvSpPr/>
          <p:nvPr/>
        </p:nvSpPr>
        <p:spPr>
          <a:xfrm>
            <a:off x="914400" y="2103120"/>
            <a:ext cx="457200" cy="457200"/>
          </a:xfrm>
          <a:prstGeom prst="ellipse">
            <a:avLst/>
          </a:prstGeom>
          <a:solidFill>
            <a:srgbClr val="5B9BD5"/>
          </a:solidFill>
          <a:ln/>
        </p:spPr>
        <p:txBody>
          <a:bodyPr/>
          <a:lstStyle/>
          <a:p>
            <a:endParaRPr lang="en-US"/>
          </a:p>
        </p:txBody>
      </p:sp>
      <p:sp>
        <p:nvSpPr>
          <p:cNvPr id="7" name="Text 4"/>
          <p:cNvSpPr txBox="1"/>
          <p:nvPr/>
        </p:nvSpPr>
        <p:spPr>
          <a:xfrm>
            <a:off x="91440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14400" y="2743200"/>
            <a:ext cx="2788920" cy="365760"/>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Deduplication</a:t>
            </a:r>
            <a:endParaRPr lang="en-US" sz="2100" dirty="0"/>
          </a:p>
        </p:txBody>
      </p:sp>
      <p:sp>
        <p:nvSpPr>
          <p:cNvPr id="9" name="Text 6"/>
          <p:cNvSpPr txBox="1"/>
          <p:nvPr/>
        </p:nvSpPr>
        <p:spPr>
          <a:xfrm>
            <a:off x="914400" y="3200400"/>
            <a:ext cx="2788920" cy="548640"/>
          </a:xfrm>
          <a:prstGeom prst="rect">
            <a:avLst/>
          </a:prstGeom>
          <a:noFill/>
          <a:ln/>
        </p:spPr>
        <p:txBody>
          <a:bodyPr wrap="square" lIns="0" tIns="0" rIns="0" bIns="0" rtlCol="0" anchor="t"/>
          <a:lstStyle/>
          <a:p>
            <a:pPr marL="0" indent="0">
              <a:buNone/>
            </a:pPr>
            <a:r>
              <a:rPr lang="en-US" sz="1500" i="1" dirty="0">
                <a:solidFill>
                  <a:srgbClr val="5B9BD5"/>
                </a:solidFill>
                <a:latin typeface="Calibri" pitchFamily="34" charset="0"/>
                <a:ea typeface="Calibri" pitchFamily="34" charset="-122"/>
                <a:cs typeface="Calibri" pitchFamily="34" charset="-120"/>
              </a:rPr>
              <a:t>Is this the same thing I already saw?</a:t>
            </a:r>
            <a:endParaRPr lang="en-US" sz="1500" dirty="0"/>
          </a:p>
        </p:txBody>
      </p:sp>
      <p:sp>
        <p:nvSpPr>
          <p:cNvPr id="10" name="Text 7"/>
          <p:cNvSpPr txBox="1"/>
          <p:nvPr/>
        </p:nvSpPr>
        <p:spPr>
          <a:xfrm>
            <a:off x="914400" y="3840480"/>
            <a:ext cx="2788920" cy="822960"/>
          </a:xfrm>
          <a:prstGeom prst="rect">
            <a:avLst/>
          </a:prstGeom>
          <a:noFill/>
          <a:ln/>
        </p:spPr>
        <p:txBody>
          <a:bodyPr wrap="square" lIns="0" tIns="0" rIns="0" bIns="0" rtlCol="0" anchor="t"/>
          <a:lstStyle/>
          <a:p>
            <a:pPr marL="0" indent="0">
              <a:buNone/>
            </a:pPr>
            <a:r>
              <a:rPr lang="en-US" sz="1400" dirty="0">
                <a:solidFill>
                  <a:srgbClr val="8FA3B8"/>
                </a:solidFill>
                <a:latin typeface="Calibri" pitchFamily="34" charset="0"/>
                <a:ea typeface="Calibri" pitchFamily="34" charset="-122"/>
                <a:cs typeface="Calibri" pitchFamily="34" charset="-120"/>
              </a:rPr>
              <a:t>Same failure, 300 times. One row, count 300.</a:t>
            </a:r>
            <a:endParaRPr lang="en-US" sz="1400" dirty="0"/>
          </a:p>
        </p:txBody>
      </p:sp>
      <p:sp>
        <p:nvSpPr>
          <p:cNvPr id="11" name="Text 8"/>
          <p:cNvSpPr txBox="1"/>
          <p:nvPr/>
        </p:nvSpPr>
        <p:spPr>
          <a:xfrm>
            <a:off x="914400" y="4892040"/>
            <a:ext cx="2788920" cy="320040"/>
          </a:xfrm>
          <a:prstGeom prst="rect">
            <a:avLst/>
          </a:prstGeom>
          <a:noFill/>
          <a:ln/>
        </p:spPr>
        <p:txBody>
          <a:bodyPr wrap="square" lIns="0" tIns="0" rIns="0" bIns="0" rtlCol="0" anchor="ctr"/>
          <a:lstStyle/>
          <a:p>
            <a:pPr marL="0" indent="0">
              <a:buNone/>
            </a:pPr>
            <a:r>
              <a:rPr lang="en-US" sz="1300" b="1" dirty="0">
                <a:solidFill>
                  <a:srgbClr val="7C90A6"/>
                </a:solidFill>
                <a:latin typeface="Calibri" pitchFamily="34" charset="0"/>
                <a:ea typeface="Calibri" pitchFamily="34" charset="-122"/>
                <a:cs typeface="Calibri" pitchFamily="34" charset="-120"/>
              </a:rPr>
              <a:t>Most tools do this.</a:t>
            </a:r>
            <a:endParaRPr lang="en-US" sz="1300" dirty="0"/>
          </a:p>
        </p:txBody>
      </p:sp>
      <p:sp>
        <p:nvSpPr>
          <p:cNvPr id="12" name="Shape 9"/>
          <p:cNvSpPr/>
          <p:nvPr/>
        </p:nvSpPr>
        <p:spPr>
          <a:xfrm>
            <a:off x="4389120" y="1783080"/>
            <a:ext cx="3429000" cy="3703320"/>
          </a:xfrm>
          <a:prstGeom prst="roundRect">
            <a:avLst>
              <a:gd name="adj" fmla="val 1600"/>
            </a:avLst>
          </a:prstGeom>
          <a:solidFill>
            <a:srgbClr val="19242F"/>
          </a:solidFill>
          <a:ln/>
        </p:spPr>
        <p:txBody>
          <a:bodyPr/>
          <a:lstStyle/>
          <a:p>
            <a:endParaRPr lang="en-US"/>
          </a:p>
        </p:txBody>
      </p:sp>
      <p:sp>
        <p:nvSpPr>
          <p:cNvPr id="13" name="Shape 10"/>
          <p:cNvSpPr/>
          <p:nvPr/>
        </p:nvSpPr>
        <p:spPr>
          <a:xfrm>
            <a:off x="4709160" y="2103120"/>
            <a:ext cx="457200" cy="457200"/>
          </a:xfrm>
          <a:prstGeom prst="ellipse">
            <a:avLst/>
          </a:prstGeom>
          <a:solidFill>
            <a:srgbClr val="E8A33D"/>
          </a:solidFill>
          <a:ln/>
        </p:spPr>
        <p:txBody>
          <a:bodyPr/>
          <a:lstStyle/>
          <a:p>
            <a:endParaRPr lang="en-US"/>
          </a:p>
        </p:txBody>
      </p:sp>
      <p:sp>
        <p:nvSpPr>
          <p:cNvPr id="14" name="Text 11"/>
          <p:cNvSpPr txBox="1"/>
          <p:nvPr/>
        </p:nvSpPr>
        <p:spPr>
          <a:xfrm>
            <a:off x="470916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09160" y="2743200"/>
            <a:ext cx="2788920" cy="365760"/>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Grouping</a:t>
            </a:r>
            <a:endParaRPr lang="en-US" sz="2100" dirty="0"/>
          </a:p>
        </p:txBody>
      </p:sp>
      <p:sp>
        <p:nvSpPr>
          <p:cNvPr id="16" name="Text 13"/>
          <p:cNvSpPr txBox="1"/>
          <p:nvPr/>
        </p:nvSpPr>
        <p:spPr>
          <a:xfrm>
            <a:off x="4709160" y="3200400"/>
            <a:ext cx="2788920" cy="548640"/>
          </a:xfrm>
          <a:prstGeom prst="rect">
            <a:avLst/>
          </a:prstGeom>
          <a:noFill/>
          <a:ln/>
        </p:spPr>
        <p:txBody>
          <a:bodyPr wrap="square" lIns="0" tIns="0" rIns="0" bIns="0" rtlCol="0" anchor="t"/>
          <a:lstStyle/>
          <a:p>
            <a:pPr marL="0" indent="0">
              <a:buNone/>
            </a:pPr>
            <a:r>
              <a:rPr lang="en-US" sz="1500" i="1" dirty="0">
                <a:solidFill>
                  <a:srgbClr val="E8A33D"/>
                </a:solidFill>
                <a:latin typeface="Calibri" pitchFamily="34" charset="0"/>
                <a:ea typeface="Calibri" pitchFamily="34" charset="-122"/>
                <a:cs typeface="Calibri" pitchFamily="34" charset="-120"/>
              </a:rPr>
              <a:t>Do these belong to the same incident?</a:t>
            </a:r>
            <a:endParaRPr lang="en-US" sz="1500" dirty="0"/>
          </a:p>
        </p:txBody>
      </p:sp>
      <p:sp>
        <p:nvSpPr>
          <p:cNvPr id="17" name="Text 14"/>
          <p:cNvSpPr txBox="1"/>
          <p:nvPr/>
        </p:nvSpPr>
        <p:spPr>
          <a:xfrm>
            <a:off x="4709160" y="3840480"/>
            <a:ext cx="2788920" cy="822960"/>
          </a:xfrm>
          <a:prstGeom prst="rect">
            <a:avLst/>
          </a:prstGeom>
          <a:noFill/>
          <a:ln/>
        </p:spPr>
        <p:txBody>
          <a:bodyPr wrap="square" lIns="0" tIns="0" rIns="0" bIns="0" rtlCol="0" anchor="t"/>
          <a:lstStyle/>
          <a:p>
            <a:pPr marL="0" indent="0">
              <a:buNone/>
            </a:pPr>
            <a:r>
              <a:rPr lang="en-US" sz="1400" dirty="0">
                <a:solidFill>
                  <a:srgbClr val="8FA3B8"/>
                </a:solidFill>
                <a:latin typeface="Calibri" pitchFamily="34" charset="0"/>
                <a:ea typeface="Calibri" pitchFamily="34" charset="-122"/>
                <a:cs typeface="Calibri" pitchFamily="34" charset="-120"/>
              </a:rPr>
              <a:t>Same host, same resource, same trace.</a:t>
            </a:r>
            <a:endParaRPr lang="en-US" sz="1400" dirty="0"/>
          </a:p>
        </p:txBody>
      </p:sp>
      <p:sp>
        <p:nvSpPr>
          <p:cNvPr id="18" name="Text 15"/>
          <p:cNvSpPr txBox="1"/>
          <p:nvPr/>
        </p:nvSpPr>
        <p:spPr>
          <a:xfrm>
            <a:off x="4709160" y="4892040"/>
            <a:ext cx="2788920" cy="320040"/>
          </a:xfrm>
          <a:prstGeom prst="rect">
            <a:avLst/>
          </a:prstGeom>
          <a:noFill/>
          <a:ln/>
        </p:spPr>
        <p:txBody>
          <a:bodyPr wrap="square" lIns="0" tIns="0" rIns="0" bIns="0" rtlCol="0" anchor="ctr"/>
          <a:lstStyle/>
          <a:p>
            <a:pPr marL="0" indent="0">
              <a:buNone/>
            </a:pPr>
            <a:r>
              <a:rPr lang="en-US" sz="1300" b="1" dirty="0">
                <a:solidFill>
                  <a:srgbClr val="7C90A6"/>
                </a:solidFill>
                <a:latin typeface="Calibri" pitchFamily="34" charset="0"/>
                <a:ea typeface="Calibri" pitchFamily="34" charset="-122"/>
                <a:cs typeface="Calibri" pitchFamily="34" charset="-120"/>
              </a:rPr>
              <a:t>Some tools do this.</a:t>
            </a:r>
            <a:endParaRPr lang="en-US" sz="1300" dirty="0"/>
          </a:p>
        </p:txBody>
      </p:sp>
      <p:sp>
        <p:nvSpPr>
          <p:cNvPr id="19" name="Shape 16"/>
          <p:cNvSpPr/>
          <p:nvPr/>
        </p:nvSpPr>
        <p:spPr>
          <a:xfrm>
            <a:off x="8183880" y="1783080"/>
            <a:ext cx="3429000" cy="3703320"/>
          </a:xfrm>
          <a:prstGeom prst="roundRect">
            <a:avLst>
              <a:gd name="adj" fmla="val 1600"/>
            </a:avLst>
          </a:prstGeom>
          <a:solidFill>
            <a:srgbClr val="19242F"/>
          </a:solidFill>
          <a:ln/>
        </p:spPr>
        <p:txBody>
          <a:bodyPr/>
          <a:lstStyle/>
          <a:p>
            <a:endParaRPr lang="en-US"/>
          </a:p>
        </p:txBody>
      </p:sp>
      <p:sp>
        <p:nvSpPr>
          <p:cNvPr id="20" name="Shape 17"/>
          <p:cNvSpPr/>
          <p:nvPr/>
        </p:nvSpPr>
        <p:spPr>
          <a:xfrm>
            <a:off x="8503920" y="2103120"/>
            <a:ext cx="457200" cy="457200"/>
          </a:xfrm>
          <a:prstGeom prst="ellipse">
            <a:avLst/>
          </a:prstGeom>
          <a:solidFill>
            <a:srgbClr val="E0443E"/>
          </a:solidFill>
          <a:ln/>
        </p:spPr>
        <p:txBody>
          <a:bodyPr/>
          <a:lstStyle/>
          <a:p>
            <a:endParaRPr lang="en-US"/>
          </a:p>
        </p:txBody>
      </p:sp>
      <p:sp>
        <p:nvSpPr>
          <p:cNvPr id="21" name="Text 18"/>
          <p:cNvSpPr txBox="1"/>
          <p:nvPr/>
        </p:nvSpPr>
        <p:spPr>
          <a:xfrm>
            <a:off x="850392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503920" y="2743200"/>
            <a:ext cx="2788920" cy="365760"/>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Causality</a:t>
            </a:r>
            <a:endParaRPr lang="en-US" sz="2100" dirty="0"/>
          </a:p>
        </p:txBody>
      </p:sp>
      <p:sp>
        <p:nvSpPr>
          <p:cNvPr id="23" name="Text 20"/>
          <p:cNvSpPr txBox="1"/>
          <p:nvPr/>
        </p:nvSpPr>
        <p:spPr>
          <a:xfrm>
            <a:off x="8503920" y="3200400"/>
            <a:ext cx="2788920" cy="548640"/>
          </a:xfrm>
          <a:prstGeom prst="rect">
            <a:avLst/>
          </a:prstGeom>
          <a:noFill/>
          <a:ln/>
        </p:spPr>
        <p:txBody>
          <a:bodyPr wrap="square" lIns="0" tIns="0" rIns="0" bIns="0" rtlCol="0" anchor="t"/>
          <a:lstStyle/>
          <a:p>
            <a:pPr marL="0" indent="0">
              <a:buNone/>
            </a:pPr>
            <a:r>
              <a:rPr lang="en-US" sz="1500" i="1" dirty="0">
                <a:solidFill>
                  <a:srgbClr val="E0443E"/>
                </a:solidFill>
                <a:latin typeface="Calibri" pitchFamily="34" charset="0"/>
                <a:ea typeface="Calibri" pitchFamily="34" charset="-122"/>
                <a:cs typeface="Calibri" pitchFamily="34" charset="-120"/>
              </a:rPr>
              <a:t>Did this one cause that one?</a:t>
            </a:r>
            <a:endParaRPr lang="en-US" sz="1500" dirty="0"/>
          </a:p>
        </p:txBody>
      </p:sp>
      <p:sp>
        <p:nvSpPr>
          <p:cNvPr id="24" name="Text 21"/>
          <p:cNvSpPr txBox="1"/>
          <p:nvPr/>
        </p:nvSpPr>
        <p:spPr>
          <a:xfrm>
            <a:off x="8503920" y="3840480"/>
            <a:ext cx="2788920" cy="822960"/>
          </a:xfrm>
          <a:prstGeom prst="rect">
            <a:avLst/>
          </a:prstGeom>
          <a:noFill/>
          <a:ln/>
        </p:spPr>
        <p:txBody>
          <a:bodyPr wrap="square" lIns="0" tIns="0" rIns="0" bIns="0" rtlCol="0" anchor="t"/>
          <a:lstStyle/>
          <a:p>
            <a:pPr marL="0" indent="0">
              <a:buNone/>
            </a:pPr>
            <a:r>
              <a:rPr lang="en-US" sz="1400" dirty="0">
                <a:solidFill>
                  <a:srgbClr val="8FA3B8"/>
                </a:solidFill>
                <a:latin typeface="Calibri" pitchFamily="34" charset="0"/>
                <a:ea typeface="Calibri" pitchFamily="34" charset="-122"/>
                <a:cs typeface="Calibri" pitchFamily="34" charset="-120"/>
              </a:rPr>
              <a:t>A backup job on one host starved a database on another.</a:t>
            </a:r>
            <a:endParaRPr lang="en-US" sz="1400" dirty="0"/>
          </a:p>
        </p:txBody>
      </p:sp>
      <p:sp>
        <p:nvSpPr>
          <p:cNvPr id="25" name="Text 22"/>
          <p:cNvSpPr txBox="1"/>
          <p:nvPr/>
        </p:nvSpPr>
        <p:spPr>
          <a:xfrm>
            <a:off x="8503920" y="4892040"/>
            <a:ext cx="2788920" cy="320040"/>
          </a:xfrm>
          <a:prstGeom prst="rect">
            <a:avLst/>
          </a:prstGeom>
          <a:noFill/>
          <a:ln/>
        </p:spPr>
        <p:txBody>
          <a:bodyPr wrap="square" lIns="0" tIns="0" rIns="0" bIns="0" rtlCol="0" anchor="ctr"/>
          <a:lstStyle/>
          <a:p>
            <a:pPr marL="0" indent="0">
              <a:buNone/>
            </a:pPr>
            <a:r>
              <a:rPr lang="en-US" sz="1300" b="1" dirty="0">
                <a:solidFill>
                  <a:srgbClr val="7C90A6"/>
                </a:solidFill>
                <a:latin typeface="Calibri" pitchFamily="34" charset="0"/>
                <a:ea typeface="Calibri" pitchFamily="34" charset="-122"/>
                <a:cs typeface="Calibri" pitchFamily="34" charset="-120"/>
              </a:rPr>
              <a:t>Almost nothing does this.</a:t>
            </a:r>
            <a:endParaRPr lang="en-US" sz="1300" dirty="0"/>
          </a:p>
        </p:txBody>
      </p:sp>
      <p:sp>
        <p:nvSpPr>
          <p:cNvPr id="26" name="Text 23"/>
          <p:cNvSpPr txBox="1"/>
          <p:nvPr/>
        </p:nvSpPr>
        <p:spPr>
          <a:xfrm>
            <a:off x="4042459" y="5760720"/>
            <a:ext cx="3162201"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Only the third one needs a model. </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EVERYTHING LANDS ON ONE HUB</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Where the events come from</a:t>
            </a:r>
            <a:endParaRPr lang="en-US" sz="3600" dirty="0"/>
          </a:p>
        </p:txBody>
      </p:sp>
      <p:sp>
        <p:nvSpPr>
          <p:cNvPr id="5" name="Shape 2"/>
          <p:cNvSpPr/>
          <p:nvPr/>
        </p:nvSpPr>
        <p:spPr>
          <a:xfrm>
            <a:off x="594360" y="1783080"/>
            <a:ext cx="11018520" cy="1207008"/>
          </a:xfrm>
          <a:prstGeom prst="roundRect">
            <a:avLst>
              <a:gd name="adj" fmla="val 4545"/>
            </a:avLst>
          </a:prstGeom>
          <a:solidFill>
            <a:srgbClr val="19242F"/>
          </a:solidFill>
          <a:ln/>
        </p:spPr>
        <p:txBody>
          <a:bodyPr/>
          <a:lstStyle/>
          <a:p>
            <a:endParaRPr lang="en-US"/>
          </a:p>
        </p:txBody>
      </p:sp>
      <p:sp>
        <p:nvSpPr>
          <p:cNvPr id="6" name="Shape 3"/>
          <p:cNvSpPr/>
          <p:nvPr/>
        </p:nvSpPr>
        <p:spPr>
          <a:xfrm>
            <a:off x="886968" y="2148840"/>
            <a:ext cx="475488" cy="475488"/>
          </a:xfrm>
          <a:prstGeom prst="ellipse">
            <a:avLst/>
          </a:prstGeom>
          <a:solidFill>
            <a:srgbClr val="5B9BD5"/>
          </a:solidFill>
          <a:ln/>
        </p:spPr>
        <p:txBody>
          <a:bodyPr/>
          <a:lstStyle/>
          <a:p>
            <a:endParaRPr lang="en-US"/>
          </a:p>
        </p:txBody>
      </p:sp>
      <p:sp>
        <p:nvSpPr>
          <p:cNvPr id="7" name="Text 4"/>
          <p:cNvSpPr txBox="1"/>
          <p:nvPr/>
        </p:nvSpPr>
        <p:spPr>
          <a:xfrm>
            <a:off x="886968" y="21488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84248"/>
            <a:ext cx="292608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OpenTelemetry</a:t>
            </a:r>
            <a:endParaRPr lang="en-US" sz="1900" dirty="0"/>
          </a:p>
        </p:txBody>
      </p:sp>
      <p:sp>
        <p:nvSpPr>
          <p:cNvPr id="9" name="Text 6"/>
          <p:cNvSpPr txBox="1"/>
          <p:nvPr/>
        </p:nvSpPr>
        <p:spPr>
          <a:xfrm>
            <a:off x="1554480" y="2404872"/>
            <a:ext cx="2926080" cy="365760"/>
          </a:xfrm>
          <a:prstGeom prst="rect">
            <a:avLst/>
          </a:prstGeom>
          <a:noFill/>
          <a:ln/>
        </p:spPr>
        <p:txBody>
          <a:bodyPr wrap="square" lIns="0" tIns="0" rIns="0" bIns="0" rtlCol="0" anchor="ctr"/>
          <a:lstStyle/>
          <a:p>
            <a:pPr marL="0" indent="0">
              <a:buNone/>
            </a:pPr>
            <a:r>
              <a:rPr lang="en-US" sz="1300" i="1" dirty="0">
                <a:solidFill>
                  <a:srgbClr val="5B9BD5"/>
                </a:solidFill>
                <a:latin typeface="Calibri" pitchFamily="34" charset="0"/>
                <a:ea typeface="Calibri" pitchFamily="34" charset="-122"/>
                <a:cs typeface="Calibri" pitchFamily="34" charset="-120"/>
              </a:rPr>
              <a:t>A real Flask app on this laptop</a:t>
            </a:r>
            <a:endParaRPr lang="en-US" sz="1300" dirty="0"/>
          </a:p>
        </p:txBody>
      </p:sp>
      <p:sp>
        <p:nvSpPr>
          <p:cNvPr id="10" name="Text 7"/>
          <p:cNvSpPr txBox="1"/>
          <p:nvPr/>
        </p:nvSpPr>
        <p:spPr>
          <a:xfrm>
            <a:off x="4709160" y="2057400"/>
            <a:ext cx="667512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Requests, dependencies and exceptions, one trace per checkout, exported through Application Insights.</a:t>
            </a:r>
            <a:endParaRPr lang="en-US" sz="1400" dirty="0"/>
          </a:p>
        </p:txBody>
      </p:sp>
      <p:sp>
        <p:nvSpPr>
          <p:cNvPr id="11" name="Shape 8"/>
          <p:cNvSpPr/>
          <p:nvPr/>
        </p:nvSpPr>
        <p:spPr>
          <a:xfrm>
            <a:off x="594360" y="3154680"/>
            <a:ext cx="11018520" cy="1207008"/>
          </a:xfrm>
          <a:prstGeom prst="roundRect">
            <a:avLst>
              <a:gd name="adj" fmla="val 4545"/>
            </a:avLst>
          </a:prstGeom>
          <a:solidFill>
            <a:srgbClr val="19242F"/>
          </a:solidFill>
          <a:ln/>
        </p:spPr>
        <p:txBody>
          <a:bodyPr/>
          <a:lstStyle/>
          <a:p>
            <a:endParaRPr lang="en-US"/>
          </a:p>
        </p:txBody>
      </p:sp>
      <p:sp>
        <p:nvSpPr>
          <p:cNvPr id="12" name="Shape 9"/>
          <p:cNvSpPr/>
          <p:nvPr/>
        </p:nvSpPr>
        <p:spPr>
          <a:xfrm>
            <a:off x="886968" y="3520440"/>
            <a:ext cx="475488" cy="475488"/>
          </a:xfrm>
          <a:prstGeom prst="ellipse">
            <a:avLst/>
          </a:prstGeom>
          <a:solidFill>
            <a:srgbClr val="E8A33D"/>
          </a:solidFill>
          <a:ln/>
        </p:spPr>
        <p:txBody>
          <a:bodyPr/>
          <a:lstStyle/>
          <a:p>
            <a:endParaRPr lang="en-US"/>
          </a:p>
        </p:txBody>
      </p:sp>
      <p:sp>
        <p:nvSpPr>
          <p:cNvPr id="13" name="Text 10"/>
          <p:cNvSpPr txBox="1"/>
          <p:nvPr/>
        </p:nvSpPr>
        <p:spPr>
          <a:xfrm>
            <a:off x="886968" y="35204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554480" y="3355848"/>
            <a:ext cx="292608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Azure Monitor</a:t>
            </a:r>
            <a:endParaRPr lang="en-US" sz="1900" dirty="0"/>
          </a:p>
        </p:txBody>
      </p:sp>
      <p:sp>
        <p:nvSpPr>
          <p:cNvPr id="15" name="Text 12"/>
          <p:cNvSpPr txBox="1"/>
          <p:nvPr/>
        </p:nvSpPr>
        <p:spPr>
          <a:xfrm>
            <a:off x="1554480" y="3776472"/>
            <a:ext cx="2926080" cy="365760"/>
          </a:xfrm>
          <a:prstGeom prst="rect">
            <a:avLst/>
          </a:prstGeom>
          <a:noFill/>
          <a:ln/>
        </p:spPr>
        <p:txBody>
          <a:bodyPr wrap="square" lIns="0" tIns="0" rIns="0" bIns="0" rtlCol="0" anchor="ctr"/>
          <a:lstStyle/>
          <a:p>
            <a:pPr marL="0" indent="0">
              <a:buNone/>
            </a:pPr>
            <a:r>
              <a:rPr lang="en-US" sz="1300" i="1" dirty="0">
                <a:solidFill>
                  <a:srgbClr val="E8A33D"/>
                </a:solidFill>
                <a:latin typeface="Calibri" pitchFamily="34" charset="0"/>
                <a:ea typeface="Calibri" pitchFamily="34" charset="-122"/>
                <a:cs typeface="Calibri" pitchFamily="34" charset="-120"/>
              </a:rPr>
              <a:t>A metric alert on failed requests</a:t>
            </a:r>
            <a:endParaRPr lang="en-US" sz="1300" dirty="0"/>
          </a:p>
        </p:txBody>
      </p:sp>
      <p:sp>
        <p:nvSpPr>
          <p:cNvPr id="16" name="Text 13"/>
          <p:cNvSpPr txBox="1"/>
          <p:nvPr/>
        </p:nvSpPr>
        <p:spPr>
          <a:xfrm>
            <a:off x="4709160" y="3429000"/>
            <a:ext cx="667512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Common alert schema, straight to the hub via an action group. No glue code.</a:t>
            </a:r>
            <a:endParaRPr lang="en-US" sz="1400" dirty="0"/>
          </a:p>
        </p:txBody>
      </p:sp>
      <p:sp>
        <p:nvSpPr>
          <p:cNvPr id="17" name="Shape 14"/>
          <p:cNvSpPr/>
          <p:nvPr/>
        </p:nvSpPr>
        <p:spPr>
          <a:xfrm>
            <a:off x="594360" y="4526280"/>
            <a:ext cx="11018520" cy="1207008"/>
          </a:xfrm>
          <a:prstGeom prst="roundRect">
            <a:avLst>
              <a:gd name="adj" fmla="val 4545"/>
            </a:avLst>
          </a:prstGeom>
          <a:solidFill>
            <a:srgbClr val="19242F"/>
          </a:solidFill>
          <a:ln/>
        </p:spPr>
        <p:txBody>
          <a:bodyPr/>
          <a:lstStyle/>
          <a:p>
            <a:endParaRPr lang="en-US"/>
          </a:p>
        </p:txBody>
      </p:sp>
      <p:sp>
        <p:nvSpPr>
          <p:cNvPr id="18" name="Shape 15"/>
          <p:cNvSpPr/>
          <p:nvPr/>
        </p:nvSpPr>
        <p:spPr>
          <a:xfrm>
            <a:off x="886968" y="4892040"/>
            <a:ext cx="475488" cy="475488"/>
          </a:xfrm>
          <a:prstGeom prst="ellipse">
            <a:avLst/>
          </a:prstGeom>
          <a:solidFill>
            <a:srgbClr val="46B98A"/>
          </a:solidFill>
          <a:ln/>
        </p:spPr>
        <p:txBody>
          <a:bodyPr/>
          <a:lstStyle/>
          <a:p>
            <a:endParaRPr lang="en-US"/>
          </a:p>
        </p:txBody>
      </p:sp>
      <p:sp>
        <p:nvSpPr>
          <p:cNvPr id="19" name="Text 16"/>
          <p:cNvSpPr txBox="1"/>
          <p:nvPr/>
        </p:nvSpPr>
        <p:spPr>
          <a:xfrm>
            <a:off x="886968" y="48920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1554480" y="4727448"/>
            <a:ext cx="292608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Third-party tools</a:t>
            </a:r>
            <a:endParaRPr lang="en-US" sz="1900" dirty="0"/>
          </a:p>
        </p:txBody>
      </p:sp>
      <p:sp>
        <p:nvSpPr>
          <p:cNvPr id="21" name="Text 18"/>
          <p:cNvSpPr txBox="1"/>
          <p:nvPr/>
        </p:nvSpPr>
        <p:spPr>
          <a:xfrm>
            <a:off x="1554480" y="5148072"/>
            <a:ext cx="2926080" cy="365760"/>
          </a:xfrm>
          <a:prstGeom prst="rect">
            <a:avLst/>
          </a:prstGeom>
          <a:noFill/>
          <a:ln/>
        </p:spPr>
        <p:txBody>
          <a:bodyPr wrap="square" lIns="0" tIns="0" rIns="0" bIns="0" rtlCol="0" anchor="ctr"/>
          <a:lstStyle/>
          <a:p>
            <a:pPr marL="0" indent="0">
              <a:buNone/>
            </a:pPr>
            <a:r>
              <a:rPr lang="en-US" sz="1300" i="1" dirty="0">
                <a:solidFill>
                  <a:srgbClr val="46B98A"/>
                </a:solidFill>
                <a:latin typeface="Calibri" pitchFamily="34" charset="0"/>
                <a:ea typeface="Calibri" pitchFamily="34" charset="-122"/>
                <a:cs typeface="Calibri" pitchFamily="34" charset="-120"/>
              </a:rPr>
              <a:t>Twelve of them, all fictional</a:t>
            </a:r>
            <a:endParaRPr lang="en-US" sz="1300" dirty="0"/>
          </a:p>
        </p:txBody>
      </p:sp>
      <p:sp>
        <p:nvSpPr>
          <p:cNvPr id="22" name="Text 19"/>
          <p:cNvSpPr txBox="1"/>
          <p:nvPr/>
        </p:nvSpPr>
        <p:spPr>
          <a:xfrm>
            <a:off x="4709160" y="4800600"/>
            <a:ext cx="667512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sql-watch, storage-watch, backup-agent, cert-watch, net-monitor... a PowerShell script standing in for the estate.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SOURCES TO DASHBOARD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whole event flow</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444752"/>
            <a:ext cx="2240280" cy="2788920"/>
          </a:xfrm>
          <a:prstGeom prst="roundRect">
            <a:avLst>
              <a:gd name="adj" fmla="val 2449"/>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77240" y="1591056"/>
            <a:ext cx="1874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rgbClr val="7C90A6"/>
                </a:solidFill>
                <a:effectLst/>
                <a:uLnTx/>
                <a:uFillTx/>
                <a:latin typeface="Calibri" pitchFamily="34" charset="0"/>
                <a:ea typeface="Calibri" pitchFamily="34" charset="-122"/>
                <a:cs typeface="Calibri" pitchFamily="34" charset="-120"/>
              </a:rPr>
              <a:t>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777240" y="1965960"/>
            <a:ext cx="137160" cy="137160"/>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1005840" y="190195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OpenTelemetry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1005840" y="213055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store-api on this laptop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005840" y="232257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via Application Insights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77240" y="2743200"/>
            <a:ext cx="137160" cy="137160"/>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1005840" y="267919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Azure Monitor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1005840" y="290779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metric alert on failures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1005840" y="309981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via an action group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777240" y="3520440"/>
            <a:ext cx="137160" cy="137160"/>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1005840" y="345643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12 monitoring tools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1005840" y="368503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Send-Event.ps1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1005840" y="387705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REST + SAS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28346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rot="5400000">
            <a:off x="29900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3108960" y="1444752"/>
            <a:ext cx="1325880" cy="2788920"/>
          </a:xfrm>
          <a:prstGeom prst="roundRect">
            <a:avLst>
              <a:gd name="adj" fmla="val 4138"/>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txBox="1"/>
          <p:nvPr/>
        </p:nvSpPr>
        <p:spPr>
          <a:xfrm>
            <a:off x="3246120" y="1591056"/>
            <a:ext cx="10515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rgbClr val="7C90A6"/>
                </a:solidFill>
                <a:effectLst/>
                <a:uLnTx/>
                <a:uFillTx/>
                <a:latin typeface="Calibri" pitchFamily="34" charset="0"/>
                <a:ea typeface="Calibri" pitchFamily="34" charset="-122"/>
                <a:cs typeface="Calibri" pitchFamily="34" charset="-120"/>
              </a:rPr>
              <a:t>EVENT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3246120" y="2180844"/>
            <a:ext cx="1051560" cy="548640"/>
          </a:xfrm>
          <a:prstGeom prst="rect">
            <a:avLst/>
          </a:prstGeom>
          <a:noFill/>
          <a:ln/>
        </p:spPr>
        <p:txBody>
          <a:bodyPr wrap="square" lIns="0" tIns="0" rIns="0" bIns="0" rtlCol="0" anchor="ct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Everything flows here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3246120" y="2793492"/>
            <a:ext cx="1051560" cy="118872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monitoring-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events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44348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rot="5400000">
            <a:off x="45902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4709160" y="1444752"/>
            <a:ext cx="2926080" cy="2788920"/>
          </a:xfrm>
          <a:prstGeom prst="roundRect">
            <a:avLst>
              <a:gd name="adj" fmla="val 1967"/>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4892040" y="1591056"/>
            <a:ext cx="26517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INGESTEVENTS  ·  EVENT HUBS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4892040" y="1883664"/>
            <a:ext cx="256032" cy="256032"/>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4892040" y="1883664"/>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5230368" y="1865376"/>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Normalise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5230368" y="2075688"/>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three shapes, one object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0"/>
          <p:cNvSpPr/>
          <p:nvPr/>
        </p:nvSpPr>
        <p:spPr>
          <a:xfrm>
            <a:off x="4892040" y="2395728"/>
            <a:ext cx="256032" cy="256032"/>
          </a:xfrm>
          <a:prstGeom prst="ellips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4892040" y="2395728"/>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5230368" y="2377440"/>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Drop successes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5230368" y="2587752"/>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success is not an event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4892040" y="2907792"/>
            <a:ext cx="256032" cy="256032"/>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5"/>
          <p:cNvSpPr txBox="1"/>
          <p:nvPr/>
        </p:nvSpPr>
        <p:spPr>
          <a:xfrm>
            <a:off x="4892040" y="2907792"/>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6"/>
          <p:cNvSpPr txBox="1"/>
          <p:nvPr/>
        </p:nvSpPr>
        <p:spPr>
          <a:xfrm>
            <a:off x="5230368" y="2889504"/>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Archive the raw event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7"/>
          <p:cNvSpPr txBox="1"/>
          <p:nvPr/>
        </p:nvSpPr>
        <p:spPr>
          <a:xfrm>
            <a:off x="5230368" y="3099816"/>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nothing merged yet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8"/>
          <p:cNvSpPr/>
          <p:nvPr/>
        </p:nvSpPr>
        <p:spPr>
          <a:xfrm>
            <a:off x="4892040" y="3419856"/>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txBox="1"/>
          <p:nvPr/>
        </p:nvSpPr>
        <p:spPr>
          <a:xfrm>
            <a:off x="4892040" y="3419856"/>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5230368" y="3401568"/>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Correlate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1"/>
          <p:cNvSpPr txBox="1"/>
          <p:nvPr/>
        </p:nvSpPr>
        <p:spPr>
          <a:xfrm>
            <a:off x="5230368" y="3611880"/>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incident, which symptom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2"/>
          <p:cNvSpPr/>
          <p:nvPr/>
        </p:nvSpPr>
        <p:spPr>
          <a:xfrm>
            <a:off x="4892040" y="3895344"/>
            <a:ext cx="109728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3"/>
          <p:cNvSpPr txBox="1"/>
          <p:nvPr/>
        </p:nvSpPr>
        <p:spPr>
          <a:xfrm>
            <a:off x="4892040" y="3895344"/>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SYMPTOM?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4"/>
          <p:cNvSpPr/>
          <p:nvPr/>
        </p:nvSpPr>
        <p:spPr>
          <a:xfrm>
            <a:off x="6062472" y="3895344"/>
            <a:ext cx="114300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6062472" y="389534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INCIDENT?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6"/>
          <p:cNvSpPr txBox="1"/>
          <p:nvPr/>
        </p:nvSpPr>
        <p:spPr>
          <a:xfrm>
            <a:off x="7242048" y="3895344"/>
            <a:ext cx="411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no model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7"/>
          <p:cNvSpPr/>
          <p:nvPr/>
        </p:nvSpPr>
        <p:spPr>
          <a:xfrm>
            <a:off x="76352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rot="5400000">
            <a:off x="77906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9"/>
          <p:cNvSpPr/>
          <p:nvPr/>
        </p:nvSpPr>
        <p:spPr>
          <a:xfrm>
            <a:off x="7909560" y="1444752"/>
            <a:ext cx="1554480" cy="2788920"/>
          </a:xfrm>
          <a:prstGeom prst="roundRect">
            <a:avLst>
              <a:gd name="adj" fmla="val 3529"/>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0"/>
          <p:cNvSpPr txBox="1"/>
          <p:nvPr/>
        </p:nvSpPr>
        <p:spPr>
          <a:xfrm>
            <a:off x="8065008" y="1591056"/>
            <a:ext cx="12801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TABLE STORAGE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1"/>
          <p:cNvSpPr/>
          <p:nvPr/>
        </p:nvSpPr>
        <p:spPr>
          <a:xfrm>
            <a:off x="8065008" y="1901952"/>
            <a:ext cx="1243584" cy="621792"/>
          </a:xfrm>
          <a:prstGeom prst="roundRect">
            <a:avLst>
              <a:gd name="adj" fmla="val 882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2"/>
          <p:cNvSpPr txBox="1"/>
          <p:nvPr/>
        </p:nvSpPr>
        <p:spPr>
          <a:xfrm>
            <a:off x="8174736" y="1956816"/>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RawEvents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8174736" y="2157984"/>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event,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as it arrived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4"/>
          <p:cNvSpPr/>
          <p:nvPr/>
        </p:nvSpPr>
        <p:spPr>
          <a:xfrm>
            <a:off x="8065008" y="2651760"/>
            <a:ext cx="1243584" cy="621792"/>
          </a:xfrm>
          <a:prstGeom prst="roundRect">
            <a:avLst>
              <a:gd name="adj" fmla="val 882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8174736" y="2706624"/>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6"/>
          <p:cNvSpPr txBox="1"/>
          <p:nvPr/>
        </p:nvSpPr>
        <p:spPr>
          <a:xfrm>
            <a:off x="8174736" y="2907792"/>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row per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symptom + count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57"/>
          <p:cNvSpPr/>
          <p:nvPr/>
        </p:nvSpPr>
        <p:spPr>
          <a:xfrm>
            <a:off x="8065008" y="3401568"/>
            <a:ext cx="1243584" cy="621792"/>
          </a:xfrm>
          <a:prstGeom prst="roundRect">
            <a:avLst>
              <a:gd name="adj" fmla="val 882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8"/>
          <p:cNvSpPr txBox="1"/>
          <p:nvPr/>
        </p:nvSpPr>
        <p:spPr>
          <a:xfrm>
            <a:off x="8174736" y="3456432"/>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Incidents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9"/>
          <p:cNvSpPr txBox="1"/>
          <p:nvPr/>
        </p:nvSpPr>
        <p:spPr>
          <a:xfrm>
            <a:off x="8174736" y="3657600"/>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row per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group + verdict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60"/>
          <p:cNvSpPr/>
          <p:nvPr/>
        </p:nvSpPr>
        <p:spPr>
          <a:xfrm>
            <a:off x="94640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rot="5400000">
            <a:off x="96194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2"/>
          <p:cNvSpPr/>
          <p:nvPr/>
        </p:nvSpPr>
        <p:spPr>
          <a:xfrm>
            <a:off x="9738360" y="1444752"/>
            <a:ext cx="1874520" cy="1298448"/>
          </a:xfrm>
          <a:prstGeom prst="roundRect">
            <a:avLst>
              <a:gd name="adj" fmla="val 4225"/>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63"/>
          <p:cNvSpPr txBox="1"/>
          <p:nvPr/>
        </p:nvSpPr>
        <p:spPr>
          <a:xfrm>
            <a:off x="9893808" y="157276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GETINCIDENTS  ·  HTTP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4"/>
          <p:cNvSpPr txBox="1"/>
          <p:nvPr/>
        </p:nvSpPr>
        <p:spPr>
          <a:xfrm>
            <a:off x="9893808" y="1828800"/>
            <a:ext cx="1600200" cy="41148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Shapes the data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for the screen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5"/>
          <p:cNvSpPr txBox="1"/>
          <p:nvPr/>
        </p:nvSpPr>
        <p:spPr>
          <a:xfrm>
            <a:off x="9893808" y="2286000"/>
            <a:ext cx="160020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?view= raw | summary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sources | tree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6"/>
          <p:cNvSpPr/>
          <p:nvPr/>
        </p:nvSpPr>
        <p:spPr>
          <a:xfrm>
            <a:off x="10664190" y="2743200"/>
            <a:ext cx="32004" cy="137160"/>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7"/>
          <p:cNvSpPr/>
          <p:nvPr/>
        </p:nvSpPr>
        <p:spPr>
          <a:xfrm rot="10800000">
            <a:off x="10611612" y="2880360"/>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8"/>
          <p:cNvSpPr/>
          <p:nvPr/>
        </p:nvSpPr>
        <p:spPr>
          <a:xfrm>
            <a:off x="9738360" y="2999232"/>
            <a:ext cx="1874520" cy="1234440"/>
          </a:xfrm>
          <a:prstGeom prst="roundRect">
            <a:avLst>
              <a:gd name="adj" fmla="val 444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69"/>
          <p:cNvSpPr txBox="1"/>
          <p:nvPr/>
        </p:nvSpPr>
        <p:spPr>
          <a:xfrm>
            <a:off x="9893808" y="312724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AZURE WORKBOOK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70"/>
          <p:cNvSpPr txBox="1"/>
          <p:nvPr/>
        </p:nvSpPr>
        <p:spPr>
          <a:xfrm>
            <a:off x="9893808" y="3364992"/>
            <a:ext cx="1600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dashboard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 71"/>
          <p:cNvSpPr txBox="1"/>
          <p:nvPr/>
        </p:nvSpPr>
        <p:spPr>
          <a:xfrm>
            <a:off x="9893808" y="3657600"/>
            <a:ext cx="160020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custom endpoint,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no Log Analytics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Shape 72"/>
          <p:cNvSpPr/>
          <p:nvPr/>
        </p:nvSpPr>
        <p:spPr>
          <a:xfrm>
            <a:off x="8670798" y="4233672"/>
            <a:ext cx="32004" cy="201168"/>
          </a:xfrm>
          <a:prstGeom prst="rect">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3"/>
          <p:cNvSpPr/>
          <p:nvPr/>
        </p:nvSpPr>
        <p:spPr>
          <a:xfrm rot="10800000">
            <a:off x="8618220" y="4434840"/>
            <a:ext cx="137160" cy="118872"/>
          </a:xfrm>
          <a:prstGeom prst="triangl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4"/>
          <p:cNvSpPr/>
          <p:nvPr/>
        </p:nvSpPr>
        <p:spPr>
          <a:xfrm>
            <a:off x="9082278" y="4352544"/>
            <a:ext cx="32004" cy="201168"/>
          </a:xfrm>
          <a:prstGeom prst="rect">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5"/>
          <p:cNvSpPr/>
          <p:nvPr/>
        </p:nvSpPr>
        <p:spPr>
          <a:xfrm>
            <a:off x="9029700" y="4233672"/>
            <a:ext cx="137160" cy="118872"/>
          </a:xfrm>
          <a:prstGeom prst="triangl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Text 76"/>
          <p:cNvSpPr txBox="1"/>
          <p:nvPr/>
        </p:nvSpPr>
        <p:spPr>
          <a:xfrm>
            <a:off x="8183880" y="4325112"/>
            <a:ext cx="45720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reads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Text 77"/>
          <p:cNvSpPr txBox="1"/>
          <p:nvPr/>
        </p:nvSpPr>
        <p:spPr>
          <a:xfrm>
            <a:off x="9162288" y="4325112"/>
            <a:ext cx="8229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writes back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Shape 78"/>
          <p:cNvSpPr/>
          <p:nvPr/>
        </p:nvSpPr>
        <p:spPr>
          <a:xfrm>
            <a:off x="4709160" y="4553712"/>
            <a:ext cx="4754880" cy="1481328"/>
          </a:xfrm>
          <a:prstGeom prst="roundRect">
            <a:avLst>
              <a:gd name="adj" fmla="val 3704"/>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txBox="1"/>
          <p:nvPr/>
        </p:nvSpPr>
        <p:spPr>
          <a:xfrm>
            <a:off x="4892040" y="4681728"/>
            <a:ext cx="43891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7C90A6"/>
                </a:solidFill>
                <a:effectLst/>
                <a:uLnTx/>
                <a:uFillTx/>
                <a:latin typeface="Calibri" pitchFamily="34" charset="0"/>
                <a:ea typeface="Calibri" pitchFamily="34" charset="-122"/>
                <a:cs typeface="Calibri" pitchFamily="34" charset="-120"/>
              </a:rPr>
              <a:t>ANALYZETIMER  ·  EVERY MINUTE, ONLY WHEN SOMETHING CHANGED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80"/>
          <p:cNvSpPr txBox="1"/>
          <p:nvPr/>
        </p:nvSpPr>
        <p:spPr>
          <a:xfrm>
            <a:off x="4892040" y="4937760"/>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Azure OpenAI  ·  gpt-4.1-mini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ext 81"/>
          <p:cNvSpPr txBox="1"/>
          <p:nvPr/>
        </p:nvSpPr>
        <p:spPr>
          <a:xfrm>
            <a:off x="4892040" y="5230368"/>
            <a:ext cx="4389120" cy="402336"/>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incidents are one problem. Which one is the cause. What to do first.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verdict is written back onto the incident rows.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Shape 82"/>
          <p:cNvSpPr/>
          <p:nvPr/>
        </p:nvSpPr>
        <p:spPr>
          <a:xfrm>
            <a:off x="4892040" y="5705856"/>
            <a:ext cx="1097280" cy="201168"/>
          </a:xfrm>
          <a:prstGeom prst="roundRect">
            <a:avLst>
              <a:gd name="adj" fmla="val 22727"/>
            </a:avLst>
          </a:prstGeom>
          <a:solidFill>
            <a:srgbClr val="0E1621"/>
          </a:solidFill>
          <a:ln w="12700">
            <a:solidFill>
              <a:srgbClr val="E044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83"/>
          <p:cNvSpPr txBox="1"/>
          <p:nvPr/>
        </p:nvSpPr>
        <p:spPr>
          <a:xfrm>
            <a:off x="4892040" y="5705856"/>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0443E"/>
                </a:solidFill>
                <a:effectLst/>
                <a:uLnTx/>
                <a:uFillTx/>
                <a:latin typeface="Calibri" pitchFamily="34" charset="0"/>
                <a:ea typeface="Calibri" pitchFamily="34" charset="-122"/>
                <a:cs typeface="Calibri" pitchFamily="34" charset="-120"/>
              </a:rPr>
              <a:t>SAME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84"/>
          <p:cNvSpPr txBox="1"/>
          <p:nvPr/>
        </p:nvSpPr>
        <p:spPr>
          <a:xfrm>
            <a:off x="6062472" y="5705856"/>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the only question that needs English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Shape 85"/>
          <p:cNvSpPr/>
          <p:nvPr/>
        </p:nvSpPr>
        <p:spPr>
          <a:xfrm>
            <a:off x="594360" y="4553712"/>
            <a:ext cx="3840480" cy="1481328"/>
          </a:xfrm>
          <a:prstGeom prst="roundRect">
            <a:avLst>
              <a:gd name="adj" fmla="val 370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Text 86"/>
          <p:cNvSpPr txBox="1"/>
          <p:nvPr/>
        </p:nvSpPr>
        <p:spPr>
          <a:xfrm>
            <a:off x="777240" y="4681728"/>
            <a:ext cx="3474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EVERY ARROW IN THIS DIAGRAM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Text 87"/>
          <p:cNvSpPr txBox="1"/>
          <p:nvPr/>
        </p:nvSpPr>
        <p:spPr>
          <a:xfrm>
            <a:off x="777240" y="4937760"/>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46B98A"/>
                </a:solidFill>
                <a:effectLst/>
                <a:uLnTx/>
                <a:uFillTx/>
                <a:latin typeface="Calibri" pitchFamily="34" charset="0"/>
                <a:ea typeface="Calibri" pitchFamily="34" charset="-122"/>
                <a:cs typeface="Calibri" pitchFamily="34" charset="-120"/>
              </a:rPr>
              <a:t>No keys anywhere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Text 88"/>
          <p:cNvSpPr txBox="1"/>
          <p:nvPr/>
        </p:nvSpPr>
        <p:spPr>
          <a:xfrm>
            <a:off x="777240" y="5248656"/>
            <a:ext cx="3474720" cy="64008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Function App has a managed identity with three role assignments: read the hub, write the tables, call Azure OpenAI. Nothing in the pipeline holds a secret.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Shape 89"/>
          <p:cNvSpPr/>
          <p:nvPr/>
        </p:nvSpPr>
        <p:spPr>
          <a:xfrm>
            <a:off x="9738360" y="4553712"/>
            <a:ext cx="1874520" cy="1481328"/>
          </a:xfrm>
          <a:prstGeom prst="roundRect">
            <a:avLst>
              <a:gd name="adj" fmla="val 3704"/>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txBox="1"/>
          <p:nvPr/>
        </p:nvSpPr>
        <p:spPr>
          <a:xfrm>
            <a:off x="9893808" y="468172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ALSO READS THE TABLES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Text 91"/>
          <p:cNvSpPr txBox="1"/>
          <p:nvPr/>
        </p:nvSpPr>
        <p:spPr>
          <a:xfrm>
            <a:off x="9893808" y="4965192"/>
            <a:ext cx="1600200" cy="45720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Show-Incidents.ps1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Reset-Pipeline.ps1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92"/>
          <p:cNvSpPr txBox="1"/>
          <p:nvPr/>
        </p:nvSpPr>
        <p:spPr>
          <a:xfrm>
            <a:off x="9893808" y="5468112"/>
            <a:ext cx="1600200" cy="41148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short-lived SAS,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from your terminal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Text 93"/>
          <p:cNvSpPr txBox="1"/>
          <p:nvPr/>
        </p:nvSpPr>
        <p:spPr>
          <a:xfrm>
            <a:off x="594360" y="6199632"/>
            <a:ext cx="1100297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179 events in. 13 incidents and 2 root causes out. About four seconds of model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INGESTEVENTS / RUN.PS1  ·  34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whole trigger</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11002975" cy="3730752"/>
          </a:xfrm>
          <a:prstGeom prst="roundRect">
            <a:avLst>
              <a:gd name="adj" fmla="val 1471"/>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2011680"/>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foreach ($message in @($eventHubMessages))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$payload = $message | ConvertFrom-Json -Depth 50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    foreach ($event in ConvertTo-PipelineEvent -Payload $payload)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        if ($event.Success) { $dropped++; continue }  # a success is not news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B98A"/>
                </a:solidFill>
                <a:effectLst/>
                <a:uLnTx/>
                <a:uFillTx/>
                <a:latin typeface="Courier New" pitchFamily="34" charset="0"/>
                <a:ea typeface="Courier New" pitchFamily="34" charset="-122"/>
                <a:cs typeface="Courier New" pitchFamily="34" charset="-120"/>
              </a:rPr>
              <a:t>        Write-RawEvent      -Event $event   # keep the firehose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        Add-EventToIncident -Event $event   # correlate 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914400" y="4667098"/>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914400" y="4999025"/>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594360" y="5833872"/>
            <a:ext cx="11002975" cy="868680"/>
          </a:xfrm>
          <a:prstGeom prst="roundRect">
            <a:avLst>
              <a:gd name="adj" fmla="val 631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868680" y="6035040"/>
            <a:ext cx="10454335"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Read the hub, normalise, throw away the successes, correlate. </a:t>
            </a:r>
            <a:r>
              <a:rPr kumimoji="0" lang="en-US" sz="17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Everything else in this session is one of those three verbs, opened up.</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E8A33D"/>
                </a:solidFill>
                <a:latin typeface="Calibri" pitchFamily="34" charset="0"/>
                <a:ea typeface="Calibri" pitchFamily="34" charset="-122"/>
                <a:cs typeface="Calibri" pitchFamily="34" charset="-120"/>
              </a:rPr>
              <a:t>DEMO 1</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Break everything</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./Break-Everything.ps1 - one command, one outage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Live checkout traffic starts failing for real</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Twelve tools begin reporting, 68 events over about forty seconds</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Watch the raw stream arrive in the workbook</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THREE TRIGGERS, ONE TABLE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Which function runs when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371600"/>
            <a:ext cx="11002975" cy="2194560"/>
          </a:xfrm>
          <a:prstGeom prst="roundRect">
            <a:avLst>
              <a:gd name="adj" fmla="val 250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58952" y="1499616"/>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INGESTEVENTS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58952" y="1719072"/>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Event Hubs trigger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758952" y="2157984"/>
            <a:ext cx="169164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runs per batch,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step per 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758952" y="2596896"/>
            <a:ext cx="1691640"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Normalize.psm1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2606040" y="1517904"/>
            <a:ext cx="2783738" cy="603504"/>
          </a:xfrm>
          <a:prstGeom prst="roundRect">
            <a:avLst>
              <a:gd name="adj" fmla="val 757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txBox="1"/>
          <p:nvPr/>
        </p:nvSpPr>
        <p:spPr>
          <a:xfrm>
            <a:off x="2697480"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ConvertTo-PipelineEvent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2697480"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Three payload shapes become one event object. Successes are dropped here - a success is not an event.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5170322" y="1609344"/>
            <a:ext cx="109728" cy="109728"/>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5417210" y="1803654"/>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rot="5400000">
            <a:off x="5563514" y="1751076"/>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709818" y="1517904"/>
            <a:ext cx="2783738" cy="603504"/>
          </a:xfrm>
          <a:prstGeom prst="roundRect">
            <a:avLst>
              <a:gd name="adj" fmla="val 757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5801258"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Write-RawEvent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5801258"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Archived exactly as it arrived, before anything is merged away. This is the RawEvents firehose.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8274101" y="1609344"/>
            <a:ext cx="109728" cy="10972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8520989" y="1803654"/>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rot="5400000">
            <a:off x="8667293" y="1751076"/>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9"/>
          <p:cNvSpPr/>
          <p:nvPr/>
        </p:nvSpPr>
        <p:spPr>
          <a:xfrm>
            <a:off x="8813597" y="1517904"/>
            <a:ext cx="2783738" cy="603504"/>
          </a:xfrm>
          <a:prstGeom prst="roundRect">
            <a:avLst>
              <a:gd name="adj" fmla="val 7576"/>
            </a:avLst>
          </a:prstGeom>
          <a:solidFill>
            <a:srgbClr val="223140"/>
          </a:solidFill>
          <a:ln w="15875">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8905037"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Add-EventToIncident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8905037"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correlator. Everything on the row below happens inside this one call, in this order.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11377879" y="1609344"/>
            <a:ext cx="109728" cy="10972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2606040" y="2176272"/>
            <a:ext cx="8991295"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E8A33D"/>
                </a:solidFill>
                <a:effectLst/>
                <a:uLnTx/>
                <a:uFillTx/>
                <a:latin typeface="Calibri" pitchFamily="34" charset="0"/>
                <a:ea typeface="Calibri" pitchFamily="34" charset="-122"/>
                <a:cs typeface="Calibri" pitchFamily="34" charset="-120"/>
              </a:rPr>
              <a:t>inside Add-EventToIncident, for each event, left to right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2606040"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2697480" y="2423160"/>
            <a:ext cx="1454445" cy="31089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Get-PrimaryKey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 Get-IncidentId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2697480" y="2752344"/>
            <a:ext cx="1454445" cy="402336"/>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incident: host &gt; resource &gt; service &gt; trace, then hashed.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2697480" y="3163824"/>
            <a:ext cx="114300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2697480" y="316382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INCIDENT?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9"/>
          <p:cNvSpPr/>
          <p:nvPr/>
        </p:nvSpPr>
        <p:spPr>
          <a:xfrm>
            <a:off x="4270797"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0"/>
          <p:cNvSpPr/>
          <p:nvPr/>
        </p:nvSpPr>
        <p:spPr>
          <a:xfrm rot="5400000">
            <a:off x="4298229"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1"/>
          <p:cNvSpPr/>
          <p:nvPr/>
        </p:nvSpPr>
        <p:spPr>
          <a:xfrm>
            <a:off x="4444533"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4535973"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Get-Fingerprint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4535973" y="2642616"/>
            <a:ext cx="1454445" cy="51206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symptom. Digits → N, then source | kind | title | resource | host, hashed.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4535973" y="3163824"/>
            <a:ext cx="114300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5"/>
          <p:cNvSpPr txBox="1"/>
          <p:nvPr/>
        </p:nvSpPr>
        <p:spPr>
          <a:xfrm>
            <a:off x="4535973" y="316382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SYMPTOM?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6"/>
          <p:cNvSpPr/>
          <p:nvPr/>
        </p:nvSpPr>
        <p:spPr>
          <a:xfrm>
            <a:off x="6109289"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7"/>
          <p:cNvSpPr/>
          <p:nvPr/>
        </p:nvSpPr>
        <p:spPr>
          <a:xfrm rot="5400000">
            <a:off x="6136721"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8"/>
          <p:cNvSpPr/>
          <p:nvPr/>
        </p:nvSpPr>
        <p:spPr>
          <a:xfrm>
            <a:off x="6283025"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txBox="1"/>
          <p:nvPr/>
        </p:nvSpPr>
        <p:spPr>
          <a:xfrm>
            <a:off x="6374465"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New-Incident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6374465" y="2642616"/>
            <a:ext cx="1454445" cy="731520"/>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Create the incident row, or revive it if it went quiet longer than the window.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1"/>
          <p:cNvSpPr/>
          <p:nvPr/>
        </p:nvSpPr>
        <p:spPr>
          <a:xfrm>
            <a:off x="7947782"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2"/>
          <p:cNvSpPr/>
          <p:nvPr/>
        </p:nvSpPr>
        <p:spPr>
          <a:xfrm rot="5400000">
            <a:off x="7975214"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3"/>
          <p:cNvSpPr/>
          <p:nvPr/>
        </p:nvSpPr>
        <p:spPr>
          <a:xfrm>
            <a:off x="8121518"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4"/>
          <p:cNvSpPr txBox="1"/>
          <p:nvPr/>
        </p:nvSpPr>
        <p:spPr>
          <a:xfrm>
            <a:off x="8212958" y="2423160"/>
            <a:ext cx="1454445"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Events(id, fp)</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seen in the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8212958" y="2660904"/>
            <a:ext cx="1454445" cy="7132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Yes: Count + 1, outcome deduped. No: POST a new symptom row, outcome new-symptom.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6"/>
          <p:cNvSpPr/>
          <p:nvPr/>
        </p:nvSpPr>
        <p:spPr>
          <a:xfrm>
            <a:off x="9786275"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7"/>
          <p:cNvSpPr/>
          <p:nvPr/>
        </p:nvSpPr>
        <p:spPr>
          <a:xfrm rot="5400000">
            <a:off x="9813707"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a:off x="9960011"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49"/>
          <p:cNvSpPr txBox="1"/>
          <p:nvPr/>
        </p:nvSpPr>
        <p:spPr>
          <a:xfrm>
            <a:off x="10051451"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ourier New" pitchFamily="34" charset="-122"/>
                <a:cs typeface="Courier New" pitchFamily="34" charset="-120"/>
              </a:rPr>
              <a:t>Touch the 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0"/>
          <p:cNvSpPr txBox="1"/>
          <p:nvPr/>
        </p:nvSpPr>
        <p:spPr>
          <a:xfrm>
            <a:off x="10051451" y="2642616"/>
            <a:ext cx="1454445" cy="731520"/>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LastSeen and TouchedAt, unconditional. Nothing on the incident row is a counter, so nothing can race.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1"/>
          <p:cNvSpPr/>
          <p:nvPr/>
        </p:nvSpPr>
        <p:spPr>
          <a:xfrm>
            <a:off x="594360" y="3730752"/>
            <a:ext cx="11002975" cy="1335024"/>
          </a:xfrm>
          <a:prstGeom prst="roundRect">
            <a:avLst>
              <a:gd name="adj" fmla="val 411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2"/>
          <p:cNvSpPr txBox="1"/>
          <p:nvPr/>
        </p:nvSpPr>
        <p:spPr>
          <a:xfrm>
            <a:off x="758952" y="3858768"/>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ANALYZETIMER  ·  ANALYZE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758952" y="4078224"/>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Every minute,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or on demand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4"/>
          <p:cNvSpPr txBox="1"/>
          <p:nvPr/>
        </p:nvSpPr>
        <p:spPr>
          <a:xfrm>
            <a:off x="758952" y="4517136"/>
            <a:ext cx="169164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call to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Invoke-IncidentAnalysis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758952" y="4846320"/>
            <a:ext cx="1691640"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Ai.psm1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6"/>
          <p:cNvSpPr/>
          <p:nvPr/>
        </p:nvSpPr>
        <p:spPr>
          <a:xfrm>
            <a:off x="2606040"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7"/>
          <p:cNvSpPr txBox="1"/>
          <p:nvPr/>
        </p:nvSpPr>
        <p:spPr>
          <a:xfrm>
            <a:off x="2697480"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Get-OpenIncident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8"/>
          <p:cNvSpPr txBox="1"/>
          <p:nvPr/>
        </p:nvSpPr>
        <p:spPr>
          <a:xfrm>
            <a:off x="2697480"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open incident seen in the last 60 minutes.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59"/>
          <p:cNvSpPr/>
          <p:nvPr/>
        </p:nvSpPr>
        <p:spPr>
          <a:xfrm>
            <a:off x="4270797"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0"/>
          <p:cNvSpPr/>
          <p:nvPr/>
        </p:nvSpPr>
        <p:spPr>
          <a:xfrm rot="5400000">
            <a:off x="4298229"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a:off x="4444533"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2"/>
          <p:cNvSpPr txBox="1"/>
          <p:nvPr/>
        </p:nvSpPr>
        <p:spPr>
          <a:xfrm>
            <a:off x="4535973" y="3941064"/>
            <a:ext cx="1454445"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Anything touched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since the last pass?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3"/>
          <p:cNvSpPr txBox="1"/>
          <p:nvPr/>
        </p:nvSpPr>
        <p:spPr>
          <a:xfrm>
            <a:off x="4535973" y="4178808"/>
            <a:ext cx="1454445" cy="676656"/>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meta row remembers LastRun. A quiet minute costs nothing. -Force skips the check for the demo.</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4"/>
          <p:cNvSpPr/>
          <p:nvPr/>
        </p:nvSpPr>
        <p:spPr>
          <a:xfrm>
            <a:off x="6109289"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5"/>
          <p:cNvSpPr/>
          <p:nvPr/>
        </p:nvSpPr>
        <p:spPr>
          <a:xfrm rot="5400000">
            <a:off x="6136721"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6"/>
          <p:cNvSpPr/>
          <p:nvPr/>
        </p:nvSpPr>
        <p:spPr>
          <a:xfrm>
            <a:off x="6283025"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7"/>
          <p:cNvSpPr txBox="1"/>
          <p:nvPr/>
        </p:nvSpPr>
        <p:spPr>
          <a:xfrm>
            <a:off x="6374465"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Get-IncidentBrief</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68"/>
          <p:cNvSpPr txBox="1"/>
          <p:nvPr/>
        </p:nvSpPr>
        <p:spPr>
          <a:xfrm>
            <a:off x="6374465"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Top 6 symptoms per incident. Row keys and plumbing stripped - the model sees the outage, not the schema.</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Shape 69"/>
          <p:cNvSpPr/>
          <p:nvPr/>
        </p:nvSpPr>
        <p:spPr>
          <a:xfrm>
            <a:off x="7947782"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0"/>
          <p:cNvSpPr/>
          <p:nvPr/>
        </p:nvSpPr>
        <p:spPr>
          <a:xfrm rot="5400000">
            <a:off x="7975214"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1"/>
          <p:cNvSpPr/>
          <p:nvPr/>
        </p:nvSpPr>
        <p:spPr>
          <a:xfrm>
            <a:off x="8121518"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2"/>
          <p:cNvSpPr txBox="1"/>
          <p:nvPr/>
        </p:nvSpPr>
        <p:spPr>
          <a:xfrm>
            <a:off x="8212958"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Invoke-OpenAI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3"/>
          <p:cNvSpPr txBox="1"/>
          <p:nvPr/>
        </p:nvSpPr>
        <p:spPr>
          <a:xfrm>
            <a:off x="8212958" y="4160520"/>
            <a:ext cx="1454445" cy="475488"/>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call. gpt-4.1-mini, temp 0, JSON out, parsed by ConvertFrom-ModelJson.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Shape 74"/>
          <p:cNvSpPr/>
          <p:nvPr/>
        </p:nvSpPr>
        <p:spPr>
          <a:xfrm>
            <a:off x="8212958" y="4645152"/>
            <a:ext cx="1143000" cy="201168"/>
          </a:xfrm>
          <a:prstGeom prst="roundRect">
            <a:avLst>
              <a:gd name="adj" fmla="val 22727"/>
            </a:avLst>
          </a:prstGeom>
          <a:solidFill>
            <a:srgbClr val="0E1621"/>
          </a:solidFill>
          <a:ln w="12700">
            <a:solidFill>
              <a:srgbClr val="E044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5"/>
          <p:cNvSpPr txBox="1"/>
          <p:nvPr/>
        </p:nvSpPr>
        <p:spPr>
          <a:xfrm>
            <a:off x="8212958" y="4645152"/>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0443E"/>
                </a:solidFill>
                <a:effectLst/>
                <a:uLnTx/>
                <a:uFillTx/>
                <a:latin typeface="Calibri" pitchFamily="34" charset="0"/>
                <a:ea typeface="Calibri" pitchFamily="34" charset="-122"/>
                <a:cs typeface="Calibri" pitchFamily="34" charset="-120"/>
              </a:rPr>
              <a:t>SAME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Shape 76"/>
          <p:cNvSpPr/>
          <p:nvPr/>
        </p:nvSpPr>
        <p:spPr>
          <a:xfrm>
            <a:off x="9786275"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7"/>
          <p:cNvSpPr/>
          <p:nvPr/>
        </p:nvSpPr>
        <p:spPr>
          <a:xfrm rot="5400000">
            <a:off x="9813707"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8"/>
          <p:cNvSpPr/>
          <p:nvPr/>
        </p:nvSpPr>
        <p:spPr>
          <a:xfrm>
            <a:off x="9960011"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txBox="1"/>
          <p:nvPr/>
        </p:nvSpPr>
        <p:spPr>
          <a:xfrm>
            <a:off x="10051451"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Write-IncidentVerdict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80"/>
          <p:cNvSpPr txBox="1"/>
          <p:nvPr/>
        </p:nvSpPr>
        <p:spPr>
          <a:xfrm>
            <a:off x="10051451"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Once per incident: cause, downstream, unrelated or forgotten. Clusters of one are demoted. Then LastRun moves.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Shape 81"/>
          <p:cNvSpPr/>
          <p:nvPr/>
        </p:nvSpPr>
        <p:spPr>
          <a:xfrm>
            <a:off x="594360" y="5230368"/>
            <a:ext cx="11002975" cy="896112"/>
          </a:xfrm>
          <a:prstGeom prst="roundRect">
            <a:avLst>
              <a:gd name="adj" fmla="val 6122"/>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2"/>
          <p:cNvSpPr txBox="1"/>
          <p:nvPr/>
        </p:nvSpPr>
        <p:spPr>
          <a:xfrm>
            <a:off x="758952" y="5358384"/>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GETINCIDENTS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Text 83"/>
          <p:cNvSpPr txBox="1"/>
          <p:nvPr/>
        </p:nvSpPr>
        <p:spPr>
          <a:xfrm>
            <a:off x="758952" y="5577840"/>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HTTP, when the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workbook refreshes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Shape 84"/>
          <p:cNvSpPr/>
          <p:nvPr/>
        </p:nvSpPr>
        <p:spPr>
          <a:xfrm>
            <a:off x="2606040" y="5367528"/>
            <a:ext cx="2783738" cy="621792"/>
          </a:xfrm>
          <a:prstGeom prst="roundRect">
            <a:avLst>
              <a:gd name="adj" fmla="val 7353"/>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5"/>
          <p:cNvSpPr txBox="1"/>
          <p:nvPr/>
        </p:nvSpPr>
        <p:spPr>
          <a:xfrm>
            <a:off x="2697480"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Read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Text 86"/>
          <p:cNvSpPr txBox="1"/>
          <p:nvPr/>
        </p:nvSpPr>
        <p:spPr>
          <a:xfrm>
            <a:off x="2697480"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Incidents open in the last 2 hours, plus their Events rows. Imports Plumbing.psm1 and nothing else.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Shape 87"/>
          <p:cNvSpPr/>
          <p:nvPr/>
        </p:nvSpPr>
        <p:spPr>
          <a:xfrm>
            <a:off x="5417210" y="5662422"/>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8"/>
          <p:cNvSpPr/>
          <p:nvPr/>
        </p:nvSpPr>
        <p:spPr>
          <a:xfrm rot="5400000">
            <a:off x="5563514" y="560984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89"/>
          <p:cNvSpPr/>
          <p:nvPr/>
        </p:nvSpPr>
        <p:spPr>
          <a:xfrm>
            <a:off x="5709818" y="5367528"/>
            <a:ext cx="2783738" cy="621792"/>
          </a:xfrm>
          <a:prstGeom prst="roundRect">
            <a:avLst>
              <a:gd name="adj" fmla="val 7353"/>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txBox="1"/>
          <p:nvPr/>
        </p:nvSpPr>
        <p:spPr>
          <a:xfrm>
            <a:off x="5801258"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Shape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Text 91"/>
          <p:cNvSpPr txBox="1"/>
          <p:nvPr/>
        </p:nvSpPr>
        <p:spPr>
          <a:xfrm>
            <a:off x="5801258"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?view= raw · summary · sources · tree · incidents · symptoms - one per visual on the workbook.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Shape 92"/>
          <p:cNvSpPr/>
          <p:nvPr/>
        </p:nvSpPr>
        <p:spPr>
          <a:xfrm>
            <a:off x="8520989" y="5662422"/>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3"/>
          <p:cNvSpPr/>
          <p:nvPr/>
        </p:nvSpPr>
        <p:spPr>
          <a:xfrm rot="5400000">
            <a:off x="8667293" y="560984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4"/>
          <p:cNvSpPr/>
          <p:nvPr/>
        </p:nvSpPr>
        <p:spPr>
          <a:xfrm>
            <a:off x="8813597" y="5367528"/>
            <a:ext cx="2783738" cy="621792"/>
          </a:xfrm>
          <a:prstGeom prst="roundRect">
            <a:avLst>
              <a:gd name="adj" fmla="val 7353"/>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Text 95"/>
          <p:cNvSpPr txBox="1"/>
          <p:nvPr/>
        </p:nvSpPr>
        <p:spPr>
          <a:xfrm>
            <a:off x="8905037"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Answer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Text 96"/>
          <p:cNvSpPr txBox="1"/>
          <p:nvPr/>
        </p:nvSpPr>
        <p:spPr>
          <a:xfrm>
            <a:off x="8905037"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JSON the workbook can colour. No correlation logic lives here; it is presentation only.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Text 97"/>
          <p:cNvSpPr txBox="1"/>
          <p:nvPr/>
        </p:nvSpPr>
        <p:spPr>
          <a:xfrm>
            <a:off x="594360" y="6236208"/>
            <a:ext cx="11002975" cy="384048"/>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first two questions are not two passes. </a:t>
            </a: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They are the two halves of one row address - </a:t>
            </a:r>
            <a:r>
              <a:rPr kumimoji="0" lang="en-US" sz="11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Events(PartitionKey = incident id, RowKey = fingerprint)</a:t>
            </a: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 and the code works out the incident before the symptom.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5B9BD5"/>
                </a:solidFill>
                <a:effectLst/>
                <a:uLnTx/>
                <a:uFillTx/>
                <a:latin typeface="Calibri" pitchFamily="34" charset="0"/>
                <a:ea typeface="Calibri" pitchFamily="34" charset="-122"/>
                <a:cs typeface="Calibri" pitchFamily="34" charset="-120"/>
              </a:rPr>
              <a:t>NORMALIZE.PSM1  ·  122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Three shapes, one object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6949440" cy="1849831"/>
          </a:xfrm>
          <a:prstGeom prst="roundRect">
            <a:avLst>
              <a:gd name="adj" fmla="val 296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1892930"/>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function Get-PayloadShape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204352"/>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if ($Payload.records)         { 'appinsights' }  # diagnostic setting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587020"/>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if ($Payload.data.essentials) { 'alert' }        # common alert schema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2981567"/>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if ($Payload.tool)            { 'script' }       # our own senders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265277"/>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863840" y="1783080"/>
            <a:ext cx="3749040" cy="1849831"/>
          </a:xfrm>
          <a:prstGeom prst="roundRect">
            <a:avLst>
              <a:gd name="adj" fmla="val 296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8138160" y="1938528"/>
            <a:ext cx="3291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Out the other side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8138160" y="2304288"/>
            <a:ext cx="3291840" cy="10058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Source  	Kind     	Time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Severity 	Title   	Message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8FA3B8"/>
                </a:solidFill>
                <a:effectLst/>
                <a:uLnTx/>
                <a:uFillTx/>
                <a:latin typeface="Courier New" pitchFamily="34" charset="0"/>
                <a:ea typeface="Courier New" pitchFamily="34" charset="-122"/>
                <a:cs typeface="Courier New" pitchFamily="34" charset="-120"/>
              </a:rPr>
              <a:t>TraceId</a:t>
            </a:r>
            <a:r>
              <a:rPr kumimoji="0" lang="en-US" sz="11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Host     	Resource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94360" y="3998671"/>
            <a:ext cx="11002975" cy="1143000"/>
          </a:xfrm>
          <a:prstGeom prst="roundRect">
            <a:avLst>
              <a:gd name="adj" fmla="val 4800"/>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868680" y="4199839"/>
            <a:ext cx="10454335"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Every source disagrees about field names. </a:t>
            </a:r>
            <a:r>
              <a:rPr kumimoji="0" lang="en-US" sz="15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OperationId or operation_Id. TimeGenerated or time or timestamp. Nothing downstream can be written until one object comes out of here - and this is the part everyone underestimates when they plan a pipeline like this.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IS THIS THE SAME SYMPTOM?</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Deduplication is three lines</a:t>
            </a:r>
            <a:endParaRPr lang="en-US" sz="3600" dirty="0"/>
          </a:p>
        </p:txBody>
      </p:sp>
      <p:sp>
        <p:nvSpPr>
          <p:cNvPr id="5" name="Shape 2"/>
          <p:cNvSpPr/>
          <p:nvPr/>
        </p:nvSpPr>
        <p:spPr>
          <a:xfrm>
            <a:off x="594360" y="1783080"/>
            <a:ext cx="11002975" cy="1340876"/>
          </a:xfrm>
          <a:prstGeom prst="roundRect">
            <a:avLst>
              <a:gd name="adj" fmla="val 4092"/>
            </a:avLst>
          </a:prstGeom>
          <a:solidFill>
            <a:srgbClr val="19242F"/>
          </a:solidFill>
          <a:ln/>
        </p:spPr>
        <p:txBody>
          <a:bodyPr/>
          <a:p/>
        </p:txBody>
      </p:sp>
      <p:sp>
        <p:nvSpPr>
          <p:cNvPr id="6" name="Text 3"/>
          <p:cNvSpPr txBox="1"/>
          <p:nvPr/>
        </p:nvSpPr>
        <p:spPr>
          <a:xfrm>
            <a:off x="914400" y="2011680"/>
            <a:ext cx="10362895" cy="309799"/>
          </a:xfrm>
          <a:prstGeom prst="rect">
            <a:avLst/>
          </a:prstGeom>
          <a:noFill/>
          <a:ln/>
        </p:spPr>
        <p:txBody>
          <a:bodyPr wrap="square" lIns="0" tIns="0" rIns="0" bIns="0" rtlCol="0" anchor="ctr"/>
          <a:lstStyle/>
          <a:p>
            <a:pPr indent="0" marL="0">
              <a:buNone/>
            </a:pPr>
            <a:r>
              <a:rPr lang="en-US" sz="1400" dirty="0">
                <a:solidFill>
                  <a:srgbClr val="E8A33D"/>
                </a:solidFill>
                <a:latin typeface="Courier New" pitchFamily="34" charset="0"/>
                <a:ea typeface="Courier New" pitchFamily="34" charset="-122"/>
                <a:cs typeface="Courier New" pitchFamily="34" charset="-120"/>
              </a:rPr>
              <a:t>$title = $Event.Title -replace '\d+', 'N'          # 480 ms and 8 ms are the same symptom</a:t>
            </a:r>
            <a:endParaRPr lang="en-US" sz="1400" dirty="0"/>
          </a:p>
        </p:txBody>
      </p:sp>
      <p:sp>
        <p:nvSpPr>
          <p:cNvPr id="7" name="Text 4"/>
          <p:cNvSpPr txBox="1"/>
          <p:nvPr/>
        </p:nvSpPr>
        <p:spPr>
          <a:xfrm>
            <a:off x="914400" y="2321479"/>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$seed  = "$Source|$Kind|$title|$ResourceId|$Host".ToLowerInvariant()</a:t>
            </a:r>
            <a:endParaRPr lang="en-US" sz="1400" dirty="0"/>
          </a:p>
        </p:txBody>
      </p:sp>
      <p:sp>
        <p:nvSpPr>
          <p:cNvPr id="8" name="Text 5"/>
          <p:cNvSpPr txBox="1"/>
          <p:nvPr/>
        </p:nvSpPr>
        <p:spPr>
          <a:xfrm>
            <a:off x="914400" y="2631277"/>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$hash  = [Security.Cryptography.SHA256]::HashData([Text.Encoding]::UTF8.GetBytes($seed))</a:t>
            </a:r>
            <a:endParaRPr lang="en-US" sz="1400" dirty="0"/>
          </a:p>
        </p:txBody>
      </p:sp>
      <p:sp>
        <p:nvSpPr>
          <p:cNvPr id="9" name="Shape 6"/>
          <p:cNvSpPr/>
          <p:nvPr/>
        </p:nvSpPr>
        <p:spPr>
          <a:xfrm>
            <a:off x="594360" y="3398276"/>
            <a:ext cx="5257800" cy="1783080"/>
          </a:xfrm>
          <a:prstGeom prst="roundRect">
            <a:avLst>
              <a:gd name="adj" fmla="val 3077"/>
            </a:avLst>
          </a:prstGeom>
          <a:solidFill>
            <a:srgbClr val="19242F"/>
          </a:solidFill>
          <a:ln/>
        </p:spPr>
        <p:txBody>
          <a:bodyPr/>
          <a:p/>
        </p:txBody>
      </p:sp>
      <p:sp>
        <p:nvSpPr>
          <p:cNvPr id="10" name="Text 7"/>
          <p:cNvSpPr txBox="1"/>
          <p:nvPr/>
        </p:nvSpPr>
        <p:spPr>
          <a:xfrm>
            <a:off x="914400" y="3535436"/>
            <a:ext cx="4617720" cy="292608"/>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What goes in</a:t>
            </a:r>
            <a:endParaRPr lang="en-US" sz="1500" dirty="0"/>
          </a:p>
        </p:txBody>
      </p:sp>
      <p:sp>
        <p:nvSpPr>
          <p:cNvPr id="11" name="Text 8"/>
          <p:cNvSpPr txBox="1"/>
          <p:nvPr/>
        </p:nvSpPr>
        <p:spPr>
          <a:xfrm>
            <a:off x="914400" y="3855476"/>
            <a:ext cx="4617720" cy="1280160"/>
          </a:xfrm>
          <a:prstGeom prst="rect">
            <a:avLst/>
          </a:prstGeom>
          <a:noFill/>
          <a:ln/>
        </p:spPr>
        <p:txBody>
          <a:bodyPr wrap="square" lIns="0" tIns="0" rIns="0" bIns="0" rtlCol="0" anchor="ctr"/>
          <a:lstStyle/>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410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455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480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512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498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466 ms, sustained</a:t>
            </a:r>
            <a:endParaRPr lang="en-US" sz="1100" dirty="0"/>
          </a:p>
        </p:txBody>
      </p:sp>
      <p:sp>
        <p:nvSpPr>
          <p:cNvPr id="12" name="Text 9"/>
          <p:cNvSpPr txBox="1"/>
          <p:nvPr/>
        </p:nvSpPr>
        <p:spPr>
          <a:xfrm>
            <a:off x="5897880" y="4038356"/>
            <a:ext cx="45720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&gt;</a:t>
            </a:r>
            <a:endParaRPr lang="en-US" sz="2600" dirty="0"/>
          </a:p>
        </p:txBody>
      </p:sp>
      <p:sp>
        <p:nvSpPr>
          <p:cNvPr id="13" name="Shape 10"/>
          <p:cNvSpPr/>
          <p:nvPr/>
        </p:nvSpPr>
        <p:spPr>
          <a:xfrm>
            <a:off x="6355080" y="3398276"/>
            <a:ext cx="5257800" cy="1783080"/>
          </a:xfrm>
          <a:prstGeom prst="roundRect">
            <a:avLst>
              <a:gd name="adj" fmla="val 3077"/>
            </a:avLst>
          </a:prstGeom>
          <a:solidFill>
            <a:srgbClr val="223140"/>
          </a:solidFill>
          <a:ln/>
        </p:spPr>
        <p:txBody>
          <a:bodyPr/>
          <a:p/>
        </p:txBody>
      </p:sp>
      <p:sp>
        <p:nvSpPr>
          <p:cNvPr id="14" name="Text 11"/>
          <p:cNvSpPr txBox="1"/>
          <p:nvPr/>
        </p:nvSpPr>
        <p:spPr>
          <a:xfrm>
            <a:off x="6675120" y="3535436"/>
            <a:ext cx="4617720" cy="292608"/>
          </a:xfrm>
          <a:prstGeom prst="rect">
            <a:avLst/>
          </a:prstGeom>
          <a:noFill/>
          <a:ln/>
        </p:spPr>
        <p:txBody>
          <a:bodyPr wrap="square" lIns="0" tIns="0" rIns="0" bIns="0" rtlCol="0" anchor="ctr"/>
          <a:lstStyle/>
          <a:p>
            <a:pPr indent="0" marL="0">
              <a:buNone/>
            </a:pPr>
            <a:r>
              <a:rPr lang="en-US" sz="1500" b="1" dirty="0">
                <a:solidFill>
                  <a:srgbClr val="46B98A"/>
                </a:solidFill>
                <a:latin typeface="Calibri" pitchFamily="34" charset="0"/>
                <a:ea typeface="Calibri" pitchFamily="34" charset="-122"/>
                <a:cs typeface="Calibri" pitchFamily="34" charset="-120"/>
              </a:rPr>
              <a:t>What comes out</a:t>
            </a:r>
            <a:endParaRPr lang="en-US" sz="1500" dirty="0"/>
          </a:p>
        </p:txBody>
      </p:sp>
      <p:sp>
        <p:nvSpPr>
          <p:cNvPr id="15" name="Text 12"/>
          <p:cNvSpPr txBox="1"/>
          <p:nvPr/>
        </p:nvSpPr>
        <p:spPr>
          <a:xfrm>
            <a:off x="6675120" y="3965204"/>
            <a:ext cx="4617720" cy="32004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Disk read latency N ms, sustained</a:t>
            </a:r>
            <a:endParaRPr lang="en-US" sz="1300" dirty="0"/>
          </a:p>
        </p:txBody>
      </p:sp>
      <p:sp>
        <p:nvSpPr>
          <p:cNvPr id="16" name="Text 13"/>
          <p:cNvSpPr txBox="1"/>
          <p:nvPr/>
        </p:nvSpPr>
        <p:spPr>
          <a:xfrm>
            <a:off x="6675120" y="4422404"/>
            <a:ext cx="4617720" cy="32004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one row  ·  seen 6 times</a:t>
            </a:r>
            <a:endParaRPr lang="en-US" sz="1600" dirty="0"/>
          </a:p>
        </p:txBody>
      </p:sp>
      <p:sp>
        <p:nvSpPr>
          <p:cNvPr id="17" name="Shape 14"/>
          <p:cNvSpPr/>
          <p:nvPr/>
        </p:nvSpPr>
        <p:spPr>
          <a:xfrm>
            <a:off x="594360" y="5382524"/>
            <a:ext cx="11002975" cy="914400"/>
          </a:xfrm>
          <a:prstGeom prst="roundRect">
            <a:avLst>
              <a:gd name="adj" fmla="val 6000"/>
            </a:avLst>
          </a:prstGeom>
          <a:solidFill>
            <a:srgbClr val="223140"/>
          </a:solidFill>
          <a:ln/>
        </p:spPr>
        <p:txBody>
          <a:bodyPr/>
          <a:p/>
        </p:txBody>
      </p:sp>
      <p:sp>
        <p:nvSpPr>
          <p:cNvPr id="18" name="Text 15"/>
          <p:cNvSpPr txBox="1"/>
          <p:nvPr/>
        </p:nvSpPr>
        <p:spPr>
          <a:xfrm>
            <a:off x="868680" y="5583692"/>
            <a:ext cx="10454335"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Every run of digits collapses.  </a:t>
            </a:r>
            <a:pPr indent="0" marL="0">
              <a:buNone/>
            </a:pPr>
            <a:r>
              <a:rPr lang="en-US" sz="1400" dirty="0">
                <a:solidFill>
                  <a:srgbClr val="8FA3B8"/>
                </a:solidFill>
                <a:latin typeface="Calibri" pitchFamily="34" charset="0"/>
                <a:ea typeface="Calibri" pitchFamily="34" charset="-122"/>
                <a:cs typeface="Calibri" pitchFamily="34" charset="-120"/>
              </a:rPr>
              <a:t>Durations, counts, percentages and addresses are values, not identities - 300 identical checkout failures become one row with a count, not 300 rows.  </a:t>
            </a:r>
            <a:pPr indent="0" marL="0">
              <a:buNone/>
            </a:pPr>
            <a:r>
              <a:rPr lang="en-US" sz="1400" b="1" dirty="0">
                <a:solidFill>
                  <a:srgbClr val="E8A33D"/>
                </a:solidFill>
                <a:latin typeface="Calibri" pitchFamily="34" charset="0"/>
                <a:ea typeface="Calibri" pitchFamily="34" charset="-122"/>
                <a:cs typeface="Calibri" pitchFamily="34" charset="-120"/>
              </a:rPr>
              <a:t>The honest cost: </a:t>
            </a:r>
            <a:pPr indent="0" marL="0">
              <a:buNone/>
            </a:pPr>
            <a:r>
              <a:rPr lang="en-US" sz="1400" dirty="0">
                <a:solidFill>
                  <a:srgbClr val="8FA3B8"/>
                </a:solidFill>
                <a:latin typeface="Calibri" pitchFamily="34" charset="0"/>
                <a:ea typeface="Calibri" pitchFamily="34" charset="-122"/>
                <a:cs typeface="Calibri" pitchFamily="34" charset="-120"/>
              </a:rPr>
              <a:t>"Port 22 closed" and "Port 443 closed" collapse together too.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Identity is derived, not invented</a:t>
            </a:r>
            <a:endParaRPr lang="en-US" sz="3600" dirty="0"/>
          </a:p>
        </p:txBody>
      </p:sp>
      <p:sp>
        <p:nvSpPr>
          <p:cNvPr id="5" name="Shape 2"/>
          <p:cNvSpPr/>
          <p:nvPr/>
        </p:nvSpPr>
        <p:spPr>
          <a:xfrm>
            <a:off x="594360" y="1783080"/>
            <a:ext cx="11002975" cy="2712842"/>
          </a:xfrm>
          <a:prstGeom prst="roundRect">
            <a:avLst>
              <a:gd name="adj" fmla="val 2022"/>
            </a:avLst>
          </a:prstGeom>
          <a:solidFill>
            <a:srgbClr val="19242F"/>
          </a:solidFill>
          <a:ln/>
        </p:spPr>
        <p:txBody>
          <a:bodyPr/>
          <a:p/>
        </p:txBody>
      </p:sp>
      <p:sp>
        <p:nvSpPr>
          <p:cNvPr id="6" name="Text 3"/>
          <p:cNvSpPr txBox="1"/>
          <p:nvPr/>
        </p:nvSpPr>
        <p:spPr>
          <a:xfrm>
            <a:off x="914400" y="2011680"/>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function Get-PrimaryKey {</a:t>
            </a:r>
            <a:endParaRPr lang="en-US" sz="1300" dirty="0"/>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if ($Event.Host)       { return "host:$($Event.Host)" }             # a machine name</a:t>
            </a:r>
            <a:endParaRPr lang="en-US" sz="1300" dirty="0"/>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($Event.ResourceId) { return "resource:$($Event.ResourceId)" }   # an Azure resource</a:t>
            </a:r>
            <a:endParaRPr lang="en-US" sz="1300" dirty="0"/>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($Event.Service)    { return "service:$($Event.Service)" }       # a role, when there is no host</a:t>
            </a:r>
            <a:endParaRPr lang="en-US" sz="1300" dirty="0"/>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indent="0" marL="0">
              <a:buNone/>
            </a:pPr>
            <a:r>
              <a:rPr lang="en-US" sz="1300" dirty="0">
                <a:solidFill>
                  <a:srgbClr val="7C90A6"/>
                </a:solidFill>
                <a:latin typeface="Courier New" pitchFamily="34" charset="0"/>
                <a:ea typeface="Courier New" pitchFamily="34" charset="-122"/>
                <a:cs typeface="Courier New" pitchFamily="34" charset="-120"/>
              </a:rPr>
              <a:t>    if ($Event.TraceId)    { return "trace:$($Event.TraceId)" }         # last: one per request</a:t>
            </a:r>
            <a:endParaRPr lang="en-US" sz="1300" dirty="0"/>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indent="0" marL="0">
              <a:buNone/>
            </a:pPr>
            <a:endParaRPr lang="en-US" sz="1300" dirty="0"/>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indent="0" marL="0">
              <a:buNone/>
            </a:pPr>
            <a:r>
              <a:rPr lang="en-US" sz="1300" dirty="0">
                <a:solidFill>
                  <a:srgbClr val="46B98A"/>
                </a:solidFill>
                <a:latin typeface="Courier New" pitchFamily="34" charset="0"/>
                <a:ea typeface="Courier New" pitchFamily="34" charset="-122"/>
                <a:cs typeface="Courier New" pitchFamily="34" charset="-120"/>
              </a:rPr>
              <a:t>$incidentId = 'inc-' + (Sha256 $primaryKey).Substring(0, 12)</a:t>
            </a:r>
            <a:endParaRPr lang="en-US" sz="1300" dirty="0"/>
          </a:p>
        </p:txBody>
      </p:sp>
      <p:sp>
        <p:nvSpPr>
          <p:cNvPr id="14" name="Shape 11"/>
          <p:cNvSpPr/>
          <p:nvPr/>
        </p:nvSpPr>
        <p:spPr>
          <a:xfrm>
            <a:off x="594360" y="4815962"/>
            <a:ext cx="11002975" cy="1188720"/>
          </a:xfrm>
          <a:prstGeom prst="roundRect">
            <a:avLst>
              <a:gd name="adj" fmla="val 4615"/>
            </a:avLst>
          </a:prstGeom>
          <a:solidFill>
            <a:srgbClr val="223140"/>
          </a:solidFill>
          <a:ln/>
        </p:spPr>
        <p:txBody>
          <a:bodyPr/>
          <a:p/>
        </p:txBody>
      </p:sp>
      <p:sp>
        <p:nvSpPr>
          <p:cNvPr id="15" name="Text 12"/>
          <p:cNvSpPr txBox="1"/>
          <p:nvPr/>
        </p:nvSpPr>
        <p:spPr>
          <a:xfrm>
            <a:off x="868680" y="5017130"/>
            <a:ext cx="10454335" cy="82296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First match wins, and the id is a hash of it. </a:t>
            </a:r>
            <a:pPr indent="0" marL="0">
              <a:buNone/>
            </a:pPr>
            <a:r>
              <a:rPr lang="en-US" sz="1600" dirty="0">
                <a:solidFill>
                  <a:srgbClr val="E9EFF6"/>
                </a:solidFill>
                <a:latin typeface="Calibri" pitchFamily="34" charset="0"/>
                <a:ea typeface="Calibri" pitchFamily="34" charset="-122"/>
                <a:cs typeface="Calibri" pitchFamily="34" charset="-120"/>
              </a:rPr>
              <a:t>Four tools reporting sql-prod-03 all produce the same key, so they all produce the same incident id - nothing is looked up, nothing is generated, nothing can drift. The same host always lands in the same incident.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46B98A"/>
                </a:solidFill>
                <a:latin typeface="Calibri" pitchFamily="34" charset="0"/>
                <a:ea typeface="Calibri" pitchFamily="34" charset="-122"/>
                <a:cs typeface="Calibri" pitchFamily="34" charset="-120"/>
              </a:rPr>
              <a:t>THE PART WORTH ARGUING ABOUT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Instrumentation earns the correlation</a:t>
            </a:r>
            <a:endParaRPr lang="en-US" sz="3600" dirty="0"/>
          </a:p>
        </p:txBody>
      </p:sp>
      <p:sp>
        <p:nvSpPr>
          <p:cNvPr id="5" name="Shape 2"/>
          <p:cNvSpPr/>
          <p:nvPr/>
        </p:nvSpPr>
        <p:spPr>
          <a:xfrm>
            <a:off x="594360" y="1783080"/>
            <a:ext cx="5943600" cy="2834640"/>
          </a:xfrm>
          <a:prstGeom prst="roundRect">
            <a:avLst>
              <a:gd name="adj" fmla="val 1935"/>
            </a:avLst>
          </a:prstGeom>
          <a:solidFill>
            <a:srgbClr val="19242F"/>
          </a:solidFill>
          <a:ln/>
        </p:spPr>
        <p:txBody>
          <a:bodyPr/>
          <a:lstStyle/>
          <a:p>
            <a:endParaRPr lang="en-US"/>
          </a:p>
        </p:txBody>
      </p:sp>
      <p:sp>
        <p:nvSpPr>
          <p:cNvPr id="6" name="Text 3"/>
          <p:cNvSpPr txBox="1"/>
          <p:nvPr/>
        </p:nvSpPr>
        <p:spPr>
          <a:xfrm>
            <a:off x="868680" y="1920240"/>
            <a:ext cx="5394960" cy="274320"/>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store_api.py</a:t>
            </a:r>
            <a:endParaRPr lang="en-US" sz="1200" dirty="0"/>
          </a:p>
        </p:txBody>
      </p:sp>
      <p:sp>
        <p:nvSpPr>
          <p:cNvPr id="7" name="Text 4"/>
          <p:cNvSpPr txBox="1"/>
          <p:nvPr/>
        </p:nvSpPr>
        <p:spPr>
          <a:xfrm>
            <a:off x="868680" y="2240280"/>
            <a:ext cx="5394960" cy="246888"/>
          </a:xfrm>
          <a:prstGeom prst="rect">
            <a:avLst/>
          </a:prstGeom>
          <a:noFill/>
          <a:ln/>
        </p:spPr>
        <p:txBody>
          <a:bodyPr wrap="square" lIns="0" tIns="0" rIns="0" bIns="0" rtlCol="0" anchor="ctr"/>
          <a:lstStyle/>
          <a:p>
            <a:pPr marL="0" indent="0">
              <a:buNone/>
            </a:pPr>
            <a:r>
              <a:rPr lang="en-US" sz="1200" dirty="0">
                <a:solidFill>
                  <a:srgbClr val="E9EFF6"/>
                </a:solidFill>
                <a:latin typeface="Courier New" pitchFamily="34" charset="0"/>
                <a:ea typeface="Courier New" pitchFamily="34" charset="-122"/>
                <a:cs typeface="Courier New" pitchFamily="34" charset="-120"/>
              </a:rPr>
              <a:t>with tracer.start_as_current_span(</a:t>
            </a:r>
            <a:endParaRPr lang="en-US" sz="1200" dirty="0"/>
          </a:p>
        </p:txBody>
      </p:sp>
      <p:sp>
        <p:nvSpPr>
          <p:cNvPr id="8" name="Text 5"/>
          <p:cNvSpPr txBox="1"/>
          <p:nvPr/>
        </p:nvSpPr>
        <p:spPr>
          <a:xfrm>
            <a:off x="868680" y="2505456"/>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"SELECT payments.pending",</a:t>
            </a:r>
            <a:endParaRPr lang="en-US" sz="1200" dirty="0"/>
          </a:p>
        </p:txBody>
      </p:sp>
      <p:sp>
        <p:nvSpPr>
          <p:cNvPr id="9" name="Text 6"/>
          <p:cNvSpPr txBox="1"/>
          <p:nvPr/>
        </p:nvSpPr>
        <p:spPr>
          <a:xfrm>
            <a:off x="868680" y="2770632"/>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kind=trace.SpanKind.CLIENT,</a:t>
            </a:r>
            <a:endParaRPr lang="en-US" sz="1200" dirty="0"/>
          </a:p>
        </p:txBody>
      </p:sp>
      <p:sp>
        <p:nvSpPr>
          <p:cNvPr id="10" name="Text 7"/>
          <p:cNvSpPr txBox="1"/>
          <p:nvPr/>
        </p:nvSpPr>
        <p:spPr>
          <a:xfrm>
            <a:off x="868680" y="3035808"/>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attributes={</a:t>
            </a:r>
            <a:endParaRPr lang="en-US" sz="1200" dirty="0"/>
          </a:p>
        </p:txBody>
      </p:sp>
      <p:sp>
        <p:nvSpPr>
          <p:cNvPr id="11" name="Text 8"/>
          <p:cNvSpPr txBox="1"/>
          <p:nvPr/>
        </p:nvSpPr>
        <p:spPr>
          <a:xfrm>
            <a:off x="868680" y="3300984"/>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"db.system": "mssql",</a:t>
            </a:r>
            <a:endParaRPr lang="en-US" sz="1200" dirty="0"/>
          </a:p>
        </p:txBody>
      </p:sp>
      <p:sp>
        <p:nvSpPr>
          <p:cNvPr id="12" name="Text 9"/>
          <p:cNvSpPr txBox="1"/>
          <p:nvPr/>
        </p:nvSpPr>
        <p:spPr>
          <a:xfrm>
            <a:off x="868680" y="3566160"/>
            <a:ext cx="5394960" cy="246888"/>
          </a:xfrm>
          <a:prstGeom prst="rect">
            <a:avLst/>
          </a:prstGeom>
          <a:noFill/>
          <a:ln/>
        </p:spPr>
        <p:txBody>
          <a:bodyPr wrap="square" lIns="0" tIns="0" rIns="0" bIns="0" rtlCol="0" anchor="ctr"/>
          <a:lstStyle/>
          <a:p>
            <a:pPr marL="0" indent="0">
              <a:buNone/>
            </a:pPr>
            <a:r>
              <a:rPr lang="en-US" sz="1200" dirty="0">
                <a:solidFill>
                  <a:srgbClr val="46B98A"/>
                </a:solidFill>
                <a:latin typeface="Courier New" pitchFamily="34" charset="0"/>
                <a:ea typeface="Courier New" pitchFamily="34" charset="-122"/>
                <a:cs typeface="Courier New" pitchFamily="34" charset="-120"/>
              </a:rPr>
              <a:t>        "server.address": "sql-prod-03",</a:t>
            </a:r>
            <a:endParaRPr lang="en-US" sz="1200" dirty="0"/>
          </a:p>
        </p:txBody>
      </p:sp>
      <p:sp>
        <p:nvSpPr>
          <p:cNvPr id="13" name="Text 10"/>
          <p:cNvSpPr txBox="1"/>
          <p:nvPr/>
        </p:nvSpPr>
        <p:spPr>
          <a:xfrm>
            <a:off x="868680" y="3831336"/>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a:t>
            </a:r>
            <a:endParaRPr lang="en-US" sz="1200" dirty="0"/>
          </a:p>
        </p:txBody>
      </p:sp>
      <p:sp>
        <p:nvSpPr>
          <p:cNvPr id="14" name="Text 11"/>
          <p:cNvSpPr txBox="1"/>
          <p:nvPr/>
        </p:nvSpPr>
        <p:spPr>
          <a:xfrm>
            <a:off x="868680" y="4096512"/>
            <a:ext cx="5394960" cy="246888"/>
          </a:xfrm>
          <a:prstGeom prst="rect">
            <a:avLst/>
          </a:prstGeom>
          <a:noFill/>
          <a:ln/>
        </p:spPr>
        <p:txBody>
          <a:bodyPr wrap="square" lIns="0" tIns="0" rIns="0" bIns="0" rtlCol="0" anchor="ctr"/>
          <a:lstStyle/>
          <a:p>
            <a:pPr marL="0" indent="0">
              <a:buNone/>
            </a:pPr>
            <a:r>
              <a:rPr lang="en-US" sz="1200" dirty="0">
                <a:solidFill>
                  <a:srgbClr val="E9EFF6"/>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6903720" y="1783080"/>
            <a:ext cx="4709160" cy="2834640"/>
          </a:xfrm>
          <a:prstGeom prst="roundRect">
            <a:avLst>
              <a:gd name="adj" fmla="val 1935"/>
            </a:avLst>
          </a:prstGeom>
          <a:solidFill>
            <a:srgbClr val="223140"/>
          </a:solidFill>
          <a:ln/>
        </p:spPr>
        <p:txBody>
          <a:bodyPr/>
          <a:lstStyle/>
          <a:p>
            <a:endParaRPr lang="en-US"/>
          </a:p>
        </p:txBody>
      </p:sp>
      <p:sp>
        <p:nvSpPr>
          <p:cNvPr id="16" name="Text 13"/>
          <p:cNvSpPr txBox="1"/>
          <p:nvPr/>
        </p:nvSpPr>
        <p:spPr>
          <a:xfrm>
            <a:off x="7178040" y="1965960"/>
            <a:ext cx="420624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What that buys</a:t>
            </a:r>
            <a:endParaRPr lang="en-US" sz="1900" dirty="0"/>
          </a:p>
        </p:txBody>
      </p:sp>
      <p:sp>
        <p:nvSpPr>
          <p:cNvPr id="17" name="Text 14"/>
          <p:cNvSpPr txBox="1"/>
          <p:nvPr/>
        </p:nvSpPr>
        <p:spPr>
          <a:xfrm>
            <a:off x="7223760" y="2468880"/>
            <a:ext cx="4114800" cy="19202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8FA3B8"/>
                </a:solidFill>
                <a:latin typeface="Calibri" pitchFamily="34" charset="0"/>
                <a:ea typeface="Calibri" pitchFamily="34" charset="-122"/>
                <a:cs typeface="Calibri" pitchFamily="34" charset="-120"/>
              </a:rPr>
              <a:t>App Insights exports the dependency with Target = sql-prod-03</a:t>
            </a:r>
            <a:endParaRPr lang="en-US" sz="1400" dirty="0"/>
          </a:p>
          <a:p>
            <a:pPr marL="342900" indent="-342900">
              <a:spcAft>
                <a:spcPts val="900"/>
              </a:spcAft>
              <a:buSzPct val="100000"/>
              <a:buChar char="•"/>
            </a:pPr>
            <a:r>
              <a:rPr lang="en-US" sz="1400" dirty="0">
                <a:solidFill>
                  <a:srgbClr val="8FA3B8"/>
                </a:solidFill>
                <a:latin typeface="Calibri" pitchFamily="34" charset="0"/>
                <a:ea typeface="Calibri" pitchFamily="34" charset="-122"/>
                <a:cs typeface="Calibri" pitchFamily="34" charset="-120"/>
              </a:rPr>
              <a:t>The pipeline reads that as a host</a:t>
            </a:r>
            <a:endParaRPr lang="en-US" sz="1400" dirty="0"/>
          </a:p>
          <a:p>
            <a:pPr marL="342900" indent="-342900">
              <a:spcAft>
                <a:spcPts val="900"/>
              </a:spcAft>
              <a:buSzPct val="100000"/>
              <a:buChar char="•"/>
            </a:pPr>
            <a:r>
              <a:rPr lang="en-US" sz="1400" dirty="0">
                <a:solidFill>
                  <a:srgbClr val="8FA3B8"/>
                </a:solidFill>
                <a:latin typeface="Calibri" pitchFamily="34" charset="0"/>
                <a:ea typeface="Calibri" pitchFamily="34" charset="-122"/>
                <a:cs typeface="Calibri" pitchFamily="34" charset="-120"/>
              </a:rPr>
              <a:t>The app's failure joins the database's incident</a:t>
            </a:r>
            <a:endParaRPr lang="en-US" sz="1400" dirty="0"/>
          </a:p>
          <a:p>
            <a:pPr marL="342900" indent="-342900">
              <a:spcAft>
                <a:spcPts val="900"/>
              </a:spcAft>
              <a:buSzPct val="100000"/>
              <a:buChar char="•"/>
            </a:pPr>
            <a:r>
              <a:rPr lang="en-US" sz="1400" b="1" dirty="0">
                <a:solidFill>
                  <a:srgbClr val="46B98A"/>
                </a:solidFill>
                <a:latin typeface="Calibri" pitchFamily="34" charset="0"/>
                <a:ea typeface="Calibri" pitchFamily="34" charset="-122"/>
                <a:cs typeface="Calibri" pitchFamily="34" charset="-120"/>
              </a:rPr>
              <a:t>No model. No prompt. No tokens.</a:t>
            </a:r>
            <a:endParaRPr lang="en-US" sz="1400" dirty="0"/>
          </a:p>
        </p:txBody>
      </p:sp>
      <p:sp>
        <p:nvSpPr>
          <p:cNvPr id="18" name="Shape 15"/>
          <p:cNvSpPr/>
          <p:nvPr/>
        </p:nvSpPr>
        <p:spPr>
          <a:xfrm>
            <a:off x="594360" y="4846320"/>
            <a:ext cx="11018520" cy="914400"/>
          </a:xfrm>
          <a:prstGeom prst="roundRect">
            <a:avLst>
              <a:gd name="adj" fmla="val 6000"/>
            </a:avLst>
          </a:prstGeom>
          <a:solidFill>
            <a:srgbClr val="19242F"/>
          </a:solidFill>
          <a:ln/>
        </p:spPr>
        <p:txBody>
          <a:bodyPr/>
          <a:lstStyle/>
          <a:p>
            <a:endParaRPr lang="en-US"/>
          </a:p>
        </p:txBody>
      </p:sp>
      <p:sp>
        <p:nvSpPr>
          <p:cNvPr id="19" name="Text 16"/>
          <p:cNvSpPr txBox="1"/>
          <p:nvPr/>
        </p:nvSpPr>
        <p:spPr>
          <a:xfrm>
            <a:off x="868680" y="5074920"/>
            <a:ext cx="10424160" cy="502920"/>
          </a:xfrm>
          <a:prstGeom prst="rect">
            <a:avLst/>
          </a:prstGeom>
          <a:noFill/>
          <a:ln/>
        </p:spPr>
        <p:txBody>
          <a:bodyPr wrap="square" lIns="0" tIns="0" rIns="0" bIns="0" rtlCol="0" anchor="ctr"/>
          <a:lstStyle/>
          <a:p>
            <a:pPr marL="0" indent="0">
              <a:buNone/>
            </a:pPr>
            <a:r>
              <a:rPr lang="en-US" sz="1700" b="1" dirty="0">
                <a:solidFill>
                  <a:srgbClr val="46B98A"/>
                </a:solidFill>
                <a:latin typeface="Calibri" pitchFamily="34" charset="0"/>
                <a:ea typeface="Calibri" pitchFamily="34" charset="-122"/>
                <a:cs typeface="Calibri" pitchFamily="34" charset="-120"/>
              </a:rPr>
              <a:t>Instrument properly and you need less AI. </a:t>
            </a:r>
            <a:r>
              <a:rPr lang="en-US" sz="1700" dirty="0">
                <a:solidFill>
                  <a:srgbClr val="E9EFF6"/>
                </a:solidFill>
                <a:latin typeface="Calibri" pitchFamily="34" charset="0"/>
                <a:ea typeface="Calibri" pitchFamily="34" charset="-122"/>
                <a:cs typeface="Calibri" pitchFamily="34" charset="-120"/>
              </a:rPr>
              <a:t>Shared keys are earned by good telemetry. The model is for the link nothing emitted.</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E8A33D"/>
                </a:solidFill>
                <a:latin typeface="Calibri" pitchFamily="34" charset="0"/>
                <a:ea typeface="Calibri" pitchFamily="34" charset="-122"/>
                <a:cs typeface="Calibri" pitchFamily="34" charset="-120"/>
              </a:rPr>
              <a:t>DEMO 2</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What arithmetic alone can do</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179 events collapse to 26 distinct symptoms, then 13 incidents</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Four tools reporting sql-prod-03 arrive as one incident</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laptop app sits inside it, because its span named the host</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And the room still cannot see the cause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SAME PROBLEM?  ·  WHERE THE MODEL EARNS IT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Some links only exist in the words</a:t>
            </a:r>
            <a:endParaRPr lang="en-US" sz="3600" dirty="0"/>
          </a:p>
        </p:txBody>
      </p:sp>
      <p:sp>
        <p:nvSpPr>
          <p:cNvPr id="5" name="Shape 2"/>
          <p:cNvSpPr/>
          <p:nvPr/>
        </p:nvSpPr>
        <p:spPr>
          <a:xfrm>
            <a:off x="594360" y="1828800"/>
            <a:ext cx="5257800" cy="1417320"/>
          </a:xfrm>
          <a:prstGeom prst="roundRect">
            <a:avLst>
              <a:gd name="adj" fmla="val 3871"/>
            </a:avLst>
          </a:prstGeom>
          <a:solidFill>
            <a:srgbClr val="19242F"/>
          </a:solidFill>
          <a:ln/>
        </p:spPr>
        <p:txBody>
          <a:bodyPr/>
          <a:lstStyle/>
          <a:p>
            <a:endParaRPr lang="en-US"/>
          </a:p>
        </p:txBody>
      </p:sp>
      <p:sp>
        <p:nvSpPr>
          <p:cNvPr id="6" name="Shape 3"/>
          <p:cNvSpPr/>
          <p:nvPr/>
        </p:nvSpPr>
        <p:spPr>
          <a:xfrm>
            <a:off x="868680" y="2084832"/>
            <a:ext cx="201168" cy="201168"/>
          </a:xfrm>
          <a:prstGeom prst="ellipse">
            <a:avLst/>
          </a:prstGeom>
          <a:solidFill>
            <a:srgbClr val="E8A33D"/>
          </a:solidFill>
          <a:ln/>
        </p:spPr>
        <p:txBody>
          <a:bodyPr/>
          <a:lstStyle/>
          <a:p>
            <a:endParaRPr lang="en-US"/>
          </a:p>
        </p:txBody>
      </p:sp>
      <p:sp>
        <p:nvSpPr>
          <p:cNvPr id="7" name="Text 4"/>
          <p:cNvSpPr txBox="1"/>
          <p:nvPr/>
        </p:nvSpPr>
        <p:spPr>
          <a:xfrm>
            <a:off x="1216152" y="1993392"/>
            <a:ext cx="4206240" cy="365760"/>
          </a:xfrm>
          <a:prstGeom prst="rect">
            <a:avLst/>
          </a:prstGeom>
          <a:noFill/>
          <a:ln/>
        </p:spPr>
        <p:txBody>
          <a:bodyPr wrap="square" lIns="0" tIns="0" rIns="0" bIns="0" rtlCol="0" anchor="ctr"/>
          <a:lstStyle/>
          <a:p>
            <a:pPr marL="0" indent="0">
              <a:buNone/>
            </a:pPr>
            <a:r>
              <a:rPr lang="en-US" sz="1500" b="1" dirty="0">
                <a:solidFill>
                  <a:srgbClr val="E9EFF6"/>
                </a:solidFill>
                <a:latin typeface="Courier New" pitchFamily="34" charset="0"/>
                <a:ea typeface="Courier New" pitchFamily="34" charset="-122"/>
                <a:cs typeface="Courier New" pitchFamily="34" charset="-120"/>
              </a:rPr>
              <a:t>backup-01</a:t>
            </a:r>
            <a:endParaRPr lang="en-US" sz="1500" dirty="0"/>
          </a:p>
        </p:txBody>
      </p:sp>
      <p:sp>
        <p:nvSpPr>
          <p:cNvPr id="8" name="Text 5"/>
          <p:cNvSpPr txBox="1"/>
          <p:nvPr/>
        </p:nvSpPr>
        <p:spPr>
          <a:xfrm>
            <a:off x="868680" y="2450592"/>
            <a:ext cx="4709160" cy="640080"/>
          </a:xfrm>
          <a:prstGeom prst="rect">
            <a:avLst/>
          </a:prstGeom>
          <a:noFill/>
          <a:ln/>
        </p:spPr>
        <p:txBody>
          <a:bodyPr wrap="square" lIns="0" tIns="0" rIns="0" bIns="0" rtlCol="0" anchor="ctr"/>
          <a:lstStyle/>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"Nightly backup of sql-prod-03 still running,</a:t>
            </a:r>
            <a:endParaRPr lang="en-US" sz="1200" dirty="0"/>
          </a:p>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4 hours over window"</a:t>
            </a:r>
            <a:endParaRPr lang="en-US" sz="1200" dirty="0"/>
          </a:p>
        </p:txBody>
      </p:sp>
      <p:sp>
        <p:nvSpPr>
          <p:cNvPr id="9" name="Shape 6"/>
          <p:cNvSpPr/>
          <p:nvPr/>
        </p:nvSpPr>
        <p:spPr>
          <a:xfrm>
            <a:off x="6355080" y="1828800"/>
            <a:ext cx="5257800" cy="1417320"/>
          </a:xfrm>
          <a:prstGeom prst="roundRect">
            <a:avLst>
              <a:gd name="adj" fmla="val 3871"/>
            </a:avLst>
          </a:prstGeom>
          <a:solidFill>
            <a:srgbClr val="19242F"/>
          </a:solidFill>
          <a:ln/>
        </p:spPr>
        <p:txBody>
          <a:bodyPr/>
          <a:lstStyle/>
          <a:p>
            <a:endParaRPr lang="en-US"/>
          </a:p>
        </p:txBody>
      </p:sp>
      <p:sp>
        <p:nvSpPr>
          <p:cNvPr id="10" name="Shape 7"/>
          <p:cNvSpPr/>
          <p:nvPr/>
        </p:nvSpPr>
        <p:spPr>
          <a:xfrm>
            <a:off x="6629400" y="2084832"/>
            <a:ext cx="201168" cy="201168"/>
          </a:xfrm>
          <a:prstGeom prst="ellipse">
            <a:avLst/>
          </a:prstGeom>
          <a:solidFill>
            <a:srgbClr val="E0443E"/>
          </a:solidFill>
          <a:ln/>
        </p:spPr>
        <p:txBody>
          <a:bodyPr/>
          <a:lstStyle/>
          <a:p>
            <a:endParaRPr lang="en-US"/>
          </a:p>
        </p:txBody>
      </p:sp>
      <p:sp>
        <p:nvSpPr>
          <p:cNvPr id="11" name="Text 8"/>
          <p:cNvSpPr txBox="1"/>
          <p:nvPr/>
        </p:nvSpPr>
        <p:spPr>
          <a:xfrm>
            <a:off x="6976872" y="1993392"/>
            <a:ext cx="4206240" cy="365760"/>
          </a:xfrm>
          <a:prstGeom prst="rect">
            <a:avLst/>
          </a:prstGeom>
          <a:noFill/>
          <a:ln/>
        </p:spPr>
        <p:txBody>
          <a:bodyPr wrap="square" lIns="0" tIns="0" rIns="0" bIns="0" rtlCol="0" anchor="ctr"/>
          <a:lstStyle/>
          <a:p>
            <a:pPr marL="0" indent="0">
              <a:buNone/>
            </a:pPr>
            <a:r>
              <a:rPr lang="en-US" sz="1500" b="1" dirty="0">
                <a:solidFill>
                  <a:srgbClr val="E9EFF6"/>
                </a:solidFill>
                <a:latin typeface="Courier New" pitchFamily="34" charset="0"/>
                <a:ea typeface="Courier New" pitchFamily="34" charset="-122"/>
                <a:cs typeface="Courier New" pitchFamily="34" charset="-120"/>
              </a:rPr>
              <a:t>sql-prod-03</a:t>
            </a:r>
            <a:endParaRPr lang="en-US" sz="1500" dirty="0"/>
          </a:p>
        </p:txBody>
      </p:sp>
      <p:sp>
        <p:nvSpPr>
          <p:cNvPr id="12" name="Text 9"/>
          <p:cNvSpPr txBox="1"/>
          <p:nvPr/>
        </p:nvSpPr>
        <p:spPr>
          <a:xfrm>
            <a:off x="6629400" y="2450592"/>
            <a:ext cx="4709160" cy="640080"/>
          </a:xfrm>
          <a:prstGeom prst="rect">
            <a:avLst/>
          </a:prstGeom>
          <a:noFill/>
          <a:ln/>
        </p:spPr>
        <p:txBody>
          <a:bodyPr wrap="square" lIns="0" tIns="0" rIns="0" bIns="0" rtlCol="0" anchor="ctr"/>
          <a:lstStyle/>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"Disk read latency 480 ms, sustained"</a:t>
            </a:r>
            <a:endParaRPr lang="en-US" sz="1200" dirty="0"/>
          </a:p>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"Lock wait 4400 ms - waiting on disk, not on a query"</a:t>
            </a:r>
            <a:endParaRPr lang="en-US" sz="1200" dirty="0"/>
          </a:p>
        </p:txBody>
      </p:sp>
      <p:sp>
        <p:nvSpPr>
          <p:cNvPr id="13" name="Text 10"/>
          <p:cNvSpPr txBox="1"/>
          <p:nvPr/>
        </p:nvSpPr>
        <p:spPr>
          <a:xfrm>
            <a:off x="594360" y="3474720"/>
            <a:ext cx="11018520" cy="365760"/>
          </a:xfrm>
          <a:prstGeom prst="rect">
            <a:avLst/>
          </a:prstGeom>
          <a:noFill/>
          <a:ln/>
        </p:spPr>
        <p:txBody>
          <a:bodyPr wrap="square" lIns="0" tIns="0" rIns="0" bIns="0" rtlCol="0" anchor="ctr"/>
          <a:lstStyle/>
          <a:p>
            <a:pPr marL="0" indent="0" algn="ctr">
              <a:buNone/>
            </a:pPr>
            <a:r>
              <a:rPr lang="en-US" sz="1700" b="1" dirty="0">
                <a:solidFill>
                  <a:srgbClr val="7C90A6"/>
                </a:solidFill>
                <a:latin typeface="Calibri" pitchFamily="34" charset="0"/>
                <a:ea typeface="Calibri" pitchFamily="34" charset="-122"/>
                <a:cs typeface="Calibri" pitchFamily="34" charset="-120"/>
              </a:rPr>
              <a:t>No shared host.  No shared resource.  No shared trace.  Nothing to match on.</a:t>
            </a:r>
            <a:endParaRPr lang="en-US" sz="1700" dirty="0"/>
          </a:p>
        </p:txBody>
      </p:sp>
      <p:sp>
        <p:nvSpPr>
          <p:cNvPr id="14" name="Shape 11"/>
          <p:cNvSpPr/>
          <p:nvPr/>
        </p:nvSpPr>
        <p:spPr>
          <a:xfrm>
            <a:off x="594360" y="4023360"/>
            <a:ext cx="11018520" cy="1737360"/>
          </a:xfrm>
          <a:prstGeom prst="roundRect">
            <a:avLst>
              <a:gd name="adj" fmla="val 3158"/>
            </a:avLst>
          </a:prstGeom>
          <a:solidFill>
            <a:srgbClr val="223140"/>
          </a:solidFill>
          <a:ln/>
        </p:spPr>
        <p:txBody>
          <a:bodyPr/>
          <a:lstStyle/>
          <a:p>
            <a:endParaRPr lang="en-US"/>
          </a:p>
        </p:txBody>
      </p:sp>
      <p:sp>
        <p:nvSpPr>
          <p:cNvPr id="15" name="Text 12"/>
          <p:cNvSpPr txBox="1"/>
          <p:nvPr/>
        </p:nvSpPr>
        <p:spPr>
          <a:xfrm>
            <a:off x="868680" y="4251960"/>
            <a:ext cx="1042416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only thing connecting them is that one of them says the other one's name.</a:t>
            </a:r>
            <a:endParaRPr lang="en-US" sz="2000" dirty="0"/>
          </a:p>
        </p:txBody>
      </p:sp>
      <p:sp>
        <p:nvSpPr>
          <p:cNvPr id="16" name="Text 13"/>
          <p:cNvSpPr txBox="1"/>
          <p:nvPr/>
        </p:nvSpPr>
        <p:spPr>
          <a:xfrm>
            <a:off x="868680" y="4754880"/>
            <a:ext cx="10424160" cy="8229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That is a reading comprehension problem, not a data problem. It is the one part of this pipeline that could not be written as a rule - and the cause is a warning, on a host nobody was paging about, underneath twelve criticals.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0443E"/>
                </a:solidFill>
                <a:effectLst/>
                <a:uLnTx/>
                <a:uFillTx/>
                <a:latin typeface="Calibri" pitchFamily="34" charset="0"/>
                <a:ea typeface="Calibri" pitchFamily="34" charset="-122"/>
                <a:cs typeface="Calibri" pitchFamily="34" charset="-120"/>
              </a:rPr>
              <a:t>AI.PSM1  ·  THE MODEL CALL IS 29 LINES OF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Asking the model is the easy part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11002975" cy="3575853"/>
          </a:xfrm>
          <a:prstGeom prst="roundRect">
            <a:avLst>
              <a:gd name="adj" fmla="val 1534"/>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201168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$body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messages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 role = 'system'; content = $SystemPrompt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 role = 'user';   content = ($incidents | ConvertTo-Json -Depth 8)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    temperature     = 0                          # same events, same answer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    response_format = @{ type = 'json_object' }   # not prose, a contract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914400" y="431304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914400" y="460071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Invoke-RestMethod -Uri $uri -Method Post -Body ($body | ConvertTo-Json -Depth 10)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914400" y="488838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6B98A"/>
                </a:solidFill>
                <a:effectLst/>
                <a:uLnTx/>
                <a:uFillTx/>
                <a:latin typeface="Courier New" pitchFamily="34" charset="0"/>
                <a:ea typeface="Courier New" pitchFamily="34" charset="-122"/>
                <a:cs typeface="Courier New" pitchFamily="34" charset="-120"/>
              </a:rPr>
              <a:t>    -Headers @{ Authorization = "Bearer $(Get-ResourceToken ...)" }  # managed identity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594360" y="5678973"/>
            <a:ext cx="11002975" cy="868680"/>
          </a:xfrm>
          <a:prstGeom prst="roundRect">
            <a:avLst>
              <a:gd name="adj" fmla="val 631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868680" y="5880141"/>
            <a:ext cx="10454335"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prompt is 698 words. The code that sends it is 29 lines.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THE EASY WAY TO LOOK CLEVER</a:t>
            </a:r>
            <a:endParaRPr lang="en-US" sz="1200" dirty="0"/>
          </a:p>
        </p:txBody>
      </p:sp>
      <p:sp>
        <p:nvSpPr>
          <p:cNvPr id="8" name="Text 5"/>
          <p:cNvSpPr txBox="1"/>
          <p:nvPr/>
        </p:nvSpPr>
        <p:spPr>
          <a:xfrm>
            <a:off x="594360" y="4956048"/>
            <a:ext cx="11018520" cy="868680"/>
          </a:xfrm>
          <a:prstGeom prst="rect">
            <a:avLst/>
          </a:prstGeom>
          <a:noFill/>
          <a:ln/>
        </p:spPr>
        <p:txBody>
          <a:bodyPr wrap="square" lIns="0" tIns="0" rIns="0" bIns="0" rtlCol="0" anchor="t"/>
          <a:lstStyle/>
          <a:p>
            <a:pPr marL="0" indent="0" algn="ctr">
              <a:buNone/>
            </a:pPr>
            <a:r>
              <a:rPr lang="en-US" sz="2700" b="1" dirty="0">
                <a:solidFill>
                  <a:srgbClr val="FFFFFF"/>
                </a:solidFill>
                <a:latin typeface="Calibri" pitchFamily="34" charset="0"/>
                <a:ea typeface="Calibri" pitchFamily="34" charset="-122"/>
                <a:cs typeface="Calibri" pitchFamily="34" charset="-120"/>
              </a:rPr>
              <a:t>Connecting everything is not correlation.</a:t>
            </a:r>
            <a:endParaRPr lang="en-US" sz="2700" dirty="0"/>
          </a:p>
        </p:txBody>
      </p:sp>
      <p:sp>
        <p:nvSpPr>
          <p:cNvPr id="9" name="Text 6"/>
          <p:cNvSpPr txBox="1"/>
          <p:nvPr/>
        </p:nvSpPr>
        <p:spPr>
          <a:xfrm>
            <a:off x="594360" y="5806440"/>
            <a:ext cx="11018520" cy="365760"/>
          </a:xfrm>
          <a:prstGeom prst="rect">
            <a:avLst/>
          </a:prstGeom>
          <a:noFill/>
          <a:ln/>
        </p:spPr>
        <p:txBody>
          <a:bodyPr wrap="square" lIns="0" tIns="0" rIns="0" bIns="0" rtlCol="0" anchor="ctr"/>
          <a:lstStyle/>
          <a:p>
            <a:pPr marL="0" indent="0" algn="ctr">
              <a:buNone/>
            </a:pPr>
            <a:r>
              <a:rPr lang="en-US" sz="1500" i="1" dirty="0">
                <a:solidFill>
                  <a:srgbClr val="8FA3B8"/>
                </a:solidFill>
                <a:latin typeface="Calibri" pitchFamily="34" charset="0"/>
                <a:ea typeface="Calibri" pitchFamily="34" charset="-122"/>
                <a:cs typeface="Calibri" pitchFamily="34" charset="-120"/>
              </a:rPr>
              <a:t>It is the failure mode that looks most like success.</a:t>
            </a:r>
            <a:endParaRPr lang="en-US" sz="1500" dirty="0"/>
          </a:p>
        </p:txBody>
      </p:sp>
      <p:pic>
        <p:nvPicPr>
          <p:cNvPr id="2" name="Picture 1" descr="Charlie Day GIFs | Tenor">
            <a:extLst>
              <a:ext uri="{FF2B5EF4-FFF2-40B4-BE49-F238E27FC236}">
                <a16:creationId xmlns:a16="http://schemas.microsoft.com/office/drawing/2014/main" id="{FB6B8DF2-FBB1-8AAD-2CCF-20EBED8C761D}"/>
              </a:ext>
            </a:extLst>
          </p:cNvPr>
          <p:cNvPicPr>
            <a:picLocks noChangeAspect="1"/>
          </p:cNvPicPr>
          <p:nvPr/>
        </p:nvPicPr>
        <p:blipFill>
          <a:blip r:embed="rId3"/>
          <a:stretch>
            <a:fillRect/>
          </a:stretch>
        </p:blipFill>
        <p:spPr>
          <a:xfrm>
            <a:off x="3110717" y="847169"/>
            <a:ext cx="6001426" cy="379608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E8A33D"/>
                </a:solidFill>
                <a:latin typeface="Calibri" pitchFamily="34" charset="0"/>
                <a:ea typeface="Calibri" pitchFamily="34" charset="-122"/>
                <a:cs typeface="Calibri" pitchFamily="34" charset="-120"/>
              </a:rPr>
              <a:t>DEMO 3</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Ask the model</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One call, every open incident at once - grouping, cause, and the first action</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Two root causes found across thirteen incidents</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Five things it reviewed and deliberately left alone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Roughly 3,500 tokens and about four seconds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CAUSE WAS A WARNING</a:t>
            </a:r>
            <a:endParaRPr lang="en-US" sz="1200" dirty="0"/>
          </a:p>
        </p:txBody>
      </p:sp>
      <p:sp>
        <p:nvSpPr>
          <p:cNvPr id="8" name="Text 5"/>
          <p:cNvSpPr txBox="1"/>
          <p:nvPr/>
        </p:nvSpPr>
        <p:spPr>
          <a:xfrm>
            <a:off x="594360" y="4956048"/>
            <a:ext cx="11018520" cy="868680"/>
          </a:xfrm>
          <a:prstGeom prst="rect">
            <a:avLst/>
          </a:prstGeom>
          <a:noFill/>
          <a:ln/>
        </p:spPr>
        <p:txBody>
          <a:bodyPr wrap="square" lIns="0" tIns="0" rIns="0" bIns="0" rtlCol="0" anchor="t"/>
          <a:lstStyle/>
          <a:p>
            <a:pPr marL="0" indent="0" algn="ctr">
              <a:buNone/>
            </a:pPr>
            <a:r>
              <a:rPr lang="en-US" sz="2700" b="1" dirty="0">
                <a:solidFill>
                  <a:srgbClr val="FFFFFF"/>
                </a:solidFill>
                <a:latin typeface="Calibri" pitchFamily="34" charset="0"/>
                <a:ea typeface="Calibri" pitchFamily="34" charset="-122"/>
                <a:cs typeface="Calibri" pitchFamily="34" charset="-120"/>
              </a:rPr>
              <a:t>The loudest thing is almost never the cause.</a:t>
            </a:r>
            <a:endParaRPr lang="en-US" sz="2700" dirty="0"/>
          </a:p>
        </p:txBody>
      </p:sp>
      <p:sp>
        <p:nvSpPr>
          <p:cNvPr id="9" name="Text 6"/>
          <p:cNvSpPr txBox="1"/>
          <p:nvPr/>
        </p:nvSpPr>
        <p:spPr>
          <a:xfrm>
            <a:off x="594360" y="5806440"/>
            <a:ext cx="11018520" cy="365760"/>
          </a:xfrm>
          <a:prstGeom prst="rect">
            <a:avLst/>
          </a:prstGeom>
          <a:noFill/>
          <a:ln/>
        </p:spPr>
        <p:txBody>
          <a:bodyPr wrap="square" lIns="0" tIns="0" rIns="0" bIns="0" rtlCol="0" anchor="ctr"/>
          <a:lstStyle/>
          <a:p>
            <a:pPr marL="0" indent="0" algn="ctr">
              <a:buNone/>
            </a:pPr>
            <a:r>
              <a:rPr lang="en-US" sz="1500" i="1" dirty="0">
                <a:solidFill>
                  <a:srgbClr val="8FA3B8"/>
                </a:solidFill>
                <a:latin typeface="Calibri" pitchFamily="34" charset="0"/>
                <a:ea typeface="Calibri" pitchFamily="34" charset="-122"/>
                <a:cs typeface="Calibri" pitchFamily="34" charset="-120"/>
              </a:rPr>
              <a:t>Twelve criticals. The answer was an amber warning nobody was paged for.</a:t>
            </a:r>
            <a:endParaRPr lang="en-US" sz="1500" dirty="0"/>
          </a:p>
        </p:txBody>
      </p:sp>
      <p:pic>
        <p:nvPicPr>
          <p:cNvPr id="2" name="Picture 1" descr="Image of - It's always the quiet ones. - You hound.">
            <a:extLst>
              <a:ext uri="{FF2B5EF4-FFF2-40B4-BE49-F238E27FC236}">
                <a16:creationId xmlns:a16="http://schemas.microsoft.com/office/drawing/2014/main" id="{A055C6F1-9FCC-D51A-3DF4-C9886B4F2C36}"/>
              </a:ext>
            </a:extLst>
          </p:cNvPr>
          <p:cNvPicPr>
            <a:picLocks noChangeAspect="1"/>
          </p:cNvPicPr>
          <p:nvPr/>
        </p:nvPicPr>
        <p:blipFill>
          <a:blip r:embed="rId3"/>
          <a:stretch>
            <a:fillRect/>
          </a:stretch>
        </p:blipFill>
        <p:spPr>
          <a:xfrm>
            <a:off x="2692306" y="1516083"/>
            <a:ext cx="6626855" cy="278327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WHAT IT FOUND</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The chain, in the order it happened</a:t>
            </a:r>
            <a:endParaRPr lang="en-US" sz="3600" dirty="0"/>
          </a:p>
        </p:txBody>
      </p:sp>
      <p:sp>
        <p:nvSpPr>
          <p:cNvPr id="5" name="Shape 2"/>
          <p:cNvSpPr/>
          <p:nvPr/>
        </p:nvSpPr>
        <p:spPr>
          <a:xfrm>
            <a:off x="594360" y="1783080"/>
            <a:ext cx="11018520" cy="987552"/>
          </a:xfrm>
          <a:prstGeom prst="roundRect">
            <a:avLst>
              <a:gd name="adj" fmla="val 5556"/>
            </a:avLst>
          </a:prstGeom>
          <a:solidFill>
            <a:srgbClr val="19242F"/>
          </a:solidFill>
          <a:ln/>
        </p:spPr>
        <p:txBody>
          <a:bodyPr/>
          <a:lstStyle/>
          <a:p>
            <a:endParaRPr lang="en-US"/>
          </a:p>
        </p:txBody>
      </p:sp>
      <p:sp>
        <p:nvSpPr>
          <p:cNvPr id="6" name="Shape 3"/>
          <p:cNvSpPr/>
          <p:nvPr/>
        </p:nvSpPr>
        <p:spPr>
          <a:xfrm>
            <a:off x="868680" y="2039112"/>
            <a:ext cx="502920" cy="502920"/>
          </a:xfrm>
          <a:prstGeom prst="ellipse">
            <a:avLst/>
          </a:prstGeom>
          <a:solidFill>
            <a:srgbClr val="E8A33D"/>
          </a:solidFill>
          <a:ln/>
        </p:spPr>
        <p:txBody>
          <a:bodyPr/>
          <a:lstStyle/>
          <a:p>
            <a:endParaRPr lang="en-US"/>
          </a:p>
        </p:txBody>
      </p:sp>
      <p:sp>
        <p:nvSpPr>
          <p:cNvPr id="7" name="Text 4"/>
          <p:cNvSpPr txBox="1"/>
          <p:nvPr/>
        </p:nvSpPr>
        <p:spPr>
          <a:xfrm>
            <a:off x="868680" y="2039112"/>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65960"/>
            <a:ext cx="2194560" cy="365760"/>
          </a:xfrm>
          <a:prstGeom prst="rect">
            <a:avLst/>
          </a:prstGeom>
          <a:noFill/>
          <a:ln/>
        </p:spPr>
        <p:txBody>
          <a:bodyPr wrap="square" lIns="0" tIns="0" rIns="0" bIns="0" rtlCol="0" anchor="ctr"/>
          <a:lstStyle/>
          <a:p>
            <a:pPr marL="0" indent="0">
              <a:buNone/>
            </a:pPr>
            <a:r>
              <a:rPr lang="en-US" sz="1600" b="1" dirty="0">
                <a:solidFill>
                  <a:srgbClr val="E9EFF6"/>
                </a:solidFill>
                <a:latin typeface="Courier New" pitchFamily="34" charset="0"/>
                <a:ea typeface="Courier New" pitchFamily="34" charset="-122"/>
                <a:cs typeface="Courier New" pitchFamily="34" charset="-120"/>
              </a:rPr>
              <a:t>backup-01</a:t>
            </a:r>
            <a:endParaRPr lang="en-US" sz="1600" dirty="0"/>
          </a:p>
        </p:txBody>
      </p:sp>
      <p:sp>
        <p:nvSpPr>
          <p:cNvPr id="9" name="Text 6"/>
          <p:cNvSpPr txBox="1"/>
          <p:nvPr/>
        </p:nvSpPr>
        <p:spPr>
          <a:xfrm>
            <a:off x="1554480" y="2350008"/>
            <a:ext cx="2194560" cy="292608"/>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warning</a:t>
            </a:r>
            <a:endParaRPr lang="en-US" sz="1300" dirty="0"/>
          </a:p>
        </p:txBody>
      </p:sp>
      <p:sp>
        <p:nvSpPr>
          <p:cNvPr id="10" name="Text 7"/>
          <p:cNvSpPr txBox="1"/>
          <p:nvPr/>
        </p:nvSpPr>
        <p:spPr>
          <a:xfrm>
            <a:off x="3886200" y="2084832"/>
            <a:ext cx="7498080" cy="45720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Nightly backup overran its window and is still reading sql-prod-03 at 11 MB/s</a:t>
            </a:r>
            <a:endParaRPr lang="en-US" sz="1500" dirty="0"/>
          </a:p>
        </p:txBody>
      </p:sp>
      <p:sp>
        <p:nvSpPr>
          <p:cNvPr id="11" name="Shape 8"/>
          <p:cNvSpPr/>
          <p:nvPr/>
        </p:nvSpPr>
        <p:spPr>
          <a:xfrm rot="10800000">
            <a:off x="1042416" y="2825496"/>
            <a:ext cx="155448" cy="118872"/>
          </a:xfrm>
          <a:prstGeom prst="triangle">
            <a:avLst/>
          </a:prstGeom>
          <a:solidFill>
            <a:srgbClr val="7C90A6"/>
          </a:solidFill>
          <a:ln/>
        </p:spPr>
        <p:txBody>
          <a:bodyPr/>
          <a:lstStyle/>
          <a:p>
            <a:endParaRPr lang="en-US"/>
          </a:p>
        </p:txBody>
      </p:sp>
      <p:sp>
        <p:nvSpPr>
          <p:cNvPr id="12" name="Shape 9"/>
          <p:cNvSpPr/>
          <p:nvPr/>
        </p:nvSpPr>
        <p:spPr>
          <a:xfrm>
            <a:off x="594360" y="2990088"/>
            <a:ext cx="11018520" cy="987552"/>
          </a:xfrm>
          <a:prstGeom prst="roundRect">
            <a:avLst>
              <a:gd name="adj" fmla="val 5556"/>
            </a:avLst>
          </a:prstGeom>
          <a:solidFill>
            <a:srgbClr val="19242F"/>
          </a:solidFill>
          <a:ln/>
        </p:spPr>
        <p:txBody>
          <a:bodyPr/>
          <a:lstStyle/>
          <a:p>
            <a:endParaRPr lang="en-US"/>
          </a:p>
        </p:txBody>
      </p:sp>
      <p:sp>
        <p:nvSpPr>
          <p:cNvPr id="13" name="Shape 10"/>
          <p:cNvSpPr/>
          <p:nvPr/>
        </p:nvSpPr>
        <p:spPr>
          <a:xfrm>
            <a:off x="868680" y="3246120"/>
            <a:ext cx="502920" cy="502920"/>
          </a:xfrm>
          <a:prstGeom prst="ellipse">
            <a:avLst/>
          </a:prstGeom>
          <a:solidFill>
            <a:srgbClr val="E0443E"/>
          </a:solidFill>
          <a:ln/>
        </p:spPr>
        <p:txBody>
          <a:bodyPr/>
          <a:lstStyle/>
          <a:p>
            <a:endParaRPr lang="en-US"/>
          </a:p>
        </p:txBody>
      </p:sp>
      <p:sp>
        <p:nvSpPr>
          <p:cNvPr id="14" name="Text 11"/>
          <p:cNvSpPr txBox="1"/>
          <p:nvPr/>
        </p:nvSpPr>
        <p:spPr>
          <a:xfrm>
            <a:off x="868680" y="324612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554480" y="3172968"/>
            <a:ext cx="2194560" cy="365760"/>
          </a:xfrm>
          <a:prstGeom prst="rect">
            <a:avLst/>
          </a:prstGeom>
          <a:noFill/>
          <a:ln/>
        </p:spPr>
        <p:txBody>
          <a:bodyPr wrap="square" lIns="0" tIns="0" rIns="0" bIns="0" rtlCol="0" anchor="ctr"/>
          <a:lstStyle/>
          <a:p>
            <a:pPr marL="0" indent="0">
              <a:buNone/>
            </a:pPr>
            <a:r>
              <a:rPr lang="en-US" sz="1600" b="1" dirty="0">
                <a:solidFill>
                  <a:srgbClr val="E9EFF6"/>
                </a:solidFill>
                <a:latin typeface="Courier New" pitchFamily="34" charset="0"/>
                <a:ea typeface="Courier New" pitchFamily="34" charset="-122"/>
                <a:cs typeface="Courier New" pitchFamily="34" charset="-120"/>
              </a:rPr>
              <a:t>sql-prod-03</a:t>
            </a:r>
            <a:endParaRPr lang="en-US" sz="1600" dirty="0"/>
          </a:p>
        </p:txBody>
      </p:sp>
      <p:sp>
        <p:nvSpPr>
          <p:cNvPr id="16" name="Text 13"/>
          <p:cNvSpPr txBox="1"/>
          <p:nvPr/>
        </p:nvSpPr>
        <p:spPr>
          <a:xfrm>
            <a:off x="1554480" y="3557016"/>
            <a:ext cx="2194560" cy="292608"/>
          </a:xfrm>
          <a:prstGeom prst="rect">
            <a:avLst/>
          </a:prstGeom>
          <a:noFill/>
          <a:ln/>
        </p:spPr>
        <p:txBody>
          <a:bodyPr wrap="square" lIns="0" tIns="0" rIns="0" bIns="0" rtlCol="0" anchor="ctr"/>
          <a:lstStyle/>
          <a:p>
            <a:pPr marL="0" indent="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17" name="Text 14"/>
          <p:cNvSpPr txBox="1"/>
          <p:nvPr/>
        </p:nvSpPr>
        <p:spPr>
          <a:xfrm>
            <a:off x="3886200" y="3291840"/>
            <a:ext cx="7498080" cy="45720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Disk saturated, lock waits climbing, connection pool exhausted at 100 of 100</a:t>
            </a:r>
            <a:endParaRPr lang="en-US" sz="1500" dirty="0"/>
          </a:p>
        </p:txBody>
      </p:sp>
      <p:sp>
        <p:nvSpPr>
          <p:cNvPr id="18" name="Shape 15"/>
          <p:cNvSpPr/>
          <p:nvPr/>
        </p:nvSpPr>
        <p:spPr>
          <a:xfrm rot="10800000">
            <a:off x="1042416" y="4032504"/>
            <a:ext cx="155448" cy="118872"/>
          </a:xfrm>
          <a:prstGeom prst="triangle">
            <a:avLst/>
          </a:prstGeom>
          <a:solidFill>
            <a:srgbClr val="7C90A6"/>
          </a:solidFill>
          <a:ln/>
        </p:spPr>
        <p:txBody>
          <a:bodyPr/>
          <a:lstStyle/>
          <a:p>
            <a:endParaRPr lang="en-US"/>
          </a:p>
        </p:txBody>
      </p:sp>
      <p:sp>
        <p:nvSpPr>
          <p:cNvPr id="19" name="Shape 16"/>
          <p:cNvSpPr/>
          <p:nvPr/>
        </p:nvSpPr>
        <p:spPr>
          <a:xfrm>
            <a:off x="594360" y="4197096"/>
            <a:ext cx="11018520" cy="987552"/>
          </a:xfrm>
          <a:prstGeom prst="roundRect">
            <a:avLst>
              <a:gd name="adj" fmla="val 5556"/>
            </a:avLst>
          </a:prstGeom>
          <a:solidFill>
            <a:srgbClr val="19242F"/>
          </a:solidFill>
          <a:ln/>
        </p:spPr>
        <p:txBody>
          <a:bodyPr/>
          <a:lstStyle/>
          <a:p>
            <a:endParaRPr lang="en-US"/>
          </a:p>
        </p:txBody>
      </p:sp>
      <p:sp>
        <p:nvSpPr>
          <p:cNvPr id="20" name="Shape 17"/>
          <p:cNvSpPr/>
          <p:nvPr/>
        </p:nvSpPr>
        <p:spPr>
          <a:xfrm>
            <a:off x="868680" y="4453128"/>
            <a:ext cx="502920" cy="502920"/>
          </a:xfrm>
          <a:prstGeom prst="ellipse">
            <a:avLst/>
          </a:prstGeom>
          <a:solidFill>
            <a:srgbClr val="E0443E"/>
          </a:solidFill>
          <a:ln/>
        </p:spPr>
        <p:txBody>
          <a:bodyPr/>
          <a:lstStyle/>
          <a:p>
            <a:endParaRPr lang="en-US"/>
          </a:p>
        </p:txBody>
      </p:sp>
      <p:sp>
        <p:nvSpPr>
          <p:cNvPr id="21" name="Text 18"/>
          <p:cNvSpPr txBox="1"/>
          <p:nvPr/>
        </p:nvSpPr>
        <p:spPr>
          <a:xfrm>
            <a:off x="868680" y="4453128"/>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554480" y="4379976"/>
            <a:ext cx="2194560" cy="365760"/>
          </a:xfrm>
          <a:prstGeom prst="rect">
            <a:avLst/>
          </a:prstGeom>
          <a:noFill/>
          <a:ln/>
        </p:spPr>
        <p:txBody>
          <a:bodyPr wrap="square" lIns="0" tIns="0" rIns="0" bIns="0" rtlCol="0" anchor="ctr"/>
          <a:lstStyle/>
          <a:p>
            <a:pPr marL="0" indent="0">
              <a:buNone/>
            </a:pPr>
            <a:r>
              <a:rPr lang="en-US" sz="1600" b="1" dirty="0">
                <a:solidFill>
                  <a:srgbClr val="E9EFF6"/>
                </a:solidFill>
                <a:latin typeface="Courier New" pitchFamily="34" charset="0"/>
                <a:ea typeface="Courier New" pitchFamily="34" charset="-122"/>
                <a:cs typeface="Courier New" pitchFamily="34" charset="-120"/>
              </a:rPr>
              <a:t>app-web-01</a:t>
            </a:r>
            <a:endParaRPr lang="en-US" sz="1600" dirty="0"/>
          </a:p>
        </p:txBody>
      </p:sp>
      <p:sp>
        <p:nvSpPr>
          <p:cNvPr id="23" name="Text 20"/>
          <p:cNvSpPr txBox="1"/>
          <p:nvPr/>
        </p:nvSpPr>
        <p:spPr>
          <a:xfrm>
            <a:off x="1554480" y="4764024"/>
            <a:ext cx="2194560" cy="292608"/>
          </a:xfrm>
          <a:prstGeom prst="rect">
            <a:avLst/>
          </a:prstGeom>
          <a:noFill/>
          <a:ln/>
        </p:spPr>
        <p:txBody>
          <a:bodyPr wrap="square" lIns="0" tIns="0" rIns="0" bIns="0" rtlCol="0" anchor="ctr"/>
          <a:lstStyle/>
          <a:p>
            <a:pPr marL="0" indent="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24" name="Text 21"/>
          <p:cNvSpPr txBox="1"/>
          <p:nvPr/>
        </p:nvSpPr>
        <p:spPr>
          <a:xfrm>
            <a:off x="3886200" y="4498848"/>
            <a:ext cx="7498080" cy="45720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Checkout failing 27% of requests - timeouts, not application errors</a:t>
            </a:r>
            <a:endParaRPr lang="en-US" sz="1500" dirty="0"/>
          </a:p>
        </p:txBody>
      </p:sp>
      <p:sp>
        <p:nvSpPr>
          <p:cNvPr id="25" name="Shape 22"/>
          <p:cNvSpPr/>
          <p:nvPr/>
        </p:nvSpPr>
        <p:spPr>
          <a:xfrm>
            <a:off x="594360" y="5349240"/>
            <a:ext cx="11018520" cy="868680"/>
          </a:xfrm>
          <a:prstGeom prst="roundRect">
            <a:avLst>
              <a:gd name="adj" fmla="val 6316"/>
            </a:avLst>
          </a:prstGeom>
          <a:solidFill>
            <a:srgbClr val="223140"/>
          </a:solidFill>
          <a:ln/>
        </p:spPr>
        <p:txBody>
          <a:bodyPr/>
          <a:lstStyle/>
          <a:p>
            <a:endParaRPr lang="en-US"/>
          </a:p>
        </p:txBody>
      </p:sp>
      <p:sp>
        <p:nvSpPr>
          <p:cNvPr id="26" name="Text 23"/>
          <p:cNvSpPr txBox="1"/>
          <p:nvPr/>
        </p:nvSpPr>
        <p:spPr>
          <a:xfrm>
            <a:off x="868680" y="5559552"/>
            <a:ext cx="10424160" cy="457200"/>
          </a:xfrm>
          <a:prstGeom prst="rect">
            <a:avLst/>
          </a:prstGeom>
          <a:noFill/>
          <a:ln/>
        </p:spPr>
        <p:txBody>
          <a:bodyPr wrap="square" lIns="0" tIns="0" rIns="0" bIns="0" rtlCol="0" anchor="ctr"/>
          <a:lstStyle/>
          <a:p>
            <a:pPr marL="0" indent="0">
              <a:buNone/>
            </a:pPr>
            <a:r>
              <a:rPr lang="en-US" sz="1600" b="1" dirty="0">
                <a:solidFill>
                  <a:srgbClr val="46B98A"/>
                </a:solidFill>
                <a:latin typeface="Calibri" pitchFamily="34" charset="0"/>
                <a:ea typeface="Calibri" pitchFamily="34" charset="-122"/>
                <a:cs typeface="Calibri" pitchFamily="34" charset="-120"/>
              </a:rPr>
              <a:t>DO NOW  </a:t>
            </a:r>
            <a:r>
              <a:rPr lang="en-US" sz="1600" dirty="0">
                <a:solidFill>
                  <a:srgbClr val="E9EFF6"/>
                </a:solidFill>
                <a:latin typeface="Calibri" pitchFamily="34" charset="0"/>
                <a:ea typeface="Calibri" pitchFamily="34" charset="-122"/>
                <a:cs typeface="Calibri" pitchFamily="34" charset="-120"/>
              </a:rPr>
              <a:t>Kill job SQL-NIGHTLY-FULL on backup-01 to relieve I/O pressure on sql-prod-03, then recycle the application pool.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THE HONEST PART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Where this falls over</a:t>
            </a:r>
            <a:endParaRPr lang="en-US" sz="3600" dirty="0"/>
          </a:p>
        </p:txBody>
      </p:sp>
      <p:sp>
        <p:nvSpPr>
          <p:cNvPr id="5" name="Shape 2"/>
          <p:cNvSpPr/>
          <p:nvPr/>
        </p:nvSpPr>
        <p:spPr>
          <a:xfrm>
            <a:off x="594360" y="1783080"/>
            <a:ext cx="5257800" cy="3977640"/>
          </a:xfrm>
          <a:prstGeom prst="roundRect">
            <a:avLst>
              <a:gd name="adj" fmla="val 1379"/>
            </a:avLst>
          </a:prstGeom>
          <a:solidFill>
            <a:srgbClr val="19242F"/>
          </a:solidFill>
          <a:ln/>
        </p:spPr>
        <p:txBody>
          <a:bodyPr/>
          <a:lstStyle/>
          <a:p>
            <a:endParaRPr lang="en-US"/>
          </a:p>
        </p:txBody>
      </p:sp>
      <p:sp>
        <p:nvSpPr>
          <p:cNvPr id="6" name="Text 3"/>
          <p:cNvSpPr txBox="1"/>
          <p:nvPr/>
        </p:nvSpPr>
        <p:spPr>
          <a:xfrm>
            <a:off x="914400" y="2011680"/>
            <a:ext cx="4617720" cy="365760"/>
          </a:xfrm>
          <a:prstGeom prst="rect">
            <a:avLst/>
          </a:prstGeom>
          <a:noFill/>
          <a:ln/>
        </p:spPr>
        <p:txBody>
          <a:bodyPr wrap="square" lIns="0" tIns="0" rIns="0" bIns="0" rtlCol="0" anchor="ctr"/>
          <a:lstStyle/>
          <a:p>
            <a:pPr marL="0" indent="0">
              <a:buNone/>
            </a:pPr>
            <a:r>
              <a:rPr lang="en-US" sz="2100" b="1" dirty="0">
                <a:solidFill>
                  <a:srgbClr val="E0443E"/>
                </a:solidFill>
                <a:latin typeface="Calibri" pitchFamily="34" charset="0"/>
                <a:ea typeface="Calibri" pitchFamily="34" charset="-122"/>
                <a:cs typeface="Calibri" pitchFamily="34" charset="-120"/>
              </a:rPr>
              <a:t>What it does not do</a:t>
            </a:r>
            <a:endParaRPr lang="en-US" sz="2100" dirty="0"/>
          </a:p>
        </p:txBody>
      </p:sp>
      <p:sp>
        <p:nvSpPr>
          <p:cNvPr id="7" name="Text 4"/>
          <p:cNvSpPr txBox="1"/>
          <p:nvPr/>
        </p:nvSpPr>
        <p:spPr>
          <a:xfrm>
            <a:off x="960120" y="2395728"/>
            <a:ext cx="457200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No ticketing, no paging, no auto-remediation</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One window at a time - no history, no trends</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 model can be confidently wrong, and will be</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Same events, same answer only because temperature is zero</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Never creates or merges incidents - the model annotates. A model that can rewrite identity can lose your data</a:t>
            </a:r>
            <a:endParaRPr lang="en-US" sz="1500" dirty="0"/>
          </a:p>
        </p:txBody>
      </p:sp>
      <p:sp>
        <p:nvSpPr>
          <p:cNvPr id="8" name="Shape 5"/>
          <p:cNvSpPr/>
          <p:nvPr/>
        </p:nvSpPr>
        <p:spPr>
          <a:xfrm>
            <a:off x="6355080" y="1783080"/>
            <a:ext cx="5257800" cy="3977640"/>
          </a:xfrm>
          <a:prstGeom prst="roundRect">
            <a:avLst>
              <a:gd name="adj" fmla="val 1379"/>
            </a:avLst>
          </a:prstGeom>
          <a:solidFill>
            <a:srgbClr val="19242F"/>
          </a:solidFill>
          <a:ln/>
        </p:spPr>
        <p:txBody>
          <a:bodyPr/>
          <a:lstStyle/>
          <a:p>
            <a:endParaRPr lang="en-US"/>
          </a:p>
        </p:txBody>
      </p:sp>
      <p:sp>
        <p:nvSpPr>
          <p:cNvPr id="9" name="Text 6"/>
          <p:cNvSpPr txBox="1"/>
          <p:nvPr/>
        </p:nvSpPr>
        <p:spPr>
          <a:xfrm>
            <a:off x="6675120" y="2011680"/>
            <a:ext cx="4663440" cy="365760"/>
          </a:xfrm>
          <a:prstGeom prst="rect">
            <a:avLst/>
          </a:prstGeom>
          <a:noFill/>
          <a:ln/>
        </p:spPr>
        <p:txBody>
          <a:bodyPr wrap="square" lIns="0" tIns="0" rIns="0" bIns="0" rtlCol="0" anchor="ctr"/>
          <a:lstStyle/>
          <a:p>
            <a:pPr marL="0" indent="0">
              <a:buNone/>
            </a:pPr>
            <a:r>
              <a:rPr lang="en-US" sz="2100" b="1" dirty="0">
                <a:solidFill>
                  <a:srgbClr val="46B98A"/>
                </a:solidFill>
                <a:latin typeface="Calibri" pitchFamily="34" charset="0"/>
                <a:ea typeface="Calibri" pitchFamily="34" charset="-122"/>
                <a:cs typeface="Calibri" pitchFamily="34" charset="-120"/>
              </a:rPr>
              <a:t>What it costs</a:t>
            </a:r>
            <a:endParaRPr lang="en-US" sz="2100" dirty="0"/>
          </a:p>
        </p:txBody>
      </p:sp>
      <p:sp>
        <p:nvSpPr>
          <p:cNvPr id="10" name="Text 7"/>
          <p:cNvSpPr txBox="1"/>
          <p:nvPr/>
        </p:nvSpPr>
        <p:spPr>
          <a:xfrm>
            <a:off x="6675120" y="2560320"/>
            <a:ext cx="1417320" cy="502920"/>
          </a:xfrm>
          <a:prstGeom prst="rect">
            <a:avLst/>
          </a:prstGeom>
          <a:noFill/>
          <a:ln/>
        </p:spPr>
        <p:txBody>
          <a:bodyPr wrap="square" lIns="0" tIns="0" rIns="0" bIns="0" rtlCol="0" anchor="ctr"/>
          <a:lstStyle/>
          <a:p>
            <a:pPr marL="0" indent="0">
              <a:buNone/>
            </a:pPr>
            <a:r>
              <a:rPr lang="en-US" sz="2700" b="1" dirty="0">
                <a:solidFill>
                  <a:srgbClr val="E9EFF6"/>
                </a:solidFill>
                <a:latin typeface="Calibri" pitchFamily="34" charset="0"/>
                <a:ea typeface="Calibri" pitchFamily="34" charset="-122"/>
                <a:cs typeface="Calibri" pitchFamily="34" charset="-120"/>
              </a:rPr>
              <a:t>~3.5k</a:t>
            </a:r>
            <a:endParaRPr lang="en-US" sz="2700" dirty="0"/>
          </a:p>
        </p:txBody>
      </p:sp>
      <p:sp>
        <p:nvSpPr>
          <p:cNvPr id="11" name="Text 8"/>
          <p:cNvSpPr txBox="1"/>
          <p:nvPr/>
        </p:nvSpPr>
        <p:spPr>
          <a:xfrm>
            <a:off x="8183880" y="2596896"/>
            <a:ext cx="320040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tokens per analysis pass, all thirteen incidents in one call</a:t>
            </a:r>
            <a:endParaRPr lang="en-US" sz="1400" dirty="0"/>
          </a:p>
        </p:txBody>
      </p:sp>
      <p:sp>
        <p:nvSpPr>
          <p:cNvPr id="12" name="Text 9"/>
          <p:cNvSpPr txBox="1"/>
          <p:nvPr/>
        </p:nvSpPr>
        <p:spPr>
          <a:xfrm>
            <a:off x="6675120" y="3611880"/>
            <a:ext cx="1417320" cy="502920"/>
          </a:xfrm>
          <a:prstGeom prst="rect">
            <a:avLst/>
          </a:prstGeom>
          <a:noFill/>
          <a:ln/>
        </p:spPr>
        <p:txBody>
          <a:bodyPr wrap="square" lIns="0" tIns="0" rIns="0" bIns="0" rtlCol="0" anchor="ctr"/>
          <a:lstStyle/>
          <a:p>
            <a:pPr marL="0" indent="0">
              <a:buNone/>
            </a:pPr>
            <a:r>
              <a:rPr lang="en-US" sz="2700" b="1" dirty="0">
                <a:solidFill>
                  <a:srgbClr val="E9EFF6"/>
                </a:solidFill>
                <a:latin typeface="Calibri" pitchFamily="34" charset="0"/>
                <a:ea typeface="Calibri" pitchFamily="34" charset="-122"/>
                <a:cs typeface="Calibri" pitchFamily="34" charset="-120"/>
              </a:rPr>
              <a:t>1/min</a:t>
            </a:r>
            <a:endParaRPr lang="en-US" sz="2700" dirty="0"/>
          </a:p>
        </p:txBody>
      </p:sp>
      <p:sp>
        <p:nvSpPr>
          <p:cNvPr id="13" name="Text 10"/>
          <p:cNvSpPr txBox="1"/>
          <p:nvPr/>
        </p:nvSpPr>
        <p:spPr>
          <a:xfrm>
            <a:off x="8183880" y="3648456"/>
            <a:ext cx="320040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and it skips the call entirely when nothing changed</a:t>
            </a:r>
            <a:endParaRPr lang="en-US" sz="1400" dirty="0"/>
          </a:p>
        </p:txBody>
      </p:sp>
      <p:sp>
        <p:nvSpPr>
          <p:cNvPr id="14" name="Text 11"/>
          <p:cNvSpPr txBox="1"/>
          <p:nvPr/>
        </p:nvSpPr>
        <p:spPr>
          <a:xfrm>
            <a:off x="6675120" y="4663440"/>
            <a:ext cx="1417320" cy="502920"/>
          </a:xfrm>
          <a:prstGeom prst="rect">
            <a:avLst/>
          </a:prstGeom>
          <a:noFill/>
          <a:ln/>
        </p:spPr>
        <p:txBody>
          <a:bodyPr wrap="square" lIns="0" tIns="0" rIns="0" bIns="0" rtlCol="0" anchor="ctr"/>
          <a:lstStyle/>
          <a:p>
            <a:pPr marL="0" indent="0">
              <a:buNone/>
            </a:pPr>
            <a:r>
              <a:rPr lang="en-US" sz="2700" b="1" dirty="0">
                <a:solidFill>
                  <a:srgbClr val="E9EFF6"/>
                </a:solidFill>
                <a:latin typeface="Calibri" pitchFamily="34" charset="0"/>
                <a:ea typeface="Calibri" pitchFamily="34" charset="-122"/>
                <a:cs typeface="Calibri" pitchFamily="34" charset="-120"/>
              </a:rPr>
              <a:t>0</a:t>
            </a:r>
            <a:endParaRPr lang="en-US" sz="2700" dirty="0"/>
          </a:p>
        </p:txBody>
      </p:sp>
      <p:sp>
        <p:nvSpPr>
          <p:cNvPr id="15" name="Text 12"/>
          <p:cNvSpPr txBox="1"/>
          <p:nvPr/>
        </p:nvSpPr>
        <p:spPr>
          <a:xfrm>
            <a:off x="8183880" y="4700016"/>
            <a:ext cx="320040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keys anywhere - managed identity end to end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IF YOU REMEMBER THREE THINGS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Takeaways</a:t>
            </a:r>
            <a:endParaRPr lang="en-US" sz="3600" dirty="0"/>
          </a:p>
        </p:txBody>
      </p:sp>
      <p:sp>
        <p:nvSpPr>
          <p:cNvPr id="5" name="Shape 2"/>
          <p:cNvSpPr/>
          <p:nvPr/>
        </p:nvSpPr>
        <p:spPr>
          <a:xfrm>
            <a:off x="594360" y="1783080"/>
            <a:ext cx="11018520" cy="1207008"/>
          </a:xfrm>
          <a:prstGeom prst="roundRect">
            <a:avLst>
              <a:gd name="adj" fmla="val 4545"/>
            </a:avLst>
          </a:prstGeom>
          <a:solidFill>
            <a:srgbClr val="19242F"/>
          </a:solidFill>
          <a:ln/>
        </p:spPr>
        <p:txBody>
          <a:bodyPr/>
          <a:lstStyle/>
          <a:p>
            <a:endParaRPr lang="en-US"/>
          </a:p>
        </p:txBody>
      </p:sp>
      <p:sp>
        <p:nvSpPr>
          <p:cNvPr id="6" name="Shape 3"/>
          <p:cNvSpPr/>
          <p:nvPr/>
        </p:nvSpPr>
        <p:spPr>
          <a:xfrm>
            <a:off x="886968" y="2148840"/>
            <a:ext cx="502920" cy="502920"/>
          </a:xfrm>
          <a:prstGeom prst="ellipse">
            <a:avLst/>
          </a:prstGeom>
          <a:solidFill>
            <a:srgbClr val="5B9BD5"/>
          </a:solidFill>
          <a:ln/>
        </p:spPr>
        <p:txBody>
          <a:bodyPr/>
          <a:lstStyle/>
          <a:p>
            <a:endParaRPr lang="en-US"/>
          </a:p>
        </p:txBody>
      </p:sp>
      <p:sp>
        <p:nvSpPr>
          <p:cNvPr id="7" name="Text 4"/>
          <p:cNvSpPr txBox="1"/>
          <p:nvPr/>
        </p:nvSpPr>
        <p:spPr>
          <a:xfrm>
            <a:off x="886968" y="21488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600200" y="1965960"/>
            <a:ext cx="9601200" cy="384048"/>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Do the arithmetic first</a:t>
            </a:r>
            <a:endParaRPr lang="en-US" sz="2100" dirty="0"/>
          </a:p>
        </p:txBody>
      </p:sp>
      <p:sp>
        <p:nvSpPr>
          <p:cNvPr id="9" name="Text 6"/>
          <p:cNvSpPr txBox="1"/>
          <p:nvPr/>
        </p:nvSpPr>
        <p:spPr>
          <a:xfrm>
            <a:off x="1600200" y="2386584"/>
            <a:ext cx="9601200" cy="5029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Fingerprinting and key matching removed 92% of the volume before anything read a word. Cheap, instant, and it never hallucinates.</a:t>
            </a:r>
            <a:endParaRPr lang="en-US" sz="1400" dirty="0"/>
          </a:p>
        </p:txBody>
      </p:sp>
      <p:sp>
        <p:nvSpPr>
          <p:cNvPr id="10" name="Shape 7"/>
          <p:cNvSpPr/>
          <p:nvPr/>
        </p:nvSpPr>
        <p:spPr>
          <a:xfrm>
            <a:off x="594360" y="3154680"/>
            <a:ext cx="11018520" cy="1207008"/>
          </a:xfrm>
          <a:prstGeom prst="roundRect">
            <a:avLst>
              <a:gd name="adj" fmla="val 4545"/>
            </a:avLst>
          </a:prstGeom>
          <a:solidFill>
            <a:srgbClr val="19242F"/>
          </a:solidFill>
          <a:ln/>
        </p:spPr>
        <p:txBody>
          <a:bodyPr/>
          <a:lstStyle/>
          <a:p>
            <a:endParaRPr lang="en-US"/>
          </a:p>
        </p:txBody>
      </p:sp>
      <p:sp>
        <p:nvSpPr>
          <p:cNvPr id="11" name="Shape 8"/>
          <p:cNvSpPr/>
          <p:nvPr/>
        </p:nvSpPr>
        <p:spPr>
          <a:xfrm>
            <a:off x="886968" y="3520440"/>
            <a:ext cx="502920" cy="502920"/>
          </a:xfrm>
          <a:prstGeom prst="ellipse">
            <a:avLst/>
          </a:prstGeom>
          <a:solidFill>
            <a:srgbClr val="46B98A"/>
          </a:solidFill>
          <a:ln/>
        </p:spPr>
        <p:txBody>
          <a:bodyPr/>
          <a:lstStyle/>
          <a:p>
            <a:endParaRPr lang="en-US"/>
          </a:p>
        </p:txBody>
      </p:sp>
      <p:sp>
        <p:nvSpPr>
          <p:cNvPr id="12" name="Text 9"/>
          <p:cNvSpPr txBox="1"/>
          <p:nvPr/>
        </p:nvSpPr>
        <p:spPr>
          <a:xfrm>
            <a:off x="886968" y="35204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600200" y="3337560"/>
            <a:ext cx="9601200" cy="384048"/>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Instrumentation earns the correlation</a:t>
            </a:r>
            <a:endParaRPr lang="en-US" sz="2100" dirty="0"/>
          </a:p>
        </p:txBody>
      </p:sp>
      <p:sp>
        <p:nvSpPr>
          <p:cNvPr id="14" name="Text 11"/>
          <p:cNvSpPr txBox="1"/>
          <p:nvPr/>
        </p:nvSpPr>
        <p:spPr>
          <a:xfrm>
            <a:off x="1600200" y="3758184"/>
            <a:ext cx="9601200" cy="5029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One OpenTelemetry span attribute did work a model would otherwise have to do. Good telemetry is cheaper than inference.</a:t>
            </a:r>
            <a:endParaRPr lang="en-US" sz="1400" dirty="0"/>
          </a:p>
        </p:txBody>
      </p:sp>
      <p:sp>
        <p:nvSpPr>
          <p:cNvPr id="15" name="Shape 12"/>
          <p:cNvSpPr/>
          <p:nvPr/>
        </p:nvSpPr>
        <p:spPr>
          <a:xfrm>
            <a:off x="594360" y="4526280"/>
            <a:ext cx="11018520" cy="1207008"/>
          </a:xfrm>
          <a:prstGeom prst="roundRect">
            <a:avLst>
              <a:gd name="adj" fmla="val 4545"/>
            </a:avLst>
          </a:prstGeom>
          <a:solidFill>
            <a:srgbClr val="19242F"/>
          </a:solidFill>
          <a:ln/>
        </p:spPr>
        <p:txBody>
          <a:bodyPr/>
          <a:lstStyle/>
          <a:p>
            <a:endParaRPr lang="en-US"/>
          </a:p>
        </p:txBody>
      </p:sp>
      <p:sp>
        <p:nvSpPr>
          <p:cNvPr id="16" name="Shape 13"/>
          <p:cNvSpPr/>
          <p:nvPr/>
        </p:nvSpPr>
        <p:spPr>
          <a:xfrm>
            <a:off x="886968" y="4892040"/>
            <a:ext cx="502920" cy="502920"/>
          </a:xfrm>
          <a:prstGeom prst="ellipse">
            <a:avLst/>
          </a:prstGeom>
          <a:solidFill>
            <a:srgbClr val="E0443E"/>
          </a:solidFill>
          <a:ln/>
        </p:spPr>
        <p:txBody>
          <a:bodyPr/>
          <a:lstStyle/>
          <a:p>
            <a:endParaRPr lang="en-US"/>
          </a:p>
        </p:txBody>
      </p:sp>
      <p:sp>
        <p:nvSpPr>
          <p:cNvPr id="17" name="Text 14"/>
          <p:cNvSpPr txBox="1"/>
          <p:nvPr/>
        </p:nvSpPr>
        <p:spPr>
          <a:xfrm>
            <a:off x="886968" y="48920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600200" y="4709160"/>
            <a:ext cx="9601200" cy="384048"/>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Use the model for the reading problem</a:t>
            </a:r>
            <a:endParaRPr lang="en-US" sz="2100" dirty="0"/>
          </a:p>
        </p:txBody>
      </p:sp>
      <p:sp>
        <p:nvSpPr>
          <p:cNvPr id="19" name="Text 16"/>
          <p:cNvSpPr txBox="1"/>
          <p:nvPr/>
        </p:nvSpPr>
        <p:spPr>
          <a:xfrm>
            <a:off x="1600200" y="5129784"/>
            <a:ext cx="9601200" cy="5029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Ask it to connect what only prose connects, judge it on what it refuses to connect, and never let it own your data model.</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1920240"/>
            <a:ext cx="10058400" cy="82296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Take it and break it</a:t>
            </a:r>
            <a:endParaRPr lang="en-US" sz="4200" dirty="0"/>
          </a:p>
        </p:txBody>
      </p:sp>
      <p:sp>
        <p:nvSpPr>
          <p:cNvPr id="4" name="Text 1"/>
          <p:cNvSpPr txBox="1"/>
          <p:nvPr/>
        </p:nvSpPr>
        <p:spPr>
          <a:xfrm>
            <a:off x="594360" y="2788920"/>
            <a:ext cx="10058400" cy="365760"/>
          </a:xfrm>
          <a:prstGeom prst="rect">
            <a:avLst/>
          </a:prstGeom>
          <a:noFill/>
          <a:ln/>
        </p:spPr>
        <p:txBody>
          <a:bodyPr wrap="square" lIns="0" tIns="0" rIns="0" bIns="0" rtlCol="0" anchor="ctr"/>
          <a:lstStyle/>
          <a:p>
            <a:pPr marL="0" indent="0">
              <a:buNone/>
            </a:pPr>
            <a:r>
              <a:rPr lang="en-US" sz="1700" dirty="0">
                <a:solidFill>
                  <a:srgbClr val="8FA3B8"/>
                </a:solidFill>
                <a:latin typeface="Calibri" pitchFamily="34" charset="0"/>
                <a:ea typeface="Calibri" pitchFamily="34" charset="-122"/>
                <a:cs typeface="Calibri" pitchFamily="34" charset="-120"/>
              </a:rPr>
              <a:t>Everything in this session deploys into your own tenant with one script.</a:t>
            </a:r>
            <a:endParaRPr lang="en-US" sz="1700" dirty="0"/>
          </a:p>
        </p:txBody>
      </p:sp>
      <p:sp>
        <p:nvSpPr>
          <p:cNvPr id="5" name="Shape 2"/>
          <p:cNvSpPr/>
          <p:nvPr/>
        </p:nvSpPr>
        <p:spPr>
          <a:xfrm>
            <a:off x="594360" y="3648456"/>
            <a:ext cx="237744" cy="237744"/>
          </a:xfrm>
          <a:prstGeom prst="ellipse">
            <a:avLst/>
          </a:prstGeom>
          <a:solidFill>
            <a:srgbClr val="46B98A"/>
          </a:solidFill>
          <a:ln/>
        </p:spPr>
        <p:txBody>
          <a:bodyPr/>
          <a:lstStyle/>
          <a:p>
            <a:endParaRPr lang="en-US"/>
          </a:p>
        </p:txBody>
      </p:sp>
      <p:sp>
        <p:nvSpPr>
          <p:cNvPr id="6" name="Text 3"/>
          <p:cNvSpPr txBox="1"/>
          <p:nvPr/>
        </p:nvSpPr>
        <p:spPr>
          <a:xfrm>
            <a:off x="1051560" y="3520440"/>
            <a:ext cx="4754880" cy="41148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github.com/donnietaylor</a:t>
            </a:r>
            <a:endParaRPr lang="en-US" sz="2000" dirty="0"/>
          </a:p>
        </p:txBody>
      </p:sp>
      <p:sp>
        <p:nvSpPr>
          <p:cNvPr id="7" name="Text 4"/>
          <p:cNvSpPr txBox="1"/>
          <p:nvPr/>
        </p:nvSpPr>
        <p:spPr>
          <a:xfrm>
            <a:off x="5989320" y="3566160"/>
            <a:ext cx="5669280" cy="36576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Deploy-Azure.ps1, then Break-Everything.ps1</a:t>
            </a:r>
            <a:endParaRPr lang="en-US" sz="1400" dirty="0"/>
          </a:p>
        </p:txBody>
      </p:sp>
      <p:sp>
        <p:nvSpPr>
          <p:cNvPr id="8" name="Shape 5"/>
          <p:cNvSpPr/>
          <p:nvPr/>
        </p:nvSpPr>
        <p:spPr>
          <a:xfrm>
            <a:off x="594360" y="4489704"/>
            <a:ext cx="237744" cy="237744"/>
          </a:xfrm>
          <a:prstGeom prst="ellipse">
            <a:avLst/>
          </a:prstGeom>
          <a:solidFill>
            <a:srgbClr val="5B9BD5"/>
          </a:solidFill>
          <a:ln/>
        </p:spPr>
        <p:txBody>
          <a:bodyPr/>
          <a:lstStyle/>
          <a:p>
            <a:endParaRPr lang="en-US"/>
          </a:p>
        </p:txBody>
      </p:sp>
      <p:sp>
        <p:nvSpPr>
          <p:cNvPr id="9" name="Text 6"/>
          <p:cNvSpPr txBox="1"/>
          <p:nvPr/>
        </p:nvSpPr>
        <p:spPr>
          <a:xfrm>
            <a:off x="1051560" y="4361688"/>
            <a:ext cx="4754880" cy="41148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draith.com</a:t>
            </a:r>
            <a:endParaRPr lang="en-US" sz="2000" dirty="0"/>
          </a:p>
        </p:txBody>
      </p:sp>
      <p:sp>
        <p:nvSpPr>
          <p:cNvPr id="10" name="Text 7"/>
          <p:cNvSpPr txBox="1"/>
          <p:nvPr/>
        </p:nvSpPr>
        <p:spPr>
          <a:xfrm>
            <a:off x="5989320" y="4407408"/>
            <a:ext cx="5669280" cy="36576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Write-ups and the longer version of the argument</a:t>
            </a:r>
            <a:endParaRPr lang="en-US" sz="1400" dirty="0"/>
          </a:p>
        </p:txBody>
      </p:sp>
      <p:sp>
        <p:nvSpPr>
          <p:cNvPr id="11" name="Shape 8"/>
          <p:cNvSpPr/>
          <p:nvPr/>
        </p:nvSpPr>
        <p:spPr>
          <a:xfrm>
            <a:off x="594360" y="5330952"/>
            <a:ext cx="237744" cy="237744"/>
          </a:xfrm>
          <a:prstGeom prst="ellipse">
            <a:avLst/>
          </a:prstGeom>
          <a:solidFill>
            <a:srgbClr val="E8A33D"/>
          </a:solidFill>
          <a:ln/>
        </p:spPr>
        <p:txBody>
          <a:bodyPr/>
          <a:lstStyle/>
          <a:p>
            <a:endParaRPr lang="en-US"/>
          </a:p>
        </p:txBody>
      </p:sp>
      <p:sp>
        <p:nvSpPr>
          <p:cNvPr id="12" name="Text 9"/>
          <p:cNvSpPr txBox="1"/>
          <p:nvPr/>
        </p:nvSpPr>
        <p:spPr>
          <a:xfrm>
            <a:off x="1051560" y="5202936"/>
            <a:ext cx="4754880" cy="41148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@donnietaylor.bsky.social</a:t>
            </a:r>
            <a:endParaRPr lang="en-US" sz="2000" dirty="0"/>
          </a:p>
        </p:txBody>
      </p:sp>
      <p:sp>
        <p:nvSpPr>
          <p:cNvPr id="13" name="Text 10"/>
          <p:cNvSpPr txBox="1"/>
          <p:nvPr/>
        </p:nvSpPr>
        <p:spPr>
          <a:xfrm>
            <a:off x="5989320" y="5248656"/>
            <a:ext cx="5669280" cy="36576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Also on LinkedIn - come find me at the party</a:t>
            </a:r>
            <a:endParaRPr lang="en-US" sz="1400" dirty="0"/>
          </a:p>
        </p:txBody>
      </p:sp>
      <p:sp>
        <p:nvSpPr>
          <p:cNvPr id="14" name="Text 11"/>
          <p:cNvSpPr txBox="1"/>
          <p:nvPr/>
        </p:nvSpPr>
        <p:spPr>
          <a:xfrm>
            <a:off x="594360" y="6035040"/>
            <a:ext cx="10058400" cy="365760"/>
          </a:xfrm>
          <a:prstGeom prst="rect">
            <a:avLst/>
          </a:prstGeom>
          <a:noFill/>
          <a:ln/>
        </p:spPr>
        <p:txBody>
          <a:bodyPr wrap="square" lIns="0" tIns="0" rIns="0" bIns="0" rtlCol="0" anchor="ctr"/>
          <a:lstStyle/>
          <a:p>
            <a:pPr marL="0" indent="0">
              <a:buNone/>
            </a:pPr>
            <a:r>
              <a:rPr lang="en-US" sz="1600" i="1" dirty="0">
                <a:solidFill>
                  <a:srgbClr val="7C90A6"/>
                </a:solidFill>
                <a:latin typeface="Calibri" pitchFamily="34" charset="0"/>
                <a:ea typeface="Calibri" pitchFamily="34" charset="-122"/>
                <a:cs typeface="Calibri" pitchFamily="34" charset="-120"/>
              </a:rPr>
              <a:t>Questions - now, or all week.</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2651760"/>
            <a:ext cx="7315200" cy="457200"/>
          </a:xfrm>
          <a:prstGeom prst="rect">
            <a:avLst/>
          </a:prstGeom>
          <a:noFill/>
          <a:ln/>
        </p:spPr>
        <p:txBody>
          <a:bodyPr wrap="square" lIns="0" tIns="0" rIns="0" bIns="0" rtlCol="0" anchor="ctr"/>
          <a:lstStyle/>
          <a:p>
            <a:pPr marL="0" indent="0">
              <a:buNone/>
            </a:pPr>
            <a:r>
              <a:rPr lang="en-US" sz="1600" b="1" kern="0" spc="500" dirty="0">
                <a:solidFill>
                  <a:srgbClr val="8FA3B8"/>
                </a:solidFill>
                <a:latin typeface="Calibri" pitchFamily="34" charset="0"/>
                <a:ea typeface="Calibri" pitchFamily="34" charset="-122"/>
                <a:cs typeface="Calibri" pitchFamily="34" charset="-120"/>
              </a:rPr>
              <a:t>APPENDIX</a:t>
            </a:r>
            <a:endParaRPr lang="en-US" sz="1600" dirty="0"/>
          </a:p>
        </p:txBody>
      </p:sp>
      <p:sp>
        <p:nvSpPr>
          <p:cNvPr id="4" name="Text 1"/>
          <p:cNvSpPr txBox="1"/>
          <p:nvPr/>
        </p:nvSpPr>
        <p:spPr>
          <a:xfrm>
            <a:off x="594360" y="3108960"/>
            <a:ext cx="10058400" cy="777240"/>
          </a:xfrm>
          <a:prstGeom prst="rect">
            <a:avLst/>
          </a:prstGeom>
          <a:noFill/>
          <a:ln/>
        </p:spPr>
        <p:txBody>
          <a:bodyPr wrap="square" lIns="0" tIns="0" rIns="0" bIns="0" rtlCol="0" anchor="ctr"/>
          <a:lstStyle/>
          <a:p>
            <a:pPr marL="0" indent="0">
              <a:buNone/>
            </a:pPr>
            <a:r>
              <a:rPr lang="en-US" sz="3800" b="1" dirty="0">
                <a:solidFill>
                  <a:srgbClr val="E9EFF6"/>
                </a:solidFill>
                <a:latin typeface="Calibri" pitchFamily="34" charset="0"/>
                <a:ea typeface="Calibri" pitchFamily="34" charset="-122"/>
                <a:cs typeface="Calibri" pitchFamily="34" charset="-120"/>
              </a:rPr>
              <a:t>If the wifi dies</a:t>
            </a:r>
            <a:endParaRPr lang="en-US" sz="3800" dirty="0"/>
          </a:p>
        </p:txBody>
      </p:sp>
      <p:sp>
        <p:nvSpPr>
          <p:cNvPr id="5" name="Text 2"/>
          <p:cNvSpPr txBox="1"/>
          <p:nvPr/>
        </p:nvSpPr>
        <p:spPr>
          <a:xfrm>
            <a:off x="594360" y="4023360"/>
            <a:ext cx="8686800" cy="822960"/>
          </a:xfrm>
          <a:prstGeom prst="rect">
            <a:avLst/>
          </a:prstGeom>
          <a:noFill/>
          <a:ln/>
        </p:spPr>
        <p:txBody>
          <a:bodyPr wrap="square" lIns="0" tIns="0" rIns="0" bIns="0" rtlCol="0" anchor="ctr"/>
          <a:lstStyle/>
          <a:p>
            <a:pPr marL="0" indent="0">
              <a:buNone/>
            </a:pPr>
            <a:r>
              <a:rPr lang="en-US" sz="1600" dirty="0">
                <a:solidFill>
                  <a:srgbClr val="8FA3B8"/>
                </a:solidFill>
                <a:latin typeface="Calibri" pitchFamily="34" charset="0"/>
                <a:ea typeface="Calibri" pitchFamily="34" charset="-122"/>
                <a:cs typeface="Calibri" pitchFamily="34" charset="-120"/>
              </a:rPr>
              <a:t>Screenshots of each demo stage go behind this slide: raw stream, the funnel, the tree with root cause, and the terminal output. Capture them at the end of a clean rehearsal.</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EVERY FUNCTION, BY JOB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Which function answers which question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389888"/>
            <a:ext cx="11002975" cy="868680"/>
          </a:xfrm>
          <a:prstGeom prst="roundRect">
            <a:avLst>
              <a:gd name="adj" fmla="val 631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95528" y="1490472"/>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Normalise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95528" y="1755648"/>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Normalize.psm1 (10)</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2743200" y="1463040"/>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ConvertTo-PipelineEvent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entry point: sniffs the payload shape and hands off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ConvertFrom-AppInsightsRecord · -AzureMonitorAlert · -ScriptEvent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one per shape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Get-HostFromTarget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a dependency’s Target becomes the host, so the app’s failed call joins the server’s incident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Get-Field · Get-ExceptionMessage · Format-Time · New-PipelineEvent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helpers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94360" y="2359152"/>
            <a:ext cx="11002975" cy="603504"/>
          </a:xfrm>
          <a:prstGeom prst="roundRect">
            <a:avLst>
              <a:gd name="adj" fmla="val 9091"/>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txBox="1"/>
          <p:nvPr/>
        </p:nvSpPr>
        <p:spPr>
          <a:xfrm>
            <a:off x="795528" y="2459736"/>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Same symptom?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95528" y="2724912"/>
            <a:ext cx="77724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795528" y="2724912"/>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QUESTION 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1645920" y="2724912"/>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2743200" y="2432304"/>
            <a:ext cx="8671255" cy="4754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Get-Fingerprint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SHA256 of source | kind | title with digits → N | resource | host.  Four lines. The whole answer.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94360" y="3063240"/>
            <a:ext cx="11002975" cy="868680"/>
          </a:xfrm>
          <a:prstGeom prst="roundRect">
            <a:avLst>
              <a:gd name="adj" fmla="val 631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795528" y="3163824"/>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Same incident?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795528" y="3429000"/>
            <a:ext cx="77724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795528" y="3429000"/>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QUESTION 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1645920" y="3429000"/>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2743200" y="3136392"/>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Get-PrimaryKey · Get-IncidentId</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one key that decides the incident, and the id derived from 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Get-EventKey</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every key the event carries, for the “correlated on” 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Add-EventToIncident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orchestrator - the only thing IngestEvents calls after archiving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New-Incident · Write-RawEvent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writes; neither is conditional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594360" y="4032504"/>
            <a:ext cx="11002975" cy="713232"/>
          </a:xfrm>
          <a:prstGeom prst="roundRect">
            <a:avLst>
              <a:gd name="adj" fmla="val 7692"/>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txBox="1"/>
          <p:nvPr/>
        </p:nvSpPr>
        <p:spPr>
          <a:xfrm>
            <a:off x="795528" y="4133088"/>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Plumbing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795528" y="4398264"/>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Plumbing.psm1 (9)</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2743200" y="4105656"/>
            <a:ext cx="8671255" cy="585216"/>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Invoke-Table · Get-TableRow · Get-OpenIncident · Measure-Incident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Table Storage over REST, and the totals the incident row does not store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Get-ResourceToken · Get-StorageToken</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managed identity, one token per resource, cached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Get-HttpStatus · ConvertTo-TableLiteral · ConvertTo-Utc</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small conversions everyone leans 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94360" y="4846320"/>
            <a:ext cx="11002975" cy="868680"/>
          </a:xfrm>
          <a:prstGeom prst="roundRect">
            <a:avLst>
              <a:gd name="adj" fmla="val 631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795528" y="4946904"/>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Same problem?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795528" y="5212080"/>
            <a:ext cx="777240" cy="201168"/>
          </a:xfrm>
          <a:prstGeom prst="roundRect">
            <a:avLst>
              <a:gd name="adj" fmla="val 22727"/>
            </a:avLst>
          </a:prstGeom>
          <a:solidFill>
            <a:srgbClr val="0E1621"/>
          </a:solidFill>
          <a:ln w="12700">
            <a:solidFill>
              <a:srgbClr val="E044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795528" y="5212080"/>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0443E"/>
                </a:solidFill>
                <a:effectLst/>
                <a:uLnTx/>
                <a:uFillTx/>
                <a:latin typeface="Calibri" pitchFamily="34" charset="0"/>
                <a:ea typeface="Calibri" pitchFamily="34" charset="-122"/>
                <a:cs typeface="Calibri" pitchFamily="34" charset="-120"/>
              </a:rPr>
              <a:t>QUESTION 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1645920" y="5212080"/>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Ai.psm1 (5)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2743200" y="4919472"/>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Invoke-IncidentAnalysis</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pass: fetch, skip if quiet, brief, ask, write back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Get-IncidentBrief</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what the model is allowed to see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Invoke-OpenAI · ConvertFrom-ModelJson</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one call, and the JSON it must return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Write-IncidentVerdict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one incident’s verdict, a plain merge - it sends no counters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8"/>
          <p:cNvSpPr/>
          <p:nvPr/>
        </p:nvSpPr>
        <p:spPr>
          <a:xfrm>
            <a:off x="594360" y="5815584"/>
            <a:ext cx="11002975" cy="603504"/>
          </a:xfrm>
          <a:prstGeom prst="roundRect">
            <a:avLst>
              <a:gd name="adj" fmla="val 9091"/>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795528" y="5916168"/>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B9BD5"/>
                </a:solidFill>
                <a:effectLst/>
                <a:uLnTx/>
                <a:uFillTx/>
                <a:latin typeface="Calibri" pitchFamily="34" charset="0"/>
                <a:ea typeface="Calibri" pitchFamily="34" charset="-122"/>
                <a:cs typeface="Calibri" pitchFamily="34" charset="-120"/>
              </a:rPr>
              <a:t>Presentation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txBox="1"/>
          <p:nvPr/>
        </p:nvSpPr>
        <p:spPr>
          <a:xfrm>
            <a:off x="795528" y="6181344"/>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GetIncidents/run.ps1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2743200" y="5888736"/>
            <a:ext cx="8671255" cy="4754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six ?view= shapes</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raw · summary · sources · tree · incidents · symptoms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Format-Count · Format-Age · Write-Json · Get-TableRow</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local helpers - that last one is a filter query, not the module’s point read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594360" y="6537960"/>
            <a:ext cx="1100297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35 functions. Three of them decide what belongs together. One of them talks to a 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703BEA-C48D-4B47-BF6A-148B9BFB993E}">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272</TotalTime>
  <Words>4593</Words>
  <Application>Microsoft Office PowerPoint</Application>
  <PresentationFormat>Widescreen</PresentationFormat>
  <Paragraphs>537</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Monitoring: Building an AI-Enhanced Event Pipeline</dc:title>
  <dc:subject>PptxGenJS Presentation</dc:subject>
  <dc:creator>Donnie Taylor</dc:creator>
  <cp:lastModifiedBy>Donnie Taylor</cp:lastModifiedBy>
  <cp:revision>4</cp:revision>
  <dcterms:created xsi:type="dcterms:W3CDTF">2026-09-13T00:17:19Z</dcterms:created>
  <dcterms:modified xsi:type="dcterms:W3CDTF">2026-09-18T01:49:25Z</dcterms:modified>
</cp:coreProperties>
</file>