
<file path=[Content_Types].xml><?xml version="1.0" encoding="utf-8"?>
<Types xmlns="http://schemas.openxmlformats.org/package/2006/content-types">
  <Default Extension="gif" ContentType="image/gif"/>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60" r:id="rId3"/>
    <p:sldId id="259" r:id="rId4"/>
    <p:sldId id="257" r:id="rId5"/>
    <p:sldId id="258" r:id="rId6"/>
    <p:sldId id="261" r:id="rId7"/>
    <p:sldId id="262" r:id="rId8"/>
    <p:sldId id="284" r:id="rId9"/>
    <p:sldId id="263" r:id="rId10"/>
    <p:sldId id="279" r:id="rId11"/>
    <p:sldId id="264" r:id="rId12"/>
    <p:sldId id="265" r:id="rId13"/>
    <p:sldId id="266" r:id="rId14"/>
    <p:sldId id="280" r:id="rId15"/>
    <p:sldId id="281" r:id="rId16"/>
    <p:sldId id="282" r:id="rId17"/>
    <p:sldId id="267" r:id="rId18"/>
    <p:sldId id="268" r:id="rId19"/>
    <p:sldId id="269" r:id="rId20"/>
    <p:sldId id="270" r:id="rId21"/>
    <p:sldId id="283" r:id="rId22"/>
    <p:sldId id="271" r:id="rId23"/>
    <p:sldId id="272" r:id="rId24"/>
    <p:sldId id="273" r:id="rId25"/>
    <p:sldId id="275" r:id="rId26"/>
    <p:sldId id="276" r:id="rId27"/>
    <p:sldId id="277" r:id="rId28"/>
    <p:sldId id="278"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6710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Do not introduce yourself yet - go straight to the firehose slide and let them try to find the cause. Come back to who you are after they have felt the problem.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this entire slide with the sponsor slide CAS emails you. Do not skip it - sponsors are why the ticket price is what it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sixty seconds. They came for the pipeline, not the resume.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cold open. Read two or three lines out loud, then stop talking and let the room look. Ask it straight: which one caused the others? Take a couple of guesses from the audience - people usually pick a critical. Nobody picks the backup job. That is the whole talk in thirty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it and move. The room has just failed to find the cause, so this is a release valve, not a bit. If it gets a laugh, ride it straight into the introduction.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what makes the rest of the session legible. Most monitoring tools do the first. Some do the second. Almost nothing does the third, and the third is what the on-call engineer actually needs at 3am.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diagram, and the only slide that shows plumbing - the demo cannot. Note the two correlation stages are separate on purpose: the deterministic one owns identity, the model never creates or merges an incident.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slide. Walk it left to right once, then point at the two things that are not obvious: the dashed loop is the AI pass reading and writing the same table the ingest path writes, and the three LAYER chips are the spine of the session. Roughly ninety seconds; do not narrate every box.</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genuinely different shapes arriving on one hub. The point of the third is that it is fake infrastructure - I am not deploying a SQL box to prove a correlation engine works.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before the first demo. The point is that the function that reads the hub is trivially small - all the interesting work is behind three verbs. Read the three lines in the inner loop out loud and move on; the next slides open each one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talk over it. The checkouts going red in the terminal are real HTTP calls against the Flask app on this machine. Do not skip the raw view - that is the "can you find it" screen again, now live.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intelligence here at all. A hash of source, kind, host and the title with digit runs collapsed. Be honest about the tradeoff: "Port 22 closed" and "Port 443 closed" collapse together too. Worth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no model. The incident id is a hash of the primary key, which is why two workers racing on the same host write to the same row instead of creating two incidents. Mention that briefly - it is the kind of detail this audience respects.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sources, three completely different JSON shapes, and none of them agree on what a field is called. This is the unglamorous half of any pipeline like this and it is worth saying so - people underestimate it every time.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one, in full. Three lines. Say plainly that this is the entire deduplication engine and that it involves no intelligence of any kind - it is a hash of a string with the numbers taken out.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two. The ordering is the interesting bit - trace is last on purpose because every request has its own, so it is the worst grouping key available. Then the id is derived from the key rather than generated, which is what makes the whole thing safe under concurrency.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advocacy slide and probably the most useful thing anyone takes home. Five lines of span attributes did work that would otherwise need a model. Say it plainly: good telemetry is cheaper than inference.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bullet hard. Thirteen incidents is a real improvement and it is still thirteen things to look at. The backup job is sitting there as a warning nobody would open.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model earns its place. The link between backup-01 and sql-prod-03 exists only in English - no shared host, no shared resource, no trace. No amount of key matching finds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best-fitting joke in the deck because the picture IS the point. Set up the next demo with it: the interesting question is not what the model connects, it is what it refuses to connect. Then go run the analysis.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Deflate the AI stage deliberately. It is one HTTP call with temperature zero and a JSON contract. The interesting engineering is everywhere except here - and that is the honest shape of most production AI features.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red herrings as hard as at the root cause. A correlator that connects everything is as useless as one that connects nothing. The firewall packet loss during carrier maintenance is there to be left alone, and it was.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top line out loud - it is the single most portable idea in the session and the thing people will repeat to their team on Monday. Then go to the chain slide and walk 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Flip back here if the room loses the thread during any demo. This is the scenario on one slide.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one. Saying where it breaks is what makes the rest credible, and this room can smell a sales pitch.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not seven. If they remember one, make it the middle one.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the last questions. Invite people up - CAS specifically asks speakers to be findable afterwards.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safety net. If the network dies, walk these screenshots instead of the live demo. Capture them at the end of a good rehearsal run and drop them in behind this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1965960"/>
            <a:ext cx="10972800" cy="365760"/>
          </a:xfrm>
          <a:prstGeom prst="rect">
            <a:avLst/>
          </a:prstGeom>
          <a:noFill/>
          <a:ln/>
        </p:spPr>
        <p:txBody>
          <a:bodyPr wrap="square" lIns="0" tIns="0" rIns="0" bIns="0" rtlCol="0" anchor="ctr"/>
          <a:lstStyle/>
          <a:p>
            <a:pPr marL="0" indent="0">
              <a:buNone/>
            </a:pPr>
            <a:r>
              <a:rPr lang="en-US" sz="1500" b="1" kern="0" spc="400" dirty="0">
                <a:solidFill>
                  <a:srgbClr val="E8A33D"/>
                </a:solidFill>
                <a:latin typeface="Calibri" pitchFamily="34" charset="0"/>
                <a:ea typeface="Calibri" pitchFamily="34" charset="-122"/>
                <a:cs typeface="Calibri" pitchFamily="34" charset="-120"/>
              </a:rPr>
              <a:t>SMARTER MONITORING</a:t>
            </a:r>
            <a:endParaRPr lang="en-US" sz="1500" dirty="0"/>
          </a:p>
        </p:txBody>
      </p:sp>
      <p:sp>
        <p:nvSpPr>
          <p:cNvPr id="4" name="Text 1"/>
          <p:cNvSpPr txBox="1"/>
          <p:nvPr/>
        </p:nvSpPr>
        <p:spPr>
          <a:xfrm>
            <a:off x="594360" y="2377440"/>
            <a:ext cx="10515600" cy="1737360"/>
          </a:xfrm>
          <a:prstGeom prst="rect">
            <a:avLst/>
          </a:prstGeom>
          <a:noFill/>
          <a:ln/>
        </p:spPr>
        <p:txBody>
          <a:bodyPr wrap="square" lIns="0" tIns="0" rIns="0" bIns="0" rtlCol="0" anchor="ctr"/>
          <a:lstStyle/>
          <a:p>
            <a:pPr marL="0" indent="0">
              <a:lnSpc>
                <a:spcPts val="5200"/>
              </a:lnSpc>
              <a:buNone/>
            </a:pPr>
            <a:r>
              <a:rPr lang="en-US" sz="4600" b="1" dirty="0">
                <a:solidFill>
                  <a:srgbClr val="FFFFFF"/>
                </a:solidFill>
                <a:latin typeface="Calibri" pitchFamily="34" charset="0"/>
                <a:ea typeface="Calibri" pitchFamily="34" charset="-122"/>
                <a:cs typeface="Calibri" pitchFamily="34" charset="-120"/>
              </a:rPr>
              <a:t>Building an AI-Enhanced</a:t>
            </a:r>
            <a:endParaRPr lang="en-US" sz="4600" dirty="0"/>
          </a:p>
          <a:p>
            <a:pPr marL="0" indent="0">
              <a:lnSpc>
                <a:spcPts val="5200"/>
              </a:lnSpc>
              <a:buNone/>
            </a:pPr>
            <a:r>
              <a:rPr lang="en-US" sz="4600" b="1" dirty="0">
                <a:solidFill>
                  <a:srgbClr val="FFFFFF"/>
                </a:solidFill>
                <a:latin typeface="Calibri" pitchFamily="34" charset="0"/>
                <a:ea typeface="Calibri" pitchFamily="34" charset="-122"/>
                <a:cs typeface="Calibri" pitchFamily="34" charset="-120"/>
              </a:rPr>
              <a:t>Event Pipeline</a:t>
            </a:r>
            <a:endParaRPr lang="en-US" sz="4600" dirty="0"/>
          </a:p>
        </p:txBody>
      </p:sp>
      <p:sp>
        <p:nvSpPr>
          <p:cNvPr id="5" name="Text 2"/>
          <p:cNvSpPr txBox="1"/>
          <p:nvPr/>
        </p:nvSpPr>
        <p:spPr>
          <a:xfrm>
            <a:off x="594360" y="4160520"/>
            <a:ext cx="9144000" cy="365760"/>
          </a:xfrm>
          <a:prstGeom prst="rect">
            <a:avLst/>
          </a:prstGeom>
          <a:noFill/>
          <a:ln/>
        </p:spPr>
        <p:txBody>
          <a:bodyPr wrap="square" lIns="0" tIns="0" rIns="0" bIns="0" rtlCol="0" anchor="ctr"/>
          <a:lstStyle/>
          <a:p>
            <a:pPr marL="0" indent="0">
              <a:buNone/>
            </a:pPr>
            <a:r>
              <a:rPr lang="en-US" sz="1700" i="1" dirty="0">
                <a:solidFill>
                  <a:srgbClr val="8FA3B8"/>
                </a:solidFill>
                <a:latin typeface="Calibri" pitchFamily="34" charset="0"/>
                <a:ea typeface="Calibri" pitchFamily="34" charset="-122"/>
                <a:cs typeface="Calibri" pitchFamily="34" charset="-120"/>
              </a:rPr>
              <a:t>Correlating events from everywhere into the two that matter.</a:t>
            </a:r>
            <a:endParaRPr lang="en-US" sz="1700" dirty="0"/>
          </a:p>
        </p:txBody>
      </p:sp>
      <p:sp>
        <p:nvSpPr>
          <p:cNvPr id="6" name="Text 3"/>
          <p:cNvSpPr txBox="1"/>
          <p:nvPr/>
        </p:nvSpPr>
        <p:spPr>
          <a:xfrm>
            <a:off x="594360" y="5029200"/>
            <a:ext cx="9144000" cy="320040"/>
          </a:xfrm>
          <a:prstGeom prst="rect">
            <a:avLst/>
          </a:prstGeom>
          <a:noFill/>
          <a:ln/>
        </p:spPr>
        <p:txBody>
          <a:bodyPr wrap="square" lIns="0" tIns="0" rIns="0" bIns="0" rtlCol="0" anchor="ctr"/>
          <a:lstStyle/>
          <a:p>
            <a:pPr marL="0" indent="0">
              <a:buNone/>
            </a:pPr>
            <a:r>
              <a:rPr lang="en-US" sz="1500" dirty="0">
                <a:solidFill>
                  <a:srgbClr val="E9EFF6"/>
                </a:solidFill>
                <a:latin typeface="Calibri" pitchFamily="34" charset="0"/>
                <a:ea typeface="Calibri" pitchFamily="34" charset="-122"/>
                <a:cs typeface="Calibri" pitchFamily="34" charset="-120"/>
              </a:rPr>
              <a:t>Donnie Taylor   ·   The Cloud &amp; AI Summit 2026</a:t>
            </a:r>
            <a:endParaRPr lang="en-US" sz="1500" dirty="0"/>
          </a:p>
        </p:txBody>
      </p:sp>
      <p:sp>
        <p:nvSpPr>
          <p:cNvPr id="7" name="Shape 4"/>
          <p:cNvSpPr/>
          <p:nvPr/>
        </p:nvSpPr>
        <p:spPr>
          <a:xfrm>
            <a:off x="10643616" y="5806440"/>
            <a:ext cx="201168" cy="201168"/>
          </a:xfrm>
          <a:prstGeom prst="ellipse">
            <a:avLst/>
          </a:prstGeom>
          <a:solidFill>
            <a:srgbClr val="E0443E"/>
          </a:solidFill>
          <a:ln/>
        </p:spPr>
        <p:txBody>
          <a:bodyPr/>
          <a:lstStyle/>
          <a:p>
            <a:endParaRPr lang="en-US"/>
          </a:p>
        </p:txBody>
      </p:sp>
      <p:sp>
        <p:nvSpPr>
          <p:cNvPr id="8" name="Shape 5"/>
          <p:cNvSpPr/>
          <p:nvPr/>
        </p:nvSpPr>
        <p:spPr>
          <a:xfrm>
            <a:off x="11027664" y="5806440"/>
            <a:ext cx="201168" cy="201168"/>
          </a:xfrm>
          <a:prstGeom prst="ellipse">
            <a:avLst/>
          </a:prstGeom>
          <a:solidFill>
            <a:srgbClr val="E8A33D"/>
          </a:solidFill>
          <a:ln/>
        </p:spPr>
        <p:txBody>
          <a:bodyPr/>
          <a:lstStyle/>
          <a:p>
            <a:endParaRPr lang="en-US"/>
          </a:p>
        </p:txBody>
      </p:sp>
      <p:sp>
        <p:nvSpPr>
          <p:cNvPr id="9" name="Shape 6"/>
          <p:cNvSpPr/>
          <p:nvPr/>
        </p:nvSpPr>
        <p:spPr>
          <a:xfrm>
            <a:off x="11411712" y="5806440"/>
            <a:ext cx="201168" cy="201168"/>
          </a:xfrm>
          <a:prstGeom prst="ellipse">
            <a:avLst/>
          </a:prstGeom>
          <a:solidFill>
            <a:srgbClr val="46B98A"/>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2194560" y="2514600"/>
            <a:ext cx="7772400" cy="1691640"/>
          </a:xfrm>
          <a:prstGeom prst="roundRect">
            <a:avLst>
              <a:gd name="adj" fmla="val 3243"/>
            </a:avLst>
          </a:prstGeom>
          <a:solidFill>
            <a:srgbClr val="19242F"/>
          </a:solidFill>
          <a:ln/>
        </p:spPr>
        <p:txBody>
          <a:bodyPr/>
          <a:lstStyle/>
          <a:p>
            <a:endParaRPr lang="en-US"/>
          </a:p>
        </p:txBody>
      </p:sp>
      <p:sp>
        <p:nvSpPr>
          <p:cNvPr id="4" name="Text 1"/>
          <p:cNvSpPr txBox="1"/>
          <p:nvPr/>
        </p:nvSpPr>
        <p:spPr>
          <a:xfrm>
            <a:off x="2194560" y="2834640"/>
            <a:ext cx="7772400" cy="457200"/>
          </a:xfrm>
          <a:prstGeom prst="rect">
            <a:avLst/>
          </a:prstGeom>
          <a:noFill/>
          <a:ln/>
        </p:spPr>
        <p:txBody>
          <a:bodyPr wrap="square" lIns="0" tIns="0" rIns="0" bIns="0" rtlCol="0" anchor="ctr"/>
          <a:lstStyle/>
          <a:p>
            <a:pPr marL="0" indent="0" algn="ctr">
              <a:buNone/>
            </a:pPr>
            <a:r>
              <a:rPr lang="en-US" sz="2600" b="1" kern="0" spc="300" dirty="0">
                <a:solidFill>
                  <a:srgbClr val="E8A33D"/>
                </a:solidFill>
                <a:latin typeface="Calibri" pitchFamily="34" charset="0"/>
                <a:ea typeface="Calibri" pitchFamily="34" charset="-122"/>
                <a:cs typeface="Calibri" pitchFamily="34" charset="-120"/>
              </a:rPr>
              <a:t>SPONSOR SLIDE</a:t>
            </a:r>
            <a:endParaRPr lang="en-US" sz="2600" dirty="0"/>
          </a:p>
        </p:txBody>
      </p:sp>
      <p:sp>
        <p:nvSpPr>
          <p:cNvPr id="5" name="Text 2"/>
          <p:cNvSpPr txBox="1"/>
          <p:nvPr/>
        </p:nvSpPr>
        <p:spPr>
          <a:xfrm>
            <a:off x="2194560" y="3429000"/>
            <a:ext cx="7772400" cy="365760"/>
          </a:xfrm>
          <a:prstGeom prst="rect">
            <a:avLst/>
          </a:prstGeom>
          <a:noFill/>
          <a:ln/>
        </p:spPr>
        <p:txBody>
          <a:bodyPr wrap="square" lIns="0" tIns="0" rIns="0" bIns="0" rtlCol="0" anchor="ctr"/>
          <a:lstStyle/>
          <a:p>
            <a:pPr marL="0" indent="0" algn="ctr">
              <a:buNone/>
            </a:pPr>
            <a:r>
              <a:rPr lang="en-US" sz="1600" dirty="0">
                <a:solidFill>
                  <a:srgbClr val="8FA3B8"/>
                </a:solidFill>
                <a:latin typeface="Calibri" pitchFamily="34" charset="0"/>
                <a:ea typeface="Calibri" pitchFamily="34" charset="-122"/>
                <a:cs typeface="Calibri" pitchFamily="34" charset="-120"/>
              </a:rPr>
              <a:t>Drop in the slide CAS sends. Delete this placeholder.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BEFORE WE GO FURTHER</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Donnie Taylor</a:t>
            </a:r>
            <a:endParaRPr lang="en-US" sz="3600" dirty="0"/>
          </a:p>
        </p:txBody>
      </p:sp>
      <p:sp>
        <p:nvSpPr>
          <p:cNvPr id="5" name="Shape 2"/>
          <p:cNvSpPr/>
          <p:nvPr/>
        </p:nvSpPr>
        <p:spPr>
          <a:xfrm>
            <a:off x="594360" y="1783080"/>
            <a:ext cx="475488" cy="475488"/>
          </a:xfrm>
          <a:prstGeom prst="ellipse">
            <a:avLst/>
          </a:prstGeom>
          <a:solidFill>
            <a:srgbClr val="E8A33D"/>
          </a:solidFill>
          <a:ln/>
        </p:spPr>
        <p:txBody>
          <a:bodyPr/>
          <a:lstStyle/>
          <a:p>
            <a:endParaRPr lang="en-US"/>
          </a:p>
        </p:txBody>
      </p:sp>
      <p:sp>
        <p:nvSpPr>
          <p:cNvPr id="6" name="Text 3"/>
          <p:cNvSpPr txBox="1"/>
          <p:nvPr/>
        </p:nvSpPr>
        <p:spPr>
          <a:xfrm>
            <a:off x="594360" y="1783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1371600" y="1746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Microsoft MVP, ninth consecutive year</a:t>
            </a:r>
            <a:endParaRPr lang="en-US" sz="2000" dirty="0"/>
          </a:p>
        </p:txBody>
      </p:sp>
      <p:sp>
        <p:nvSpPr>
          <p:cNvPr id="8" name="Text 5"/>
          <p:cNvSpPr txBox="1"/>
          <p:nvPr/>
        </p:nvSpPr>
        <p:spPr>
          <a:xfrm>
            <a:off x="1371600" y="2130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Azure, PowerShell, and increasingly AI plumbing.</a:t>
            </a:r>
            <a:endParaRPr lang="en-US" sz="1500" dirty="0"/>
          </a:p>
        </p:txBody>
      </p:sp>
      <p:sp>
        <p:nvSpPr>
          <p:cNvPr id="9" name="Shape 6"/>
          <p:cNvSpPr/>
          <p:nvPr/>
        </p:nvSpPr>
        <p:spPr>
          <a:xfrm>
            <a:off x="594360" y="2926080"/>
            <a:ext cx="475488" cy="475488"/>
          </a:xfrm>
          <a:prstGeom prst="ellipse">
            <a:avLst/>
          </a:prstGeom>
          <a:solidFill>
            <a:srgbClr val="5B9BD5"/>
          </a:solidFill>
          <a:ln/>
        </p:spPr>
        <p:txBody>
          <a:bodyPr/>
          <a:lstStyle/>
          <a:p>
            <a:endParaRPr lang="en-US"/>
          </a:p>
        </p:txBody>
      </p:sp>
      <p:sp>
        <p:nvSpPr>
          <p:cNvPr id="10" name="Text 7"/>
          <p:cNvSpPr txBox="1"/>
          <p:nvPr/>
        </p:nvSpPr>
        <p:spPr>
          <a:xfrm>
            <a:off x="594360" y="2926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371600" y="2889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Woodworker, solar enthusiast, home automation</a:t>
            </a:r>
            <a:endParaRPr lang="en-US" sz="2000" dirty="0"/>
          </a:p>
        </p:txBody>
      </p:sp>
      <p:sp>
        <p:nvSpPr>
          <p:cNvPr id="12" name="Text 9"/>
          <p:cNvSpPr txBox="1"/>
          <p:nvPr/>
        </p:nvSpPr>
        <p:spPr>
          <a:xfrm>
            <a:off x="1371600" y="3273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No good way to tie those together – or is there?</a:t>
            </a:r>
            <a:endParaRPr lang="en-US" sz="1500" dirty="0"/>
          </a:p>
        </p:txBody>
      </p:sp>
      <p:sp>
        <p:nvSpPr>
          <p:cNvPr id="13" name="Shape 10"/>
          <p:cNvSpPr/>
          <p:nvPr/>
        </p:nvSpPr>
        <p:spPr>
          <a:xfrm>
            <a:off x="594360" y="4069080"/>
            <a:ext cx="475488" cy="475488"/>
          </a:xfrm>
          <a:prstGeom prst="ellipse">
            <a:avLst/>
          </a:prstGeom>
          <a:solidFill>
            <a:srgbClr val="46B98A"/>
          </a:solidFill>
          <a:ln/>
        </p:spPr>
        <p:txBody>
          <a:bodyPr/>
          <a:lstStyle/>
          <a:p>
            <a:endParaRPr lang="en-US"/>
          </a:p>
        </p:txBody>
      </p:sp>
      <p:sp>
        <p:nvSpPr>
          <p:cNvPr id="14" name="Text 11"/>
          <p:cNvSpPr txBox="1"/>
          <p:nvPr/>
        </p:nvSpPr>
        <p:spPr>
          <a:xfrm>
            <a:off x="594360" y="406908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1371600" y="4032504"/>
            <a:ext cx="9601200" cy="36576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Everything here is on GitHub</a:t>
            </a:r>
            <a:endParaRPr lang="en-US" sz="2000" dirty="0"/>
          </a:p>
        </p:txBody>
      </p:sp>
      <p:sp>
        <p:nvSpPr>
          <p:cNvPr id="16" name="Text 13"/>
          <p:cNvSpPr txBox="1"/>
          <p:nvPr/>
        </p:nvSpPr>
        <p:spPr>
          <a:xfrm>
            <a:off x="1371600" y="4416552"/>
            <a:ext cx="9601200" cy="3657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github.com/donnietaylor - deploy it in your own tenant in about ten minutes.</a:t>
            </a:r>
            <a:endParaRPr lang="en-US" sz="1500" dirty="0"/>
          </a:p>
        </p:txBody>
      </p:sp>
      <p:sp>
        <p:nvSpPr>
          <p:cNvPr id="17" name="Text 14"/>
          <p:cNvSpPr txBox="1"/>
          <p:nvPr/>
        </p:nvSpPr>
        <p:spPr>
          <a:xfrm>
            <a:off x="594360" y="5806440"/>
            <a:ext cx="10972800" cy="320040"/>
          </a:xfrm>
          <a:prstGeom prst="rect">
            <a:avLst/>
          </a:prstGeom>
          <a:noFill/>
          <a:ln/>
        </p:spPr>
        <p:txBody>
          <a:bodyPr wrap="square" lIns="0" tIns="0" rIns="0" bIns="0" rtlCol="0" anchor="ctr"/>
          <a:lstStyle/>
          <a:p>
            <a:pPr marL="0" indent="0">
              <a:buNone/>
            </a:pPr>
            <a:r>
              <a:rPr lang="en-US" sz="1400" dirty="0">
                <a:solidFill>
                  <a:srgbClr val="7C90A6"/>
                </a:solidFill>
                <a:latin typeface="Calibri" pitchFamily="34" charset="0"/>
                <a:ea typeface="Calibri" pitchFamily="34" charset="-122"/>
                <a:cs typeface="Calibri" pitchFamily="34" charset="-120"/>
              </a:rPr>
              <a:t>draith.com   ·   linkedin.com/in/donnietaylor   ·   @donnietaylor.bsky.social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THREE MINUTES OF PRODUCTION</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179 events. 12 tools. One cause.</a:t>
            </a:r>
            <a:endParaRPr lang="en-US" sz="3600" dirty="0"/>
          </a:p>
        </p:txBody>
      </p:sp>
      <p:sp>
        <p:nvSpPr>
          <p:cNvPr id="5" name="Shape 2"/>
          <p:cNvSpPr/>
          <p:nvPr/>
        </p:nvSpPr>
        <p:spPr>
          <a:xfrm>
            <a:off x="594360" y="1600200"/>
            <a:ext cx="11018520" cy="4114800"/>
          </a:xfrm>
          <a:prstGeom prst="roundRect">
            <a:avLst>
              <a:gd name="adj" fmla="val 1333"/>
            </a:avLst>
          </a:prstGeom>
          <a:solidFill>
            <a:srgbClr val="19242F"/>
          </a:solidFill>
          <a:ln/>
        </p:spPr>
        <p:txBody>
          <a:bodyPr/>
          <a:lstStyle/>
          <a:p>
            <a:endParaRPr lang="en-US"/>
          </a:p>
        </p:txBody>
      </p:sp>
      <p:sp>
        <p:nvSpPr>
          <p:cNvPr id="6" name="Text 3"/>
          <p:cNvSpPr txBox="1"/>
          <p:nvPr/>
        </p:nvSpPr>
        <p:spPr>
          <a:xfrm>
            <a:off x="822960" y="17373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16:54:31</a:t>
            </a:r>
            <a:endParaRPr lang="en-US" sz="1100" dirty="0"/>
          </a:p>
        </p:txBody>
      </p:sp>
      <p:sp>
        <p:nvSpPr>
          <p:cNvPr id="7" name="Text 4"/>
          <p:cNvSpPr txBox="1"/>
          <p:nvPr/>
        </p:nvSpPr>
        <p:spPr>
          <a:xfrm>
            <a:off x="1783080" y="17373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8" name="Text 5"/>
          <p:cNvSpPr txBox="1"/>
          <p:nvPr/>
        </p:nvSpPr>
        <p:spPr>
          <a:xfrm>
            <a:off x="2651760" y="17373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sql-watch      sql-prod-03    Connection pool exhausted, 97 of 100 in use</a:t>
            </a:r>
            <a:endParaRPr lang="en-US" sz="1100" dirty="0"/>
          </a:p>
        </p:txBody>
      </p:sp>
      <p:sp>
        <p:nvSpPr>
          <p:cNvPr id="9" name="Text 6"/>
          <p:cNvSpPr txBox="1"/>
          <p:nvPr/>
        </p:nvSpPr>
        <p:spPr>
          <a:xfrm>
            <a:off x="822960" y="20345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0" name="Text 7"/>
          <p:cNvSpPr txBox="1"/>
          <p:nvPr/>
        </p:nvSpPr>
        <p:spPr>
          <a:xfrm>
            <a:off x="1783080" y="203454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1" name="Text 8"/>
          <p:cNvSpPr txBox="1"/>
          <p:nvPr/>
        </p:nvSpPr>
        <p:spPr>
          <a:xfrm>
            <a:off x="2651760" y="20345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storage-watch  sql-prod-03    Disk read latency 480 ms, sustained</a:t>
            </a:r>
            <a:endParaRPr lang="en-US" sz="1100" dirty="0"/>
          </a:p>
        </p:txBody>
      </p:sp>
      <p:sp>
        <p:nvSpPr>
          <p:cNvPr id="12" name="Text 9"/>
          <p:cNvSpPr txBox="1"/>
          <p:nvPr/>
        </p:nvSpPr>
        <p:spPr>
          <a:xfrm>
            <a:off x="822960" y="23317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16:54:30</a:t>
            </a:r>
            <a:endParaRPr lang="en-US" sz="1100" dirty="0"/>
          </a:p>
        </p:txBody>
      </p:sp>
      <p:sp>
        <p:nvSpPr>
          <p:cNvPr id="13" name="Text 10"/>
          <p:cNvSpPr txBox="1"/>
          <p:nvPr/>
        </p:nvSpPr>
        <p:spPr>
          <a:xfrm>
            <a:off x="1783080" y="233172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14" name="Text 11"/>
          <p:cNvSpPr txBox="1"/>
          <p:nvPr/>
        </p:nvSpPr>
        <p:spPr>
          <a:xfrm>
            <a:off x="2651760" y="23317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apm            app-web-01     Checkout failures 27 percent of requests</a:t>
            </a:r>
            <a:endParaRPr lang="en-US" sz="1100" dirty="0"/>
          </a:p>
        </p:txBody>
      </p:sp>
      <p:sp>
        <p:nvSpPr>
          <p:cNvPr id="15" name="Text 12"/>
          <p:cNvSpPr txBox="1"/>
          <p:nvPr/>
        </p:nvSpPr>
        <p:spPr>
          <a:xfrm>
            <a:off x="822960" y="262890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16:54:29</a:t>
            </a:r>
            <a:endParaRPr lang="en-US" sz="1100" dirty="0"/>
          </a:p>
        </p:txBody>
      </p:sp>
      <p:sp>
        <p:nvSpPr>
          <p:cNvPr id="16" name="Text 13"/>
          <p:cNvSpPr txBox="1"/>
          <p:nvPr/>
        </p:nvSpPr>
        <p:spPr>
          <a:xfrm>
            <a:off x="1783080" y="262890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17" name="Text 14"/>
          <p:cNvSpPr txBox="1"/>
          <p:nvPr/>
        </p:nvSpPr>
        <p:spPr>
          <a:xfrm>
            <a:off x="2651760" y="262890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auth-svc       app-api-03     Token validation failing, upstream returned 526</a:t>
            </a:r>
            <a:endParaRPr lang="en-US" sz="1100" dirty="0"/>
          </a:p>
        </p:txBody>
      </p:sp>
      <p:sp>
        <p:nvSpPr>
          <p:cNvPr id="18" name="Text 15"/>
          <p:cNvSpPr txBox="1"/>
          <p:nvPr/>
        </p:nvSpPr>
        <p:spPr>
          <a:xfrm>
            <a:off x="822960" y="292608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19" name="Text 16"/>
          <p:cNvSpPr txBox="1"/>
          <p:nvPr/>
        </p:nvSpPr>
        <p:spPr>
          <a:xfrm>
            <a:off x="1783080" y="292608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20" name="Text 17"/>
          <p:cNvSpPr txBox="1"/>
          <p:nvPr/>
        </p:nvSpPr>
        <p:spPr>
          <a:xfrm>
            <a:off x="2651760" y="292608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net-monitor    fw-edge-01     Packet loss 2 percent on WAN interface</a:t>
            </a:r>
            <a:endParaRPr lang="en-US" sz="1100" dirty="0"/>
          </a:p>
        </p:txBody>
      </p:sp>
      <p:sp>
        <p:nvSpPr>
          <p:cNvPr id="21" name="Text 18"/>
          <p:cNvSpPr txBox="1"/>
          <p:nvPr/>
        </p:nvSpPr>
        <p:spPr>
          <a:xfrm>
            <a:off x="822960" y="32232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16:54:28</a:t>
            </a:r>
            <a:endParaRPr lang="en-US" sz="1100" dirty="0"/>
          </a:p>
        </p:txBody>
      </p:sp>
      <p:sp>
        <p:nvSpPr>
          <p:cNvPr id="22" name="Text 19"/>
          <p:cNvSpPr txBox="1"/>
          <p:nvPr/>
        </p:nvSpPr>
        <p:spPr>
          <a:xfrm>
            <a:off x="1783080" y="32232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23" name="Text 20"/>
          <p:cNvSpPr txBox="1"/>
          <p:nvPr/>
        </p:nvSpPr>
        <p:spPr>
          <a:xfrm>
            <a:off x="2651760" y="32232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store-api      sql-prod-03    Call to sql-prod-03 failed (500)</a:t>
            </a:r>
            <a:endParaRPr lang="en-US" sz="1100" dirty="0"/>
          </a:p>
        </p:txBody>
      </p:sp>
      <p:sp>
        <p:nvSpPr>
          <p:cNvPr id="24" name="Text 21"/>
          <p:cNvSpPr txBox="1"/>
          <p:nvPr/>
        </p:nvSpPr>
        <p:spPr>
          <a:xfrm>
            <a:off x="822960" y="35204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25" name="Text 22"/>
          <p:cNvSpPr txBox="1"/>
          <p:nvPr/>
        </p:nvSpPr>
        <p:spPr>
          <a:xfrm>
            <a:off x="1783080" y="352044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26" name="Text 23"/>
          <p:cNvSpPr txBox="1"/>
          <p:nvPr/>
        </p:nvSpPr>
        <p:spPr>
          <a:xfrm>
            <a:off x="2651760" y="35204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backup-agent   backup-01      Nightly backup of sql-prod-03 still running, 4 hours over window</a:t>
            </a:r>
            <a:endParaRPr lang="en-US" sz="1100" dirty="0"/>
          </a:p>
        </p:txBody>
      </p:sp>
      <p:sp>
        <p:nvSpPr>
          <p:cNvPr id="27" name="Text 24"/>
          <p:cNvSpPr txBox="1"/>
          <p:nvPr/>
        </p:nvSpPr>
        <p:spPr>
          <a:xfrm>
            <a:off x="822960" y="38176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16:54:27</a:t>
            </a:r>
            <a:endParaRPr lang="en-US" sz="1100" dirty="0"/>
          </a:p>
        </p:txBody>
      </p:sp>
      <p:sp>
        <p:nvSpPr>
          <p:cNvPr id="28" name="Text 25"/>
          <p:cNvSpPr txBox="1"/>
          <p:nvPr/>
        </p:nvSpPr>
        <p:spPr>
          <a:xfrm>
            <a:off x="1783080" y="381762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29" name="Text 26"/>
          <p:cNvSpPr txBox="1"/>
          <p:nvPr/>
        </p:nvSpPr>
        <p:spPr>
          <a:xfrm>
            <a:off x="2651760" y="38176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sql-watch      sql-prod-03    Lock wait time 4400 ms on OrderLines</a:t>
            </a:r>
            <a:endParaRPr lang="en-US" sz="1100" dirty="0"/>
          </a:p>
        </p:txBody>
      </p:sp>
      <p:sp>
        <p:nvSpPr>
          <p:cNvPr id="30" name="Text 27"/>
          <p:cNvSpPr txBox="1"/>
          <p:nvPr/>
        </p:nvSpPr>
        <p:spPr>
          <a:xfrm>
            <a:off x="822960" y="411480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16:54:26</a:t>
            </a:r>
            <a:endParaRPr lang="en-US" sz="1100" dirty="0"/>
          </a:p>
        </p:txBody>
      </p:sp>
      <p:sp>
        <p:nvSpPr>
          <p:cNvPr id="31" name="Text 28"/>
          <p:cNvSpPr txBox="1"/>
          <p:nvPr/>
        </p:nvSpPr>
        <p:spPr>
          <a:xfrm>
            <a:off x="1783080" y="411480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32" name="Text 29"/>
          <p:cNvSpPr txBox="1"/>
          <p:nvPr/>
        </p:nvSpPr>
        <p:spPr>
          <a:xfrm>
            <a:off x="2651760" y="411480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cert-watch     lb-edge-02     TLS certificate for api.contoso.com expired</a:t>
            </a:r>
            <a:endParaRPr lang="en-US" sz="1100" dirty="0"/>
          </a:p>
        </p:txBody>
      </p:sp>
      <p:sp>
        <p:nvSpPr>
          <p:cNvPr id="33" name="Text 30"/>
          <p:cNvSpPr txBox="1"/>
          <p:nvPr/>
        </p:nvSpPr>
        <p:spPr>
          <a:xfrm>
            <a:off x="822960" y="441198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16:54:26</a:t>
            </a:r>
            <a:endParaRPr lang="en-US" sz="1100" dirty="0"/>
          </a:p>
        </p:txBody>
      </p:sp>
      <p:sp>
        <p:nvSpPr>
          <p:cNvPr id="34" name="Text 31"/>
          <p:cNvSpPr txBox="1"/>
          <p:nvPr/>
        </p:nvSpPr>
        <p:spPr>
          <a:xfrm>
            <a:off x="1783080" y="441198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35" name="Text 32"/>
          <p:cNvSpPr txBox="1"/>
          <p:nvPr/>
        </p:nvSpPr>
        <p:spPr>
          <a:xfrm>
            <a:off x="2651760" y="441198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vsphere        esx-04         Datastore DS-VOL-02 at 82 percent capacity</a:t>
            </a:r>
            <a:endParaRPr lang="en-US" sz="1100" dirty="0"/>
          </a:p>
        </p:txBody>
      </p:sp>
      <p:sp>
        <p:nvSpPr>
          <p:cNvPr id="36" name="Text 33"/>
          <p:cNvSpPr txBox="1"/>
          <p:nvPr/>
        </p:nvSpPr>
        <p:spPr>
          <a:xfrm>
            <a:off x="822960" y="470916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16:54:25</a:t>
            </a:r>
            <a:endParaRPr lang="en-US" sz="1100" dirty="0"/>
          </a:p>
        </p:txBody>
      </p:sp>
      <p:sp>
        <p:nvSpPr>
          <p:cNvPr id="37" name="Text 34"/>
          <p:cNvSpPr txBox="1"/>
          <p:nvPr/>
        </p:nvSpPr>
        <p:spPr>
          <a:xfrm>
            <a:off x="1783080" y="4709160"/>
            <a:ext cx="777240" cy="274320"/>
          </a:xfrm>
          <a:prstGeom prst="rect">
            <a:avLst/>
          </a:prstGeom>
          <a:noFill/>
          <a:ln/>
        </p:spPr>
        <p:txBody>
          <a:bodyPr wrap="square" lIns="0" tIns="0" rIns="0" bIns="0" rtlCol="0" anchor="ctr"/>
          <a:lstStyle/>
          <a:p>
            <a:pPr marL="0" indent="0">
              <a:buNone/>
            </a:pPr>
            <a:r>
              <a:rPr lang="en-US" sz="1100" b="1" dirty="0">
                <a:solidFill>
                  <a:srgbClr val="E0443E"/>
                </a:solidFill>
                <a:latin typeface="Courier New" pitchFamily="34" charset="0"/>
                <a:ea typeface="Courier New" pitchFamily="34" charset="-122"/>
                <a:cs typeface="Courier New" pitchFamily="34" charset="-120"/>
              </a:rPr>
              <a:t>critical</a:t>
            </a:r>
            <a:endParaRPr lang="en-US" sz="1100" dirty="0"/>
          </a:p>
        </p:txBody>
      </p:sp>
      <p:sp>
        <p:nvSpPr>
          <p:cNvPr id="38" name="Text 35"/>
          <p:cNvSpPr txBox="1"/>
          <p:nvPr/>
        </p:nvSpPr>
        <p:spPr>
          <a:xfrm>
            <a:off x="2651760" y="470916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synthetic      probe-dfw      Login journey failing from 3 of 4 regions</a:t>
            </a:r>
            <a:endParaRPr lang="en-US" sz="1100" dirty="0"/>
          </a:p>
        </p:txBody>
      </p:sp>
      <p:sp>
        <p:nvSpPr>
          <p:cNvPr id="39" name="Text 36"/>
          <p:cNvSpPr txBox="1"/>
          <p:nvPr/>
        </p:nvSpPr>
        <p:spPr>
          <a:xfrm>
            <a:off x="822960" y="500634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16:54:25</a:t>
            </a:r>
            <a:endParaRPr lang="en-US" sz="1100" dirty="0"/>
          </a:p>
        </p:txBody>
      </p:sp>
      <p:sp>
        <p:nvSpPr>
          <p:cNvPr id="40" name="Text 37"/>
          <p:cNvSpPr txBox="1"/>
          <p:nvPr/>
        </p:nvSpPr>
        <p:spPr>
          <a:xfrm>
            <a:off x="1783080" y="5006340"/>
            <a:ext cx="777240" cy="274320"/>
          </a:xfrm>
          <a:prstGeom prst="rect">
            <a:avLst/>
          </a:prstGeom>
          <a:noFill/>
          <a:ln/>
        </p:spPr>
        <p:txBody>
          <a:bodyPr wrap="square" lIns="0" tIns="0" rIns="0" bIns="0" rtlCol="0" anchor="ctr"/>
          <a:lstStyle/>
          <a:p>
            <a:pPr marL="0" indent="0">
              <a:buNone/>
            </a:pPr>
            <a:r>
              <a:rPr lang="en-US" sz="1100" b="1" dirty="0">
                <a:solidFill>
                  <a:srgbClr val="E8A33D"/>
                </a:solidFill>
                <a:latin typeface="Courier New" pitchFamily="34" charset="0"/>
                <a:ea typeface="Courier New" pitchFamily="34" charset="-122"/>
                <a:cs typeface="Courier New" pitchFamily="34" charset="-120"/>
              </a:rPr>
              <a:t>error</a:t>
            </a:r>
            <a:endParaRPr lang="en-US" sz="1100" dirty="0"/>
          </a:p>
        </p:txBody>
      </p:sp>
      <p:sp>
        <p:nvSpPr>
          <p:cNvPr id="41" name="Text 38"/>
          <p:cNvSpPr txBox="1"/>
          <p:nvPr/>
        </p:nvSpPr>
        <p:spPr>
          <a:xfrm>
            <a:off x="2651760" y="500634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apm            app-web-01     Payments database connection timeout after 1500 ms</a:t>
            </a:r>
            <a:endParaRPr lang="en-US" sz="1100" dirty="0"/>
          </a:p>
        </p:txBody>
      </p:sp>
      <p:sp>
        <p:nvSpPr>
          <p:cNvPr id="42" name="Text 39"/>
          <p:cNvSpPr txBox="1"/>
          <p:nvPr/>
        </p:nvSpPr>
        <p:spPr>
          <a:xfrm>
            <a:off x="822960" y="5303520"/>
            <a:ext cx="914400" cy="274320"/>
          </a:xfrm>
          <a:prstGeom prst="rect">
            <a:avLst/>
          </a:prstGeom>
          <a:noFill/>
          <a:ln/>
        </p:spPr>
        <p:txBody>
          <a:bodyPr wrap="square" lIns="0" tIns="0" rIns="0" bIns="0" rtlCol="0" anchor="ctr"/>
          <a:lstStyle/>
          <a:p>
            <a:pPr marL="0" indent="0">
              <a:buNone/>
            </a:pPr>
            <a:r>
              <a:rPr lang="en-US" sz="1100" dirty="0">
                <a:solidFill>
                  <a:srgbClr val="7C90A6"/>
                </a:solidFill>
                <a:latin typeface="Courier New" pitchFamily="34" charset="0"/>
                <a:ea typeface="Courier New" pitchFamily="34" charset="-122"/>
                <a:cs typeface="Courier New" pitchFamily="34" charset="-120"/>
              </a:rPr>
              <a:t>16:54:24</a:t>
            </a:r>
            <a:endParaRPr lang="en-US" sz="1100" dirty="0"/>
          </a:p>
        </p:txBody>
      </p:sp>
      <p:sp>
        <p:nvSpPr>
          <p:cNvPr id="43" name="Text 40"/>
          <p:cNvSpPr txBox="1"/>
          <p:nvPr/>
        </p:nvSpPr>
        <p:spPr>
          <a:xfrm>
            <a:off x="1783080" y="5303520"/>
            <a:ext cx="777240" cy="274320"/>
          </a:xfrm>
          <a:prstGeom prst="rect">
            <a:avLst/>
          </a:prstGeom>
          <a:noFill/>
          <a:ln/>
        </p:spPr>
        <p:txBody>
          <a:bodyPr wrap="square" lIns="0" tIns="0" rIns="0" bIns="0" rtlCol="0" anchor="ctr"/>
          <a:lstStyle/>
          <a:p>
            <a:pPr marL="0" indent="0">
              <a:buNone/>
            </a:pPr>
            <a:r>
              <a:rPr lang="en-US" sz="1100" b="1" dirty="0">
                <a:solidFill>
                  <a:srgbClr val="7C90A6"/>
                </a:solidFill>
                <a:latin typeface="Courier New" pitchFamily="34" charset="0"/>
                <a:ea typeface="Courier New" pitchFamily="34" charset="-122"/>
                <a:cs typeface="Courier New" pitchFamily="34" charset="-120"/>
              </a:rPr>
              <a:t>warning</a:t>
            </a:r>
            <a:endParaRPr lang="en-US" sz="1100" dirty="0"/>
          </a:p>
        </p:txBody>
      </p:sp>
      <p:sp>
        <p:nvSpPr>
          <p:cNvPr id="44" name="Text 41"/>
          <p:cNvSpPr txBox="1"/>
          <p:nvPr/>
        </p:nvSpPr>
        <p:spPr>
          <a:xfrm>
            <a:off x="2651760" y="5303520"/>
            <a:ext cx="8686800" cy="274320"/>
          </a:xfrm>
          <a:prstGeom prst="rect">
            <a:avLst/>
          </a:prstGeom>
          <a:noFill/>
          <a:ln/>
        </p:spPr>
        <p:txBody>
          <a:bodyPr wrap="square" lIns="0" tIns="0" rIns="0" bIns="0" rtlCol="0" anchor="ctr"/>
          <a:lstStyle/>
          <a:p>
            <a:pPr marL="0" indent="0">
              <a:buNone/>
            </a:pPr>
            <a:r>
              <a:rPr lang="en-US" sz="1100" dirty="0">
                <a:solidFill>
                  <a:srgbClr val="8FA3B8"/>
                </a:solidFill>
                <a:latin typeface="Courier New" pitchFamily="34" charset="0"/>
                <a:ea typeface="Courier New" pitchFamily="34" charset="-122"/>
                <a:cs typeface="Courier New" pitchFamily="34" charset="-120"/>
              </a:rPr>
              <a:t>patch-agent    win-print-02   Reboot pending for 11 days</a:t>
            </a:r>
            <a:endParaRPr lang="en-US" sz="1100" dirty="0"/>
          </a:p>
        </p:txBody>
      </p:sp>
      <p:sp>
        <p:nvSpPr>
          <p:cNvPr id="45" name="Text 42"/>
          <p:cNvSpPr txBox="1"/>
          <p:nvPr/>
        </p:nvSpPr>
        <p:spPr>
          <a:xfrm>
            <a:off x="822960" y="5760720"/>
            <a:ext cx="3657600" cy="274320"/>
          </a:xfrm>
          <a:prstGeom prst="rect">
            <a:avLst/>
          </a:prstGeom>
          <a:noFill/>
          <a:ln/>
        </p:spPr>
        <p:txBody>
          <a:bodyPr wrap="square" lIns="0" tIns="0" rIns="0" bIns="0" rtlCol="0" anchor="ctr"/>
          <a:lstStyle/>
          <a:p>
            <a:pPr marL="0" indent="0">
              <a:buNone/>
            </a:pPr>
            <a:r>
              <a:rPr lang="en-US" sz="1200" i="1" dirty="0">
                <a:solidFill>
                  <a:srgbClr val="7C90A6"/>
                </a:solidFill>
                <a:latin typeface="Courier New" pitchFamily="34" charset="0"/>
                <a:ea typeface="Courier New" pitchFamily="34" charset="-122"/>
                <a:cs typeface="Courier New" pitchFamily="34" charset="-120"/>
              </a:rPr>
              <a:t>...and 166 more.</a:t>
            </a:r>
            <a:endParaRPr lang="en-US" sz="1200" dirty="0"/>
          </a:p>
        </p:txBody>
      </p:sp>
      <p:sp>
        <p:nvSpPr>
          <p:cNvPr id="46" name="Text 43"/>
          <p:cNvSpPr txBox="1"/>
          <p:nvPr/>
        </p:nvSpPr>
        <p:spPr>
          <a:xfrm>
            <a:off x="6949440" y="5742432"/>
            <a:ext cx="4663440" cy="365760"/>
          </a:xfrm>
          <a:prstGeom prst="rect">
            <a:avLst/>
          </a:prstGeom>
          <a:noFill/>
          <a:ln/>
        </p:spPr>
        <p:txBody>
          <a:bodyPr wrap="square" lIns="0" tIns="0" rIns="0" bIns="0" rtlCol="0" anchor="ctr"/>
          <a:lstStyle/>
          <a:p>
            <a:pPr marL="0" indent="0" algn="r">
              <a:buNone/>
            </a:pPr>
            <a:r>
              <a:rPr lang="en-US" sz="2000" b="1" dirty="0">
                <a:solidFill>
                  <a:srgbClr val="FFFFFF"/>
                </a:solidFill>
                <a:latin typeface="Calibri" pitchFamily="34" charset="0"/>
                <a:ea typeface="Calibri" pitchFamily="34" charset="-122"/>
                <a:cs typeface="Calibri" pitchFamily="34" charset="-120"/>
              </a:rPr>
              <a:t>Which one caused the rest?</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MEANWHILE, IN THE ON-CALL CHANNEL</a:t>
            </a:r>
            <a:endParaRPr lang="en-US" sz="1200" dirty="0"/>
          </a:p>
        </p:txBody>
      </p:sp>
      <p:sp>
        <p:nvSpPr>
          <p:cNvPr id="8" name="Text 5"/>
          <p:cNvSpPr txBox="1"/>
          <p:nvPr/>
        </p:nvSpPr>
        <p:spPr>
          <a:xfrm>
            <a:off x="586740" y="5609191"/>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Nobody finds it by reading faster.</a:t>
            </a:r>
            <a:endParaRPr lang="en-US" sz="2700" dirty="0"/>
          </a:p>
        </p:txBody>
      </p:sp>
      <p:pic>
        <p:nvPicPr>
          <p:cNvPr id="2" name="Picture 1" descr="Everything Is Fine GIFs - Download &amp; Share | GIFDB.com">
            <a:extLst>
              <a:ext uri="{FF2B5EF4-FFF2-40B4-BE49-F238E27FC236}">
                <a16:creationId xmlns:a16="http://schemas.microsoft.com/office/drawing/2014/main" id="{94B8AF11-65EE-144A-8994-B6E0EE4B09D5}"/>
              </a:ext>
            </a:extLst>
          </p:cNvPr>
          <p:cNvPicPr>
            <a:picLocks noChangeAspect="1"/>
          </p:cNvPicPr>
          <p:nvPr/>
        </p:nvPicPr>
        <p:blipFill>
          <a:blip r:embed="rId3"/>
          <a:stretch>
            <a:fillRect/>
          </a:stretch>
        </p:blipFill>
        <p:spPr>
          <a:xfrm>
            <a:off x="3605522" y="731520"/>
            <a:ext cx="4743450" cy="47434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THE WORD THAT DOES A LOT OF WORK</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Correlation - Three different things</a:t>
            </a:r>
            <a:endParaRPr lang="en-US" sz="3600" dirty="0"/>
          </a:p>
        </p:txBody>
      </p:sp>
      <p:sp>
        <p:nvSpPr>
          <p:cNvPr id="5" name="Shape 2"/>
          <p:cNvSpPr/>
          <p:nvPr/>
        </p:nvSpPr>
        <p:spPr>
          <a:xfrm>
            <a:off x="594360" y="1783080"/>
            <a:ext cx="3429000" cy="3703320"/>
          </a:xfrm>
          <a:prstGeom prst="roundRect">
            <a:avLst>
              <a:gd name="adj" fmla="val 1600"/>
            </a:avLst>
          </a:prstGeom>
          <a:solidFill>
            <a:srgbClr val="19242F"/>
          </a:solidFill>
          <a:ln/>
        </p:spPr>
        <p:txBody>
          <a:bodyPr/>
          <a:lstStyle/>
          <a:p>
            <a:endParaRPr lang="en-US"/>
          </a:p>
        </p:txBody>
      </p:sp>
      <p:sp>
        <p:nvSpPr>
          <p:cNvPr id="6" name="Shape 3"/>
          <p:cNvSpPr/>
          <p:nvPr/>
        </p:nvSpPr>
        <p:spPr>
          <a:xfrm>
            <a:off x="914400" y="2103120"/>
            <a:ext cx="457200" cy="457200"/>
          </a:xfrm>
          <a:prstGeom prst="ellipse">
            <a:avLst/>
          </a:prstGeom>
          <a:solidFill>
            <a:srgbClr val="5B9BD5"/>
          </a:solidFill>
          <a:ln/>
        </p:spPr>
        <p:txBody>
          <a:bodyPr/>
          <a:lstStyle/>
          <a:p>
            <a:endParaRPr lang="en-US"/>
          </a:p>
        </p:txBody>
      </p:sp>
      <p:sp>
        <p:nvSpPr>
          <p:cNvPr id="7" name="Text 4"/>
          <p:cNvSpPr txBox="1"/>
          <p:nvPr/>
        </p:nvSpPr>
        <p:spPr>
          <a:xfrm>
            <a:off x="91440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91440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Deduplication</a:t>
            </a:r>
            <a:endParaRPr lang="en-US" sz="2100" dirty="0"/>
          </a:p>
        </p:txBody>
      </p:sp>
      <p:sp>
        <p:nvSpPr>
          <p:cNvPr id="9" name="Text 6"/>
          <p:cNvSpPr txBox="1"/>
          <p:nvPr/>
        </p:nvSpPr>
        <p:spPr>
          <a:xfrm>
            <a:off x="914400" y="3200400"/>
            <a:ext cx="2788920" cy="548640"/>
          </a:xfrm>
          <a:prstGeom prst="rect">
            <a:avLst/>
          </a:prstGeom>
          <a:noFill/>
          <a:ln/>
        </p:spPr>
        <p:txBody>
          <a:bodyPr wrap="square" lIns="0" tIns="0" rIns="0" bIns="0" rtlCol="0" anchor="t"/>
          <a:lstStyle/>
          <a:p>
            <a:pPr marL="0" indent="0">
              <a:buNone/>
            </a:pPr>
            <a:r>
              <a:rPr lang="en-US" sz="1500" i="1" dirty="0">
                <a:solidFill>
                  <a:srgbClr val="5B9BD5"/>
                </a:solidFill>
                <a:latin typeface="Calibri" pitchFamily="34" charset="0"/>
                <a:ea typeface="Calibri" pitchFamily="34" charset="-122"/>
                <a:cs typeface="Calibri" pitchFamily="34" charset="-120"/>
              </a:rPr>
              <a:t>Is this the same thing I already saw?</a:t>
            </a:r>
            <a:endParaRPr lang="en-US" sz="1500" dirty="0"/>
          </a:p>
        </p:txBody>
      </p:sp>
      <p:sp>
        <p:nvSpPr>
          <p:cNvPr id="10" name="Text 7"/>
          <p:cNvSpPr txBox="1"/>
          <p:nvPr/>
        </p:nvSpPr>
        <p:spPr>
          <a:xfrm>
            <a:off x="91440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Same failure, 300 times. One row, count 300.</a:t>
            </a:r>
            <a:endParaRPr lang="en-US" sz="1400" dirty="0"/>
          </a:p>
        </p:txBody>
      </p:sp>
      <p:sp>
        <p:nvSpPr>
          <p:cNvPr id="11" name="Text 8"/>
          <p:cNvSpPr txBox="1"/>
          <p:nvPr/>
        </p:nvSpPr>
        <p:spPr>
          <a:xfrm>
            <a:off x="91440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Most tools do this.</a:t>
            </a:r>
            <a:endParaRPr lang="en-US" sz="1300" dirty="0"/>
          </a:p>
        </p:txBody>
      </p:sp>
      <p:sp>
        <p:nvSpPr>
          <p:cNvPr id="12" name="Shape 9"/>
          <p:cNvSpPr/>
          <p:nvPr/>
        </p:nvSpPr>
        <p:spPr>
          <a:xfrm>
            <a:off x="4389120" y="1783080"/>
            <a:ext cx="3429000" cy="3703320"/>
          </a:xfrm>
          <a:prstGeom prst="roundRect">
            <a:avLst>
              <a:gd name="adj" fmla="val 1600"/>
            </a:avLst>
          </a:prstGeom>
          <a:solidFill>
            <a:srgbClr val="19242F"/>
          </a:solidFill>
          <a:ln/>
        </p:spPr>
        <p:txBody>
          <a:bodyPr/>
          <a:lstStyle/>
          <a:p>
            <a:endParaRPr lang="en-US"/>
          </a:p>
        </p:txBody>
      </p:sp>
      <p:sp>
        <p:nvSpPr>
          <p:cNvPr id="13" name="Shape 10"/>
          <p:cNvSpPr/>
          <p:nvPr/>
        </p:nvSpPr>
        <p:spPr>
          <a:xfrm>
            <a:off x="4709160" y="2103120"/>
            <a:ext cx="457200" cy="457200"/>
          </a:xfrm>
          <a:prstGeom prst="ellipse">
            <a:avLst/>
          </a:prstGeom>
          <a:solidFill>
            <a:srgbClr val="E8A33D"/>
          </a:solidFill>
          <a:ln/>
        </p:spPr>
        <p:txBody>
          <a:bodyPr/>
          <a:lstStyle/>
          <a:p>
            <a:endParaRPr lang="en-US"/>
          </a:p>
        </p:txBody>
      </p:sp>
      <p:sp>
        <p:nvSpPr>
          <p:cNvPr id="14" name="Text 11"/>
          <p:cNvSpPr txBox="1"/>
          <p:nvPr/>
        </p:nvSpPr>
        <p:spPr>
          <a:xfrm>
            <a:off x="470916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470916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Grouping</a:t>
            </a:r>
            <a:endParaRPr lang="en-US" sz="2100" dirty="0"/>
          </a:p>
        </p:txBody>
      </p:sp>
      <p:sp>
        <p:nvSpPr>
          <p:cNvPr id="16" name="Text 13"/>
          <p:cNvSpPr txBox="1"/>
          <p:nvPr/>
        </p:nvSpPr>
        <p:spPr>
          <a:xfrm>
            <a:off x="4709160" y="3200400"/>
            <a:ext cx="2788920" cy="548640"/>
          </a:xfrm>
          <a:prstGeom prst="rect">
            <a:avLst/>
          </a:prstGeom>
          <a:noFill/>
          <a:ln/>
        </p:spPr>
        <p:txBody>
          <a:bodyPr wrap="square" lIns="0" tIns="0" rIns="0" bIns="0" rtlCol="0" anchor="t"/>
          <a:lstStyle/>
          <a:p>
            <a:pPr marL="0" indent="0">
              <a:buNone/>
            </a:pPr>
            <a:r>
              <a:rPr lang="en-US" sz="1500" i="1" dirty="0">
                <a:solidFill>
                  <a:srgbClr val="E8A33D"/>
                </a:solidFill>
                <a:latin typeface="Calibri" pitchFamily="34" charset="0"/>
                <a:ea typeface="Calibri" pitchFamily="34" charset="-122"/>
                <a:cs typeface="Calibri" pitchFamily="34" charset="-120"/>
              </a:rPr>
              <a:t>Do these belong to the same incident?</a:t>
            </a:r>
            <a:endParaRPr lang="en-US" sz="1500" dirty="0"/>
          </a:p>
        </p:txBody>
      </p:sp>
      <p:sp>
        <p:nvSpPr>
          <p:cNvPr id="17" name="Text 14"/>
          <p:cNvSpPr txBox="1"/>
          <p:nvPr/>
        </p:nvSpPr>
        <p:spPr>
          <a:xfrm>
            <a:off x="470916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Same host, same resource, same trace.</a:t>
            </a:r>
            <a:endParaRPr lang="en-US" sz="1400" dirty="0"/>
          </a:p>
        </p:txBody>
      </p:sp>
      <p:sp>
        <p:nvSpPr>
          <p:cNvPr id="18" name="Text 15"/>
          <p:cNvSpPr txBox="1"/>
          <p:nvPr/>
        </p:nvSpPr>
        <p:spPr>
          <a:xfrm>
            <a:off x="470916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Some tools do this.</a:t>
            </a:r>
            <a:endParaRPr lang="en-US" sz="1300" dirty="0"/>
          </a:p>
        </p:txBody>
      </p:sp>
      <p:sp>
        <p:nvSpPr>
          <p:cNvPr id="19" name="Shape 16"/>
          <p:cNvSpPr/>
          <p:nvPr/>
        </p:nvSpPr>
        <p:spPr>
          <a:xfrm>
            <a:off x="8183880" y="1783080"/>
            <a:ext cx="3429000" cy="3703320"/>
          </a:xfrm>
          <a:prstGeom prst="roundRect">
            <a:avLst>
              <a:gd name="adj" fmla="val 1600"/>
            </a:avLst>
          </a:prstGeom>
          <a:solidFill>
            <a:srgbClr val="19242F"/>
          </a:solidFill>
          <a:ln/>
        </p:spPr>
        <p:txBody>
          <a:bodyPr/>
          <a:lstStyle/>
          <a:p>
            <a:endParaRPr lang="en-US"/>
          </a:p>
        </p:txBody>
      </p:sp>
      <p:sp>
        <p:nvSpPr>
          <p:cNvPr id="20" name="Shape 17"/>
          <p:cNvSpPr/>
          <p:nvPr/>
        </p:nvSpPr>
        <p:spPr>
          <a:xfrm>
            <a:off x="8503920" y="2103120"/>
            <a:ext cx="457200" cy="457200"/>
          </a:xfrm>
          <a:prstGeom prst="ellipse">
            <a:avLst/>
          </a:prstGeom>
          <a:solidFill>
            <a:srgbClr val="E0443E"/>
          </a:solidFill>
          <a:ln/>
        </p:spPr>
        <p:txBody>
          <a:bodyPr/>
          <a:lstStyle/>
          <a:p>
            <a:endParaRPr lang="en-US"/>
          </a:p>
        </p:txBody>
      </p:sp>
      <p:sp>
        <p:nvSpPr>
          <p:cNvPr id="21" name="Text 18"/>
          <p:cNvSpPr txBox="1"/>
          <p:nvPr/>
        </p:nvSpPr>
        <p:spPr>
          <a:xfrm>
            <a:off x="8503920" y="2103120"/>
            <a:ext cx="457200" cy="45720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8503920" y="2743200"/>
            <a:ext cx="2788920" cy="365760"/>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Causality</a:t>
            </a:r>
            <a:endParaRPr lang="en-US" sz="2100" dirty="0"/>
          </a:p>
        </p:txBody>
      </p:sp>
      <p:sp>
        <p:nvSpPr>
          <p:cNvPr id="23" name="Text 20"/>
          <p:cNvSpPr txBox="1"/>
          <p:nvPr/>
        </p:nvSpPr>
        <p:spPr>
          <a:xfrm>
            <a:off x="8503920" y="3200400"/>
            <a:ext cx="2788920" cy="548640"/>
          </a:xfrm>
          <a:prstGeom prst="rect">
            <a:avLst/>
          </a:prstGeom>
          <a:noFill/>
          <a:ln/>
        </p:spPr>
        <p:txBody>
          <a:bodyPr wrap="square" lIns="0" tIns="0" rIns="0" bIns="0" rtlCol="0" anchor="t"/>
          <a:lstStyle/>
          <a:p>
            <a:pPr marL="0" indent="0">
              <a:buNone/>
            </a:pPr>
            <a:r>
              <a:rPr lang="en-US" sz="1500" i="1" dirty="0">
                <a:solidFill>
                  <a:srgbClr val="E0443E"/>
                </a:solidFill>
                <a:latin typeface="Calibri" pitchFamily="34" charset="0"/>
                <a:ea typeface="Calibri" pitchFamily="34" charset="-122"/>
                <a:cs typeface="Calibri" pitchFamily="34" charset="-120"/>
              </a:rPr>
              <a:t>Did this one cause that one?</a:t>
            </a:r>
            <a:endParaRPr lang="en-US" sz="1500" dirty="0"/>
          </a:p>
        </p:txBody>
      </p:sp>
      <p:sp>
        <p:nvSpPr>
          <p:cNvPr id="24" name="Text 21"/>
          <p:cNvSpPr txBox="1"/>
          <p:nvPr/>
        </p:nvSpPr>
        <p:spPr>
          <a:xfrm>
            <a:off x="8503920" y="3840480"/>
            <a:ext cx="2788920" cy="822960"/>
          </a:xfrm>
          <a:prstGeom prst="rect">
            <a:avLst/>
          </a:prstGeom>
          <a:noFill/>
          <a:ln/>
        </p:spPr>
        <p:txBody>
          <a:bodyPr wrap="square" lIns="0" tIns="0" rIns="0" bIns="0" rtlCol="0" anchor="t"/>
          <a:lstStyle/>
          <a:p>
            <a:pPr marL="0" indent="0">
              <a:buNone/>
            </a:pPr>
            <a:r>
              <a:rPr lang="en-US" sz="1400" dirty="0">
                <a:solidFill>
                  <a:srgbClr val="8FA3B8"/>
                </a:solidFill>
                <a:latin typeface="Calibri" pitchFamily="34" charset="0"/>
                <a:ea typeface="Calibri" pitchFamily="34" charset="-122"/>
                <a:cs typeface="Calibri" pitchFamily="34" charset="-120"/>
              </a:rPr>
              <a:t>A backup job on one host starved a database on another.</a:t>
            </a:r>
            <a:endParaRPr lang="en-US" sz="1400" dirty="0"/>
          </a:p>
        </p:txBody>
      </p:sp>
      <p:sp>
        <p:nvSpPr>
          <p:cNvPr id="25" name="Text 22"/>
          <p:cNvSpPr txBox="1"/>
          <p:nvPr/>
        </p:nvSpPr>
        <p:spPr>
          <a:xfrm>
            <a:off x="8503920" y="4892040"/>
            <a:ext cx="2788920" cy="320040"/>
          </a:xfrm>
          <a:prstGeom prst="rect">
            <a:avLst/>
          </a:prstGeom>
          <a:noFill/>
          <a:ln/>
        </p:spPr>
        <p:txBody>
          <a:bodyPr wrap="square" lIns="0" tIns="0" rIns="0" bIns="0" rtlCol="0" anchor="ctr"/>
          <a:lstStyle/>
          <a:p>
            <a:pPr marL="0" indent="0">
              <a:buNone/>
            </a:pPr>
            <a:r>
              <a:rPr lang="en-US" sz="1300" b="1" dirty="0">
                <a:solidFill>
                  <a:srgbClr val="7C90A6"/>
                </a:solidFill>
                <a:latin typeface="Calibri" pitchFamily="34" charset="0"/>
                <a:ea typeface="Calibri" pitchFamily="34" charset="-122"/>
                <a:cs typeface="Calibri" pitchFamily="34" charset="-120"/>
              </a:rPr>
              <a:t>Almost nothing does this.</a:t>
            </a:r>
            <a:endParaRPr lang="en-US" sz="1300" dirty="0"/>
          </a:p>
        </p:txBody>
      </p:sp>
      <p:sp>
        <p:nvSpPr>
          <p:cNvPr id="26" name="Text 23"/>
          <p:cNvSpPr txBox="1"/>
          <p:nvPr/>
        </p:nvSpPr>
        <p:spPr>
          <a:xfrm>
            <a:off x="4042459" y="5760720"/>
            <a:ext cx="3162201" cy="365760"/>
          </a:xfrm>
          <a:prstGeom prst="rect">
            <a:avLst/>
          </a:prstGeom>
          <a:noFill/>
          <a:ln/>
        </p:spPr>
        <p:txBody>
          <a:bodyPr wrap="square" lIns="0" tIns="0" rIns="0" bIns="0"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Only the third one needs a model. </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WHAT WE ARE BUILDING</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Five moving parts, none of them exotic</a:t>
            </a:r>
            <a:endParaRPr lang="en-US" sz="3600" dirty="0"/>
          </a:p>
        </p:txBody>
      </p:sp>
      <p:sp>
        <p:nvSpPr>
          <p:cNvPr id="5" name="Shape 2"/>
          <p:cNvSpPr/>
          <p:nvPr/>
        </p:nvSpPr>
        <p:spPr>
          <a:xfrm>
            <a:off x="594360" y="2148840"/>
            <a:ext cx="1965960" cy="1965960"/>
          </a:xfrm>
          <a:prstGeom prst="roundRect">
            <a:avLst>
              <a:gd name="adj" fmla="val 2791"/>
            </a:avLst>
          </a:prstGeom>
          <a:solidFill>
            <a:srgbClr val="19242F"/>
          </a:solidFill>
          <a:ln/>
        </p:spPr>
        <p:txBody>
          <a:bodyPr/>
          <a:lstStyle/>
          <a:p>
            <a:endParaRPr lang="en-US"/>
          </a:p>
        </p:txBody>
      </p:sp>
      <p:sp>
        <p:nvSpPr>
          <p:cNvPr id="6" name="Shape 3"/>
          <p:cNvSpPr/>
          <p:nvPr/>
        </p:nvSpPr>
        <p:spPr>
          <a:xfrm>
            <a:off x="1476756" y="1938528"/>
            <a:ext cx="201168" cy="201168"/>
          </a:xfrm>
          <a:prstGeom prst="ellipse">
            <a:avLst/>
          </a:prstGeom>
          <a:solidFill>
            <a:srgbClr val="5B9BD5"/>
          </a:solidFill>
          <a:ln/>
        </p:spPr>
        <p:txBody>
          <a:bodyPr/>
          <a:lstStyle/>
          <a:p>
            <a:endParaRPr lang="en-US"/>
          </a:p>
        </p:txBody>
      </p:sp>
      <p:sp>
        <p:nvSpPr>
          <p:cNvPr id="7" name="Text 4"/>
          <p:cNvSpPr txBox="1"/>
          <p:nvPr/>
        </p:nvSpPr>
        <p:spPr>
          <a:xfrm>
            <a:off x="594360" y="2377440"/>
            <a:ext cx="1965960" cy="365760"/>
          </a:xfrm>
          <a:prstGeom prst="rect">
            <a:avLst/>
          </a:prstGeom>
          <a:noFill/>
          <a:ln/>
        </p:spPr>
        <p:txBody>
          <a:bodyPr wrap="square" lIns="0" tIns="0" rIns="0" bIns="0" rtlCol="0" anchor="ctr"/>
          <a:lstStyle/>
          <a:p>
            <a:pPr marL="0" indent="0" algn="ctr">
              <a:buNone/>
            </a:pPr>
            <a:r>
              <a:rPr lang="en-US" sz="1800" b="1" dirty="0">
                <a:solidFill>
                  <a:srgbClr val="E9EFF6"/>
                </a:solidFill>
                <a:latin typeface="Calibri" pitchFamily="34" charset="0"/>
                <a:ea typeface="Calibri" pitchFamily="34" charset="-122"/>
                <a:cs typeface="Calibri" pitchFamily="34" charset="-120"/>
              </a:rPr>
              <a:t>Sources</a:t>
            </a:r>
            <a:endParaRPr lang="en-US" sz="1800" dirty="0"/>
          </a:p>
        </p:txBody>
      </p:sp>
      <p:sp>
        <p:nvSpPr>
          <p:cNvPr id="8" name="Text 5"/>
          <p:cNvSpPr txBox="1"/>
          <p:nvPr/>
        </p:nvSpPr>
        <p:spPr>
          <a:xfrm>
            <a:off x="731520" y="2852928"/>
            <a:ext cx="1691640" cy="1097280"/>
          </a:xfrm>
          <a:prstGeom prst="rect">
            <a:avLst/>
          </a:prstGeom>
          <a:noFill/>
          <a:ln/>
        </p:spPr>
        <p:txBody>
          <a:bodyPr wrap="square" lIns="0" tIns="0" rIns="0" bIns="0" rtlCol="0" anchor="ctr"/>
          <a:lstStyle/>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OpenTelemetry</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Azure Monitor</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12 tools</a:t>
            </a:r>
            <a:endParaRPr lang="en-US" sz="1100" dirty="0"/>
          </a:p>
        </p:txBody>
      </p:sp>
      <p:sp>
        <p:nvSpPr>
          <p:cNvPr id="9" name="Text 6"/>
          <p:cNvSpPr txBox="1"/>
          <p:nvPr/>
        </p:nvSpPr>
        <p:spPr>
          <a:xfrm>
            <a:off x="2560320" y="2880360"/>
            <a:ext cx="292608" cy="365760"/>
          </a:xfrm>
          <a:prstGeom prst="rect">
            <a:avLst/>
          </a:prstGeom>
          <a:noFill/>
          <a:ln/>
        </p:spPr>
        <p:txBody>
          <a:bodyPr wrap="square" lIns="0" tIns="0" rIns="0" bIns="0" rtlCol="0" anchor="ctr"/>
          <a:lstStyle/>
          <a:p>
            <a:pPr marL="0" indent="0" algn="ctr">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10" name="Shape 7"/>
          <p:cNvSpPr/>
          <p:nvPr/>
        </p:nvSpPr>
        <p:spPr>
          <a:xfrm>
            <a:off x="2852928" y="2148840"/>
            <a:ext cx="1965960" cy="1965960"/>
          </a:xfrm>
          <a:prstGeom prst="roundRect">
            <a:avLst>
              <a:gd name="adj" fmla="val 2791"/>
            </a:avLst>
          </a:prstGeom>
          <a:solidFill>
            <a:srgbClr val="19242F"/>
          </a:solidFill>
          <a:ln/>
        </p:spPr>
        <p:txBody>
          <a:bodyPr/>
          <a:lstStyle/>
          <a:p>
            <a:endParaRPr lang="en-US"/>
          </a:p>
        </p:txBody>
      </p:sp>
      <p:sp>
        <p:nvSpPr>
          <p:cNvPr id="11" name="Shape 8"/>
          <p:cNvSpPr/>
          <p:nvPr/>
        </p:nvSpPr>
        <p:spPr>
          <a:xfrm>
            <a:off x="3735324" y="1938528"/>
            <a:ext cx="201168" cy="201168"/>
          </a:xfrm>
          <a:prstGeom prst="ellipse">
            <a:avLst/>
          </a:prstGeom>
          <a:solidFill>
            <a:srgbClr val="8FA3B8"/>
          </a:solidFill>
          <a:ln/>
        </p:spPr>
        <p:txBody>
          <a:bodyPr/>
          <a:lstStyle/>
          <a:p>
            <a:endParaRPr lang="en-US"/>
          </a:p>
        </p:txBody>
      </p:sp>
      <p:sp>
        <p:nvSpPr>
          <p:cNvPr id="12" name="Text 9"/>
          <p:cNvSpPr txBox="1"/>
          <p:nvPr/>
        </p:nvSpPr>
        <p:spPr>
          <a:xfrm>
            <a:off x="2852928" y="2377440"/>
            <a:ext cx="1965960" cy="365760"/>
          </a:xfrm>
          <a:prstGeom prst="rect">
            <a:avLst/>
          </a:prstGeom>
          <a:noFill/>
          <a:ln/>
        </p:spPr>
        <p:txBody>
          <a:bodyPr wrap="square" lIns="0" tIns="0" rIns="0" bIns="0" rtlCol="0" anchor="ctr"/>
          <a:lstStyle/>
          <a:p>
            <a:pPr marL="0" indent="0" algn="ctr">
              <a:buNone/>
            </a:pPr>
            <a:r>
              <a:rPr lang="en-US" sz="1800" b="1" dirty="0">
                <a:solidFill>
                  <a:srgbClr val="E9EFF6"/>
                </a:solidFill>
                <a:latin typeface="Calibri" pitchFamily="34" charset="0"/>
                <a:ea typeface="Calibri" pitchFamily="34" charset="-122"/>
                <a:cs typeface="Calibri" pitchFamily="34" charset="-120"/>
              </a:rPr>
              <a:t>Event Hub</a:t>
            </a:r>
            <a:endParaRPr lang="en-US" sz="1800" dirty="0"/>
          </a:p>
        </p:txBody>
      </p:sp>
      <p:sp>
        <p:nvSpPr>
          <p:cNvPr id="13" name="Text 10"/>
          <p:cNvSpPr txBox="1"/>
          <p:nvPr/>
        </p:nvSpPr>
        <p:spPr>
          <a:xfrm>
            <a:off x="2990088" y="2852928"/>
            <a:ext cx="1691640" cy="1097280"/>
          </a:xfrm>
          <a:prstGeom prst="rect">
            <a:avLst/>
          </a:prstGeom>
          <a:noFill/>
          <a:ln/>
        </p:spPr>
        <p:txBody>
          <a:bodyPr wrap="square" lIns="0" tIns="0" rIns="0" bIns="0" rtlCol="0" anchor="ctr"/>
          <a:lstStyle/>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one hub</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2 partitions</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partition by host</a:t>
            </a:r>
            <a:endParaRPr lang="en-US" sz="1100" dirty="0"/>
          </a:p>
        </p:txBody>
      </p:sp>
      <p:sp>
        <p:nvSpPr>
          <p:cNvPr id="14" name="Text 11"/>
          <p:cNvSpPr txBox="1"/>
          <p:nvPr/>
        </p:nvSpPr>
        <p:spPr>
          <a:xfrm>
            <a:off x="4818888" y="2880360"/>
            <a:ext cx="292608" cy="365760"/>
          </a:xfrm>
          <a:prstGeom prst="rect">
            <a:avLst/>
          </a:prstGeom>
          <a:noFill/>
          <a:ln/>
        </p:spPr>
        <p:txBody>
          <a:bodyPr wrap="square" lIns="0" tIns="0" rIns="0" bIns="0" rtlCol="0" anchor="ctr"/>
          <a:lstStyle/>
          <a:p>
            <a:pPr marL="0" indent="0" algn="ctr">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15" name="Shape 12"/>
          <p:cNvSpPr/>
          <p:nvPr/>
        </p:nvSpPr>
        <p:spPr>
          <a:xfrm>
            <a:off x="5111496" y="2148840"/>
            <a:ext cx="1965960" cy="1965960"/>
          </a:xfrm>
          <a:prstGeom prst="roundRect">
            <a:avLst>
              <a:gd name="adj" fmla="val 2791"/>
            </a:avLst>
          </a:prstGeom>
          <a:solidFill>
            <a:srgbClr val="19242F"/>
          </a:solidFill>
          <a:ln/>
        </p:spPr>
        <p:txBody>
          <a:bodyPr/>
          <a:lstStyle/>
          <a:p>
            <a:endParaRPr lang="en-US"/>
          </a:p>
        </p:txBody>
      </p:sp>
      <p:sp>
        <p:nvSpPr>
          <p:cNvPr id="16" name="Shape 13"/>
          <p:cNvSpPr/>
          <p:nvPr/>
        </p:nvSpPr>
        <p:spPr>
          <a:xfrm>
            <a:off x="5993892" y="1938528"/>
            <a:ext cx="201168" cy="201168"/>
          </a:xfrm>
          <a:prstGeom prst="ellipse">
            <a:avLst/>
          </a:prstGeom>
          <a:solidFill>
            <a:srgbClr val="E8A33D"/>
          </a:solidFill>
          <a:ln/>
        </p:spPr>
        <p:txBody>
          <a:bodyPr/>
          <a:lstStyle/>
          <a:p>
            <a:endParaRPr lang="en-US"/>
          </a:p>
        </p:txBody>
      </p:sp>
      <p:sp>
        <p:nvSpPr>
          <p:cNvPr id="17" name="Text 14"/>
          <p:cNvSpPr txBox="1"/>
          <p:nvPr/>
        </p:nvSpPr>
        <p:spPr>
          <a:xfrm>
            <a:off x="5111496" y="2377440"/>
            <a:ext cx="1965960" cy="365760"/>
          </a:xfrm>
          <a:prstGeom prst="rect">
            <a:avLst/>
          </a:prstGeom>
          <a:noFill/>
          <a:ln/>
        </p:spPr>
        <p:txBody>
          <a:bodyPr wrap="square" lIns="0" tIns="0" rIns="0" bIns="0" rtlCol="0" anchor="ctr"/>
          <a:lstStyle/>
          <a:p>
            <a:pPr marL="0" indent="0" algn="ctr">
              <a:buNone/>
            </a:pPr>
            <a:r>
              <a:rPr lang="en-US" sz="1800" b="1" dirty="0">
                <a:solidFill>
                  <a:srgbClr val="E9EFF6"/>
                </a:solidFill>
                <a:latin typeface="Calibri" pitchFamily="34" charset="0"/>
                <a:ea typeface="Calibri" pitchFamily="34" charset="-122"/>
                <a:cs typeface="Calibri" pitchFamily="34" charset="-120"/>
              </a:rPr>
              <a:t>Function</a:t>
            </a:r>
            <a:endParaRPr lang="en-US" sz="1800" dirty="0"/>
          </a:p>
        </p:txBody>
      </p:sp>
      <p:sp>
        <p:nvSpPr>
          <p:cNvPr id="18" name="Text 15"/>
          <p:cNvSpPr txBox="1"/>
          <p:nvPr/>
        </p:nvSpPr>
        <p:spPr>
          <a:xfrm>
            <a:off x="5248656" y="2852928"/>
            <a:ext cx="1691640" cy="1097280"/>
          </a:xfrm>
          <a:prstGeom prst="rect">
            <a:avLst/>
          </a:prstGeom>
          <a:noFill/>
          <a:ln/>
        </p:spPr>
        <p:txBody>
          <a:bodyPr wrap="square" lIns="0" tIns="0" rIns="0" bIns="0" rtlCol="0" anchor="ctr"/>
          <a:lstStyle/>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normalize</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fingerprint</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group by key</a:t>
            </a:r>
            <a:endParaRPr lang="en-US" sz="1100" dirty="0"/>
          </a:p>
        </p:txBody>
      </p:sp>
      <p:sp>
        <p:nvSpPr>
          <p:cNvPr id="19" name="Text 16"/>
          <p:cNvSpPr txBox="1"/>
          <p:nvPr/>
        </p:nvSpPr>
        <p:spPr>
          <a:xfrm>
            <a:off x="7077456" y="2880360"/>
            <a:ext cx="292608" cy="365760"/>
          </a:xfrm>
          <a:prstGeom prst="rect">
            <a:avLst/>
          </a:prstGeom>
          <a:noFill/>
          <a:ln/>
        </p:spPr>
        <p:txBody>
          <a:bodyPr wrap="square" lIns="0" tIns="0" rIns="0" bIns="0" rtlCol="0" anchor="ctr"/>
          <a:lstStyle/>
          <a:p>
            <a:pPr marL="0" indent="0" algn="ctr">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20" name="Shape 17"/>
          <p:cNvSpPr/>
          <p:nvPr/>
        </p:nvSpPr>
        <p:spPr>
          <a:xfrm>
            <a:off x="7370064" y="2148840"/>
            <a:ext cx="1965960" cy="1965960"/>
          </a:xfrm>
          <a:prstGeom prst="roundRect">
            <a:avLst>
              <a:gd name="adj" fmla="val 2791"/>
            </a:avLst>
          </a:prstGeom>
          <a:solidFill>
            <a:srgbClr val="19242F"/>
          </a:solidFill>
          <a:ln/>
        </p:spPr>
        <p:txBody>
          <a:bodyPr/>
          <a:lstStyle/>
          <a:p>
            <a:endParaRPr lang="en-US"/>
          </a:p>
        </p:txBody>
      </p:sp>
      <p:sp>
        <p:nvSpPr>
          <p:cNvPr id="21" name="Shape 18"/>
          <p:cNvSpPr/>
          <p:nvPr/>
        </p:nvSpPr>
        <p:spPr>
          <a:xfrm>
            <a:off x="8252460" y="1938528"/>
            <a:ext cx="201168" cy="201168"/>
          </a:xfrm>
          <a:prstGeom prst="ellipse">
            <a:avLst/>
          </a:prstGeom>
          <a:solidFill>
            <a:srgbClr val="8FA3B8"/>
          </a:solidFill>
          <a:ln/>
        </p:spPr>
        <p:txBody>
          <a:bodyPr/>
          <a:lstStyle/>
          <a:p>
            <a:endParaRPr lang="en-US"/>
          </a:p>
        </p:txBody>
      </p:sp>
      <p:sp>
        <p:nvSpPr>
          <p:cNvPr id="22" name="Text 19"/>
          <p:cNvSpPr txBox="1"/>
          <p:nvPr/>
        </p:nvSpPr>
        <p:spPr>
          <a:xfrm>
            <a:off x="7370064" y="2377440"/>
            <a:ext cx="1965960" cy="365760"/>
          </a:xfrm>
          <a:prstGeom prst="rect">
            <a:avLst/>
          </a:prstGeom>
          <a:noFill/>
          <a:ln/>
        </p:spPr>
        <p:txBody>
          <a:bodyPr wrap="square" lIns="0" tIns="0" rIns="0" bIns="0" rtlCol="0" anchor="ctr"/>
          <a:lstStyle/>
          <a:p>
            <a:pPr marL="0" indent="0" algn="ctr">
              <a:buNone/>
            </a:pPr>
            <a:r>
              <a:rPr lang="en-US" sz="1800" b="1" dirty="0">
                <a:solidFill>
                  <a:srgbClr val="E9EFF6"/>
                </a:solidFill>
                <a:latin typeface="Calibri" pitchFamily="34" charset="0"/>
                <a:ea typeface="Calibri" pitchFamily="34" charset="-122"/>
                <a:cs typeface="Calibri" pitchFamily="34" charset="-120"/>
              </a:rPr>
              <a:t>Tables</a:t>
            </a:r>
            <a:endParaRPr lang="en-US" sz="1800" dirty="0"/>
          </a:p>
        </p:txBody>
      </p:sp>
      <p:sp>
        <p:nvSpPr>
          <p:cNvPr id="23" name="Text 20"/>
          <p:cNvSpPr txBox="1"/>
          <p:nvPr/>
        </p:nvSpPr>
        <p:spPr>
          <a:xfrm>
            <a:off x="7507224" y="2852928"/>
            <a:ext cx="1691640" cy="1097280"/>
          </a:xfrm>
          <a:prstGeom prst="rect">
            <a:avLst/>
          </a:prstGeom>
          <a:noFill/>
          <a:ln/>
        </p:spPr>
        <p:txBody>
          <a:bodyPr wrap="square" lIns="0" tIns="0" rIns="0" bIns="0" rtlCol="0" anchor="ctr"/>
          <a:lstStyle/>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raw events</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symptoms</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incidents</a:t>
            </a:r>
            <a:endParaRPr lang="en-US" sz="1100" dirty="0"/>
          </a:p>
        </p:txBody>
      </p:sp>
      <p:sp>
        <p:nvSpPr>
          <p:cNvPr id="24" name="Text 21"/>
          <p:cNvSpPr txBox="1"/>
          <p:nvPr/>
        </p:nvSpPr>
        <p:spPr>
          <a:xfrm>
            <a:off x="9336024" y="2880360"/>
            <a:ext cx="292608" cy="365760"/>
          </a:xfrm>
          <a:prstGeom prst="rect">
            <a:avLst/>
          </a:prstGeom>
          <a:noFill/>
          <a:ln/>
        </p:spPr>
        <p:txBody>
          <a:bodyPr wrap="square" lIns="0" tIns="0" rIns="0" bIns="0" rtlCol="0" anchor="ctr"/>
          <a:lstStyle/>
          <a:p>
            <a:pPr marL="0" indent="0" algn="ctr">
              <a:buNone/>
            </a:pPr>
            <a:r>
              <a:rPr lang="en-US" sz="2000" b="1" dirty="0">
                <a:solidFill>
                  <a:srgbClr val="7C90A6"/>
                </a:solidFill>
                <a:latin typeface="Calibri" pitchFamily="34" charset="0"/>
                <a:ea typeface="Calibri" pitchFamily="34" charset="-122"/>
                <a:cs typeface="Calibri" pitchFamily="34" charset="-120"/>
              </a:rPr>
              <a:t>&gt;</a:t>
            </a:r>
            <a:endParaRPr lang="en-US" sz="2000" dirty="0"/>
          </a:p>
        </p:txBody>
      </p:sp>
      <p:sp>
        <p:nvSpPr>
          <p:cNvPr id="25" name="Shape 22"/>
          <p:cNvSpPr/>
          <p:nvPr/>
        </p:nvSpPr>
        <p:spPr>
          <a:xfrm>
            <a:off x="9628632" y="2148840"/>
            <a:ext cx="1965960" cy="1965960"/>
          </a:xfrm>
          <a:prstGeom prst="roundRect">
            <a:avLst>
              <a:gd name="adj" fmla="val 2791"/>
            </a:avLst>
          </a:prstGeom>
          <a:solidFill>
            <a:srgbClr val="19242F"/>
          </a:solidFill>
          <a:ln/>
        </p:spPr>
        <p:txBody>
          <a:bodyPr/>
          <a:lstStyle/>
          <a:p>
            <a:endParaRPr lang="en-US"/>
          </a:p>
        </p:txBody>
      </p:sp>
      <p:sp>
        <p:nvSpPr>
          <p:cNvPr id="26" name="Shape 23"/>
          <p:cNvSpPr/>
          <p:nvPr/>
        </p:nvSpPr>
        <p:spPr>
          <a:xfrm>
            <a:off x="10511028" y="1938528"/>
            <a:ext cx="201168" cy="201168"/>
          </a:xfrm>
          <a:prstGeom prst="ellipse">
            <a:avLst/>
          </a:prstGeom>
          <a:solidFill>
            <a:srgbClr val="E0443E"/>
          </a:solidFill>
          <a:ln/>
        </p:spPr>
        <p:txBody>
          <a:bodyPr/>
          <a:lstStyle/>
          <a:p>
            <a:endParaRPr lang="en-US"/>
          </a:p>
        </p:txBody>
      </p:sp>
      <p:sp>
        <p:nvSpPr>
          <p:cNvPr id="27" name="Text 24"/>
          <p:cNvSpPr txBox="1"/>
          <p:nvPr/>
        </p:nvSpPr>
        <p:spPr>
          <a:xfrm>
            <a:off x="9628632" y="2377440"/>
            <a:ext cx="1965960" cy="365760"/>
          </a:xfrm>
          <a:prstGeom prst="rect">
            <a:avLst/>
          </a:prstGeom>
          <a:noFill/>
          <a:ln/>
        </p:spPr>
        <p:txBody>
          <a:bodyPr wrap="square" lIns="0" tIns="0" rIns="0" bIns="0" rtlCol="0" anchor="ctr"/>
          <a:lstStyle/>
          <a:p>
            <a:pPr marL="0" indent="0" algn="ctr">
              <a:buNone/>
            </a:pPr>
            <a:r>
              <a:rPr lang="en-US" sz="1800" b="1" dirty="0">
                <a:solidFill>
                  <a:srgbClr val="E9EFF6"/>
                </a:solidFill>
                <a:latin typeface="Calibri" pitchFamily="34" charset="0"/>
                <a:ea typeface="Calibri" pitchFamily="34" charset="-122"/>
                <a:cs typeface="Calibri" pitchFamily="34" charset="-120"/>
              </a:rPr>
              <a:t>AI pass</a:t>
            </a:r>
            <a:endParaRPr lang="en-US" sz="1800" dirty="0"/>
          </a:p>
        </p:txBody>
      </p:sp>
      <p:sp>
        <p:nvSpPr>
          <p:cNvPr id="28" name="Text 25"/>
          <p:cNvSpPr txBox="1"/>
          <p:nvPr/>
        </p:nvSpPr>
        <p:spPr>
          <a:xfrm>
            <a:off x="9765792" y="2852928"/>
            <a:ext cx="1691640" cy="1097280"/>
          </a:xfrm>
          <a:prstGeom prst="rect">
            <a:avLst/>
          </a:prstGeom>
          <a:noFill/>
          <a:ln/>
        </p:spPr>
        <p:txBody>
          <a:bodyPr wrap="square" lIns="0" tIns="0" rIns="0" bIns="0" rtlCol="0" anchor="ctr"/>
          <a:lstStyle/>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read the text</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find the cause</a:t>
            </a:r>
            <a:endParaRPr lang="en-US" sz="1100" dirty="0"/>
          </a:p>
          <a:p>
            <a:pPr marL="0" indent="0" algn="ctr">
              <a:lnSpc>
                <a:spcPts val="1700"/>
              </a:lnSpc>
              <a:buNone/>
            </a:pPr>
            <a:r>
              <a:rPr lang="en-US" sz="1100" dirty="0">
                <a:solidFill>
                  <a:srgbClr val="8FA3B8"/>
                </a:solidFill>
                <a:latin typeface="Courier New" pitchFamily="34" charset="0"/>
                <a:ea typeface="Courier New" pitchFamily="34" charset="-122"/>
                <a:cs typeface="Courier New" pitchFamily="34" charset="-120"/>
              </a:rPr>
              <a:t>name the action</a:t>
            </a:r>
            <a:endParaRPr lang="en-US" sz="1100" dirty="0"/>
          </a:p>
        </p:txBody>
      </p:sp>
      <p:sp>
        <p:nvSpPr>
          <p:cNvPr id="29" name="Shape 26"/>
          <p:cNvSpPr/>
          <p:nvPr/>
        </p:nvSpPr>
        <p:spPr>
          <a:xfrm>
            <a:off x="594360" y="4526280"/>
            <a:ext cx="11018520" cy="1234440"/>
          </a:xfrm>
          <a:prstGeom prst="roundRect">
            <a:avLst>
              <a:gd name="adj" fmla="val 4444"/>
            </a:avLst>
          </a:prstGeom>
          <a:solidFill>
            <a:srgbClr val="223140"/>
          </a:solidFill>
          <a:ln/>
        </p:spPr>
        <p:txBody>
          <a:bodyPr/>
          <a:lstStyle/>
          <a:p>
            <a:endParaRPr lang="en-US"/>
          </a:p>
        </p:txBody>
      </p:sp>
      <p:sp>
        <p:nvSpPr>
          <p:cNvPr id="30" name="Text 27"/>
          <p:cNvSpPr txBox="1"/>
          <p:nvPr/>
        </p:nvSpPr>
        <p:spPr>
          <a:xfrm>
            <a:off x="868680" y="4754880"/>
            <a:ext cx="10424160" cy="8229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The split matters. </a:t>
            </a:r>
            <a:r>
              <a:rPr lang="en-US" sz="1500" dirty="0">
                <a:solidFill>
                  <a:srgbClr val="8FA3B8"/>
                </a:solidFill>
                <a:latin typeface="Calibri" pitchFamily="34" charset="0"/>
                <a:ea typeface="Calibri" pitchFamily="34" charset="-122"/>
                <a:cs typeface="Calibri" pitchFamily="34" charset="-120"/>
              </a:rPr>
              <a:t>The deterministic stage owns incident identity - it decides what is one problem. The model only reads and annotates. A model that can rewrite identity is a model that can lose your data.</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2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SOURCES TO DASHBOARD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whole event flow</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444752"/>
            <a:ext cx="2240280" cy="2788920"/>
          </a:xfrm>
          <a:prstGeom prst="roundRect">
            <a:avLst>
              <a:gd name="adj" fmla="val 244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777240" y="1591056"/>
            <a:ext cx="187452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50" normalizeH="0" baseline="0" noProof="0" dirty="0">
                <a:ln>
                  <a:noFill/>
                </a:ln>
                <a:solidFill>
                  <a:srgbClr val="7C90A6"/>
                </a:solidFill>
                <a:effectLst/>
                <a:uLnTx/>
                <a:uFillTx/>
                <a:latin typeface="Calibri" pitchFamily="34" charset="0"/>
                <a:ea typeface="Calibri" pitchFamily="34" charset="-122"/>
                <a:cs typeface="Calibri" pitchFamily="34" charset="-120"/>
              </a:rPr>
              <a:t>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4"/>
          <p:cNvSpPr/>
          <p:nvPr/>
        </p:nvSpPr>
        <p:spPr>
          <a:xfrm>
            <a:off x="777240" y="1965960"/>
            <a:ext cx="137160" cy="137160"/>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 5"/>
          <p:cNvSpPr txBox="1"/>
          <p:nvPr/>
        </p:nvSpPr>
        <p:spPr>
          <a:xfrm>
            <a:off x="1005840" y="190195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OpenTelemetry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1005840" y="213055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store-api on this laptop</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1005840" y="232257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via Application Insights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77240" y="2743200"/>
            <a:ext cx="137160" cy="137160"/>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1005840" y="267919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Monitor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1005840" y="290779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metric alert on failures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1005840" y="309981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via an action group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2"/>
          <p:cNvSpPr/>
          <p:nvPr/>
        </p:nvSpPr>
        <p:spPr>
          <a:xfrm>
            <a:off x="777240" y="3520440"/>
            <a:ext cx="137160" cy="137160"/>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1005840" y="3456432"/>
            <a:ext cx="173736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12 monitoring tools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1005840" y="3685032"/>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Send-Event.ps1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1005840" y="3877056"/>
            <a:ext cx="17373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REST + SAS, key = host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6"/>
          <p:cNvSpPr/>
          <p:nvPr/>
        </p:nvSpPr>
        <p:spPr>
          <a:xfrm>
            <a:off x="28346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7"/>
          <p:cNvSpPr/>
          <p:nvPr/>
        </p:nvSpPr>
        <p:spPr>
          <a:xfrm rot="5400000">
            <a:off x="29900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8"/>
          <p:cNvSpPr/>
          <p:nvPr/>
        </p:nvSpPr>
        <p:spPr>
          <a:xfrm>
            <a:off x="3108960" y="1444752"/>
            <a:ext cx="1325880" cy="2788920"/>
          </a:xfrm>
          <a:prstGeom prst="roundRect">
            <a:avLst>
              <a:gd name="adj" fmla="val 4138"/>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19"/>
          <p:cNvSpPr txBox="1"/>
          <p:nvPr/>
        </p:nvSpPr>
        <p:spPr>
          <a:xfrm>
            <a:off x="3246120" y="1591056"/>
            <a:ext cx="10515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50" normalizeH="0" baseline="0" noProof="0" dirty="0">
                <a:ln>
                  <a:noFill/>
                </a:ln>
                <a:solidFill>
                  <a:srgbClr val="7C90A6"/>
                </a:solidFill>
                <a:effectLst/>
                <a:uLnTx/>
                <a:uFillTx/>
                <a:latin typeface="Calibri" pitchFamily="34" charset="0"/>
                <a:ea typeface="Calibri" pitchFamily="34" charset="-122"/>
                <a:cs typeface="Calibri" pitchFamily="34" charset="-120"/>
              </a:rPr>
              <a:t>EVENT HUB</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0"/>
          <p:cNvSpPr txBox="1"/>
          <p:nvPr/>
        </p:nvSpPr>
        <p:spPr>
          <a:xfrm>
            <a:off x="3246120" y="2180844"/>
            <a:ext cx="1051560" cy="548640"/>
          </a:xfrm>
          <a:prstGeom prst="rect">
            <a:avLst/>
          </a:prstGeom>
          <a:noFill/>
          <a:ln/>
        </p:spPr>
        <p:txBody>
          <a:bodyPr wrap="square" lIns="0" tIns="0" rIns="0" bIns="0" rtlCol="0" anchor="ctr"/>
          <a:lstStyle/>
          <a:p>
            <a:pPr marL="0" marR="0" lvl="0" indent="0" algn="l" defTabSz="914400" rtl="0" eaLnBrk="1" fontAlgn="auto" latinLnBrk="0" hangingPunct="1">
              <a:lnSpc>
                <a:spcPts val="2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Everything flows here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1"/>
          <p:cNvSpPr txBox="1"/>
          <p:nvPr/>
        </p:nvSpPr>
        <p:spPr>
          <a:xfrm>
            <a:off x="3246120" y="2793492"/>
            <a:ext cx="1051560" cy="1188720"/>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monitoring-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2 partitions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partition key</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host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2"/>
          <p:cNvSpPr/>
          <p:nvPr/>
        </p:nvSpPr>
        <p:spPr>
          <a:xfrm>
            <a:off x="44348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3"/>
          <p:cNvSpPr/>
          <p:nvPr/>
        </p:nvSpPr>
        <p:spPr>
          <a:xfrm rot="5400000">
            <a:off x="45902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4"/>
          <p:cNvSpPr/>
          <p:nvPr/>
        </p:nvSpPr>
        <p:spPr>
          <a:xfrm>
            <a:off x="4709160" y="1444752"/>
            <a:ext cx="2926080" cy="2788920"/>
          </a:xfrm>
          <a:prstGeom prst="roundRect">
            <a:avLst>
              <a:gd name="adj" fmla="val 1967"/>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5"/>
          <p:cNvSpPr txBox="1"/>
          <p:nvPr/>
        </p:nvSpPr>
        <p:spPr>
          <a:xfrm>
            <a:off x="4892040" y="1591056"/>
            <a:ext cx="26517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INGESTEVENTS  ·  EVENT HUBS TRIGGER</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6"/>
          <p:cNvSpPr/>
          <p:nvPr/>
        </p:nvSpPr>
        <p:spPr>
          <a:xfrm>
            <a:off x="4892040" y="1883664"/>
            <a:ext cx="256032" cy="256032"/>
          </a:xfrm>
          <a:prstGeom prst="ellipse">
            <a:avLst/>
          </a:prstGeom>
          <a:solidFill>
            <a:srgbClr val="5B9BD5"/>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7"/>
          <p:cNvSpPr txBox="1"/>
          <p:nvPr/>
        </p:nvSpPr>
        <p:spPr>
          <a:xfrm>
            <a:off x="4892040" y="1883664"/>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1</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8"/>
          <p:cNvSpPr txBox="1"/>
          <p:nvPr/>
        </p:nvSpPr>
        <p:spPr>
          <a:xfrm>
            <a:off x="5230368" y="1865376"/>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Normalise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29"/>
          <p:cNvSpPr txBox="1"/>
          <p:nvPr/>
        </p:nvSpPr>
        <p:spPr>
          <a:xfrm>
            <a:off x="5230368" y="2075688"/>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three shapes, one object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0"/>
          <p:cNvSpPr/>
          <p:nvPr/>
        </p:nvSpPr>
        <p:spPr>
          <a:xfrm>
            <a:off x="4892040" y="2395728"/>
            <a:ext cx="256032" cy="256032"/>
          </a:xfrm>
          <a:prstGeom prst="ellips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1"/>
          <p:cNvSpPr txBox="1"/>
          <p:nvPr/>
        </p:nvSpPr>
        <p:spPr>
          <a:xfrm>
            <a:off x="4892040" y="2395728"/>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2</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2"/>
          <p:cNvSpPr txBox="1"/>
          <p:nvPr/>
        </p:nvSpPr>
        <p:spPr>
          <a:xfrm>
            <a:off x="5230368" y="2377440"/>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Drop successes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3"/>
          <p:cNvSpPr txBox="1"/>
          <p:nvPr/>
        </p:nvSpPr>
        <p:spPr>
          <a:xfrm>
            <a:off x="5230368" y="2587752"/>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success is not an event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4"/>
          <p:cNvSpPr/>
          <p:nvPr/>
        </p:nvSpPr>
        <p:spPr>
          <a:xfrm>
            <a:off x="4892040" y="2907792"/>
            <a:ext cx="256032" cy="256032"/>
          </a:xfrm>
          <a:prstGeom prst="ellipse">
            <a:avLst/>
          </a:prstGeom>
          <a:solidFill>
            <a:srgbClr val="46B98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5"/>
          <p:cNvSpPr txBox="1"/>
          <p:nvPr/>
        </p:nvSpPr>
        <p:spPr>
          <a:xfrm>
            <a:off x="4892040" y="2907792"/>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3</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6"/>
          <p:cNvSpPr txBox="1"/>
          <p:nvPr/>
        </p:nvSpPr>
        <p:spPr>
          <a:xfrm>
            <a:off x="5230368" y="2889504"/>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Archive the raw event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7"/>
          <p:cNvSpPr txBox="1"/>
          <p:nvPr/>
        </p:nvSpPr>
        <p:spPr>
          <a:xfrm>
            <a:off x="5230368" y="3099816"/>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nothing merged yet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8"/>
          <p:cNvSpPr/>
          <p:nvPr/>
        </p:nvSpPr>
        <p:spPr>
          <a:xfrm>
            <a:off x="4892040" y="3419856"/>
            <a:ext cx="256032" cy="256032"/>
          </a:xfrm>
          <a:prstGeom prst="ellipse">
            <a:avLst/>
          </a:prstGeom>
          <a:solidFill>
            <a:srgbClr val="E8A33D"/>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39"/>
          <p:cNvSpPr txBox="1"/>
          <p:nvPr/>
        </p:nvSpPr>
        <p:spPr>
          <a:xfrm>
            <a:off x="4892040" y="3419856"/>
            <a:ext cx="256032"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0E1621"/>
                </a:solidFill>
                <a:effectLst/>
                <a:uLnTx/>
                <a:uFillTx/>
                <a:latin typeface="Calibri" pitchFamily="34" charset="0"/>
                <a:ea typeface="Calibri" pitchFamily="34" charset="-122"/>
                <a:cs typeface="Calibri" pitchFamily="34" charset="-120"/>
              </a:rPr>
              <a:t>4</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0"/>
          <p:cNvSpPr txBox="1"/>
          <p:nvPr/>
        </p:nvSpPr>
        <p:spPr>
          <a:xfrm>
            <a:off x="5230368" y="3401568"/>
            <a:ext cx="2286000"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Correlate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1"/>
          <p:cNvSpPr txBox="1"/>
          <p:nvPr/>
        </p:nvSpPr>
        <p:spPr>
          <a:xfrm>
            <a:off x="5230368" y="3611880"/>
            <a:ext cx="22860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fingerprint, then shared key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2"/>
          <p:cNvSpPr/>
          <p:nvPr/>
        </p:nvSpPr>
        <p:spPr>
          <a:xfrm>
            <a:off x="5230368" y="3895344"/>
            <a:ext cx="658368"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3"/>
          <p:cNvSpPr txBox="1"/>
          <p:nvPr/>
        </p:nvSpPr>
        <p:spPr>
          <a:xfrm>
            <a:off x="5230368" y="3895344"/>
            <a:ext cx="65836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LAYER 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4"/>
          <p:cNvSpPr/>
          <p:nvPr/>
        </p:nvSpPr>
        <p:spPr>
          <a:xfrm>
            <a:off x="5961888" y="3895344"/>
            <a:ext cx="658368" cy="201168"/>
          </a:xfrm>
          <a:prstGeom prst="roundRect">
            <a:avLst>
              <a:gd name="adj" fmla="val 22727"/>
            </a:avLst>
          </a:prstGeom>
          <a:solidFill>
            <a:srgbClr val="0E1621"/>
          </a:solidFill>
          <a:ln w="12700">
            <a:solidFill>
              <a:srgbClr val="E8A33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5"/>
          <p:cNvSpPr txBox="1"/>
          <p:nvPr/>
        </p:nvSpPr>
        <p:spPr>
          <a:xfrm>
            <a:off x="5961888" y="3895344"/>
            <a:ext cx="65836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8A33D"/>
                </a:solidFill>
                <a:effectLst/>
                <a:uLnTx/>
                <a:uFillTx/>
                <a:latin typeface="Calibri" pitchFamily="34" charset="0"/>
                <a:ea typeface="Calibri" pitchFamily="34" charset="-122"/>
                <a:cs typeface="Calibri" pitchFamily="34" charset="-120"/>
              </a:rPr>
              <a:t>LAYER 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Text 46"/>
          <p:cNvSpPr txBox="1"/>
          <p:nvPr/>
        </p:nvSpPr>
        <p:spPr>
          <a:xfrm>
            <a:off x="6693408" y="3895344"/>
            <a:ext cx="8686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no model involved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Shape 47"/>
          <p:cNvSpPr/>
          <p:nvPr/>
        </p:nvSpPr>
        <p:spPr>
          <a:xfrm>
            <a:off x="76352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Shape 48"/>
          <p:cNvSpPr/>
          <p:nvPr/>
        </p:nvSpPr>
        <p:spPr>
          <a:xfrm rot="5400000">
            <a:off x="77906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Shape 49"/>
          <p:cNvSpPr/>
          <p:nvPr/>
        </p:nvSpPr>
        <p:spPr>
          <a:xfrm>
            <a:off x="7909560" y="1444752"/>
            <a:ext cx="1554480" cy="2788920"/>
          </a:xfrm>
          <a:prstGeom prst="roundRect">
            <a:avLst>
              <a:gd name="adj" fmla="val 352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 name="Text 50"/>
          <p:cNvSpPr txBox="1"/>
          <p:nvPr/>
        </p:nvSpPr>
        <p:spPr>
          <a:xfrm>
            <a:off x="8065008" y="1591056"/>
            <a:ext cx="12801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TABLE STORAGE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4" name="Shape 51"/>
          <p:cNvSpPr/>
          <p:nvPr/>
        </p:nvSpPr>
        <p:spPr>
          <a:xfrm>
            <a:off x="8065008" y="1901952"/>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2"/>
          <p:cNvSpPr txBox="1"/>
          <p:nvPr/>
        </p:nvSpPr>
        <p:spPr>
          <a:xfrm>
            <a:off x="8174736" y="1956816"/>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RawEvents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3"/>
          <p:cNvSpPr txBox="1"/>
          <p:nvPr/>
        </p:nvSpPr>
        <p:spPr>
          <a:xfrm>
            <a:off x="8174736" y="2157984"/>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 event,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as it arrived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Shape 54"/>
          <p:cNvSpPr/>
          <p:nvPr/>
        </p:nvSpPr>
        <p:spPr>
          <a:xfrm>
            <a:off x="8065008" y="2651760"/>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Text 55"/>
          <p:cNvSpPr txBox="1"/>
          <p:nvPr/>
        </p:nvSpPr>
        <p:spPr>
          <a:xfrm>
            <a:off x="8174736" y="2706624"/>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9" name="Text 56"/>
          <p:cNvSpPr txBox="1"/>
          <p:nvPr/>
        </p:nvSpPr>
        <p:spPr>
          <a:xfrm>
            <a:off x="8174736" y="2907792"/>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symptom + count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Shape 57"/>
          <p:cNvSpPr/>
          <p:nvPr/>
        </p:nvSpPr>
        <p:spPr>
          <a:xfrm>
            <a:off x="8065008" y="3401568"/>
            <a:ext cx="1243584" cy="621792"/>
          </a:xfrm>
          <a:prstGeom prst="roundRect">
            <a:avLst>
              <a:gd name="adj" fmla="val 882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 name="Text 58"/>
          <p:cNvSpPr txBox="1"/>
          <p:nvPr/>
        </p:nvSpPr>
        <p:spPr>
          <a:xfrm>
            <a:off x="8174736" y="3456432"/>
            <a:ext cx="105156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Incidents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59"/>
          <p:cNvSpPr txBox="1"/>
          <p:nvPr/>
        </p:nvSpPr>
        <p:spPr>
          <a:xfrm>
            <a:off x="8174736" y="3657600"/>
            <a:ext cx="1051560" cy="320040"/>
          </a:xfrm>
          <a:prstGeom prst="rect">
            <a:avLst/>
          </a:prstGeom>
          <a:noFill/>
          <a:ln/>
        </p:spPr>
        <p:txBody>
          <a:bodyPr wrap="square" lIns="0" tIns="0" rIns="0" bIns="0" rtlCol="0" anchor="ctr"/>
          <a:lstStyle/>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one row per</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1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group + verdict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3" name="Shape 60"/>
          <p:cNvSpPr/>
          <p:nvPr/>
        </p:nvSpPr>
        <p:spPr>
          <a:xfrm>
            <a:off x="9464040" y="2823210"/>
            <a:ext cx="155448" cy="32004"/>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 name="Shape 61"/>
          <p:cNvSpPr/>
          <p:nvPr/>
        </p:nvSpPr>
        <p:spPr>
          <a:xfrm rot="5400000">
            <a:off x="9619488" y="2770632"/>
            <a:ext cx="118872" cy="137160"/>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62"/>
          <p:cNvSpPr/>
          <p:nvPr/>
        </p:nvSpPr>
        <p:spPr>
          <a:xfrm>
            <a:off x="9738360" y="1444752"/>
            <a:ext cx="1874520" cy="1298448"/>
          </a:xfrm>
          <a:prstGeom prst="roundRect">
            <a:avLst>
              <a:gd name="adj" fmla="val 4225"/>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3"/>
          <p:cNvSpPr txBox="1"/>
          <p:nvPr/>
        </p:nvSpPr>
        <p:spPr>
          <a:xfrm>
            <a:off x="9893808" y="157276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GETINCIDENTS  ·  HTTP</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4"/>
          <p:cNvSpPr txBox="1"/>
          <p:nvPr/>
        </p:nvSpPr>
        <p:spPr>
          <a:xfrm>
            <a:off x="9893808" y="1828800"/>
            <a:ext cx="1600200" cy="411480"/>
          </a:xfrm>
          <a:prstGeom prst="rect">
            <a:avLst/>
          </a:prstGeom>
          <a:noFill/>
          <a:ln/>
        </p:spPr>
        <p:txBody>
          <a:bodyPr wrap="square" lIns="0" tIns="0" rIns="0" bIns="0" rtlCol="0" anchor="ctr"/>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Shapes the data</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for the screen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5"/>
          <p:cNvSpPr txBox="1"/>
          <p:nvPr/>
        </p:nvSpPr>
        <p:spPr>
          <a:xfrm>
            <a:off x="9893808" y="2286000"/>
            <a:ext cx="160020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?view= raw | summary</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85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sources | tree</a:t>
            </a:r>
            <a:endParaRPr kumimoji="0" lang="en-US" sz="8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6"/>
          <p:cNvSpPr/>
          <p:nvPr/>
        </p:nvSpPr>
        <p:spPr>
          <a:xfrm>
            <a:off x="10664190" y="2743200"/>
            <a:ext cx="32004" cy="137160"/>
          </a:xfrm>
          <a:prstGeom prst="rect">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Shape 67"/>
          <p:cNvSpPr/>
          <p:nvPr/>
        </p:nvSpPr>
        <p:spPr>
          <a:xfrm rot="10800000">
            <a:off x="10611612" y="2880360"/>
            <a:ext cx="137160" cy="118872"/>
          </a:xfrm>
          <a:prstGeom prst="triangle">
            <a:avLst/>
          </a:prstGeom>
          <a:solidFill>
            <a:srgbClr val="7C90A6"/>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Shape 68"/>
          <p:cNvSpPr/>
          <p:nvPr/>
        </p:nvSpPr>
        <p:spPr>
          <a:xfrm>
            <a:off x="9738360" y="2999232"/>
            <a:ext cx="1874520" cy="1234440"/>
          </a:xfrm>
          <a:prstGeom prst="roundRect">
            <a:avLst>
              <a:gd name="adj" fmla="val 444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69"/>
          <p:cNvSpPr txBox="1"/>
          <p:nvPr/>
        </p:nvSpPr>
        <p:spPr>
          <a:xfrm>
            <a:off x="9893808" y="312724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AZURE WORKBOOK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0"/>
          <p:cNvSpPr txBox="1"/>
          <p:nvPr/>
        </p:nvSpPr>
        <p:spPr>
          <a:xfrm>
            <a:off x="9893808" y="3364992"/>
            <a:ext cx="160020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dashboard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Text 71"/>
          <p:cNvSpPr txBox="1"/>
          <p:nvPr/>
        </p:nvSpPr>
        <p:spPr>
          <a:xfrm>
            <a:off x="9893808" y="3657600"/>
            <a:ext cx="1600200" cy="36576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custom endpoint,</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no Log Analytics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Shape 72"/>
          <p:cNvSpPr/>
          <p:nvPr/>
        </p:nvSpPr>
        <p:spPr>
          <a:xfrm>
            <a:off x="8670798" y="4233672"/>
            <a:ext cx="32004" cy="201168"/>
          </a:xfrm>
          <a:prstGeom prst="rect">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 name="Shape 73"/>
          <p:cNvSpPr/>
          <p:nvPr/>
        </p:nvSpPr>
        <p:spPr>
          <a:xfrm rot="10800000">
            <a:off x="8618220" y="4434840"/>
            <a:ext cx="137160" cy="118872"/>
          </a:xfrm>
          <a:prstGeom prst="triangl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 name="Shape 74"/>
          <p:cNvSpPr/>
          <p:nvPr/>
        </p:nvSpPr>
        <p:spPr>
          <a:xfrm>
            <a:off x="9082278" y="4352544"/>
            <a:ext cx="32004" cy="201168"/>
          </a:xfrm>
          <a:prstGeom prst="rect">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 name="Shape 75"/>
          <p:cNvSpPr/>
          <p:nvPr/>
        </p:nvSpPr>
        <p:spPr>
          <a:xfrm>
            <a:off x="9029700" y="4233672"/>
            <a:ext cx="137160" cy="118872"/>
          </a:xfrm>
          <a:prstGeom prst="triangle">
            <a:avLst/>
          </a:prstGeom>
          <a:solidFill>
            <a:srgbClr val="E044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 name="Text 76"/>
          <p:cNvSpPr txBox="1"/>
          <p:nvPr/>
        </p:nvSpPr>
        <p:spPr>
          <a:xfrm>
            <a:off x="8183880" y="4325112"/>
            <a:ext cx="457200" cy="18288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reads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0" name="Text 77"/>
          <p:cNvSpPr txBox="1"/>
          <p:nvPr/>
        </p:nvSpPr>
        <p:spPr>
          <a:xfrm>
            <a:off x="9162288" y="4325112"/>
            <a:ext cx="822960" cy="1828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writes back</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1" name="Shape 78"/>
          <p:cNvSpPr/>
          <p:nvPr/>
        </p:nvSpPr>
        <p:spPr>
          <a:xfrm>
            <a:off x="4709160" y="4553712"/>
            <a:ext cx="4754880" cy="1481328"/>
          </a:xfrm>
          <a:prstGeom prst="roundRect">
            <a:avLst>
              <a:gd name="adj" fmla="val 370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 name="Text 79"/>
          <p:cNvSpPr txBox="1"/>
          <p:nvPr/>
        </p:nvSpPr>
        <p:spPr>
          <a:xfrm>
            <a:off x="4892040" y="4681728"/>
            <a:ext cx="43891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50" normalizeH="0" baseline="0" noProof="0" dirty="0">
                <a:ln>
                  <a:noFill/>
                </a:ln>
                <a:solidFill>
                  <a:srgbClr val="7C90A6"/>
                </a:solidFill>
                <a:effectLst/>
                <a:uLnTx/>
                <a:uFillTx/>
                <a:latin typeface="Calibri" pitchFamily="34" charset="0"/>
                <a:ea typeface="Calibri" pitchFamily="34" charset="-122"/>
                <a:cs typeface="Calibri" pitchFamily="34" charset="-120"/>
              </a:rPr>
              <a:t>ANALYZETIMER  ·  EVERY MINUTE, ONLY WHEN SOMETHING CHANGED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3" name="Text 80"/>
          <p:cNvSpPr txBox="1"/>
          <p:nvPr/>
        </p:nvSpPr>
        <p:spPr>
          <a:xfrm>
            <a:off x="4892040" y="493776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Azure OpenAI  ·  gpt-4.1-mini</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4" name="Text 81"/>
          <p:cNvSpPr txBox="1"/>
          <p:nvPr/>
        </p:nvSpPr>
        <p:spPr>
          <a:xfrm>
            <a:off x="4892040" y="5230368"/>
            <a:ext cx="4389120" cy="402336"/>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Which incidents are one problem. Which one is the cause. What to do first.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verdict is written back onto the incident rows.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5" name="Shape 82"/>
          <p:cNvSpPr/>
          <p:nvPr/>
        </p:nvSpPr>
        <p:spPr>
          <a:xfrm>
            <a:off x="4892040" y="5705856"/>
            <a:ext cx="658368" cy="201168"/>
          </a:xfrm>
          <a:prstGeom prst="roundRect">
            <a:avLst>
              <a:gd name="adj" fmla="val 22727"/>
            </a:avLst>
          </a:prstGeom>
          <a:solidFill>
            <a:srgbClr val="0E1621"/>
          </a:solidFill>
          <a:ln w="12700">
            <a:solidFill>
              <a:srgbClr val="E044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 name="Text 83"/>
          <p:cNvSpPr txBox="1"/>
          <p:nvPr/>
        </p:nvSpPr>
        <p:spPr>
          <a:xfrm>
            <a:off x="4892040" y="5705856"/>
            <a:ext cx="658368" cy="201168"/>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E0443E"/>
                </a:solidFill>
                <a:effectLst/>
                <a:uLnTx/>
                <a:uFillTx/>
                <a:latin typeface="Calibri" pitchFamily="34" charset="0"/>
                <a:ea typeface="Calibri" pitchFamily="34" charset="-122"/>
                <a:cs typeface="Calibri" pitchFamily="34" charset="-120"/>
              </a:rPr>
              <a:t>LAYER 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7" name="Text 84"/>
          <p:cNvSpPr txBox="1"/>
          <p:nvPr/>
        </p:nvSpPr>
        <p:spPr>
          <a:xfrm>
            <a:off x="5623560" y="570585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the only stage that reads English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8" name="Shape 85"/>
          <p:cNvSpPr/>
          <p:nvPr/>
        </p:nvSpPr>
        <p:spPr>
          <a:xfrm>
            <a:off x="594360" y="4553712"/>
            <a:ext cx="3840480" cy="1481328"/>
          </a:xfrm>
          <a:prstGeom prst="roundRect">
            <a:avLst>
              <a:gd name="adj" fmla="val 3704"/>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 name="Text 86"/>
          <p:cNvSpPr txBox="1"/>
          <p:nvPr/>
        </p:nvSpPr>
        <p:spPr>
          <a:xfrm>
            <a:off x="777240" y="4681728"/>
            <a:ext cx="347472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EVERY ARROW IN THIS DIAGRAM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0" name="Text 87"/>
          <p:cNvSpPr txBox="1"/>
          <p:nvPr/>
        </p:nvSpPr>
        <p:spPr>
          <a:xfrm>
            <a:off x="777240" y="4937760"/>
            <a:ext cx="34747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46B98A"/>
                </a:solidFill>
                <a:effectLst/>
                <a:uLnTx/>
                <a:uFillTx/>
                <a:latin typeface="Calibri" pitchFamily="34" charset="0"/>
                <a:ea typeface="Calibri" pitchFamily="34" charset="-122"/>
                <a:cs typeface="Calibri" pitchFamily="34" charset="-120"/>
              </a:rPr>
              <a:t>No keys anywhere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1" name="Text 88"/>
          <p:cNvSpPr txBox="1"/>
          <p:nvPr/>
        </p:nvSpPr>
        <p:spPr>
          <a:xfrm>
            <a:off x="777240" y="5248656"/>
            <a:ext cx="3474720" cy="640080"/>
          </a:xfrm>
          <a:prstGeom prst="rect">
            <a:avLst/>
          </a:prstGeom>
          <a:noFill/>
          <a:ln/>
        </p:spPr>
        <p:txBody>
          <a:bodyPr wrap="square" lIns="0" tIns="0" rIns="0" bIns="0" rtlCol="0" anchor="ctr"/>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The Function App has a managed identity with three role assignments: read the hub, write the tables, call Azure OpenAI. Nothing in the pipeline holds a secret.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2" name="Shape 89"/>
          <p:cNvSpPr/>
          <p:nvPr/>
        </p:nvSpPr>
        <p:spPr>
          <a:xfrm>
            <a:off x="9738360" y="4553712"/>
            <a:ext cx="1874520" cy="1481328"/>
          </a:xfrm>
          <a:prstGeom prst="roundRect">
            <a:avLst>
              <a:gd name="adj" fmla="val 370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 name="Text 90"/>
          <p:cNvSpPr txBox="1"/>
          <p:nvPr/>
        </p:nvSpPr>
        <p:spPr>
          <a:xfrm>
            <a:off x="9893808" y="4681728"/>
            <a:ext cx="16002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00" normalizeH="0" baseline="0" noProof="0" dirty="0">
                <a:ln>
                  <a:noFill/>
                </a:ln>
                <a:solidFill>
                  <a:srgbClr val="7C90A6"/>
                </a:solidFill>
                <a:effectLst/>
                <a:uLnTx/>
                <a:uFillTx/>
                <a:latin typeface="Calibri" pitchFamily="34" charset="0"/>
                <a:ea typeface="Calibri" pitchFamily="34" charset="-122"/>
                <a:cs typeface="Calibri" pitchFamily="34" charset="-120"/>
              </a:rPr>
              <a:t>ALSO READS THE TABLES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4" name="Text 91"/>
          <p:cNvSpPr txBox="1"/>
          <p:nvPr/>
        </p:nvSpPr>
        <p:spPr>
          <a:xfrm>
            <a:off x="9893808" y="4965192"/>
            <a:ext cx="1600200" cy="457200"/>
          </a:xfrm>
          <a:prstGeom prst="rect">
            <a:avLst/>
          </a:prstGeom>
          <a:noFill/>
          <a:ln/>
        </p:spPr>
        <p:txBody>
          <a:bodyPr wrap="square" lIns="0" tIns="0" rIns="0" bIns="0" rtlCol="0" anchor="ctr"/>
          <a:lstStyle/>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Show-Incidents.ps1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5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Reset-Pipeline.ps1</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5" name="Text 92"/>
          <p:cNvSpPr txBox="1"/>
          <p:nvPr/>
        </p:nvSpPr>
        <p:spPr>
          <a:xfrm>
            <a:off x="9893808" y="5468112"/>
            <a:ext cx="1600200" cy="411480"/>
          </a:xfrm>
          <a:prstGeom prst="rect">
            <a:avLst/>
          </a:prstGeom>
          <a:noFill/>
          <a:ln/>
        </p:spPr>
        <p:txBody>
          <a:bodyPr wrap="square" lIns="0" tIns="0" rIns="0" bIns="0" rtlCol="0" anchor="ctr"/>
          <a:lstStyle/>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a short-lived SAS,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200"/>
              </a:lnSpc>
              <a:spcBef>
                <a:spcPts val="0"/>
              </a:spcBef>
              <a:spcAft>
                <a:spcPts val="0"/>
              </a:spcAft>
              <a:buClrTx/>
              <a:buSzTx/>
              <a:buFontTx/>
              <a:buNone/>
              <a:tabLst/>
              <a:defRPr/>
            </a:pPr>
            <a:r>
              <a:rPr kumimoji="0" lang="en-US" sz="95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from your terminal</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6" name="Text 93"/>
          <p:cNvSpPr txBox="1"/>
          <p:nvPr/>
        </p:nvSpPr>
        <p:spPr>
          <a:xfrm>
            <a:off x="594360" y="6199632"/>
            <a:ext cx="11002975"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7C90A6"/>
                </a:solidFill>
                <a:effectLst/>
                <a:uLnTx/>
                <a:uFillTx/>
                <a:latin typeface="Calibri" pitchFamily="34" charset="0"/>
                <a:ea typeface="Calibri" pitchFamily="34" charset="-122"/>
                <a:cs typeface="Calibri" pitchFamily="34" charset="-120"/>
              </a:rPr>
              <a:t>179 events in. 13 incidents and 2 root causes out. About four seconds of model time.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EVERYTHING LANDS ON ONE HUB</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Where the events come from</a:t>
            </a:r>
            <a:endParaRPr lang="en-US" sz="3600" dirty="0"/>
          </a:p>
        </p:txBody>
      </p:sp>
      <p:sp>
        <p:nvSpPr>
          <p:cNvPr id="5" name="Shape 2"/>
          <p:cNvSpPr/>
          <p:nvPr/>
        </p:nvSpPr>
        <p:spPr>
          <a:xfrm>
            <a:off x="594360" y="1783080"/>
            <a:ext cx="11018520" cy="1207008"/>
          </a:xfrm>
          <a:prstGeom prst="roundRect">
            <a:avLst>
              <a:gd name="adj" fmla="val 4545"/>
            </a:avLst>
          </a:prstGeom>
          <a:solidFill>
            <a:srgbClr val="19242F"/>
          </a:solidFill>
          <a:ln/>
        </p:spPr>
        <p:txBody>
          <a:bodyPr/>
          <a:lstStyle/>
          <a:p>
            <a:endParaRPr lang="en-US"/>
          </a:p>
        </p:txBody>
      </p:sp>
      <p:sp>
        <p:nvSpPr>
          <p:cNvPr id="6" name="Shape 3"/>
          <p:cNvSpPr/>
          <p:nvPr/>
        </p:nvSpPr>
        <p:spPr>
          <a:xfrm>
            <a:off x="886968" y="2148840"/>
            <a:ext cx="475488" cy="475488"/>
          </a:xfrm>
          <a:prstGeom prst="ellipse">
            <a:avLst/>
          </a:prstGeom>
          <a:solidFill>
            <a:srgbClr val="5B9BD5"/>
          </a:solidFill>
          <a:ln/>
        </p:spPr>
        <p:txBody>
          <a:bodyPr/>
          <a:lstStyle/>
          <a:p>
            <a:endParaRPr lang="en-US"/>
          </a:p>
        </p:txBody>
      </p:sp>
      <p:sp>
        <p:nvSpPr>
          <p:cNvPr id="7" name="Text 4"/>
          <p:cNvSpPr txBox="1"/>
          <p:nvPr/>
        </p:nvSpPr>
        <p:spPr>
          <a:xfrm>
            <a:off x="886968" y="21488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842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OpenTelemetry</a:t>
            </a:r>
            <a:endParaRPr lang="en-US" sz="1900" dirty="0"/>
          </a:p>
        </p:txBody>
      </p:sp>
      <p:sp>
        <p:nvSpPr>
          <p:cNvPr id="9" name="Text 6"/>
          <p:cNvSpPr txBox="1"/>
          <p:nvPr/>
        </p:nvSpPr>
        <p:spPr>
          <a:xfrm>
            <a:off x="1554480" y="2404872"/>
            <a:ext cx="2926080" cy="365760"/>
          </a:xfrm>
          <a:prstGeom prst="rect">
            <a:avLst/>
          </a:prstGeom>
          <a:noFill/>
          <a:ln/>
        </p:spPr>
        <p:txBody>
          <a:bodyPr wrap="square" lIns="0" tIns="0" rIns="0" bIns="0" rtlCol="0" anchor="ctr"/>
          <a:lstStyle/>
          <a:p>
            <a:pPr marL="0" indent="0">
              <a:buNone/>
            </a:pPr>
            <a:r>
              <a:rPr lang="en-US" sz="1300" i="1" dirty="0">
                <a:solidFill>
                  <a:srgbClr val="5B9BD5"/>
                </a:solidFill>
                <a:latin typeface="Calibri" pitchFamily="34" charset="0"/>
                <a:ea typeface="Calibri" pitchFamily="34" charset="-122"/>
                <a:cs typeface="Calibri" pitchFamily="34" charset="-120"/>
              </a:rPr>
              <a:t>A real Flask app on this laptop</a:t>
            </a:r>
            <a:endParaRPr lang="en-US" sz="1300" dirty="0"/>
          </a:p>
        </p:txBody>
      </p:sp>
      <p:sp>
        <p:nvSpPr>
          <p:cNvPr id="10" name="Text 7"/>
          <p:cNvSpPr txBox="1"/>
          <p:nvPr/>
        </p:nvSpPr>
        <p:spPr>
          <a:xfrm>
            <a:off x="4709160" y="20574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Requests, dependencies and exceptions, one trace per checkout, exported through Application Insights.</a:t>
            </a:r>
            <a:endParaRPr lang="en-US" sz="1400" dirty="0"/>
          </a:p>
        </p:txBody>
      </p:sp>
      <p:sp>
        <p:nvSpPr>
          <p:cNvPr id="11" name="Shape 8"/>
          <p:cNvSpPr/>
          <p:nvPr/>
        </p:nvSpPr>
        <p:spPr>
          <a:xfrm>
            <a:off x="594360" y="3154680"/>
            <a:ext cx="11018520" cy="1207008"/>
          </a:xfrm>
          <a:prstGeom prst="roundRect">
            <a:avLst>
              <a:gd name="adj" fmla="val 4545"/>
            </a:avLst>
          </a:prstGeom>
          <a:solidFill>
            <a:srgbClr val="19242F"/>
          </a:solidFill>
          <a:ln/>
        </p:spPr>
        <p:txBody>
          <a:bodyPr/>
          <a:lstStyle/>
          <a:p>
            <a:endParaRPr lang="en-US"/>
          </a:p>
        </p:txBody>
      </p:sp>
      <p:sp>
        <p:nvSpPr>
          <p:cNvPr id="12" name="Shape 9"/>
          <p:cNvSpPr/>
          <p:nvPr/>
        </p:nvSpPr>
        <p:spPr>
          <a:xfrm>
            <a:off x="886968" y="3520440"/>
            <a:ext cx="475488" cy="475488"/>
          </a:xfrm>
          <a:prstGeom prst="ellipse">
            <a:avLst/>
          </a:prstGeom>
          <a:solidFill>
            <a:srgbClr val="E8A33D"/>
          </a:solidFill>
          <a:ln/>
        </p:spPr>
        <p:txBody>
          <a:bodyPr/>
          <a:lstStyle/>
          <a:p>
            <a:endParaRPr lang="en-US"/>
          </a:p>
        </p:txBody>
      </p:sp>
      <p:sp>
        <p:nvSpPr>
          <p:cNvPr id="13" name="Text 10"/>
          <p:cNvSpPr txBox="1"/>
          <p:nvPr/>
        </p:nvSpPr>
        <p:spPr>
          <a:xfrm>
            <a:off x="886968" y="35204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1554480" y="33558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Azure Monitor</a:t>
            </a:r>
            <a:endParaRPr lang="en-US" sz="1900" dirty="0"/>
          </a:p>
        </p:txBody>
      </p:sp>
      <p:sp>
        <p:nvSpPr>
          <p:cNvPr id="15" name="Text 12"/>
          <p:cNvSpPr txBox="1"/>
          <p:nvPr/>
        </p:nvSpPr>
        <p:spPr>
          <a:xfrm>
            <a:off x="1554480" y="3776472"/>
            <a:ext cx="2926080" cy="365760"/>
          </a:xfrm>
          <a:prstGeom prst="rect">
            <a:avLst/>
          </a:prstGeom>
          <a:noFill/>
          <a:ln/>
        </p:spPr>
        <p:txBody>
          <a:bodyPr wrap="square" lIns="0" tIns="0" rIns="0" bIns="0" rtlCol="0" anchor="ctr"/>
          <a:lstStyle/>
          <a:p>
            <a:pPr marL="0" indent="0">
              <a:buNone/>
            </a:pPr>
            <a:r>
              <a:rPr lang="en-US" sz="1300" i="1" dirty="0">
                <a:solidFill>
                  <a:srgbClr val="E8A33D"/>
                </a:solidFill>
                <a:latin typeface="Calibri" pitchFamily="34" charset="0"/>
                <a:ea typeface="Calibri" pitchFamily="34" charset="-122"/>
                <a:cs typeface="Calibri" pitchFamily="34" charset="-120"/>
              </a:rPr>
              <a:t>A metric alert on failed requests</a:t>
            </a:r>
            <a:endParaRPr lang="en-US" sz="1300" dirty="0"/>
          </a:p>
        </p:txBody>
      </p:sp>
      <p:sp>
        <p:nvSpPr>
          <p:cNvPr id="16" name="Text 13"/>
          <p:cNvSpPr txBox="1"/>
          <p:nvPr/>
        </p:nvSpPr>
        <p:spPr>
          <a:xfrm>
            <a:off x="4709160" y="34290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Common alert schema, straight to the hub via an action group. No glue code.</a:t>
            </a:r>
            <a:endParaRPr lang="en-US" sz="1400" dirty="0"/>
          </a:p>
        </p:txBody>
      </p:sp>
      <p:sp>
        <p:nvSpPr>
          <p:cNvPr id="17" name="Shape 14"/>
          <p:cNvSpPr/>
          <p:nvPr/>
        </p:nvSpPr>
        <p:spPr>
          <a:xfrm>
            <a:off x="594360" y="4526280"/>
            <a:ext cx="11018520" cy="1207008"/>
          </a:xfrm>
          <a:prstGeom prst="roundRect">
            <a:avLst>
              <a:gd name="adj" fmla="val 4545"/>
            </a:avLst>
          </a:prstGeom>
          <a:solidFill>
            <a:srgbClr val="19242F"/>
          </a:solidFill>
          <a:ln/>
        </p:spPr>
        <p:txBody>
          <a:bodyPr/>
          <a:lstStyle/>
          <a:p>
            <a:endParaRPr lang="en-US"/>
          </a:p>
        </p:txBody>
      </p:sp>
      <p:sp>
        <p:nvSpPr>
          <p:cNvPr id="18" name="Shape 15"/>
          <p:cNvSpPr/>
          <p:nvPr/>
        </p:nvSpPr>
        <p:spPr>
          <a:xfrm>
            <a:off x="886968" y="4892040"/>
            <a:ext cx="475488" cy="475488"/>
          </a:xfrm>
          <a:prstGeom prst="ellipse">
            <a:avLst/>
          </a:prstGeom>
          <a:solidFill>
            <a:srgbClr val="46B98A"/>
          </a:solidFill>
          <a:ln/>
        </p:spPr>
        <p:txBody>
          <a:bodyPr/>
          <a:lstStyle/>
          <a:p>
            <a:endParaRPr lang="en-US"/>
          </a:p>
        </p:txBody>
      </p:sp>
      <p:sp>
        <p:nvSpPr>
          <p:cNvPr id="19" name="Text 16"/>
          <p:cNvSpPr txBox="1"/>
          <p:nvPr/>
        </p:nvSpPr>
        <p:spPr>
          <a:xfrm>
            <a:off x="886968" y="4892040"/>
            <a:ext cx="475488" cy="475488"/>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0" name="Text 17"/>
          <p:cNvSpPr txBox="1"/>
          <p:nvPr/>
        </p:nvSpPr>
        <p:spPr>
          <a:xfrm>
            <a:off x="1554480" y="4727448"/>
            <a:ext cx="292608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Third-party tools</a:t>
            </a:r>
            <a:endParaRPr lang="en-US" sz="1900" dirty="0"/>
          </a:p>
        </p:txBody>
      </p:sp>
      <p:sp>
        <p:nvSpPr>
          <p:cNvPr id="21" name="Text 18"/>
          <p:cNvSpPr txBox="1"/>
          <p:nvPr/>
        </p:nvSpPr>
        <p:spPr>
          <a:xfrm>
            <a:off x="1554480" y="5148072"/>
            <a:ext cx="2926080" cy="365760"/>
          </a:xfrm>
          <a:prstGeom prst="rect">
            <a:avLst/>
          </a:prstGeom>
          <a:noFill/>
          <a:ln/>
        </p:spPr>
        <p:txBody>
          <a:bodyPr wrap="square" lIns="0" tIns="0" rIns="0" bIns="0" rtlCol="0" anchor="ctr"/>
          <a:lstStyle/>
          <a:p>
            <a:pPr marL="0" indent="0">
              <a:buNone/>
            </a:pPr>
            <a:r>
              <a:rPr lang="en-US" sz="1300" i="1" dirty="0">
                <a:solidFill>
                  <a:srgbClr val="46B98A"/>
                </a:solidFill>
                <a:latin typeface="Calibri" pitchFamily="34" charset="0"/>
                <a:ea typeface="Calibri" pitchFamily="34" charset="-122"/>
                <a:cs typeface="Calibri" pitchFamily="34" charset="-120"/>
              </a:rPr>
              <a:t>Twelve of them, all fictional</a:t>
            </a:r>
            <a:endParaRPr lang="en-US" sz="1300" dirty="0"/>
          </a:p>
        </p:txBody>
      </p:sp>
      <p:sp>
        <p:nvSpPr>
          <p:cNvPr id="22" name="Text 19"/>
          <p:cNvSpPr txBox="1"/>
          <p:nvPr/>
        </p:nvSpPr>
        <p:spPr>
          <a:xfrm>
            <a:off x="4709160" y="4800600"/>
            <a:ext cx="667512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sql-watch, storage-watch, backup-agent, cert-watch, net-monitor... a PowerShell script standing in for the estate.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INGESTEVENTS / RUN.PS1  ·  34 LINES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whole trigger</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730752"/>
          </a:xfrm>
          <a:prstGeom prst="roundRect">
            <a:avLst>
              <a:gd name="adj" fmla="val 1471"/>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foreach ($message in @($eventHubMessages))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343607"/>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$payload = $message | ConvertFrom-Json -Depth 50</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675534"/>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3007462"/>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foreach ($event in ConvertTo-PipelineEvent -Payload $payload)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339389"/>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        if ($event.Success) { $dropped++; continue }  # a success is not news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671316"/>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4003243"/>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        Write-RawEvent      -Event $event   # keep the firehose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33517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Add-EventToIncident -Event $event   # correlate it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914400" y="4667098"/>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914400" y="4999025"/>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3"/>
          <p:cNvSpPr/>
          <p:nvPr/>
        </p:nvSpPr>
        <p:spPr>
          <a:xfrm>
            <a:off x="594360" y="5833872"/>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868680" y="6035040"/>
            <a:ext cx="10454335" cy="5029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Read the hub, normalise, throw away the successes, correlate. </a:t>
            </a:r>
            <a:r>
              <a:rPr kumimoji="0" lang="en-US" sz="17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Everything else in this session is one of those three verbs, opened up.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1</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Break everything</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./Break-Everything.ps1 - one command, one outage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Live checkout traffic starts failing for real</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Twelve tools begin reporting, 68 events over about forty seconds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Watch the raw stream arrive in the workbook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LAYER ONE · NO MODEL INVOLVED</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Fingerprinting: the same thing, again</a:t>
            </a:r>
            <a:endParaRPr lang="en-US" sz="3600" dirty="0"/>
          </a:p>
        </p:txBody>
      </p:sp>
      <p:sp>
        <p:nvSpPr>
          <p:cNvPr id="5" name="Shape 2"/>
          <p:cNvSpPr/>
          <p:nvPr/>
        </p:nvSpPr>
        <p:spPr>
          <a:xfrm>
            <a:off x="594360" y="1783080"/>
            <a:ext cx="6766560" cy="2286000"/>
          </a:xfrm>
          <a:prstGeom prst="roundRect">
            <a:avLst>
              <a:gd name="adj" fmla="val 2400"/>
            </a:avLst>
          </a:prstGeom>
          <a:solidFill>
            <a:srgbClr val="19242F"/>
          </a:solidFill>
          <a:ln/>
        </p:spPr>
        <p:txBody>
          <a:bodyPr/>
          <a:lstStyle/>
          <a:p>
            <a:endParaRPr lang="en-US"/>
          </a:p>
        </p:txBody>
      </p:sp>
      <p:sp>
        <p:nvSpPr>
          <p:cNvPr id="6" name="Text 3"/>
          <p:cNvSpPr txBox="1"/>
          <p:nvPr/>
        </p:nvSpPr>
        <p:spPr>
          <a:xfrm>
            <a:off x="868680" y="1938528"/>
            <a:ext cx="6309360" cy="29260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Disk read latency 410 ms, sustained</a:t>
            </a:r>
            <a:endParaRPr lang="en-US" sz="1200" dirty="0"/>
          </a:p>
        </p:txBody>
      </p:sp>
      <p:sp>
        <p:nvSpPr>
          <p:cNvPr id="7" name="Text 4"/>
          <p:cNvSpPr txBox="1"/>
          <p:nvPr/>
        </p:nvSpPr>
        <p:spPr>
          <a:xfrm>
            <a:off x="868680" y="2267712"/>
            <a:ext cx="6309360" cy="29260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Disk read latency 455 ms, sustained</a:t>
            </a:r>
            <a:endParaRPr lang="en-US" sz="1200" dirty="0"/>
          </a:p>
        </p:txBody>
      </p:sp>
      <p:sp>
        <p:nvSpPr>
          <p:cNvPr id="8" name="Text 5"/>
          <p:cNvSpPr txBox="1"/>
          <p:nvPr/>
        </p:nvSpPr>
        <p:spPr>
          <a:xfrm>
            <a:off x="868680" y="2596896"/>
            <a:ext cx="6309360" cy="29260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Disk read latency 480 ms, sustained</a:t>
            </a:r>
            <a:endParaRPr lang="en-US" sz="1200" dirty="0"/>
          </a:p>
        </p:txBody>
      </p:sp>
      <p:sp>
        <p:nvSpPr>
          <p:cNvPr id="9" name="Text 6"/>
          <p:cNvSpPr txBox="1"/>
          <p:nvPr/>
        </p:nvSpPr>
        <p:spPr>
          <a:xfrm>
            <a:off x="868680" y="2926080"/>
            <a:ext cx="6309360" cy="29260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Disk read latency 512 ms, sustained</a:t>
            </a:r>
            <a:endParaRPr lang="en-US" sz="1200" dirty="0"/>
          </a:p>
        </p:txBody>
      </p:sp>
      <p:sp>
        <p:nvSpPr>
          <p:cNvPr id="10" name="Text 7"/>
          <p:cNvSpPr txBox="1"/>
          <p:nvPr/>
        </p:nvSpPr>
        <p:spPr>
          <a:xfrm>
            <a:off x="868680" y="3255264"/>
            <a:ext cx="6309360" cy="29260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Disk read latency 498 ms, sustained</a:t>
            </a:r>
            <a:endParaRPr lang="en-US" sz="1200" dirty="0"/>
          </a:p>
        </p:txBody>
      </p:sp>
      <p:sp>
        <p:nvSpPr>
          <p:cNvPr id="11" name="Text 8"/>
          <p:cNvSpPr txBox="1"/>
          <p:nvPr/>
        </p:nvSpPr>
        <p:spPr>
          <a:xfrm>
            <a:off x="868680" y="3584448"/>
            <a:ext cx="6309360" cy="29260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Disk read latency 466 ms, sustained</a:t>
            </a:r>
            <a:endParaRPr lang="en-US" sz="1200" dirty="0"/>
          </a:p>
        </p:txBody>
      </p:sp>
      <p:sp>
        <p:nvSpPr>
          <p:cNvPr id="12" name="Text 9"/>
          <p:cNvSpPr txBox="1"/>
          <p:nvPr/>
        </p:nvSpPr>
        <p:spPr>
          <a:xfrm>
            <a:off x="7498080" y="2743200"/>
            <a:ext cx="457200" cy="365760"/>
          </a:xfrm>
          <a:prstGeom prst="rect">
            <a:avLst/>
          </a:prstGeom>
          <a:noFill/>
          <a:ln/>
        </p:spPr>
        <p:txBody>
          <a:bodyPr wrap="square" lIns="0" tIns="0" rIns="0" bIns="0" rtlCol="0" anchor="ctr"/>
          <a:lstStyle/>
          <a:p>
            <a:pPr marL="0" indent="0" algn="ctr">
              <a:buNone/>
            </a:pPr>
            <a:r>
              <a:rPr lang="en-US" sz="2400" b="1" dirty="0">
                <a:solidFill>
                  <a:srgbClr val="E8A33D"/>
                </a:solidFill>
                <a:latin typeface="Calibri" pitchFamily="34" charset="0"/>
                <a:ea typeface="Calibri" pitchFamily="34" charset="-122"/>
                <a:cs typeface="Calibri" pitchFamily="34" charset="-120"/>
              </a:rPr>
              <a:t>&gt;</a:t>
            </a:r>
            <a:endParaRPr lang="en-US" sz="2400" dirty="0"/>
          </a:p>
        </p:txBody>
      </p:sp>
      <p:sp>
        <p:nvSpPr>
          <p:cNvPr id="13" name="Shape 10"/>
          <p:cNvSpPr/>
          <p:nvPr/>
        </p:nvSpPr>
        <p:spPr>
          <a:xfrm>
            <a:off x="8092440" y="2331720"/>
            <a:ext cx="3520440" cy="1188720"/>
          </a:xfrm>
          <a:prstGeom prst="roundRect">
            <a:avLst>
              <a:gd name="adj" fmla="val 4615"/>
            </a:avLst>
          </a:prstGeom>
          <a:solidFill>
            <a:srgbClr val="223140"/>
          </a:solidFill>
          <a:ln/>
        </p:spPr>
        <p:txBody>
          <a:bodyPr/>
          <a:lstStyle/>
          <a:p>
            <a:endParaRPr lang="en-US"/>
          </a:p>
        </p:txBody>
      </p:sp>
      <p:sp>
        <p:nvSpPr>
          <p:cNvPr id="14" name="Text 11"/>
          <p:cNvSpPr txBox="1"/>
          <p:nvPr/>
        </p:nvSpPr>
        <p:spPr>
          <a:xfrm>
            <a:off x="8321040" y="2514600"/>
            <a:ext cx="3063240" cy="457200"/>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Disk read latency N ms, sustained</a:t>
            </a:r>
            <a:endParaRPr lang="en-US" sz="1200" dirty="0"/>
          </a:p>
        </p:txBody>
      </p:sp>
      <p:sp>
        <p:nvSpPr>
          <p:cNvPr id="15" name="Text 12"/>
          <p:cNvSpPr txBox="1"/>
          <p:nvPr/>
        </p:nvSpPr>
        <p:spPr>
          <a:xfrm>
            <a:off x="8321040" y="3017520"/>
            <a:ext cx="3063240" cy="320040"/>
          </a:xfrm>
          <a:prstGeom prst="rect">
            <a:avLst/>
          </a:prstGeom>
          <a:noFill/>
          <a:ln/>
        </p:spPr>
        <p:txBody>
          <a:bodyPr wrap="square" lIns="0" tIns="0" rIns="0" bIns="0" rtlCol="0" anchor="ctr"/>
          <a:lstStyle/>
          <a:p>
            <a:pPr marL="0" indent="0">
              <a:buNone/>
            </a:pPr>
            <a:r>
              <a:rPr lang="en-US" sz="1400" b="1" dirty="0">
                <a:solidFill>
                  <a:srgbClr val="E8A33D"/>
                </a:solidFill>
                <a:latin typeface="Calibri" pitchFamily="34" charset="0"/>
                <a:ea typeface="Calibri" pitchFamily="34" charset="-122"/>
                <a:cs typeface="Calibri" pitchFamily="34" charset="-120"/>
              </a:rPr>
              <a:t>seen 6 times</a:t>
            </a:r>
            <a:endParaRPr lang="en-US" sz="1400" dirty="0"/>
          </a:p>
        </p:txBody>
      </p:sp>
      <p:sp>
        <p:nvSpPr>
          <p:cNvPr id="16" name="Shape 13"/>
          <p:cNvSpPr/>
          <p:nvPr/>
        </p:nvSpPr>
        <p:spPr>
          <a:xfrm>
            <a:off x="594360" y="4343400"/>
            <a:ext cx="11018520" cy="1417320"/>
          </a:xfrm>
          <a:prstGeom prst="roundRect">
            <a:avLst>
              <a:gd name="adj" fmla="val 3871"/>
            </a:avLst>
          </a:prstGeom>
          <a:solidFill>
            <a:srgbClr val="19242F"/>
          </a:solidFill>
          <a:ln/>
        </p:spPr>
        <p:txBody>
          <a:bodyPr/>
          <a:lstStyle/>
          <a:p>
            <a:endParaRPr lang="en-US"/>
          </a:p>
        </p:txBody>
      </p:sp>
      <p:sp>
        <p:nvSpPr>
          <p:cNvPr id="17" name="Text 14"/>
          <p:cNvSpPr txBox="1"/>
          <p:nvPr/>
        </p:nvSpPr>
        <p:spPr>
          <a:xfrm>
            <a:off x="868680" y="4553712"/>
            <a:ext cx="10424160" cy="1005840"/>
          </a:xfrm>
          <a:prstGeom prst="rect">
            <a:avLst/>
          </a:prstGeom>
          <a:noFill/>
          <a:ln/>
        </p:spPr>
        <p:txBody>
          <a:bodyPr wrap="square" lIns="0" tIns="0" rIns="0" bIns="0" rtlCol="0" anchor="ctr"/>
          <a:lstStyle/>
          <a:p>
            <a:pPr marL="0" indent="0">
              <a:lnSpc>
                <a:spcPts val="2200"/>
              </a:lnSpc>
              <a:buNone/>
            </a:pPr>
            <a:r>
              <a:rPr lang="en-US" sz="1500" b="1" dirty="0">
                <a:solidFill>
                  <a:srgbClr val="FFFFFF"/>
                </a:solidFill>
                <a:latin typeface="Calibri" pitchFamily="34" charset="0"/>
                <a:ea typeface="Calibri" pitchFamily="34" charset="-122"/>
                <a:cs typeface="Calibri" pitchFamily="34" charset="-120"/>
              </a:rPr>
              <a:t>Every run of digits collapses.  </a:t>
            </a:r>
            <a:r>
              <a:rPr lang="en-US" sz="1500" dirty="0">
                <a:solidFill>
                  <a:srgbClr val="8FA3B8"/>
                </a:solidFill>
                <a:latin typeface="Calibri" pitchFamily="34" charset="0"/>
                <a:ea typeface="Calibri" pitchFamily="34" charset="-122"/>
                <a:cs typeface="Calibri" pitchFamily="34" charset="-120"/>
              </a:rPr>
              <a:t>Durations, counts, percentages and addresses are values, not identities - so 300 identical checkout failures become one row with a count, not 300 rows.
</a:t>
            </a:r>
            <a:r>
              <a:rPr lang="en-US" sz="1500" b="1" dirty="0">
                <a:solidFill>
                  <a:srgbClr val="E8A33D"/>
                </a:solidFill>
                <a:latin typeface="Calibri" pitchFamily="34" charset="0"/>
                <a:ea typeface="Calibri" pitchFamily="34" charset="-122"/>
                <a:cs typeface="Calibri" pitchFamily="34" charset="-120"/>
              </a:rPr>
              <a:t>The honest cost: </a:t>
            </a:r>
            <a:r>
              <a:rPr lang="en-US" sz="1500" dirty="0">
                <a:solidFill>
                  <a:srgbClr val="8FA3B8"/>
                </a:solidFill>
                <a:latin typeface="Calibri" pitchFamily="34" charset="0"/>
                <a:ea typeface="Calibri" pitchFamily="34" charset="-122"/>
                <a:cs typeface="Calibri" pitchFamily="34" charset="-120"/>
              </a:rPr>
              <a:t>"Port 22 closed" and "Port 443 closed" now collapse together too.</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LAYER TWO · STILL NO MODEL</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Shared keys: the same incident</a:t>
            </a:r>
            <a:endParaRPr lang="en-US" sz="3600" dirty="0"/>
          </a:p>
        </p:txBody>
      </p:sp>
      <p:sp>
        <p:nvSpPr>
          <p:cNvPr id="5" name="Shape 2"/>
          <p:cNvSpPr/>
          <p:nvPr/>
        </p:nvSpPr>
        <p:spPr>
          <a:xfrm>
            <a:off x="594360" y="1783080"/>
            <a:ext cx="11018520" cy="822960"/>
          </a:xfrm>
          <a:prstGeom prst="roundRect">
            <a:avLst>
              <a:gd name="adj" fmla="val 6667"/>
            </a:avLst>
          </a:prstGeom>
          <a:solidFill>
            <a:srgbClr val="19242F"/>
          </a:solidFill>
          <a:ln/>
        </p:spPr>
        <p:txBody>
          <a:bodyPr/>
          <a:lstStyle/>
          <a:p>
            <a:endParaRPr lang="en-US"/>
          </a:p>
        </p:txBody>
      </p:sp>
      <p:sp>
        <p:nvSpPr>
          <p:cNvPr id="6" name="Shape 3"/>
          <p:cNvSpPr/>
          <p:nvPr/>
        </p:nvSpPr>
        <p:spPr>
          <a:xfrm>
            <a:off x="886968" y="2084832"/>
            <a:ext cx="219456" cy="219456"/>
          </a:xfrm>
          <a:prstGeom prst="ellipse">
            <a:avLst/>
          </a:prstGeom>
          <a:solidFill>
            <a:srgbClr val="5B9BD5"/>
          </a:solidFill>
          <a:ln/>
        </p:spPr>
        <p:txBody>
          <a:bodyPr/>
          <a:lstStyle/>
          <a:p>
            <a:endParaRPr lang="en-US"/>
          </a:p>
        </p:txBody>
      </p:sp>
      <p:sp>
        <p:nvSpPr>
          <p:cNvPr id="7" name="Text 4"/>
          <p:cNvSpPr txBox="1"/>
          <p:nvPr/>
        </p:nvSpPr>
        <p:spPr>
          <a:xfrm>
            <a:off x="1307592" y="2002536"/>
            <a:ext cx="1371600" cy="384048"/>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resource</a:t>
            </a:r>
            <a:endParaRPr lang="en-US" sz="1500" dirty="0"/>
          </a:p>
        </p:txBody>
      </p:sp>
      <p:sp>
        <p:nvSpPr>
          <p:cNvPr id="8" name="Text 5"/>
          <p:cNvSpPr txBox="1"/>
          <p:nvPr/>
        </p:nvSpPr>
        <p:spPr>
          <a:xfrm>
            <a:off x="2788920" y="2020824"/>
            <a:ext cx="2377440" cy="365760"/>
          </a:xfrm>
          <a:prstGeom prst="rect">
            <a:avLst/>
          </a:prstGeom>
          <a:noFill/>
          <a:ln/>
        </p:spPr>
        <p:txBody>
          <a:bodyPr wrap="square" lIns="0" tIns="0" rIns="0" bIns="0" rtlCol="0" anchor="ctr"/>
          <a:lstStyle/>
          <a:p>
            <a:pPr marL="0" indent="0">
              <a:buNone/>
            </a:pPr>
            <a:r>
              <a:rPr lang="en-US" sz="1300" dirty="0">
                <a:solidFill>
                  <a:srgbClr val="5B9BD5"/>
                </a:solidFill>
                <a:latin typeface="Courier New" pitchFamily="34" charset="0"/>
                <a:ea typeface="Courier New" pitchFamily="34" charset="-122"/>
                <a:cs typeface="Courier New" pitchFamily="34" charset="-120"/>
              </a:rPr>
              <a:t>Azure resource id</a:t>
            </a:r>
            <a:endParaRPr lang="en-US" sz="1300" dirty="0"/>
          </a:p>
        </p:txBody>
      </p:sp>
      <p:sp>
        <p:nvSpPr>
          <p:cNvPr id="9" name="Text 6"/>
          <p:cNvSpPr txBox="1"/>
          <p:nvPr/>
        </p:nvSpPr>
        <p:spPr>
          <a:xfrm>
            <a:off x="5349240" y="2020824"/>
            <a:ext cx="603504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Everything App Insights exports for one component.</a:t>
            </a:r>
            <a:endParaRPr lang="en-US" sz="1400" dirty="0"/>
          </a:p>
        </p:txBody>
      </p:sp>
      <p:sp>
        <p:nvSpPr>
          <p:cNvPr id="10" name="Shape 7"/>
          <p:cNvSpPr/>
          <p:nvPr/>
        </p:nvSpPr>
        <p:spPr>
          <a:xfrm>
            <a:off x="594360" y="2743200"/>
            <a:ext cx="11018520" cy="822960"/>
          </a:xfrm>
          <a:prstGeom prst="roundRect">
            <a:avLst>
              <a:gd name="adj" fmla="val 6667"/>
            </a:avLst>
          </a:prstGeom>
          <a:solidFill>
            <a:srgbClr val="19242F"/>
          </a:solidFill>
          <a:ln/>
        </p:spPr>
        <p:txBody>
          <a:bodyPr/>
          <a:lstStyle/>
          <a:p>
            <a:endParaRPr lang="en-US"/>
          </a:p>
        </p:txBody>
      </p:sp>
      <p:sp>
        <p:nvSpPr>
          <p:cNvPr id="11" name="Shape 8"/>
          <p:cNvSpPr/>
          <p:nvPr/>
        </p:nvSpPr>
        <p:spPr>
          <a:xfrm>
            <a:off x="886968" y="3044952"/>
            <a:ext cx="219456" cy="219456"/>
          </a:xfrm>
          <a:prstGeom prst="ellipse">
            <a:avLst/>
          </a:prstGeom>
          <a:solidFill>
            <a:srgbClr val="E8A33D"/>
          </a:solidFill>
          <a:ln/>
        </p:spPr>
        <p:txBody>
          <a:bodyPr/>
          <a:lstStyle/>
          <a:p>
            <a:endParaRPr lang="en-US"/>
          </a:p>
        </p:txBody>
      </p:sp>
      <p:sp>
        <p:nvSpPr>
          <p:cNvPr id="12" name="Text 9"/>
          <p:cNvSpPr txBox="1"/>
          <p:nvPr/>
        </p:nvSpPr>
        <p:spPr>
          <a:xfrm>
            <a:off x="1307592" y="2962656"/>
            <a:ext cx="1371600" cy="384048"/>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host</a:t>
            </a:r>
            <a:endParaRPr lang="en-US" sz="1500" dirty="0"/>
          </a:p>
        </p:txBody>
      </p:sp>
      <p:sp>
        <p:nvSpPr>
          <p:cNvPr id="13" name="Text 10"/>
          <p:cNvSpPr txBox="1"/>
          <p:nvPr/>
        </p:nvSpPr>
        <p:spPr>
          <a:xfrm>
            <a:off x="2788920" y="2980944"/>
            <a:ext cx="2377440" cy="365760"/>
          </a:xfrm>
          <a:prstGeom prst="rect">
            <a:avLst/>
          </a:prstGeom>
          <a:noFill/>
          <a:ln/>
        </p:spPr>
        <p:txBody>
          <a:bodyPr wrap="square" lIns="0" tIns="0" rIns="0" bIns="0" rtlCol="0" anchor="ctr"/>
          <a:lstStyle/>
          <a:p>
            <a:pPr marL="0" indent="0">
              <a:buNone/>
            </a:pPr>
            <a:r>
              <a:rPr lang="en-US" sz="1300" dirty="0">
                <a:solidFill>
                  <a:srgbClr val="E8A33D"/>
                </a:solidFill>
                <a:latin typeface="Courier New" pitchFamily="34" charset="0"/>
                <a:ea typeface="Courier New" pitchFamily="34" charset="-122"/>
                <a:cs typeface="Courier New" pitchFamily="34" charset="-120"/>
              </a:rPr>
              <a:t>sql-prod-03</a:t>
            </a:r>
            <a:endParaRPr lang="en-US" sz="1300" dirty="0"/>
          </a:p>
        </p:txBody>
      </p:sp>
      <p:sp>
        <p:nvSpPr>
          <p:cNvPr id="14" name="Text 11"/>
          <p:cNvSpPr txBox="1"/>
          <p:nvPr/>
        </p:nvSpPr>
        <p:spPr>
          <a:xfrm>
            <a:off x="5349240" y="2980944"/>
            <a:ext cx="603504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Four tools reporting the same machine - grouped, with nothing but a string match.</a:t>
            </a:r>
            <a:endParaRPr lang="en-US" sz="1400" dirty="0"/>
          </a:p>
        </p:txBody>
      </p:sp>
      <p:sp>
        <p:nvSpPr>
          <p:cNvPr id="15" name="Shape 12"/>
          <p:cNvSpPr/>
          <p:nvPr/>
        </p:nvSpPr>
        <p:spPr>
          <a:xfrm>
            <a:off x="594360" y="3703320"/>
            <a:ext cx="11018520" cy="822960"/>
          </a:xfrm>
          <a:prstGeom prst="roundRect">
            <a:avLst>
              <a:gd name="adj" fmla="val 6667"/>
            </a:avLst>
          </a:prstGeom>
          <a:solidFill>
            <a:srgbClr val="19242F"/>
          </a:solidFill>
          <a:ln/>
        </p:spPr>
        <p:txBody>
          <a:bodyPr/>
          <a:lstStyle/>
          <a:p>
            <a:endParaRPr lang="en-US"/>
          </a:p>
        </p:txBody>
      </p:sp>
      <p:sp>
        <p:nvSpPr>
          <p:cNvPr id="16" name="Shape 13"/>
          <p:cNvSpPr/>
          <p:nvPr/>
        </p:nvSpPr>
        <p:spPr>
          <a:xfrm>
            <a:off x="886968" y="4005072"/>
            <a:ext cx="219456" cy="219456"/>
          </a:xfrm>
          <a:prstGeom prst="ellipse">
            <a:avLst/>
          </a:prstGeom>
          <a:solidFill>
            <a:srgbClr val="8FA3B8"/>
          </a:solidFill>
          <a:ln/>
        </p:spPr>
        <p:txBody>
          <a:bodyPr/>
          <a:lstStyle/>
          <a:p>
            <a:endParaRPr lang="en-US"/>
          </a:p>
        </p:txBody>
      </p:sp>
      <p:sp>
        <p:nvSpPr>
          <p:cNvPr id="17" name="Text 14"/>
          <p:cNvSpPr txBox="1"/>
          <p:nvPr/>
        </p:nvSpPr>
        <p:spPr>
          <a:xfrm>
            <a:off x="1307592" y="3922776"/>
            <a:ext cx="1371600" cy="384048"/>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service</a:t>
            </a:r>
            <a:endParaRPr lang="en-US" sz="1500" dirty="0"/>
          </a:p>
        </p:txBody>
      </p:sp>
      <p:sp>
        <p:nvSpPr>
          <p:cNvPr id="18" name="Text 15"/>
          <p:cNvSpPr txBox="1"/>
          <p:nvPr/>
        </p:nvSpPr>
        <p:spPr>
          <a:xfrm>
            <a:off x="2788920" y="3941064"/>
            <a:ext cx="2377440" cy="365760"/>
          </a:xfrm>
          <a:prstGeom prst="rect">
            <a:avLst/>
          </a:prstGeom>
          <a:noFill/>
          <a:ln/>
        </p:spPr>
        <p:txBody>
          <a:bodyPr wrap="square" lIns="0" tIns="0" rIns="0" bIns="0" rtlCol="0" anchor="ctr"/>
          <a:lstStyle/>
          <a:p>
            <a:pPr marL="0" indent="0">
              <a:buNone/>
            </a:pPr>
            <a:r>
              <a:rPr lang="en-US" sz="1300" dirty="0">
                <a:solidFill>
                  <a:srgbClr val="8FA3B8"/>
                </a:solidFill>
                <a:latin typeface="Courier New" pitchFamily="34" charset="0"/>
                <a:ea typeface="Courier New" pitchFamily="34" charset="-122"/>
                <a:cs typeface="Courier New" pitchFamily="34" charset="-120"/>
              </a:rPr>
              <a:t>store-api</a:t>
            </a:r>
            <a:endParaRPr lang="en-US" sz="1300" dirty="0"/>
          </a:p>
        </p:txBody>
      </p:sp>
      <p:sp>
        <p:nvSpPr>
          <p:cNvPr id="19" name="Text 16"/>
          <p:cNvSpPr txBox="1"/>
          <p:nvPr/>
        </p:nvSpPr>
        <p:spPr>
          <a:xfrm>
            <a:off x="5349240" y="3941064"/>
            <a:ext cx="603504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The role name, when there is no host.</a:t>
            </a:r>
            <a:endParaRPr lang="en-US" sz="1400" dirty="0"/>
          </a:p>
        </p:txBody>
      </p:sp>
      <p:sp>
        <p:nvSpPr>
          <p:cNvPr id="20" name="Shape 17"/>
          <p:cNvSpPr/>
          <p:nvPr/>
        </p:nvSpPr>
        <p:spPr>
          <a:xfrm>
            <a:off x="594360" y="4663440"/>
            <a:ext cx="11018520" cy="822960"/>
          </a:xfrm>
          <a:prstGeom prst="roundRect">
            <a:avLst>
              <a:gd name="adj" fmla="val 6667"/>
            </a:avLst>
          </a:prstGeom>
          <a:solidFill>
            <a:srgbClr val="19242F"/>
          </a:solidFill>
          <a:ln/>
        </p:spPr>
        <p:txBody>
          <a:bodyPr/>
          <a:lstStyle/>
          <a:p>
            <a:endParaRPr lang="en-US"/>
          </a:p>
        </p:txBody>
      </p:sp>
      <p:sp>
        <p:nvSpPr>
          <p:cNvPr id="21" name="Shape 18"/>
          <p:cNvSpPr/>
          <p:nvPr/>
        </p:nvSpPr>
        <p:spPr>
          <a:xfrm>
            <a:off x="886968" y="4965192"/>
            <a:ext cx="219456" cy="219456"/>
          </a:xfrm>
          <a:prstGeom prst="ellipse">
            <a:avLst/>
          </a:prstGeom>
          <a:solidFill>
            <a:srgbClr val="8FA3B8"/>
          </a:solidFill>
          <a:ln/>
        </p:spPr>
        <p:txBody>
          <a:bodyPr/>
          <a:lstStyle/>
          <a:p>
            <a:endParaRPr lang="en-US"/>
          </a:p>
        </p:txBody>
      </p:sp>
      <p:sp>
        <p:nvSpPr>
          <p:cNvPr id="22" name="Text 19"/>
          <p:cNvSpPr txBox="1"/>
          <p:nvPr/>
        </p:nvSpPr>
        <p:spPr>
          <a:xfrm>
            <a:off x="1307592" y="4882896"/>
            <a:ext cx="1371600" cy="384048"/>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trace</a:t>
            </a:r>
            <a:endParaRPr lang="en-US" sz="1500" dirty="0"/>
          </a:p>
        </p:txBody>
      </p:sp>
      <p:sp>
        <p:nvSpPr>
          <p:cNvPr id="23" name="Text 20"/>
          <p:cNvSpPr txBox="1"/>
          <p:nvPr/>
        </p:nvSpPr>
        <p:spPr>
          <a:xfrm>
            <a:off x="2788920" y="4901184"/>
            <a:ext cx="2377440" cy="365760"/>
          </a:xfrm>
          <a:prstGeom prst="rect">
            <a:avLst/>
          </a:prstGeom>
          <a:noFill/>
          <a:ln/>
        </p:spPr>
        <p:txBody>
          <a:bodyPr wrap="square" lIns="0" tIns="0" rIns="0" bIns="0" rtlCol="0" anchor="ctr"/>
          <a:lstStyle/>
          <a:p>
            <a:pPr marL="0" indent="0">
              <a:buNone/>
            </a:pPr>
            <a:r>
              <a:rPr lang="en-US" sz="1300" dirty="0">
                <a:solidFill>
                  <a:srgbClr val="8FA3B8"/>
                </a:solidFill>
                <a:latin typeface="Courier New" pitchFamily="34" charset="0"/>
                <a:ea typeface="Courier New" pitchFamily="34" charset="-122"/>
                <a:cs typeface="Courier New" pitchFamily="34" charset="-120"/>
              </a:rPr>
              <a:t>operation id</a:t>
            </a:r>
            <a:endParaRPr lang="en-US" sz="1300" dirty="0"/>
          </a:p>
        </p:txBody>
      </p:sp>
      <p:sp>
        <p:nvSpPr>
          <p:cNvPr id="24" name="Text 21"/>
          <p:cNvSpPr txBox="1"/>
          <p:nvPr/>
        </p:nvSpPr>
        <p:spPr>
          <a:xfrm>
            <a:off x="5349240" y="4901184"/>
            <a:ext cx="603504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Last on purpose: every request has its own, so it is the worst grouping key there is.</a:t>
            </a:r>
            <a:endParaRPr lang="en-US" sz="1400" dirty="0"/>
          </a:p>
        </p:txBody>
      </p:sp>
      <p:sp>
        <p:nvSpPr>
          <p:cNvPr id="25" name="Text 22"/>
          <p:cNvSpPr txBox="1"/>
          <p:nvPr/>
        </p:nvSpPr>
        <p:spPr>
          <a:xfrm>
            <a:off x="594360" y="5760720"/>
            <a:ext cx="10972800" cy="365760"/>
          </a:xfrm>
          <a:prstGeom prst="rect">
            <a:avLst/>
          </a:prstGeom>
          <a:noFill/>
          <a:ln/>
        </p:spPr>
        <p:txBody>
          <a:bodyPr wrap="square" lIns="0" tIns="0" rIns="0" bIns="0" rtlCol="0" anchor="ctr"/>
          <a:lstStyle/>
          <a:p>
            <a:pPr marL="0" indent="0">
              <a:buNone/>
            </a:pPr>
            <a:r>
              <a:rPr lang="en-US" sz="1500" i="1" dirty="0">
                <a:solidFill>
                  <a:srgbClr val="7C90A6"/>
                </a:solidFill>
                <a:latin typeface="Calibri" pitchFamily="34" charset="0"/>
                <a:ea typeface="Calibri" pitchFamily="34" charset="-122"/>
                <a:cs typeface="Calibri" pitchFamily="34" charset="-120"/>
              </a:rPr>
              <a:t>Incident identity is a hash of the primary key - so two workers racing on the same host write to the same incident, not two.</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5B9BD5"/>
                </a:solidFill>
                <a:effectLst/>
                <a:uLnTx/>
                <a:uFillTx/>
                <a:latin typeface="Calibri" pitchFamily="34" charset="0"/>
                <a:ea typeface="Calibri" pitchFamily="34" charset="-122"/>
                <a:cs typeface="Calibri" pitchFamily="34" charset="-120"/>
              </a:rPr>
              <a:t>PIPELINE.PSM1  ·  176 LINES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Three shapes, one object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6949440" cy="1849831"/>
          </a:xfrm>
          <a:prstGeom prst="roundRect">
            <a:avLst>
              <a:gd name="adj" fmla="val 2966"/>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1892930"/>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function Get-PayloadShape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204352"/>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($Payload.records)         { 'appinsights' }  # diagnostic setting</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587020"/>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($Payload.data.essentials) { 'alert' }        # common alert schema</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981567"/>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($Payload.tool)            { 'script' }       # our own senders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265277"/>
            <a:ext cx="6309360"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7863840" y="1783080"/>
            <a:ext cx="3749040" cy="1849831"/>
          </a:xfrm>
          <a:prstGeom prst="roundRect">
            <a:avLst>
              <a:gd name="adj" fmla="val 296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8138160" y="1938528"/>
            <a:ext cx="3291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Out the other side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8138160" y="2304288"/>
            <a:ext cx="3291840" cy="1005840"/>
          </a:xfrm>
          <a:prstGeom prst="rect">
            <a:avLst/>
          </a:prstGeom>
          <a:noFill/>
          <a:ln/>
        </p:spPr>
        <p:txBody>
          <a:bodyPr wrap="square" lIns="0" tIns="0" rIns="0" bIns="0" rtlCol="0" anchor="ctr"/>
          <a:lstStyle/>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Source  	Kind     	Time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Severity 	Title   	Message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100" b="0" i="0" u="none" strike="noStrike" kern="1200" cap="none" spc="0" normalizeH="0" baseline="0" noProof="0" dirty="0" err="1">
                <a:ln>
                  <a:noFill/>
                </a:ln>
                <a:solidFill>
                  <a:srgbClr val="8FA3B8"/>
                </a:solidFill>
                <a:effectLst/>
                <a:uLnTx/>
                <a:uFillTx/>
                <a:latin typeface="Courier New" pitchFamily="34" charset="0"/>
                <a:ea typeface="Courier New" pitchFamily="34" charset="-122"/>
                <a:cs typeface="Courier New" pitchFamily="34" charset="-120"/>
              </a:rPr>
              <a:t>TraceId</a:t>
            </a:r>
            <a:r>
              <a:rPr kumimoji="0" lang="en-US" sz="11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Host     	Resource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594360" y="3998671"/>
            <a:ext cx="11002975" cy="1143000"/>
          </a:xfrm>
          <a:prstGeom prst="roundRect">
            <a:avLst>
              <a:gd name="adj" fmla="val 4800"/>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868680" y="4199839"/>
            <a:ext cx="10454335"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Every source disagrees about field names. </a:t>
            </a:r>
            <a:r>
              <a:rPr kumimoji="0" lang="en-US" sz="1500" b="0"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OperationId or operation_Id. TimeGenerated or time or timestamp. Nothing downstream can be written until one object comes out of here - and this is the part everyone underestimates when they plan a pipeline like this.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CORRELATION.PSM1  ·  THE WHOLE OF LAYER ONE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Deduplication is three lines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1960474"/>
          </a:xfrm>
          <a:prstGeom prst="roundRect">
            <a:avLst>
              <a:gd name="adj" fmla="val 279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309799"/>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$title = $Event.Title -replace '\d+', 'N'          # 480 ms and 8 ms are the same symptom</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321479"/>
            <a:ext cx="10362895" cy="309799"/>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631277"/>
            <a:ext cx="10362895" cy="309799"/>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$seed  = "$Source|$Kind|$title|$ResourceId|$Host".ToLowerInvariant()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941076"/>
            <a:ext cx="10362895" cy="309799"/>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250875"/>
            <a:ext cx="10362895" cy="309799"/>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$hash  = [Security.Cryptography.SHA256]::HashData([Text.Encoding]::UTF8.GetBytes($seed))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594360" y="4063594"/>
            <a:ext cx="5257800" cy="1737360"/>
          </a:xfrm>
          <a:prstGeom prst="roundRect">
            <a:avLst>
              <a:gd name="adj" fmla="val 3158"/>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4219042"/>
            <a:ext cx="46177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8FA3B8"/>
                </a:solidFill>
                <a:effectLst/>
                <a:uLnTx/>
                <a:uFillTx/>
                <a:latin typeface="Calibri" pitchFamily="34" charset="0"/>
                <a:ea typeface="Calibri" pitchFamily="34" charset="-122"/>
                <a:cs typeface="Calibri" pitchFamily="34" charset="-120"/>
              </a:rPr>
              <a:t>What goes in</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584802"/>
            <a:ext cx="4617720" cy="1005840"/>
          </a:xfrm>
          <a:prstGeom prst="rect">
            <a:avLst/>
          </a:prstGeom>
          <a:noFill/>
          <a:ln/>
        </p:spPr>
        <p:txBody>
          <a:bodyPr wrap="square" lIns="0" tIns="0" rIns="0" bIns="0" rtlCol="0" anchor="ctr"/>
          <a:lstStyle/>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Disk read latency 410 ms, sustained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Disk read latency 455 ms, sustained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ts val="19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Disk read latency 480 ms, sustained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6355080" y="4063594"/>
            <a:ext cx="5257800" cy="1737360"/>
          </a:xfrm>
          <a:prstGeom prst="roundRect">
            <a:avLst>
              <a:gd name="adj" fmla="val 3158"/>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6675120" y="4219042"/>
            <a:ext cx="46177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46B98A"/>
                </a:solidFill>
                <a:effectLst/>
                <a:uLnTx/>
                <a:uFillTx/>
                <a:latin typeface="Calibri" pitchFamily="34" charset="0"/>
                <a:ea typeface="Calibri" pitchFamily="34" charset="-122"/>
                <a:cs typeface="Calibri" pitchFamily="34" charset="-120"/>
              </a:rPr>
              <a:t>What comes out</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6675120" y="4612234"/>
            <a:ext cx="46177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Disk read latency N ms, sustained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txBox="1"/>
          <p:nvPr/>
        </p:nvSpPr>
        <p:spPr>
          <a:xfrm>
            <a:off x="6675120" y="5069434"/>
            <a:ext cx="461772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8A33D"/>
                </a:solidFill>
                <a:effectLst/>
                <a:uLnTx/>
                <a:uFillTx/>
                <a:latin typeface="Calibri" pitchFamily="34" charset="0"/>
                <a:ea typeface="Calibri" pitchFamily="34" charset="-122"/>
                <a:cs typeface="Calibri" pitchFamily="34" charset="-120"/>
              </a:rPr>
              <a:t>one row  ·  seen 3 times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CORRELATION.PSM1  ·  THE WHOLE OF LAYER TWO</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Identity is derived, not invented</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066898"/>
          </a:xfrm>
          <a:prstGeom prst="roundRect">
            <a:avLst>
              <a:gd name="adj" fmla="val 1789"/>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function Get-PrimaryKey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343607"/>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if ($Event.Host)       { return "host:$($Event.Host)"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675534"/>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($Event.ResourceId) { return "resource:$($Event.ResourceId)"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3007462"/>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if ($Event.Service)    { return "service:$($Event.Service)" }</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339389"/>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7C90A6"/>
                </a:solidFill>
                <a:effectLst/>
                <a:uLnTx/>
                <a:uFillTx/>
                <a:latin typeface="Courier New" pitchFamily="34" charset="0"/>
                <a:ea typeface="Courier New" pitchFamily="34" charset="-122"/>
                <a:cs typeface="Courier New" pitchFamily="34" charset="-120"/>
              </a:rPr>
              <a:t>    if ($Event.TraceId)    { return "trace:$($Event.TraceId)" }   # last: one per request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671316"/>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4003243"/>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335170"/>
            <a:ext cx="10362895" cy="33192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$incidentId = 'inc-' + (Sha256 $primaryKey).Substring(0, 12)</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594360" y="5170018"/>
            <a:ext cx="11002975" cy="1143000"/>
          </a:xfrm>
          <a:prstGeom prst="roundRect">
            <a:avLst>
              <a:gd name="adj" fmla="val 4800"/>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868680" y="5371186"/>
            <a:ext cx="10454335"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46B98A"/>
                </a:solidFill>
                <a:effectLst/>
                <a:uLnTx/>
                <a:uFillTx/>
                <a:latin typeface="Calibri" pitchFamily="34" charset="0"/>
                <a:ea typeface="Calibri" pitchFamily="34" charset="-122"/>
                <a:cs typeface="Calibri" pitchFamily="34" charset="-120"/>
              </a:rPr>
              <a:t>Two workers, one row. </a:t>
            </a:r>
            <a:r>
              <a:rPr kumimoji="0" lang="en-US" sz="1500" b="0"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The hub has two partitions, so two invocations correlate the same host at the same instant. Because the id is computed from the key rather than generated, they both write to the same incident - and the loser of the race gets a 409 it can ignore.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46B98A"/>
                </a:solidFill>
                <a:latin typeface="Calibri" pitchFamily="34" charset="0"/>
                <a:ea typeface="Calibri" pitchFamily="34" charset="-122"/>
                <a:cs typeface="Calibri" pitchFamily="34" charset="-120"/>
              </a:rPr>
              <a:t>THE PART WORTH ARGUING ABOUT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Instrumentation earns the correlation</a:t>
            </a:r>
            <a:endParaRPr lang="en-US" sz="3600" dirty="0"/>
          </a:p>
        </p:txBody>
      </p:sp>
      <p:sp>
        <p:nvSpPr>
          <p:cNvPr id="5" name="Shape 2"/>
          <p:cNvSpPr/>
          <p:nvPr/>
        </p:nvSpPr>
        <p:spPr>
          <a:xfrm>
            <a:off x="594360" y="1783080"/>
            <a:ext cx="5943600" cy="2834640"/>
          </a:xfrm>
          <a:prstGeom prst="roundRect">
            <a:avLst>
              <a:gd name="adj" fmla="val 1935"/>
            </a:avLst>
          </a:prstGeom>
          <a:solidFill>
            <a:srgbClr val="19242F"/>
          </a:solidFill>
          <a:ln/>
        </p:spPr>
        <p:txBody>
          <a:bodyPr/>
          <a:lstStyle/>
          <a:p>
            <a:endParaRPr lang="en-US"/>
          </a:p>
        </p:txBody>
      </p:sp>
      <p:sp>
        <p:nvSpPr>
          <p:cNvPr id="6" name="Text 3"/>
          <p:cNvSpPr txBox="1"/>
          <p:nvPr/>
        </p:nvSpPr>
        <p:spPr>
          <a:xfrm>
            <a:off x="868680" y="1920240"/>
            <a:ext cx="5394960" cy="274320"/>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store_api.py</a:t>
            </a:r>
            <a:endParaRPr lang="en-US" sz="1200" dirty="0"/>
          </a:p>
        </p:txBody>
      </p:sp>
      <p:sp>
        <p:nvSpPr>
          <p:cNvPr id="7" name="Text 4"/>
          <p:cNvSpPr txBox="1"/>
          <p:nvPr/>
        </p:nvSpPr>
        <p:spPr>
          <a:xfrm>
            <a:off x="868680" y="2240280"/>
            <a:ext cx="5394960" cy="246888"/>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with tracer.start_as_current_span(</a:t>
            </a:r>
            <a:endParaRPr lang="en-US" sz="1200" dirty="0"/>
          </a:p>
        </p:txBody>
      </p:sp>
      <p:sp>
        <p:nvSpPr>
          <p:cNvPr id="8" name="Text 5"/>
          <p:cNvSpPr txBox="1"/>
          <p:nvPr/>
        </p:nvSpPr>
        <p:spPr>
          <a:xfrm>
            <a:off x="868680" y="2505456"/>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"SELECT payments.pending",</a:t>
            </a:r>
            <a:endParaRPr lang="en-US" sz="1200" dirty="0"/>
          </a:p>
        </p:txBody>
      </p:sp>
      <p:sp>
        <p:nvSpPr>
          <p:cNvPr id="9" name="Text 6"/>
          <p:cNvSpPr txBox="1"/>
          <p:nvPr/>
        </p:nvSpPr>
        <p:spPr>
          <a:xfrm>
            <a:off x="868680" y="2770632"/>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kind=trace.SpanKind.CLIENT,</a:t>
            </a:r>
            <a:endParaRPr lang="en-US" sz="1200" dirty="0"/>
          </a:p>
        </p:txBody>
      </p:sp>
      <p:sp>
        <p:nvSpPr>
          <p:cNvPr id="10" name="Text 7"/>
          <p:cNvSpPr txBox="1"/>
          <p:nvPr/>
        </p:nvSpPr>
        <p:spPr>
          <a:xfrm>
            <a:off x="868680" y="3035808"/>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attributes={</a:t>
            </a:r>
            <a:endParaRPr lang="en-US" sz="1200" dirty="0"/>
          </a:p>
        </p:txBody>
      </p:sp>
      <p:sp>
        <p:nvSpPr>
          <p:cNvPr id="11" name="Text 8"/>
          <p:cNvSpPr txBox="1"/>
          <p:nvPr/>
        </p:nvSpPr>
        <p:spPr>
          <a:xfrm>
            <a:off x="868680" y="3300984"/>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"db.system": "mssql",</a:t>
            </a:r>
            <a:endParaRPr lang="en-US" sz="1200" dirty="0"/>
          </a:p>
        </p:txBody>
      </p:sp>
      <p:sp>
        <p:nvSpPr>
          <p:cNvPr id="12" name="Text 9"/>
          <p:cNvSpPr txBox="1"/>
          <p:nvPr/>
        </p:nvSpPr>
        <p:spPr>
          <a:xfrm>
            <a:off x="868680" y="3566160"/>
            <a:ext cx="5394960" cy="246888"/>
          </a:xfrm>
          <a:prstGeom prst="rect">
            <a:avLst/>
          </a:prstGeom>
          <a:noFill/>
          <a:ln/>
        </p:spPr>
        <p:txBody>
          <a:bodyPr wrap="square" lIns="0" tIns="0" rIns="0" bIns="0" rtlCol="0" anchor="ctr"/>
          <a:lstStyle/>
          <a:p>
            <a:pPr marL="0" indent="0">
              <a:buNone/>
            </a:pPr>
            <a:r>
              <a:rPr lang="en-US" sz="1200" dirty="0">
                <a:solidFill>
                  <a:srgbClr val="46B98A"/>
                </a:solidFill>
                <a:latin typeface="Courier New" pitchFamily="34" charset="0"/>
                <a:ea typeface="Courier New" pitchFamily="34" charset="-122"/>
                <a:cs typeface="Courier New" pitchFamily="34" charset="-120"/>
              </a:rPr>
              <a:t>        "server.address": "sql-prod-03",</a:t>
            </a:r>
            <a:endParaRPr lang="en-US" sz="1200" dirty="0"/>
          </a:p>
        </p:txBody>
      </p:sp>
      <p:sp>
        <p:nvSpPr>
          <p:cNvPr id="13" name="Text 10"/>
          <p:cNvSpPr txBox="1"/>
          <p:nvPr/>
        </p:nvSpPr>
        <p:spPr>
          <a:xfrm>
            <a:off x="868680" y="3831336"/>
            <a:ext cx="5394960" cy="246888"/>
          </a:xfrm>
          <a:prstGeom prst="rect">
            <a:avLst/>
          </a:prstGeom>
          <a:noFill/>
          <a:ln/>
        </p:spPr>
        <p:txBody>
          <a:bodyPr wrap="square" lIns="0" tIns="0" rIns="0" bIns="0" rtlCol="0" anchor="ctr"/>
          <a:lstStyle/>
          <a:p>
            <a:pPr marL="0" indent="0">
              <a:buNone/>
            </a:pPr>
            <a:r>
              <a:rPr lang="en-US" sz="1200" dirty="0">
                <a:solidFill>
                  <a:srgbClr val="8FA3B8"/>
                </a:solidFill>
                <a:latin typeface="Courier New" pitchFamily="34" charset="0"/>
                <a:ea typeface="Courier New" pitchFamily="34" charset="-122"/>
                <a:cs typeface="Courier New" pitchFamily="34" charset="-120"/>
              </a:rPr>
              <a:t>    },</a:t>
            </a:r>
            <a:endParaRPr lang="en-US" sz="1200" dirty="0"/>
          </a:p>
        </p:txBody>
      </p:sp>
      <p:sp>
        <p:nvSpPr>
          <p:cNvPr id="14" name="Text 11"/>
          <p:cNvSpPr txBox="1"/>
          <p:nvPr/>
        </p:nvSpPr>
        <p:spPr>
          <a:xfrm>
            <a:off x="868680" y="4096512"/>
            <a:ext cx="5394960" cy="246888"/>
          </a:xfrm>
          <a:prstGeom prst="rect">
            <a:avLst/>
          </a:prstGeom>
          <a:noFill/>
          <a:ln/>
        </p:spPr>
        <p:txBody>
          <a:bodyPr wrap="square" lIns="0" tIns="0" rIns="0" bIns="0" rtlCol="0" anchor="ctr"/>
          <a:lstStyle/>
          <a:p>
            <a:pPr marL="0" indent="0">
              <a:buNone/>
            </a:pPr>
            <a:r>
              <a:rPr lang="en-US" sz="1200" dirty="0">
                <a:solidFill>
                  <a:srgbClr val="E9EFF6"/>
                </a:solidFill>
                <a:latin typeface="Courier New" pitchFamily="34" charset="0"/>
                <a:ea typeface="Courier New" pitchFamily="34" charset="-122"/>
                <a:cs typeface="Courier New" pitchFamily="34" charset="-120"/>
              </a:rPr>
              <a:t>):</a:t>
            </a:r>
            <a:endParaRPr lang="en-US" sz="1200" dirty="0"/>
          </a:p>
        </p:txBody>
      </p:sp>
      <p:sp>
        <p:nvSpPr>
          <p:cNvPr id="15" name="Shape 12"/>
          <p:cNvSpPr/>
          <p:nvPr/>
        </p:nvSpPr>
        <p:spPr>
          <a:xfrm>
            <a:off x="6903720" y="1783080"/>
            <a:ext cx="4709160" cy="2834640"/>
          </a:xfrm>
          <a:prstGeom prst="roundRect">
            <a:avLst>
              <a:gd name="adj" fmla="val 1935"/>
            </a:avLst>
          </a:prstGeom>
          <a:solidFill>
            <a:srgbClr val="223140"/>
          </a:solidFill>
          <a:ln/>
        </p:spPr>
        <p:txBody>
          <a:bodyPr/>
          <a:lstStyle/>
          <a:p>
            <a:endParaRPr lang="en-US"/>
          </a:p>
        </p:txBody>
      </p:sp>
      <p:sp>
        <p:nvSpPr>
          <p:cNvPr id="16" name="Text 13"/>
          <p:cNvSpPr txBox="1"/>
          <p:nvPr/>
        </p:nvSpPr>
        <p:spPr>
          <a:xfrm>
            <a:off x="7178040" y="1965960"/>
            <a:ext cx="4206240" cy="365760"/>
          </a:xfrm>
          <a:prstGeom prst="rect">
            <a:avLst/>
          </a:prstGeom>
          <a:noFill/>
          <a:ln/>
        </p:spPr>
        <p:txBody>
          <a:bodyPr wrap="square" lIns="0" tIns="0" rIns="0" bIns="0" rtlCol="0" anchor="ctr"/>
          <a:lstStyle/>
          <a:p>
            <a:pPr marL="0" indent="0">
              <a:buNone/>
            </a:pPr>
            <a:r>
              <a:rPr lang="en-US" sz="1900" b="1" dirty="0">
                <a:solidFill>
                  <a:srgbClr val="E9EFF6"/>
                </a:solidFill>
                <a:latin typeface="Calibri" pitchFamily="34" charset="0"/>
                <a:ea typeface="Calibri" pitchFamily="34" charset="-122"/>
                <a:cs typeface="Calibri" pitchFamily="34" charset="-120"/>
              </a:rPr>
              <a:t>What that buys</a:t>
            </a:r>
            <a:endParaRPr lang="en-US" sz="1900" dirty="0"/>
          </a:p>
        </p:txBody>
      </p:sp>
      <p:sp>
        <p:nvSpPr>
          <p:cNvPr id="17" name="Text 14"/>
          <p:cNvSpPr txBox="1"/>
          <p:nvPr/>
        </p:nvSpPr>
        <p:spPr>
          <a:xfrm>
            <a:off x="7223760" y="2468880"/>
            <a:ext cx="4114800" cy="192024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App Insights exports the dependency with Target = sql-prod-03</a:t>
            </a:r>
            <a:endParaRPr lang="en-US" sz="1400" dirty="0"/>
          </a:p>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The pipeline reads that as a host</a:t>
            </a:r>
            <a:endParaRPr lang="en-US" sz="1400" dirty="0"/>
          </a:p>
          <a:p>
            <a:pPr marL="342900" indent="-342900">
              <a:spcAft>
                <a:spcPts val="900"/>
              </a:spcAft>
              <a:buSzPct val="100000"/>
              <a:buChar char="•"/>
            </a:pPr>
            <a:r>
              <a:rPr lang="en-US" sz="1400" dirty="0">
                <a:solidFill>
                  <a:srgbClr val="8FA3B8"/>
                </a:solidFill>
                <a:latin typeface="Calibri" pitchFamily="34" charset="0"/>
                <a:ea typeface="Calibri" pitchFamily="34" charset="-122"/>
                <a:cs typeface="Calibri" pitchFamily="34" charset="-120"/>
              </a:rPr>
              <a:t>The app's failure joins the database's incident</a:t>
            </a:r>
            <a:endParaRPr lang="en-US" sz="1400" dirty="0"/>
          </a:p>
          <a:p>
            <a:pPr marL="342900" indent="-342900">
              <a:spcAft>
                <a:spcPts val="900"/>
              </a:spcAft>
              <a:buSzPct val="100000"/>
              <a:buChar char="•"/>
            </a:pPr>
            <a:r>
              <a:rPr lang="en-US" sz="1400" b="1" dirty="0">
                <a:solidFill>
                  <a:srgbClr val="46B98A"/>
                </a:solidFill>
                <a:latin typeface="Calibri" pitchFamily="34" charset="0"/>
                <a:ea typeface="Calibri" pitchFamily="34" charset="-122"/>
                <a:cs typeface="Calibri" pitchFamily="34" charset="-120"/>
              </a:rPr>
              <a:t>No model. No prompt. No tokens.</a:t>
            </a:r>
            <a:endParaRPr lang="en-US" sz="1400" dirty="0"/>
          </a:p>
        </p:txBody>
      </p:sp>
      <p:sp>
        <p:nvSpPr>
          <p:cNvPr id="18" name="Shape 15"/>
          <p:cNvSpPr/>
          <p:nvPr/>
        </p:nvSpPr>
        <p:spPr>
          <a:xfrm>
            <a:off x="594360" y="4846320"/>
            <a:ext cx="11018520" cy="914400"/>
          </a:xfrm>
          <a:prstGeom prst="roundRect">
            <a:avLst>
              <a:gd name="adj" fmla="val 6000"/>
            </a:avLst>
          </a:prstGeom>
          <a:solidFill>
            <a:srgbClr val="19242F"/>
          </a:solidFill>
          <a:ln/>
        </p:spPr>
        <p:txBody>
          <a:bodyPr/>
          <a:lstStyle/>
          <a:p>
            <a:endParaRPr lang="en-US"/>
          </a:p>
        </p:txBody>
      </p:sp>
      <p:sp>
        <p:nvSpPr>
          <p:cNvPr id="19" name="Text 16"/>
          <p:cNvSpPr txBox="1"/>
          <p:nvPr/>
        </p:nvSpPr>
        <p:spPr>
          <a:xfrm>
            <a:off x="868680" y="5074920"/>
            <a:ext cx="10424160" cy="502920"/>
          </a:xfrm>
          <a:prstGeom prst="rect">
            <a:avLst/>
          </a:prstGeom>
          <a:noFill/>
          <a:ln/>
        </p:spPr>
        <p:txBody>
          <a:bodyPr wrap="square" lIns="0" tIns="0" rIns="0" bIns="0" rtlCol="0" anchor="ctr"/>
          <a:lstStyle/>
          <a:p>
            <a:pPr marL="0" indent="0">
              <a:buNone/>
            </a:pPr>
            <a:r>
              <a:rPr lang="en-US" sz="1700" b="1" dirty="0">
                <a:solidFill>
                  <a:srgbClr val="46B98A"/>
                </a:solidFill>
                <a:latin typeface="Calibri" pitchFamily="34" charset="0"/>
                <a:ea typeface="Calibri" pitchFamily="34" charset="-122"/>
                <a:cs typeface="Calibri" pitchFamily="34" charset="-120"/>
              </a:rPr>
              <a:t>Instrument properly and you need less AI. </a:t>
            </a:r>
            <a:r>
              <a:rPr lang="en-US" sz="1700" dirty="0">
                <a:solidFill>
                  <a:srgbClr val="E9EFF6"/>
                </a:solidFill>
                <a:latin typeface="Calibri" pitchFamily="34" charset="0"/>
                <a:ea typeface="Calibri" pitchFamily="34" charset="-122"/>
                <a:cs typeface="Calibri" pitchFamily="34" charset="-120"/>
              </a:rPr>
              <a:t>Shared keys are earned by good telemetry. The model is for the link nothing emitted.</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2</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What two layers of arithmetic can do</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179 events collapse to 26 distinct symptoms, then 13 incidents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Four tools reporting sql-prod-03 arrive as one incident</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The laptop app sits inside it, because its span named the host</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And the room still cannot see the cause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LAYER THREE · WHERE THE MODEL EARNS IT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Some links only exist in the words</a:t>
            </a:r>
            <a:endParaRPr lang="en-US" sz="3600" dirty="0"/>
          </a:p>
        </p:txBody>
      </p:sp>
      <p:sp>
        <p:nvSpPr>
          <p:cNvPr id="5" name="Shape 2"/>
          <p:cNvSpPr/>
          <p:nvPr/>
        </p:nvSpPr>
        <p:spPr>
          <a:xfrm>
            <a:off x="594360" y="1828800"/>
            <a:ext cx="5257800" cy="1417320"/>
          </a:xfrm>
          <a:prstGeom prst="roundRect">
            <a:avLst>
              <a:gd name="adj" fmla="val 3871"/>
            </a:avLst>
          </a:prstGeom>
          <a:solidFill>
            <a:srgbClr val="19242F"/>
          </a:solidFill>
          <a:ln/>
        </p:spPr>
        <p:txBody>
          <a:bodyPr/>
          <a:lstStyle/>
          <a:p>
            <a:endParaRPr lang="en-US"/>
          </a:p>
        </p:txBody>
      </p:sp>
      <p:sp>
        <p:nvSpPr>
          <p:cNvPr id="6" name="Shape 3"/>
          <p:cNvSpPr/>
          <p:nvPr/>
        </p:nvSpPr>
        <p:spPr>
          <a:xfrm>
            <a:off x="868680" y="2084832"/>
            <a:ext cx="201168" cy="201168"/>
          </a:xfrm>
          <a:prstGeom prst="ellipse">
            <a:avLst/>
          </a:prstGeom>
          <a:solidFill>
            <a:srgbClr val="E8A33D"/>
          </a:solidFill>
          <a:ln/>
        </p:spPr>
        <p:txBody>
          <a:bodyPr/>
          <a:lstStyle/>
          <a:p>
            <a:endParaRPr lang="en-US"/>
          </a:p>
        </p:txBody>
      </p:sp>
      <p:sp>
        <p:nvSpPr>
          <p:cNvPr id="7" name="Text 4"/>
          <p:cNvSpPr txBox="1"/>
          <p:nvPr/>
        </p:nvSpPr>
        <p:spPr>
          <a:xfrm>
            <a:off x="1216152" y="1993392"/>
            <a:ext cx="4206240" cy="365760"/>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backup-01</a:t>
            </a:r>
            <a:endParaRPr lang="en-US" sz="1500" dirty="0"/>
          </a:p>
        </p:txBody>
      </p:sp>
      <p:sp>
        <p:nvSpPr>
          <p:cNvPr id="8" name="Text 5"/>
          <p:cNvSpPr txBox="1"/>
          <p:nvPr/>
        </p:nvSpPr>
        <p:spPr>
          <a:xfrm>
            <a:off x="868680" y="2450592"/>
            <a:ext cx="4709160" cy="640080"/>
          </a:xfrm>
          <a:prstGeom prst="rect">
            <a:avLst/>
          </a:prstGeom>
          <a:noFill/>
          <a:ln/>
        </p:spPr>
        <p:txBody>
          <a:bodyPr wrap="square" lIns="0" tIns="0" rIns="0" bIns="0" rtlCol="0" anchor="ctr"/>
          <a:lstStyle/>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"Nightly backup of sql-prod-03 still running,</a:t>
            </a:r>
            <a:endParaRPr lang="en-US" sz="1200" dirty="0"/>
          </a:p>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4 hours over window"</a:t>
            </a:r>
            <a:endParaRPr lang="en-US" sz="1200" dirty="0"/>
          </a:p>
        </p:txBody>
      </p:sp>
      <p:sp>
        <p:nvSpPr>
          <p:cNvPr id="9" name="Shape 6"/>
          <p:cNvSpPr/>
          <p:nvPr/>
        </p:nvSpPr>
        <p:spPr>
          <a:xfrm>
            <a:off x="6355080" y="1828800"/>
            <a:ext cx="5257800" cy="1417320"/>
          </a:xfrm>
          <a:prstGeom prst="roundRect">
            <a:avLst>
              <a:gd name="adj" fmla="val 3871"/>
            </a:avLst>
          </a:prstGeom>
          <a:solidFill>
            <a:srgbClr val="19242F"/>
          </a:solidFill>
          <a:ln/>
        </p:spPr>
        <p:txBody>
          <a:bodyPr/>
          <a:lstStyle/>
          <a:p>
            <a:endParaRPr lang="en-US"/>
          </a:p>
        </p:txBody>
      </p:sp>
      <p:sp>
        <p:nvSpPr>
          <p:cNvPr id="10" name="Shape 7"/>
          <p:cNvSpPr/>
          <p:nvPr/>
        </p:nvSpPr>
        <p:spPr>
          <a:xfrm>
            <a:off x="6629400" y="2084832"/>
            <a:ext cx="201168" cy="201168"/>
          </a:xfrm>
          <a:prstGeom prst="ellipse">
            <a:avLst/>
          </a:prstGeom>
          <a:solidFill>
            <a:srgbClr val="E0443E"/>
          </a:solidFill>
          <a:ln/>
        </p:spPr>
        <p:txBody>
          <a:bodyPr/>
          <a:lstStyle/>
          <a:p>
            <a:endParaRPr lang="en-US"/>
          </a:p>
        </p:txBody>
      </p:sp>
      <p:sp>
        <p:nvSpPr>
          <p:cNvPr id="11" name="Text 8"/>
          <p:cNvSpPr txBox="1"/>
          <p:nvPr/>
        </p:nvSpPr>
        <p:spPr>
          <a:xfrm>
            <a:off x="6976872" y="1993392"/>
            <a:ext cx="4206240" cy="365760"/>
          </a:xfrm>
          <a:prstGeom prst="rect">
            <a:avLst/>
          </a:prstGeom>
          <a:noFill/>
          <a:ln/>
        </p:spPr>
        <p:txBody>
          <a:bodyPr wrap="square" lIns="0" tIns="0" rIns="0" bIns="0" rtlCol="0" anchor="ctr"/>
          <a:lstStyle/>
          <a:p>
            <a:pPr marL="0" indent="0">
              <a:buNone/>
            </a:pPr>
            <a:r>
              <a:rPr lang="en-US" sz="1500" b="1" dirty="0">
                <a:solidFill>
                  <a:srgbClr val="E9EFF6"/>
                </a:solidFill>
                <a:latin typeface="Courier New" pitchFamily="34" charset="0"/>
                <a:ea typeface="Courier New" pitchFamily="34" charset="-122"/>
                <a:cs typeface="Courier New" pitchFamily="34" charset="-120"/>
              </a:rPr>
              <a:t>sql-prod-03</a:t>
            </a:r>
            <a:endParaRPr lang="en-US" sz="1500" dirty="0"/>
          </a:p>
        </p:txBody>
      </p:sp>
      <p:sp>
        <p:nvSpPr>
          <p:cNvPr id="12" name="Text 9"/>
          <p:cNvSpPr txBox="1"/>
          <p:nvPr/>
        </p:nvSpPr>
        <p:spPr>
          <a:xfrm>
            <a:off x="6629400" y="2450592"/>
            <a:ext cx="4709160" cy="640080"/>
          </a:xfrm>
          <a:prstGeom prst="rect">
            <a:avLst/>
          </a:prstGeom>
          <a:noFill/>
          <a:ln/>
        </p:spPr>
        <p:txBody>
          <a:bodyPr wrap="square" lIns="0" tIns="0" rIns="0" bIns="0" rtlCol="0" anchor="ctr"/>
          <a:lstStyle/>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"Disk read latency 480 ms, sustained"</a:t>
            </a:r>
            <a:endParaRPr lang="en-US" sz="1200" dirty="0"/>
          </a:p>
          <a:p>
            <a:pPr marL="0" indent="0">
              <a:lnSpc>
                <a:spcPts val="1800"/>
              </a:lnSpc>
              <a:buNone/>
            </a:pPr>
            <a:r>
              <a:rPr lang="en-US" sz="1200" dirty="0">
                <a:solidFill>
                  <a:srgbClr val="8FA3B8"/>
                </a:solidFill>
                <a:latin typeface="Courier New" pitchFamily="34" charset="0"/>
                <a:ea typeface="Courier New" pitchFamily="34" charset="-122"/>
                <a:cs typeface="Courier New" pitchFamily="34" charset="-120"/>
              </a:rPr>
              <a:t>"Lock wait 4400 ms - waiting on disk, not on a query"</a:t>
            </a:r>
            <a:endParaRPr lang="en-US" sz="1200" dirty="0"/>
          </a:p>
        </p:txBody>
      </p:sp>
      <p:sp>
        <p:nvSpPr>
          <p:cNvPr id="13" name="Text 10"/>
          <p:cNvSpPr txBox="1"/>
          <p:nvPr/>
        </p:nvSpPr>
        <p:spPr>
          <a:xfrm>
            <a:off x="594360" y="3474720"/>
            <a:ext cx="11018520" cy="365760"/>
          </a:xfrm>
          <a:prstGeom prst="rect">
            <a:avLst/>
          </a:prstGeom>
          <a:noFill/>
          <a:ln/>
        </p:spPr>
        <p:txBody>
          <a:bodyPr wrap="square" lIns="0" tIns="0" rIns="0" bIns="0" rtlCol="0" anchor="ctr"/>
          <a:lstStyle/>
          <a:p>
            <a:pPr marL="0" indent="0" algn="ctr">
              <a:buNone/>
            </a:pPr>
            <a:r>
              <a:rPr lang="en-US" sz="1700" b="1" dirty="0">
                <a:solidFill>
                  <a:srgbClr val="7C90A6"/>
                </a:solidFill>
                <a:latin typeface="Calibri" pitchFamily="34" charset="0"/>
                <a:ea typeface="Calibri" pitchFamily="34" charset="-122"/>
                <a:cs typeface="Calibri" pitchFamily="34" charset="-120"/>
              </a:rPr>
              <a:t>No shared host.  No shared resource.  No shared trace.  Nothing to match on.</a:t>
            </a:r>
            <a:endParaRPr lang="en-US" sz="1700" dirty="0"/>
          </a:p>
        </p:txBody>
      </p:sp>
      <p:sp>
        <p:nvSpPr>
          <p:cNvPr id="14" name="Shape 11"/>
          <p:cNvSpPr/>
          <p:nvPr/>
        </p:nvSpPr>
        <p:spPr>
          <a:xfrm>
            <a:off x="594360" y="4023360"/>
            <a:ext cx="11018520" cy="1737360"/>
          </a:xfrm>
          <a:prstGeom prst="roundRect">
            <a:avLst>
              <a:gd name="adj" fmla="val 3158"/>
            </a:avLst>
          </a:prstGeom>
          <a:solidFill>
            <a:srgbClr val="223140"/>
          </a:solidFill>
          <a:ln/>
        </p:spPr>
        <p:txBody>
          <a:bodyPr/>
          <a:lstStyle/>
          <a:p>
            <a:endParaRPr lang="en-US"/>
          </a:p>
        </p:txBody>
      </p:sp>
      <p:sp>
        <p:nvSpPr>
          <p:cNvPr id="15" name="Text 12"/>
          <p:cNvSpPr txBox="1"/>
          <p:nvPr/>
        </p:nvSpPr>
        <p:spPr>
          <a:xfrm>
            <a:off x="868680" y="4251960"/>
            <a:ext cx="10424160" cy="41148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The only thing connecting them is that one of them says the other one's name.</a:t>
            </a:r>
            <a:endParaRPr lang="en-US" sz="2000" dirty="0"/>
          </a:p>
        </p:txBody>
      </p:sp>
      <p:sp>
        <p:nvSpPr>
          <p:cNvPr id="16" name="Text 13"/>
          <p:cNvSpPr txBox="1"/>
          <p:nvPr/>
        </p:nvSpPr>
        <p:spPr>
          <a:xfrm>
            <a:off x="868680" y="4754880"/>
            <a:ext cx="10424160" cy="82296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That is a reading comprehension problem, not a data problem. It is the one part of this pipeline that could not be written as a rule - and the cause is a warning, on a host nobody was paging about, underneath twelve criticals.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THE EASY WAY TO LOOK CLEVER</a:t>
            </a:r>
            <a:endParaRPr lang="en-US" sz="1200" dirty="0"/>
          </a:p>
        </p:txBody>
      </p:sp>
      <p:sp>
        <p:nvSpPr>
          <p:cNvPr id="8" name="Text 5"/>
          <p:cNvSpPr txBox="1"/>
          <p:nvPr/>
        </p:nvSpPr>
        <p:spPr>
          <a:xfrm>
            <a:off x="594360" y="4956048"/>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Connecting everything is not correlation.</a:t>
            </a:r>
            <a:endParaRPr lang="en-US" sz="2700" dirty="0"/>
          </a:p>
        </p:txBody>
      </p:sp>
      <p:sp>
        <p:nvSpPr>
          <p:cNvPr id="9" name="Text 6"/>
          <p:cNvSpPr txBox="1"/>
          <p:nvPr/>
        </p:nvSpPr>
        <p:spPr>
          <a:xfrm>
            <a:off x="594360" y="5806440"/>
            <a:ext cx="11018520" cy="365760"/>
          </a:xfrm>
          <a:prstGeom prst="rect">
            <a:avLst/>
          </a:prstGeom>
          <a:noFill/>
          <a:ln/>
        </p:spPr>
        <p:txBody>
          <a:bodyPr wrap="square" lIns="0" tIns="0" rIns="0" bIns="0" rtlCol="0" anchor="ctr"/>
          <a:lstStyle/>
          <a:p>
            <a:pPr marL="0" indent="0" algn="ctr">
              <a:buNone/>
            </a:pPr>
            <a:r>
              <a:rPr lang="en-US" sz="1500" i="1" dirty="0">
                <a:solidFill>
                  <a:srgbClr val="8FA3B8"/>
                </a:solidFill>
                <a:latin typeface="Calibri" pitchFamily="34" charset="0"/>
                <a:ea typeface="Calibri" pitchFamily="34" charset="-122"/>
                <a:cs typeface="Calibri" pitchFamily="34" charset="-120"/>
              </a:rPr>
              <a:t>It is the failure mode that looks most like success.</a:t>
            </a:r>
            <a:endParaRPr lang="en-US" sz="1500" dirty="0"/>
          </a:p>
        </p:txBody>
      </p:sp>
      <p:pic>
        <p:nvPicPr>
          <p:cNvPr id="2" name="Picture 1" descr="Charlie Day GIFs | Tenor">
            <a:extLst>
              <a:ext uri="{FF2B5EF4-FFF2-40B4-BE49-F238E27FC236}">
                <a16:creationId xmlns:a16="http://schemas.microsoft.com/office/drawing/2014/main" id="{FB6B8DF2-FBB1-8AAD-2CCF-20EBED8C761D}"/>
              </a:ext>
            </a:extLst>
          </p:cNvPr>
          <p:cNvPicPr>
            <a:picLocks noChangeAspect="1"/>
          </p:cNvPicPr>
          <p:nvPr/>
        </p:nvPicPr>
        <p:blipFill>
          <a:blip r:embed="rId3"/>
          <a:stretch>
            <a:fillRect/>
          </a:stretch>
        </p:blipFill>
        <p:spPr>
          <a:xfrm>
            <a:off x="3110717" y="847169"/>
            <a:ext cx="6001426" cy="379608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200" normalizeH="0" baseline="0" noProof="0" dirty="0">
                <a:ln>
                  <a:noFill/>
                </a:ln>
                <a:solidFill>
                  <a:srgbClr val="E0443E"/>
                </a:solidFill>
                <a:effectLst/>
                <a:uLnTx/>
                <a:uFillTx/>
                <a:latin typeface="Calibri" pitchFamily="34" charset="0"/>
                <a:ea typeface="Calibri" pitchFamily="34" charset="-122"/>
                <a:cs typeface="Calibri" pitchFamily="34" charset="-120"/>
              </a:rPr>
              <a:t>AI.PSM1  ·  THE MODEL CALL IS 29 LINES OF 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E9EFF6"/>
                </a:solidFill>
                <a:effectLst/>
                <a:uLnTx/>
                <a:uFillTx/>
                <a:latin typeface="Calibri" pitchFamily="34" charset="0"/>
                <a:ea typeface="Calibri" pitchFamily="34" charset="-122"/>
                <a:cs typeface="Calibri" pitchFamily="34" charset="-120"/>
              </a:rPr>
              <a:t>Asking the model is the easy part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94360" y="1783080"/>
            <a:ext cx="11002975" cy="3575853"/>
          </a:xfrm>
          <a:prstGeom prst="roundRect">
            <a:avLst>
              <a:gd name="adj" fmla="val 1534"/>
            </a:avLst>
          </a:prstGeom>
          <a:solidFill>
            <a:srgbClr val="19242F"/>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txBox="1"/>
          <p:nvPr/>
        </p:nvSpPr>
        <p:spPr>
          <a:xfrm>
            <a:off x="914400" y="201168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$body =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914400" y="229935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messages =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txBox="1"/>
          <p:nvPr/>
        </p:nvSpPr>
        <p:spPr>
          <a:xfrm>
            <a:off x="914400" y="2587020"/>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 role = 'system'; content = $SystemPrompt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txBox="1"/>
          <p:nvPr/>
        </p:nvSpPr>
        <p:spPr>
          <a:xfrm>
            <a:off x="914400" y="287469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 role = 'user';   content = ($incidents | ConvertTo-Json -Depth 8)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txBox="1"/>
          <p:nvPr/>
        </p:nvSpPr>
        <p:spPr>
          <a:xfrm>
            <a:off x="914400" y="316236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8FA3B8"/>
                </a:solidFill>
                <a:effectLst/>
                <a:uLnTx/>
                <a:uFillTx/>
                <a:latin typeface="Courier New" pitchFamily="34" charset="0"/>
                <a:ea typeface="Courier New" pitchFamily="34" charset="-122"/>
                <a:cs typeface="Courier New" pitchFamily="34" charset="-120"/>
              </a:rPr>
              <a:t>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txBox="1"/>
          <p:nvPr/>
        </p:nvSpPr>
        <p:spPr>
          <a:xfrm>
            <a:off x="914400" y="345003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temperature     = 0                          # same events, same answer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txBox="1"/>
          <p:nvPr/>
        </p:nvSpPr>
        <p:spPr>
          <a:xfrm>
            <a:off x="914400" y="3737701"/>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8A33D"/>
                </a:solidFill>
                <a:effectLst/>
                <a:uLnTx/>
                <a:uFillTx/>
                <a:latin typeface="Courier New" pitchFamily="34" charset="0"/>
                <a:ea typeface="Courier New" pitchFamily="34" charset="-122"/>
                <a:cs typeface="Courier New" pitchFamily="34" charset="-120"/>
              </a:rPr>
              <a:t>    response_format = @{ type = 'json_object' }   # not prose, a contract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txBox="1"/>
          <p:nvPr/>
        </p:nvSpPr>
        <p:spPr>
          <a:xfrm>
            <a:off x="914400" y="402537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1"/>
          <p:cNvSpPr txBox="1"/>
          <p:nvPr/>
        </p:nvSpPr>
        <p:spPr>
          <a:xfrm>
            <a:off x="914400" y="431304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txBox="1"/>
          <p:nvPr/>
        </p:nvSpPr>
        <p:spPr>
          <a:xfrm>
            <a:off x="914400" y="460071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E9EFF6"/>
                </a:solidFill>
                <a:effectLst/>
                <a:uLnTx/>
                <a:uFillTx/>
                <a:latin typeface="Courier New" pitchFamily="34" charset="0"/>
                <a:ea typeface="Courier New" pitchFamily="34" charset="-122"/>
                <a:cs typeface="Courier New" pitchFamily="34" charset="-120"/>
              </a:rPr>
              <a:t>Invoke-RestMethod -Uri $uri -Method Post -Body ($body | ConvertTo-Json -Depth 10) `</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txBox="1"/>
          <p:nvPr/>
        </p:nvSpPr>
        <p:spPr>
          <a:xfrm>
            <a:off x="914400" y="4888382"/>
            <a:ext cx="10362895" cy="28767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46B98A"/>
                </a:solidFill>
                <a:effectLst/>
                <a:uLnTx/>
                <a:uFillTx/>
                <a:latin typeface="Courier New" pitchFamily="34" charset="0"/>
                <a:ea typeface="Courier New" pitchFamily="34" charset="-122"/>
                <a:cs typeface="Courier New" pitchFamily="34" charset="-120"/>
              </a:rPr>
              <a:t>    -Headers @{ Authorization = "Bearer $(Get-ResourceToken ...)" }  # managed identity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4"/>
          <p:cNvSpPr/>
          <p:nvPr/>
        </p:nvSpPr>
        <p:spPr>
          <a:xfrm>
            <a:off x="594360" y="5678973"/>
            <a:ext cx="11002975" cy="868680"/>
          </a:xfrm>
          <a:prstGeom prst="roundRect">
            <a:avLst>
              <a:gd name="adj" fmla="val 6316"/>
            </a:avLst>
          </a:prstGeom>
          <a:solidFill>
            <a:srgbClr val="22314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5"/>
          <p:cNvSpPr txBox="1"/>
          <p:nvPr/>
        </p:nvSpPr>
        <p:spPr>
          <a:xfrm>
            <a:off x="868680" y="5880141"/>
            <a:ext cx="10454335"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The prompt is 698 words. The code that sends it is 29 lines. </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E1621"/>
        </a:solidFill>
        <a:effectLst/>
      </p:bgPr>
    </p:bg>
    <p:spTree>
      <p:nvGrpSpPr>
        <p:cNvPr id="1" name=""/>
        <p:cNvGrpSpPr/>
        <p:nvPr/>
      </p:nvGrpSpPr>
      <p:grpSpPr>
        <a:xfrm>
          <a:off x="0" y="0"/>
          <a:ext cx="0" cy="0"/>
          <a:chOff x="0" y="0"/>
          <a:chExt cx="0" cy="0"/>
        </a:xfrm>
      </p:grpSpPr>
      <p:sp>
        <p:nvSpPr>
          <p:cNvPr id="3" name="Shape 0"/>
          <p:cNvSpPr/>
          <p:nvPr/>
        </p:nvSpPr>
        <p:spPr>
          <a:xfrm>
            <a:off x="0" y="0"/>
            <a:ext cx="12191695" cy="6858000"/>
          </a:xfrm>
          <a:prstGeom prst="rect">
            <a:avLst/>
          </a:prstGeom>
          <a:solidFill>
            <a:srgbClr val="15100C"/>
          </a:solidFill>
          <a:ln/>
        </p:spPr>
        <p:txBody>
          <a:bodyPr/>
          <a:lstStyle/>
          <a:p>
            <a:endParaRPr lang="en-US"/>
          </a:p>
        </p:txBody>
      </p:sp>
      <p:sp>
        <p:nvSpPr>
          <p:cNvPr id="4" name="Text 1"/>
          <p:cNvSpPr txBox="1"/>
          <p:nvPr/>
        </p:nvSpPr>
        <p:spPr>
          <a:xfrm>
            <a:off x="594360" y="2057400"/>
            <a:ext cx="5486400" cy="411480"/>
          </a:xfrm>
          <a:prstGeom prst="rect">
            <a:avLst/>
          </a:prstGeom>
          <a:noFill/>
          <a:ln/>
        </p:spPr>
        <p:txBody>
          <a:bodyPr wrap="square" lIns="0" tIns="0" rIns="0" bIns="0" rtlCol="0" anchor="ctr"/>
          <a:lstStyle/>
          <a:p>
            <a:pPr marL="0" indent="0">
              <a:buNone/>
            </a:pPr>
            <a:r>
              <a:rPr lang="en-US" sz="1600" b="1" kern="0" spc="500" dirty="0">
                <a:solidFill>
                  <a:srgbClr val="E8A33D"/>
                </a:solidFill>
                <a:latin typeface="Calibri" pitchFamily="34" charset="0"/>
                <a:ea typeface="Calibri" pitchFamily="34" charset="-122"/>
                <a:cs typeface="Calibri" pitchFamily="34" charset="-120"/>
              </a:rPr>
              <a:t>DEMO 3</a:t>
            </a:r>
            <a:endParaRPr lang="en-US" sz="1600" dirty="0"/>
          </a:p>
        </p:txBody>
      </p:sp>
      <p:sp>
        <p:nvSpPr>
          <p:cNvPr id="5" name="Text 2"/>
          <p:cNvSpPr txBox="1"/>
          <p:nvPr/>
        </p:nvSpPr>
        <p:spPr>
          <a:xfrm>
            <a:off x="594360" y="2514600"/>
            <a:ext cx="10515600" cy="91440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Ask the model</a:t>
            </a:r>
            <a:endParaRPr lang="en-US" sz="4200" dirty="0"/>
          </a:p>
        </p:txBody>
      </p:sp>
      <p:sp>
        <p:nvSpPr>
          <p:cNvPr id="6" name="Text 3"/>
          <p:cNvSpPr txBox="1"/>
          <p:nvPr/>
        </p:nvSpPr>
        <p:spPr>
          <a:xfrm>
            <a:off x="640080" y="3703320"/>
            <a:ext cx="9601200" cy="14630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One call, every open incident at once - grouping, cause, and the first action</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Two root causes found across thirteen incidents</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Five things it reviewed and deliberately left alone</a:t>
            </a:r>
            <a:endParaRPr lang="en-US" sz="1600" dirty="0"/>
          </a:p>
          <a:p>
            <a:pPr marL="342900" indent="-342900">
              <a:spcAft>
                <a:spcPts val="800"/>
              </a:spcAft>
              <a:buSzPct val="100000"/>
              <a:buChar char="•"/>
            </a:pPr>
            <a:r>
              <a:rPr lang="en-US" sz="1600" dirty="0">
                <a:solidFill>
                  <a:srgbClr val="8FA3B8"/>
                </a:solidFill>
                <a:latin typeface="Calibri" pitchFamily="34" charset="0"/>
                <a:ea typeface="Calibri" pitchFamily="34" charset="-122"/>
                <a:cs typeface="Calibri" pitchFamily="34" charset="-120"/>
              </a:rPr>
              <a:t>Roughly 3,500 tokens and about four seconds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THE CAUSE WAS A WARNING</a:t>
            </a:r>
            <a:endParaRPr lang="en-US" sz="1200" dirty="0"/>
          </a:p>
        </p:txBody>
      </p:sp>
      <p:sp>
        <p:nvSpPr>
          <p:cNvPr id="8" name="Text 5"/>
          <p:cNvSpPr txBox="1"/>
          <p:nvPr/>
        </p:nvSpPr>
        <p:spPr>
          <a:xfrm>
            <a:off x="594360" y="4956048"/>
            <a:ext cx="11018520" cy="868680"/>
          </a:xfrm>
          <a:prstGeom prst="rect">
            <a:avLst/>
          </a:prstGeom>
          <a:noFill/>
          <a:ln/>
        </p:spPr>
        <p:txBody>
          <a:bodyPr wrap="square" lIns="0" tIns="0" rIns="0" bIns="0" rtlCol="0" anchor="t"/>
          <a:lstStyle/>
          <a:p>
            <a:pPr marL="0" indent="0" algn="ctr">
              <a:buNone/>
            </a:pPr>
            <a:r>
              <a:rPr lang="en-US" sz="2700" b="1" dirty="0">
                <a:solidFill>
                  <a:srgbClr val="FFFFFF"/>
                </a:solidFill>
                <a:latin typeface="Calibri" pitchFamily="34" charset="0"/>
                <a:ea typeface="Calibri" pitchFamily="34" charset="-122"/>
                <a:cs typeface="Calibri" pitchFamily="34" charset="-120"/>
              </a:rPr>
              <a:t>The loudest thing is almost never the cause.</a:t>
            </a:r>
            <a:endParaRPr lang="en-US" sz="2700" dirty="0"/>
          </a:p>
        </p:txBody>
      </p:sp>
      <p:sp>
        <p:nvSpPr>
          <p:cNvPr id="9" name="Text 6"/>
          <p:cNvSpPr txBox="1"/>
          <p:nvPr/>
        </p:nvSpPr>
        <p:spPr>
          <a:xfrm>
            <a:off x="594360" y="5806440"/>
            <a:ext cx="11018520" cy="365760"/>
          </a:xfrm>
          <a:prstGeom prst="rect">
            <a:avLst/>
          </a:prstGeom>
          <a:noFill/>
          <a:ln/>
        </p:spPr>
        <p:txBody>
          <a:bodyPr wrap="square" lIns="0" tIns="0" rIns="0" bIns="0" rtlCol="0" anchor="ctr"/>
          <a:lstStyle/>
          <a:p>
            <a:pPr marL="0" indent="0" algn="ctr">
              <a:buNone/>
            </a:pPr>
            <a:r>
              <a:rPr lang="en-US" sz="1500" i="1" dirty="0">
                <a:solidFill>
                  <a:srgbClr val="8FA3B8"/>
                </a:solidFill>
                <a:latin typeface="Calibri" pitchFamily="34" charset="0"/>
                <a:ea typeface="Calibri" pitchFamily="34" charset="-122"/>
                <a:cs typeface="Calibri" pitchFamily="34" charset="-120"/>
              </a:rPr>
              <a:t>Twelve criticals. The answer was an amber warning nobody was paged for.</a:t>
            </a:r>
            <a:endParaRPr lang="en-US" sz="1500" dirty="0"/>
          </a:p>
        </p:txBody>
      </p:sp>
      <p:pic>
        <p:nvPicPr>
          <p:cNvPr id="2" name="Picture 1" descr="Image of - It's always the quiet ones. - You hound.">
            <a:extLst>
              <a:ext uri="{FF2B5EF4-FFF2-40B4-BE49-F238E27FC236}">
                <a16:creationId xmlns:a16="http://schemas.microsoft.com/office/drawing/2014/main" id="{A055C6F1-9FCC-D51A-3DF4-C9886B4F2C36}"/>
              </a:ext>
            </a:extLst>
          </p:cNvPr>
          <p:cNvPicPr>
            <a:picLocks noChangeAspect="1"/>
          </p:cNvPicPr>
          <p:nvPr/>
        </p:nvPicPr>
        <p:blipFill>
          <a:blip r:embed="rId3"/>
          <a:stretch>
            <a:fillRect/>
          </a:stretch>
        </p:blipFill>
        <p:spPr>
          <a:xfrm>
            <a:off x="2692306" y="1516083"/>
            <a:ext cx="6626855" cy="278327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WHAT IT FOUND</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The chain, in the order it happened</a:t>
            </a:r>
            <a:endParaRPr lang="en-US" sz="3600" dirty="0"/>
          </a:p>
        </p:txBody>
      </p:sp>
      <p:sp>
        <p:nvSpPr>
          <p:cNvPr id="5" name="Shape 2"/>
          <p:cNvSpPr/>
          <p:nvPr/>
        </p:nvSpPr>
        <p:spPr>
          <a:xfrm>
            <a:off x="594360" y="1783080"/>
            <a:ext cx="11018520" cy="987552"/>
          </a:xfrm>
          <a:prstGeom prst="roundRect">
            <a:avLst>
              <a:gd name="adj" fmla="val 5556"/>
            </a:avLst>
          </a:prstGeom>
          <a:solidFill>
            <a:srgbClr val="19242F"/>
          </a:solidFill>
          <a:ln/>
        </p:spPr>
        <p:txBody>
          <a:bodyPr/>
          <a:lstStyle/>
          <a:p>
            <a:endParaRPr lang="en-US"/>
          </a:p>
        </p:txBody>
      </p:sp>
      <p:sp>
        <p:nvSpPr>
          <p:cNvPr id="6" name="Shape 3"/>
          <p:cNvSpPr/>
          <p:nvPr/>
        </p:nvSpPr>
        <p:spPr>
          <a:xfrm>
            <a:off x="868680" y="2039112"/>
            <a:ext cx="502920" cy="502920"/>
          </a:xfrm>
          <a:prstGeom prst="ellipse">
            <a:avLst/>
          </a:prstGeom>
          <a:solidFill>
            <a:srgbClr val="E8A33D"/>
          </a:solidFill>
          <a:ln/>
        </p:spPr>
        <p:txBody>
          <a:bodyPr/>
          <a:lstStyle/>
          <a:p>
            <a:endParaRPr lang="en-US"/>
          </a:p>
        </p:txBody>
      </p:sp>
      <p:sp>
        <p:nvSpPr>
          <p:cNvPr id="7" name="Text 4"/>
          <p:cNvSpPr txBox="1"/>
          <p:nvPr/>
        </p:nvSpPr>
        <p:spPr>
          <a:xfrm>
            <a:off x="868680" y="2039112"/>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554480" y="1965960"/>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backup-01</a:t>
            </a:r>
            <a:endParaRPr lang="en-US" sz="1600" dirty="0"/>
          </a:p>
        </p:txBody>
      </p:sp>
      <p:sp>
        <p:nvSpPr>
          <p:cNvPr id="9" name="Text 6"/>
          <p:cNvSpPr txBox="1"/>
          <p:nvPr/>
        </p:nvSpPr>
        <p:spPr>
          <a:xfrm>
            <a:off x="1554480" y="2350008"/>
            <a:ext cx="219456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warning</a:t>
            </a:r>
            <a:endParaRPr lang="en-US" sz="1300" dirty="0"/>
          </a:p>
        </p:txBody>
      </p:sp>
      <p:sp>
        <p:nvSpPr>
          <p:cNvPr id="10" name="Text 7"/>
          <p:cNvSpPr txBox="1"/>
          <p:nvPr/>
        </p:nvSpPr>
        <p:spPr>
          <a:xfrm>
            <a:off x="3886200" y="2084832"/>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Nightly backup overran its window and is still reading sql-prod-03 at 11 MB/s</a:t>
            </a:r>
            <a:endParaRPr lang="en-US" sz="1500" dirty="0"/>
          </a:p>
        </p:txBody>
      </p:sp>
      <p:sp>
        <p:nvSpPr>
          <p:cNvPr id="11" name="Shape 8"/>
          <p:cNvSpPr/>
          <p:nvPr/>
        </p:nvSpPr>
        <p:spPr>
          <a:xfrm rot="10800000">
            <a:off x="1042416" y="2825496"/>
            <a:ext cx="155448" cy="118872"/>
          </a:xfrm>
          <a:prstGeom prst="triangle">
            <a:avLst/>
          </a:prstGeom>
          <a:solidFill>
            <a:srgbClr val="7C90A6"/>
          </a:solidFill>
          <a:ln/>
        </p:spPr>
        <p:txBody>
          <a:bodyPr/>
          <a:lstStyle/>
          <a:p>
            <a:endParaRPr lang="en-US"/>
          </a:p>
        </p:txBody>
      </p:sp>
      <p:sp>
        <p:nvSpPr>
          <p:cNvPr id="12" name="Shape 9"/>
          <p:cNvSpPr/>
          <p:nvPr/>
        </p:nvSpPr>
        <p:spPr>
          <a:xfrm>
            <a:off x="594360" y="2990088"/>
            <a:ext cx="11018520" cy="987552"/>
          </a:xfrm>
          <a:prstGeom prst="roundRect">
            <a:avLst>
              <a:gd name="adj" fmla="val 5556"/>
            </a:avLst>
          </a:prstGeom>
          <a:solidFill>
            <a:srgbClr val="19242F"/>
          </a:solidFill>
          <a:ln/>
        </p:spPr>
        <p:txBody>
          <a:bodyPr/>
          <a:lstStyle/>
          <a:p>
            <a:endParaRPr lang="en-US"/>
          </a:p>
        </p:txBody>
      </p:sp>
      <p:sp>
        <p:nvSpPr>
          <p:cNvPr id="13" name="Shape 10"/>
          <p:cNvSpPr/>
          <p:nvPr/>
        </p:nvSpPr>
        <p:spPr>
          <a:xfrm>
            <a:off x="868680" y="3246120"/>
            <a:ext cx="502920" cy="502920"/>
          </a:xfrm>
          <a:prstGeom prst="ellipse">
            <a:avLst/>
          </a:prstGeom>
          <a:solidFill>
            <a:srgbClr val="E0443E"/>
          </a:solidFill>
          <a:ln/>
        </p:spPr>
        <p:txBody>
          <a:bodyPr/>
          <a:lstStyle/>
          <a:p>
            <a:endParaRPr lang="en-US"/>
          </a:p>
        </p:txBody>
      </p:sp>
      <p:sp>
        <p:nvSpPr>
          <p:cNvPr id="14" name="Text 11"/>
          <p:cNvSpPr txBox="1"/>
          <p:nvPr/>
        </p:nvSpPr>
        <p:spPr>
          <a:xfrm>
            <a:off x="868680" y="324612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1554480" y="3172968"/>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sql-prod-03</a:t>
            </a:r>
            <a:endParaRPr lang="en-US" sz="1600" dirty="0"/>
          </a:p>
        </p:txBody>
      </p:sp>
      <p:sp>
        <p:nvSpPr>
          <p:cNvPr id="16" name="Text 13"/>
          <p:cNvSpPr txBox="1"/>
          <p:nvPr/>
        </p:nvSpPr>
        <p:spPr>
          <a:xfrm>
            <a:off x="1554480" y="3557016"/>
            <a:ext cx="2194560" cy="292608"/>
          </a:xfrm>
          <a:prstGeom prst="rect">
            <a:avLst/>
          </a:prstGeom>
          <a:noFill/>
          <a:ln/>
        </p:spPr>
        <p:txBody>
          <a:bodyPr wrap="square" lIns="0" tIns="0" rIns="0" bIns="0" rtlCol="0" anchor="ctr"/>
          <a:lstStyle/>
          <a:p>
            <a:pPr marL="0" indent="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17" name="Text 14"/>
          <p:cNvSpPr txBox="1"/>
          <p:nvPr/>
        </p:nvSpPr>
        <p:spPr>
          <a:xfrm>
            <a:off x="3886200" y="3291840"/>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Disk saturated, lock waits climbing, connection pool exhausted at 100 of 100</a:t>
            </a:r>
            <a:endParaRPr lang="en-US" sz="1500" dirty="0"/>
          </a:p>
        </p:txBody>
      </p:sp>
      <p:sp>
        <p:nvSpPr>
          <p:cNvPr id="18" name="Shape 15"/>
          <p:cNvSpPr/>
          <p:nvPr/>
        </p:nvSpPr>
        <p:spPr>
          <a:xfrm rot="10800000">
            <a:off x="1042416" y="4032504"/>
            <a:ext cx="155448" cy="118872"/>
          </a:xfrm>
          <a:prstGeom prst="triangle">
            <a:avLst/>
          </a:prstGeom>
          <a:solidFill>
            <a:srgbClr val="7C90A6"/>
          </a:solidFill>
          <a:ln/>
        </p:spPr>
        <p:txBody>
          <a:bodyPr/>
          <a:lstStyle/>
          <a:p>
            <a:endParaRPr lang="en-US"/>
          </a:p>
        </p:txBody>
      </p:sp>
      <p:sp>
        <p:nvSpPr>
          <p:cNvPr id="19" name="Shape 16"/>
          <p:cNvSpPr/>
          <p:nvPr/>
        </p:nvSpPr>
        <p:spPr>
          <a:xfrm>
            <a:off x="594360" y="4197096"/>
            <a:ext cx="11018520" cy="987552"/>
          </a:xfrm>
          <a:prstGeom prst="roundRect">
            <a:avLst>
              <a:gd name="adj" fmla="val 5556"/>
            </a:avLst>
          </a:prstGeom>
          <a:solidFill>
            <a:srgbClr val="19242F"/>
          </a:solidFill>
          <a:ln/>
        </p:spPr>
        <p:txBody>
          <a:bodyPr/>
          <a:lstStyle/>
          <a:p>
            <a:endParaRPr lang="en-US"/>
          </a:p>
        </p:txBody>
      </p:sp>
      <p:sp>
        <p:nvSpPr>
          <p:cNvPr id="20" name="Shape 17"/>
          <p:cNvSpPr/>
          <p:nvPr/>
        </p:nvSpPr>
        <p:spPr>
          <a:xfrm>
            <a:off x="868680" y="4453128"/>
            <a:ext cx="502920" cy="502920"/>
          </a:xfrm>
          <a:prstGeom prst="ellipse">
            <a:avLst/>
          </a:prstGeom>
          <a:solidFill>
            <a:srgbClr val="E0443E"/>
          </a:solidFill>
          <a:ln/>
        </p:spPr>
        <p:txBody>
          <a:bodyPr/>
          <a:lstStyle/>
          <a:p>
            <a:endParaRPr lang="en-US"/>
          </a:p>
        </p:txBody>
      </p:sp>
      <p:sp>
        <p:nvSpPr>
          <p:cNvPr id="21" name="Text 18"/>
          <p:cNvSpPr txBox="1"/>
          <p:nvPr/>
        </p:nvSpPr>
        <p:spPr>
          <a:xfrm>
            <a:off x="868680" y="4453128"/>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22" name="Text 19"/>
          <p:cNvSpPr txBox="1"/>
          <p:nvPr/>
        </p:nvSpPr>
        <p:spPr>
          <a:xfrm>
            <a:off x="1554480" y="4379976"/>
            <a:ext cx="2194560" cy="365760"/>
          </a:xfrm>
          <a:prstGeom prst="rect">
            <a:avLst/>
          </a:prstGeom>
          <a:noFill/>
          <a:ln/>
        </p:spPr>
        <p:txBody>
          <a:bodyPr wrap="square" lIns="0" tIns="0" rIns="0" bIns="0" rtlCol="0" anchor="ctr"/>
          <a:lstStyle/>
          <a:p>
            <a:pPr marL="0" indent="0">
              <a:buNone/>
            </a:pPr>
            <a:r>
              <a:rPr lang="en-US" sz="1600" b="1" dirty="0">
                <a:solidFill>
                  <a:srgbClr val="E9EFF6"/>
                </a:solidFill>
                <a:latin typeface="Courier New" pitchFamily="34" charset="0"/>
                <a:ea typeface="Courier New" pitchFamily="34" charset="-122"/>
                <a:cs typeface="Courier New" pitchFamily="34" charset="-120"/>
              </a:rPr>
              <a:t>app-web-01</a:t>
            </a:r>
            <a:endParaRPr lang="en-US" sz="1600" dirty="0"/>
          </a:p>
        </p:txBody>
      </p:sp>
      <p:sp>
        <p:nvSpPr>
          <p:cNvPr id="23" name="Text 20"/>
          <p:cNvSpPr txBox="1"/>
          <p:nvPr/>
        </p:nvSpPr>
        <p:spPr>
          <a:xfrm>
            <a:off x="1554480" y="4764024"/>
            <a:ext cx="2194560" cy="292608"/>
          </a:xfrm>
          <a:prstGeom prst="rect">
            <a:avLst/>
          </a:prstGeom>
          <a:noFill/>
          <a:ln/>
        </p:spPr>
        <p:txBody>
          <a:bodyPr wrap="square" lIns="0" tIns="0" rIns="0" bIns="0" rtlCol="0" anchor="ctr"/>
          <a:lstStyle/>
          <a:p>
            <a:pPr marL="0" indent="0">
              <a:buNone/>
            </a:pPr>
            <a:r>
              <a:rPr lang="en-US" sz="1300" b="1" dirty="0">
                <a:solidFill>
                  <a:srgbClr val="E0443E"/>
                </a:solidFill>
                <a:latin typeface="Calibri" pitchFamily="34" charset="0"/>
                <a:ea typeface="Calibri" pitchFamily="34" charset="-122"/>
                <a:cs typeface="Calibri" pitchFamily="34" charset="-120"/>
              </a:rPr>
              <a:t>critical</a:t>
            </a:r>
            <a:endParaRPr lang="en-US" sz="1300" dirty="0"/>
          </a:p>
        </p:txBody>
      </p:sp>
      <p:sp>
        <p:nvSpPr>
          <p:cNvPr id="24" name="Text 21"/>
          <p:cNvSpPr txBox="1"/>
          <p:nvPr/>
        </p:nvSpPr>
        <p:spPr>
          <a:xfrm>
            <a:off x="3886200" y="4498848"/>
            <a:ext cx="7498080" cy="457200"/>
          </a:xfrm>
          <a:prstGeom prst="rect">
            <a:avLst/>
          </a:prstGeom>
          <a:noFill/>
          <a:ln/>
        </p:spPr>
        <p:txBody>
          <a:bodyPr wrap="square" lIns="0" tIns="0" rIns="0" bIns="0" rtlCol="0" anchor="ctr"/>
          <a:lstStyle/>
          <a:p>
            <a:pPr marL="0" indent="0">
              <a:buNone/>
            </a:pPr>
            <a:r>
              <a:rPr lang="en-US" sz="1500" dirty="0">
                <a:solidFill>
                  <a:srgbClr val="8FA3B8"/>
                </a:solidFill>
                <a:latin typeface="Calibri" pitchFamily="34" charset="0"/>
                <a:ea typeface="Calibri" pitchFamily="34" charset="-122"/>
                <a:cs typeface="Calibri" pitchFamily="34" charset="-120"/>
              </a:rPr>
              <a:t>Checkout failing 27% of requests - timeouts, not application errors</a:t>
            </a:r>
            <a:endParaRPr lang="en-US" sz="1500" dirty="0"/>
          </a:p>
        </p:txBody>
      </p:sp>
      <p:sp>
        <p:nvSpPr>
          <p:cNvPr id="25" name="Shape 22"/>
          <p:cNvSpPr/>
          <p:nvPr/>
        </p:nvSpPr>
        <p:spPr>
          <a:xfrm>
            <a:off x="594360" y="5349240"/>
            <a:ext cx="11018520" cy="868680"/>
          </a:xfrm>
          <a:prstGeom prst="roundRect">
            <a:avLst>
              <a:gd name="adj" fmla="val 6316"/>
            </a:avLst>
          </a:prstGeom>
          <a:solidFill>
            <a:srgbClr val="223140"/>
          </a:solidFill>
          <a:ln/>
        </p:spPr>
        <p:txBody>
          <a:bodyPr/>
          <a:lstStyle/>
          <a:p>
            <a:endParaRPr lang="en-US"/>
          </a:p>
        </p:txBody>
      </p:sp>
      <p:sp>
        <p:nvSpPr>
          <p:cNvPr id="26" name="Text 23"/>
          <p:cNvSpPr txBox="1"/>
          <p:nvPr/>
        </p:nvSpPr>
        <p:spPr>
          <a:xfrm>
            <a:off x="868680" y="5559552"/>
            <a:ext cx="10424160" cy="457200"/>
          </a:xfrm>
          <a:prstGeom prst="rect">
            <a:avLst/>
          </a:prstGeom>
          <a:noFill/>
          <a:ln/>
        </p:spPr>
        <p:txBody>
          <a:bodyPr wrap="square" lIns="0" tIns="0" rIns="0" bIns="0" rtlCol="0" anchor="ctr"/>
          <a:lstStyle/>
          <a:p>
            <a:pPr marL="0" indent="0">
              <a:buNone/>
            </a:pPr>
            <a:r>
              <a:rPr lang="en-US" sz="1600" b="1" dirty="0">
                <a:solidFill>
                  <a:srgbClr val="46B98A"/>
                </a:solidFill>
                <a:latin typeface="Calibri" pitchFamily="34" charset="0"/>
                <a:ea typeface="Calibri" pitchFamily="34" charset="-122"/>
                <a:cs typeface="Calibri" pitchFamily="34" charset="-120"/>
              </a:rPr>
              <a:t>DO NOW  </a:t>
            </a:r>
            <a:r>
              <a:rPr lang="en-US" sz="1600" dirty="0">
                <a:solidFill>
                  <a:srgbClr val="E9EFF6"/>
                </a:solidFill>
                <a:latin typeface="Calibri" pitchFamily="34" charset="0"/>
                <a:ea typeface="Calibri" pitchFamily="34" charset="-122"/>
                <a:cs typeface="Calibri" pitchFamily="34" charset="-120"/>
              </a:rPr>
              <a:t>Kill job SQL-NIGHTLY-FULL on backup-01 to relieve I/O pressure on sql-prod-03, then recycle the application pool.</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0443E"/>
                </a:solidFill>
                <a:latin typeface="Calibri" pitchFamily="34" charset="0"/>
                <a:ea typeface="Calibri" pitchFamily="34" charset="-122"/>
                <a:cs typeface="Calibri" pitchFamily="34" charset="-120"/>
              </a:rPr>
              <a:t>THE HONEST PART</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Where this falls over</a:t>
            </a:r>
            <a:endParaRPr lang="en-US" sz="3600" dirty="0"/>
          </a:p>
        </p:txBody>
      </p:sp>
      <p:sp>
        <p:nvSpPr>
          <p:cNvPr id="5" name="Shape 2"/>
          <p:cNvSpPr/>
          <p:nvPr/>
        </p:nvSpPr>
        <p:spPr>
          <a:xfrm>
            <a:off x="594360" y="1783080"/>
            <a:ext cx="5257800" cy="3977640"/>
          </a:xfrm>
          <a:prstGeom prst="roundRect">
            <a:avLst>
              <a:gd name="adj" fmla="val 1379"/>
            </a:avLst>
          </a:prstGeom>
          <a:solidFill>
            <a:srgbClr val="19242F"/>
          </a:solidFill>
          <a:ln/>
        </p:spPr>
        <p:txBody>
          <a:bodyPr/>
          <a:lstStyle/>
          <a:p>
            <a:endParaRPr lang="en-US"/>
          </a:p>
        </p:txBody>
      </p:sp>
      <p:sp>
        <p:nvSpPr>
          <p:cNvPr id="6" name="Text 3"/>
          <p:cNvSpPr txBox="1"/>
          <p:nvPr/>
        </p:nvSpPr>
        <p:spPr>
          <a:xfrm>
            <a:off x="914400" y="2011680"/>
            <a:ext cx="4617720" cy="365760"/>
          </a:xfrm>
          <a:prstGeom prst="rect">
            <a:avLst/>
          </a:prstGeom>
          <a:noFill/>
          <a:ln/>
        </p:spPr>
        <p:txBody>
          <a:bodyPr wrap="square" lIns="0" tIns="0" rIns="0" bIns="0" rtlCol="0" anchor="ctr"/>
          <a:lstStyle/>
          <a:p>
            <a:pPr marL="0" indent="0">
              <a:buNone/>
            </a:pPr>
            <a:r>
              <a:rPr lang="en-US" sz="2100" b="1" dirty="0">
                <a:solidFill>
                  <a:srgbClr val="E0443E"/>
                </a:solidFill>
                <a:latin typeface="Calibri" pitchFamily="34" charset="0"/>
                <a:ea typeface="Calibri" pitchFamily="34" charset="-122"/>
                <a:cs typeface="Calibri" pitchFamily="34" charset="-120"/>
              </a:rPr>
              <a:t>What it does not do</a:t>
            </a:r>
            <a:endParaRPr lang="en-US" sz="2100" dirty="0"/>
          </a:p>
        </p:txBody>
      </p:sp>
      <p:sp>
        <p:nvSpPr>
          <p:cNvPr id="7" name="Text 4"/>
          <p:cNvSpPr txBox="1"/>
          <p:nvPr/>
        </p:nvSpPr>
        <p:spPr>
          <a:xfrm>
            <a:off x="960120" y="2395728"/>
            <a:ext cx="4572000" cy="30175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No ticketing, no paging, no auto-remediation</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One window at a time - no history, no trends</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A model can be confidently wrong, and will be</a:t>
            </a:r>
            <a:endParaRPr lang="en-US" sz="1500" dirty="0"/>
          </a:p>
          <a:p>
            <a:pPr marL="342900" indent="-342900">
              <a:spcAft>
                <a:spcPts val="1000"/>
              </a:spcAft>
              <a:buSzPct val="100000"/>
              <a:buChar char="•"/>
            </a:pPr>
            <a:r>
              <a:rPr lang="en-US" sz="1500" dirty="0">
                <a:solidFill>
                  <a:srgbClr val="8FA3B8"/>
                </a:solidFill>
                <a:latin typeface="Calibri" pitchFamily="34" charset="0"/>
                <a:ea typeface="Calibri" pitchFamily="34" charset="-122"/>
                <a:cs typeface="Calibri" pitchFamily="34" charset="-120"/>
              </a:rPr>
              <a:t>Same events, same answer only because temperature is zero</a:t>
            </a:r>
            <a:endParaRPr lang="en-US" sz="1500" dirty="0"/>
          </a:p>
        </p:txBody>
      </p:sp>
      <p:sp>
        <p:nvSpPr>
          <p:cNvPr id="8" name="Shape 5"/>
          <p:cNvSpPr/>
          <p:nvPr/>
        </p:nvSpPr>
        <p:spPr>
          <a:xfrm>
            <a:off x="6355080" y="1783080"/>
            <a:ext cx="5257800" cy="3977640"/>
          </a:xfrm>
          <a:prstGeom prst="roundRect">
            <a:avLst>
              <a:gd name="adj" fmla="val 1379"/>
            </a:avLst>
          </a:prstGeom>
          <a:solidFill>
            <a:srgbClr val="19242F"/>
          </a:solidFill>
          <a:ln/>
        </p:spPr>
        <p:txBody>
          <a:bodyPr/>
          <a:lstStyle/>
          <a:p>
            <a:endParaRPr lang="en-US"/>
          </a:p>
        </p:txBody>
      </p:sp>
      <p:sp>
        <p:nvSpPr>
          <p:cNvPr id="9" name="Text 6"/>
          <p:cNvSpPr txBox="1"/>
          <p:nvPr/>
        </p:nvSpPr>
        <p:spPr>
          <a:xfrm>
            <a:off x="6675120" y="2011680"/>
            <a:ext cx="4663440" cy="365760"/>
          </a:xfrm>
          <a:prstGeom prst="rect">
            <a:avLst/>
          </a:prstGeom>
          <a:noFill/>
          <a:ln/>
        </p:spPr>
        <p:txBody>
          <a:bodyPr wrap="square" lIns="0" tIns="0" rIns="0" bIns="0" rtlCol="0" anchor="ctr"/>
          <a:lstStyle/>
          <a:p>
            <a:pPr marL="0" indent="0">
              <a:buNone/>
            </a:pPr>
            <a:r>
              <a:rPr lang="en-US" sz="2100" b="1" dirty="0">
                <a:solidFill>
                  <a:srgbClr val="46B98A"/>
                </a:solidFill>
                <a:latin typeface="Calibri" pitchFamily="34" charset="0"/>
                <a:ea typeface="Calibri" pitchFamily="34" charset="-122"/>
                <a:cs typeface="Calibri" pitchFamily="34" charset="-120"/>
              </a:rPr>
              <a:t>What it costs</a:t>
            </a:r>
            <a:endParaRPr lang="en-US" sz="2100" dirty="0"/>
          </a:p>
        </p:txBody>
      </p:sp>
      <p:sp>
        <p:nvSpPr>
          <p:cNvPr id="10" name="Text 7"/>
          <p:cNvSpPr txBox="1"/>
          <p:nvPr/>
        </p:nvSpPr>
        <p:spPr>
          <a:xfrm>
            <a:off x="6675120" y="256032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~3.5k</a:t>
            </a:r>
            <a:endParaRPr lang="en-US" sz="2700" dirty="0"/>
          </a:p>
        </p:txBody>
      </p:sp>
      <p:sp>
        <p:nvSpPr>
          <p:cNvPr id="11" name="Text 8"/>
          <p:cNvSpPr txBox="1"/>
          <p:nvPr/>
        </p:nvSpPr>
        <p:spPr>
          <a:xfrm>
            <a:off x="8183880" y="259689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tokens per analysis pass, all thirteen incidents in one call</a:t>
            </a:r>
            <a:endParaRPr lang="en-US" sz="1400" dirty="0"/>
          </a:p>
        </p:txBody>
      </p:sp>
      <p:sp>
        <p:nvSpPr>
          <p:cNvPr id="12" name="Text 9"/>
          <p:cNvSpPr txBox="1"/>
          <p:nvPr/>
        </p:nvSpPr>
        <p:spPr>
          <a:xfrm>
            <a:off x="6675120" y="361188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1/min</a:t>
            </a:r>
            <a:endParaRPr lang="en-US" sz="2700" dirty="0"/>
          </a:p>
        </p:txBody>
      </p:sp>
      <p:sp>
        <p:nvSpPr>
          <p:cNvPr id="13" name="Text 10"/>
          <p:cNvSpPr txBox="1"/>
          <p:nvPr/>
        </p:nvSpPr>
        <p:spPr>
          <a:xfrm>
            <a:off x="8183880" y="364845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and it skips the call entirely when nothing changed</a:t>
            </a:r>
            <a:endParaRPr lang="en-US" sz="1400" dirty="0"/>
          </a:p>
        </p:txBody>
      </p:sp>
      <p:sp>
        <p:nvSpPr>
          <p:cNvPr id="14" name="Text 11"/>
          <p:cNvSpPr txBox="1"/>
          <p:nvPr/>
        </p:nvSpPr>
        <p:spPr>
          <a:xfrm>
            <a:off x="6675120" y="4663440"/>
            <a:ext cx="1417320" cy="502920"/>
          </a:xfrm>
          <a:prstGeom prst="rect">
            <a:avLst/>
          </a:prstGeom>
          <a:noFill/>
          <a:ln/>
        </p:spPr>
        <p:txBody>
          <a:bodyPr wrap="square" lIns="0" tIns="0" rIns="0" bIns="0" rtlCol="0" anchor="ctr"/>
          <a:lstStyle/>
          <a:p>
            <a:pPr marL="0" indent="0">
              <a:buNone/>
            </a:pPr>
            <a:r>
              <a:rPr lang="en-US" sz="2700" b="1" dirty="0">
                <a:solidFill>
                  <a:srgbClr val="E9EFF6"/>
                </a:solidFill>
                <a:latin typeface="Calibri" pitchFamily="34" charset="0"/>
                <a:ea typeface="Calibri" pitchFamily="34" charset="-122"/>
                <a:cs typeface="Calibri" pitchFamily="34" charset="-120"/>
              </a:rPr>
              <a:t>0</a:t>
            </a:r>
            <a:endParaRPr lang="en-US" sz="2700" dirty="0"/>
          </a:p>
        </p:txBody>
      </p:sp>
      <p:sp>
        <p:nvSpPr>
          <p:cNvPr id="15" name="Text 12"/>
          <p:cNvSpPr txBox="1"/>
          <p:nvPr/>
        </p:nvSpPr>
        <p:spPr>
          <a:xfrm>
            <a:off x="8183880" y="4700016"/>
            <a:ext cx="3200400" cy="7315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keys anywhere - managed identity end to end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457200"/>
            <a:ext cx="10058400" cy="274320"/>
          </a:xfrm>
          <a:prstGeom prst="rect">
            <a:avLst/>
          </a:prstGeom>
          <a:noFill/>
          <a:ln/>
        </p:spPr>
        <p:txBody>
          <a:bodyPr wrap="square" lIns="0" tIns="0" rIns="0" bIns="0" rtlCol="0" anchor="ctr"/>
          <a:lstStyle/>
          <a:p>
            <a:pPr marL="0" indent="0">
              <a:buNone/>
            </a:pPr>
            <a:r>
              <a:rPr lang="en-US" sz="1200" b="1" kern="0" spc="200" dirty="0">
                <a:solidFill>
                  <a:srgbClr val="E8A33D"/>
                </a:solidFill>
                <a:latin typeface="Calibri" pitchFamily="34" charset="0"/>
                <a:ea typeface="Calibri" pitchFamily="34" charset="-122"/>
                <a:cs typeface="Calibri" pitchFamily="34" charset="-120"/>
              </a:rPr>
              <a:t>IF YOU REMEMBER THREE THINGS</a:t>
            </a:r>
            <a:endParaRPr lang="en-US" sz="1200" dirty="0"/>
          </a:p>
        </p:txBody>
      </p:sp>
      <p:sp>
        <p:nvSpPr>
          <p:cNvPr id="4" name="Text 1"/>
          <p:cNvSpPr txBox="1"/>
          <p:nvPr/>
        </p:nvSpPr>
        <p:spPr>
          <a:xfrm>
            <a:off x="594360" y="749808"/>
            <a:ext cx="10789920" cy="685800"/>
          </a:xfrm>
          <a:prstGeom prst="rect">
            <a:avLst/>
          </a:prstGeom>
          <a:noFill/>
          <a:ln/>
        </p:spPr>
        <p:txBody>
          <a:bodyPr wrap="square" lIns="0" tIns="0" rIns="0" bIns="0" rtlCol="0" anchor="ctr"/>
          <a:lstStyle/>
          <a:p>
            <a:pPr marL="0" indent="0">
              <a:buNone/>
            </a:pPr>
            <a:r>
              <a:rPr lang="en-US" sz="3600" b="1" dirty="0">
                <a:solidFill>
                  <a:srgbClr val="E9EFF6"/>
                </a:solidFill>
                <a:latin typeface="Calibri" pitchFamily="34" charset="0"/>
                <a:ea typeface="Calibri" pitchFamily="34" charset="-122"/>
                <a:cs typeface="Calibri" pitchFamily="34" charset="-120"/>
              </a:rPr>
              <a:t>Takeaways</a:t>
            </a:r>
            <a:endParaRPr lang="en-US" sz="3600" dirty="0"/>
          </a:p>
        </p:txBody>
      </p:sp>
      <p:sp>
        <p:nvSpPr>
          <p:cNvPr id="5" name="Shape 2"/>
          <p:cNvSpPr/>
          <p:nvPr/>
        </p:nvSpPr>
        <p:spPr>
          <a:xfrm>
            <a:off x="594360" y="1783080"/>
            <a:ext cx="11018520" cy="1207008"/>
          </a:xfrm>
          <a:prstGeom prst="roundRect">
            <a:avLst>
              <a:gd name="adj" fmla="val 4545"/>
            </a:avLst>
          </a:prstGeom>
          <a:solidFill>
            <a:srgbClr val="19242F"/>
          </a:solidFill>
          <a:ln/>
        </p:spPr>
        <p:txBody>
          <a:bodyPr/>
          <a:lstStyle/>
          <a:p>
            <a:endParaRPr lang="en-US"/>
          </a:p>
        </p:txBody>
      </p:sp>
      <p:sp>
        <p:nvSpPr>
          <p:cNvPr id="6" name="Shape 3"/>
          <p:cNvSpPr/>
          <p:nvPr/>
        </p:nvSpPr>
        <p:spPr>
          <a:xfrm>
            <a:off x="886968" y="2148840"/>
            <a:ext cx="502920" cy="502920"/>
          </a:xfrm>
          <a:prstGeom prst="ellipse">
            <a:avLst/>
          </a:prstGeom>
          <a:solidFill>
            <a:srgbClr val="5B9BD5"/>
          </a:solidFill>
          <a:ln/>
        </p:spPr>
        <p:txBody>
          <a:bodyPr/>
          <a:lstStyle/>
          <a:p>
            <a:endParaRPr lang="en-US"/>
          </a:p>
        </p:txBody>
      </p:sp>
      <p:sp>
        <p:nvSpPr>
          <p:cNvPr id="7" name="Text 4"/>
          <p:cNvSpPr txBox="1"/>
          <p:nvPr/>
        </p:nvSpPr>
        <p:spPr>
          <a:xfrm>
            <a:off x="886968" y="21488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1600200" y="19659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Do the arithmetic first</a:t>
            </a:r>
            <a:endParaRPr lang="en-US" sz="2100" dirty="0"/>
          </a:p>
        </p:txBody>
      </p:sp>
      <p:sp>
        <p:nvSpPr>
          <p:cNvPr id="9" name="Text 6"/>
          <p:cNvSpPr txBox="1"/>
          <p:nvPr/>
        </p:nvSpPr>
        <p:spPr>
          <a:xfrm>
            <a:off x="1600200" y="23865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Fingerprinting and key matching removed 92% of the volume before anything read a word. Cheap, instant, and it never hallucinates.</a:t>
            </a:r>
            <a:endParaRPr lang="en-US" sz="1400" dirty="0"/>
          </a:p>
        </p:txBody>
      </p:sp>
      <p:sp>
        <p:nvSpPr>
          <p:cNvPr id="10" name="Shape 7"/>
          <p:cNvSpPr/>
          <p:nvPr/>
        </p:nvSpPr>
        <p:spPr>
          <a:xfrm>
            <a:off x="594360" y="3154680"/>
            <a:ext cx="11018520" cy="1207008"/>
          </a:xfrm>
          <a:prstGeom prst="roundRect">
            <a:avLst>
              <a:gd name="adj" fmla="val 4545"/>
            </a:avLst>
          </a:prstGeom>
          <a:solidFill>
            <a:srgbClr val="19242F"/>
          </a:solidFill>
          <a:ln/>
        </p:spPr>
        <p:txBody>
          <a:bodyPr/>
          <a:lstStyle/>
          <a:p>
            <a:endParaRPr lang="en-US"/>
          </a:p>
        </p:txBody>
      </p:sp>
      <p:sp>
        <p:nvSpPr>
          <p:cNvPr id="11" name="Shape 8"/>
          <p:cNvSpPr/>
          <p:nvPr/>
        </p:nvSpPr>
        <p:spPr>
          <a:xfrm>
            <a:off x="886968" y="3520440"/>
            <a:ext cx="502920" cy="502920"/>
          </a:xfrm>
          <a:prstGeom prst="ellipse">
            <a:avLst/>
          </a:prstGeom>
          <a:solidFill>
            <a:srgbClr val="46B98A"/>
          </a:solidFill>
          <a:ln/>
        </p:spPr>
        <p:txBody>
          <a:bodyPr/>
          <a:lstStyle/>
          <a:p>
            <a:endParaRPr lang="en-US"/>
          </a:p>
        </p:txBody>
      </p:sp>
      <p:sp>
        <p:nvSpPr>
          <p:cNvPr id="12" name="Text 9"/>
          <p:cNvSpPr txBox="1"/>
          <p:nvPr/>
        </p:nvSpPr>
        <p:spPr>
          <a:xfrm>
            <a:off x="886968" y="35204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600200" y="33375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Instrumentation earns the correlation</a:t>
            </a:r>
            <a:endParaRPr lang="en-US" sz="2100" dirty="0"/>
          </a:p>
        </p:txBody>
      </p:sp>
      <p:sp>
        <p:nvSpPr>
          <p:cNvPr id="14" name="Text 11"/>
          <p:cNvSpPr txBox="1"/>
          <p:nvPr/>
        </p:nvSpPr>
        <p:spPr>
          <a:xfrm>
            <a:off x="1600200" y="37581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One OpenTelemetry span attribute did work a model would otherwise have to do. Good telemetry is cheaper than inference.</a:t>
            </a:r>
            <a:endParaRPr lang="en-US" sz="1400" dirty="0"/>
          </a:p>
        </p:txBody>
      </p:sp>
      <p:sp>
        <p:nvSpPr>
          <p:cNvPr id="15" name="Shape 12"/>
          <p:cNvSpPr/>
          <p:nvPr/>
        </p:nvSpPr>
        <p:spPr>
          <a:xfrm>
            <a:off x="594360" y="4526280"/>
            <a:ext cx="11018520" cy="1207008"/>
          </a:xfrm>
          <a:prstGeom prst="roundRect">
            <a:avLst>
              <a:gd name="adj" fmla="val 4545"/>
            </a:avLst>
          </a:prstGeom>
          <a:solidFill>
            <a:srgbClr val="19242F"/>
          </a:solidFill>
          <a:ln/>
        </p:spPr>
        <p:txBody>
          <a:bodyPr/>
          <a:lstStyle/>
          <a:p>
            <a:endParaRPr lang="en-US"/>
          </a:p>
        </p:txBody>
      </p:sp>
      <p:sp>
        <p:nvSpPr>
          <p:cNvPr id="16" name="Shape 13"/>
          <p:cNvSpPr/>
          <p:nvPr/>
        </p:nvSpPr>
        <p:spPr>
          <a:xfrm>
            <a:off x="886968" y="4892040"/>
            <a:ext cx="502920" cy="502920"/>
          </a:xfrm>
          <a:prstGeom prst="ellipse">
            <a:avLst/>
          </a:prstGeom>
          <a:solidFill>
            <a:srgbClr val="E0443E"/>
          </a:solidFill>
          <a:ln/>
        </p:spPr>
        <p:txBody>
          <a:bodyPr/>
          <a:lstStyle/>
          <a:p>
            <a:endParaRPr lang="en-US"/>
          </a:p>
        </p:txBody>
      </p:sp>
      <p:sp>
        <p:nvSpPr>
          <p:cNvPr id="17" name="Text 14"/>
          <p:cNvSpPr txBox="1"/>
          <p:nvPr/>
        </p:nvSpPr>
        <p:spPr>
          <a:xfrm>
            <a:off x="886968" y="4892040"/>
            <a:ext cx="502920" cy="502920"/>
          </a:xfrm>
          <a:prstGeom prst="rect">
            <a:avLst/>
          </a:prstGeom>
          <a:noFill/>
          <a:ln/>
        </p:spPr>
        <p:txBody>
          <a:bodyPr wrap="square" lIns="0" tIns="0" rIns="0" bIns="0" rtlCol="0" anchor="ctr"/>
          <a:lstStyle/>
          <a:p>
            <a:pPr marL="0" indent="0" algn="ctr">
              <a:buNone/>
            </a:pPr>
            <a:r>
              <a:rPr lang="en-US" sz="1300" b="1" dirty="0">
                <a:solidFill>
                  <a:srgbClr val="0E1621"/>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600200" y="4709160"/>
            <a:ext cx="9601200" cy="384048"/>
          </a:xfrm>
          <a:prstGeom prst="rect">
            <a:avLst/>
          </a:prstGeom>
          <a:noFill/>
          <a:ln/>
        </p:spPr>
        <p:txBody>
          <a:bodyPr wrap="square" lIns="0" tIns="0" rIns="0" bIns="0" rtlCol="0" anchor="ctr"/>
          <a:lstStyle/>
          <a:p>
            <a:pPr marL="0" indent="0">
              <a:buNone/>
            </a:pPr>
            <a:r>
              <a:rPr lang="en-US" sz="2100" b="1" dirty="0">
                <a:solidFill>
                  <a:srgbClr val="E9EFF6"/>
                </a:solidFill>
                <a:latin typeface="Calibri" pitchFamily="34" charset="0"/>
                <a:ea typeface="Calibri" pitchFamily="34" charset="-122"/>
                <a:cs typeface="Calibri" pitchFamily="34" charset="-120"/>
              </a:rPr>
              <a:t>Use the model for the reading problem</a:t>
            </a:r>
            <a:endParaRPr lang="en-US" sz="2100" dirty="0"/>
          </a:p>
        </p:txBody>
      </p:sp>
      <p:sp>
        <p:nvSpPr>
          <p:cNvPr id="19" name="Text 16"/>
          <p:cNvSpPr txBox="1"/>
          <p:nvPr/>
        </p:nvSpPr>
        <p:spPr>
          <a:xfrm>
            <a:off x="1600200" y="5129784"/>
            <a:ext cx="9601200" cy="50292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Ask it to connect what only prose connects, judge it on what it refuses to connect, and never let it own your data model.</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1920240"/>
            <a:ext cx="10058400" cy="822960"/>
          </a:xfrm>
          <a:prstGeom prst="rect">
            <a:avLst/>
          </a:prstGeom>
          <a:noFill/>
          <a:ln/>
        </p:spPr>
        <p:txBody>
          <a:bodyPr wrap="square" lIns="0" tIns="0" rIns="0" bIns="0" rtlCol="0" anchor="ctr"/>
          <a:lstStyle/>
          <a:p>
            <a:pPr marL="0" indent="0">
              <a:buNone/>
            </a:pPr>
            <a:r>
              <a:rPr lang="en-US" sz="4200" b="1" dirty="0">
                <a:solidFill>
                  <a:srgbClr val="FFFFFF"/>
                </a:solidFill>
                <a:latin typeface="Calibri" pitchFamily="34" charset="0"/>
                <a:ea typeface="Calibri" pitchFamily="34" charset="-122"/>
                <a:cs typeface="Calibri" pitchFamily="34" charset="-120"/>
              </a:rPr>
              <a:t>Take it and break it</a:t>
            </a:r>
            <a:endParaRPr lang="en-US" sz="4200" dirty="0"/>
          </a:p>
        </p:txBody>
      </p:sp>
      <p:sp>
        <p:nvSpPr>
          <p:cNvPr id="4" name="Text 1"/>
          <p:cNvSpPr txBox="1"/>
          <p:nvPr/>
        </p:nvSpPr>
        <p:spPr>
          <a:xfrm>
            <a:off x="594360" y="2788920"/>
            <a:ext cx="10058400" cy="365760"/>
          </a:xfrm>
          <a:prstGeom prst="rect">
            <a:avLst/>
          </a:prstGeom>
          <a:noFill/>
          <a:ln/>
        </p:spPr>
        <p:txBody>
          <a:bodyPr wrap="square" lIns="0" tIns="0" rIns="0" bIns="0" rtlCol="0" anchor="ctr"/>
          <a:lstStyle/>
          <a:p>
            <a:pPr marL="0" indent="0">
              <a:buNone/>
            </a:pPr>
            <a:r>
              <a:rPr lang="en-US" sz="1700" dirty="0">
                <a:solidFill>
                  <a:srgbClr val="8FA3B8"/>
                </a:solidFill>
                <a:latin typeface="Calibri" pitchFamily="34" charset="0"/>
                <a:ea typeface="Calibri" pitchFamily="34" charset="-122"/>
                <a:cs typeface="Calibri" pitchFamily="34" charset="-120"/>
              </a:rPr>
              <a:t>Everything in this session deploys into your own tenant with one script.</a:t>
            </a:r>
            <a:endParaRPr lang="en-US" sz="1700" dirty="0"/>
          </a:p>
        </p:txBody>
      </p:sp>
      <p:sp>
        <p:nvSpPr>
          <p:cNvPr id="5" name="Shape 2"/>
          <p:cNvSpPr/>
          <p:nvPr/>
        </p:nvSpPr>
        <p:spPr>
          <a:xfrm>
            <a:off x="594360" y="3648456"/>
            <a:ext cx="237744" cy="237744"/>
          </a:xfrm>
          <a:prstGeom prst="ellipse">
            <a:avLst/>
          </a:prstGeom>
          <a:solidFill>
            <a:srgbClr val="46B98A"/>
          </a:solidFill>
          <a:ln/>
        </p:spPr>
        <p:txBody>
          <a:bodyPr/>
          <a:lstStyle/>
          <a:p>
            <a:endParaRPr lang="en-US"/>
          </a:p>
        </p:txBody>
      </p:sp>
      <p:sp>
        <p:nvSpPr>
          <p:cNvPr id="6" name="Text 3"/>
          <p:cNvSpPr txBox="1"/>
          <p:nvPr/>
        </p:nvSpPr>
        <p:spPr>
          <a:xfrm>
            <a:off x="1051560" y="3520440"/>
            <a:ext cx="4754880" cy="41148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github.com/donnietaylor</a:t>
            </a:r>
            <a:endParaRPr lang="en-US" sz="2000" dirty="0"/>
          </a:p>
        </p:txBody>
      </p:sp>
      <p:sp>
        <p:nvSpPr>
          <p:cNvPr id="7" name="Text 4"/>
          <p:cNvSpPr txBox="1"/>
          <p:nvPr/>
        </p:nvSpPr>
        <p:spPr>
          <a:xfrm>
            <a:off x="5989320" y="3566160"/>
            <a:ext cx="566928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Deploy-Azure.ps1, then Break-Everything.ps1</a:t>
            </a:r>
            <a:endParaRPr lang="en-US" sz="1400" dirty="0"/>
          </a:p>
        </p:txBody>
      </p:sp>
      <p:sp>
        <p:nvSpPr>
          <p:cNvPr id="8" name="Shape 5"/>
          <p:cNvSpPr/>
          <p:nvPr/>
        </p:nvSpPr>
        <p:spPr>
          <a:xfrm>
            <a:off x="594360" y="4489704"/>
            <a:ext cx="237744" cy="237744"/>
          </a:xfrm>
          <a:prstGeom prst="ellipse">
            <a:avLst/>
          </a:prstGeom>
          <a:solidFill>
            <a:srgbClr val="5B9BD5"/>
          </a:solidFill>
          <a:ln/>
        </p:spPr>
        <p:txBody>
          <a:bodyPr/>
          <a:lstStyle/>
          <a:p>
            <a:endParaRPr lang="en-US"/>
          </a:p>
        </p:txBody>
      </p:sp>
      <p:sp>
        <p:nvSpPr>
          <p:cNvPr id="9" name="Text 6"/>
          <p:cNvSpPr txBox="1"/>
          <p:nvPr/>
        </p:nvSpPr>
        <p:spPr>
          <a:xfrm>
            <a:off x="1051560" y="4361688"/>
            <a:ext cx="4754880" cy="41148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draith.com</a:t>
            </a:r>
            <a:endParaRPr lang="en-US" sz="2000" dirty="0"/>
          </a:p>
        </p:txBody>
      </p:sp>
      <p:sp>
        <p:nvSpPr>
          <p:cNvPr id="10" name="Text 7"/>
          <p:cNvSpPr txBox="1"/>
          <p:nvPr/>
        </p:nvSpPr>
        <p:spPr>
          <a:xfrm>
            <a:off x="5989320" y="4407408"/>
            <a:ext cx="566928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Write-ups and the longer version of the argument</a:t>
            </a:r>
            <a:endParaRPr lang="en-US" sz="1400" dirty="0"/>
          </a:p>
        </p:txBody>
      </p:sp>
      <p:sp>
        <p:nvSpPr>
          <p:cNvPr id="11" name="Shape 8"/>
          <p:cNvSpPr/>
          <p:nvPr/>
        </p:nvSpPr>
        <p:spPr>
          <a:xfrm>
            <a:off x="594360" y="5330952"/>
            <a:ext cx="237744" cy="237744"/>
          </a:xfrm>
          <a:prstGeom prst="ellipse">
            <a:avLst/>
          </a:prstGeom>
          <a:solidFill>
            <a:srgbClr val="E8A33D"/>
          </a:solidFill>
          <a:ln/>
        </p:spPr>
        <p:txBody>
          <a:bodyPr/>
          <a:lstStyle/>
          <a:p>
            <a:endParaRPr lang="en-US"/>
          </a:p>
        </p:txBody>
      </p:sp>
      <p:sp>
        <p:nvSpPr>
          <p:cNvPr id="12" name="Text 9"/>
          <p:cNvSpPr txBox="1"/>
          <p:nvPr/>
        </p:nvSpPr>
        <p:spPr>
          <a:xfrm>
            <a:off x="1051560" y="5202936"/>
            <a:ext cx="4754880" cy="411480"/>
          </a:xfrm>
          <a:prstGeom prst="rect">
            <a:avLst/>
          </a:prstGeom>
          <a:noFill/>
          <a:ln/>
        </p:spPr>
        <p:txBody>
          <a:bodyPr wrap="square" lIns="0" tIns="0" rIns="0" bIns="0" rtlCol="0" anchor="ctr"/>
          <a:lstStyle/>
          <a:p>
            <a:pPr marL="0" indent="0">
              <a:buNone/>
            </a:pPr>
            <a:r>
              <a:rPr lang="en-US" sz="2000" b="1" dirty="0">
                <a:solidFill>
                  <a:srgbClr val="E9EFF6"/>
                </a:solidFill>
                <a:latin typeface="Calibri" pitchFamily="34" charset="0"/>
                <a:ea typeface="Calibri" pitchFamily="34" charset="-122"/>
                <a:cs typeface="Calibri" pitchFamily="34" charset="-120"/>
              </a:rPr>
              <a:t>@donnietaylor.bsky.social</a:t>
            </a:r>
            <a:endParaRPr lang="en-US" sz="2000" dirty="0"/>
          </a:p>
        </p:txBody>
      </p:sp>
      <p:sp>
        <p:nvSpPr>
          <p:cNvPr id="13" name="Text 10"/>
          <p:cNvSpPr txBox="1"/>
          <p:nvPr/>
        </p:nvSpPr>
        <p:spPr>
          <a:xfrm>
            <a:off x="5989320" y="5248656"/>
            <a:ext cx="5669280" cy="365760"/>
          </a:xfrm>
          <a:prstGeom prst="rect">
            <a:avLst/>
          </a:prstGeom>
          <a:noFill/>
          <a:ln/>
        </p:spPr>
        <p:txBody>
          <a:bodyPr wrap="square" lIns="0" tIns="0" rIns="0" bIns="0" rtlCol="0" anchor="ctr"/>
          <a:lstStyle/>
          <a:p>
            <a:pPr marL="0" indent="0">
              <a:buNone/>
            </a:pPr>
            <a:r>
              <a:rPr lang="en-US" sz="1400" dirty="0">
                <a:solidFill>
                  <a:srgbClr val="8FA3B8"/>
                </a:solidFill>
                <a:latin typeface="Calibri" pitchFamily="34" charset="0"/>
                <a:ea typeface="Calibri" pitchFamily="34" charset="-122"/>
                <a:cs typeface="Calibri" pitchFamily="34" charset="-120"/>
              </a:rPr>
              <a:t>Also on LinkedIn - come find me at the party</a:t>
            </a:r>
            <a:endParaRPr lang="en-US" sz="1400" dirty="0"/>
          </a:p>
        </p:txBody>
      </p:sp>
      <p:sp>
        <p:nvSpPr>
          <p:cNvPr id="14" name="Text 11"/>
          <p:cNvSpPr txBox="1"/>
          <p:nvPr/>
        </p:nvSpPr>
        <p:spPr>
          <a:xfrm>
            <a:off x="594360" y="6035040"/>
            <a:ext cx="10058400" cy="365760"/>
          </a:xfrm>
          <a:prstGeom prst="rect">
            <a:avLst/>
          </a:prstGeom>
          <a:noFill/>
          <a:ln/>
        </p:spPr>
        <p:txBody>
          <a:bodyPr wrap="square" lIns="0" tIns="0" rIns="0" bIns="0" rtlCol="0" anchor="ctr"/>
          <a:lstStyle/>
          <a:p>
            <a:pPr marL="0" indent="0">
              <a:buNone/>
            </a:pPr>
            <a:r>
              <a:rPr lang="en-US" sz="1600" i="1" dirty="0">
                <a:solidFill>
                  <a:srgbClr val="7C90A6"/>
                </a:solidFill>
                <a:latin typeface="Calibri" pitchFamily="34" charset="0"/>
                <a:ea typeface="Calibri" pitchFamily="34" charset="-122"/>
                <a:cs typeface="Calibri" pitchFamily="34" charset="-120"/>
              </a:rPr>
              <a:t>Questions - now, or all week.</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bg>
      <p:bgPr>
        <a:solidFill>
          <a:srgbClr val="0E1621"/>
        </a:solidFill>
        <a:effectLst/>
      </p:bgPr>
    </p:bg>
    <p:spTree>
      <p:nvGrpSpPr>
        <p:cNvPr id="1" name=""/>
        <p:cNvGrpSpPr/>
        <p:nvPr/>
      </p:nvGrpSpPr>
      <p:grpSpPr>
        <a:xfrm>
          <a:off x="0" y="0"/>
          <a:ext cx="0" cy="0"/>
          <a:chOff x="0" y="0"/>
          <a:chExt cx="0" cy="0"/>
        </a:xfrm>
      </p:grpSpPr>
      <p:sp>
        <p:nvSpPr>
          <p:cNvPr id="3" name="Text 0"/>
          <p:cNvSpPr txBox="1"/>
          <p:nvPr/>
        </p:nvSpPr>
        <p:spPr>
          <a:xfrm>
            <a:off x="594360" y="2651760"/>
            <a:ext cx="7315200" cy="457200"/>
          </a:xfrm>
          <a:prstGeom prst="rect">
            <a:avLst/>
          </a:prstGeom>
          <a:noFill/>
          <a:ln/>
        </p:spPr>
        <p:txBody>
          <a:bodyPr wrap="square" lIns="0" tIns="0" rIns="0" bIns="0" rtlCol="0" anchor="ctr"/>
          <a:lstStyle/>
          <a:p>
            <a:pPr marL="0" indent="0">
              <a:buNone/>
            </a:pPr>
            <a:r>
              <a:rPr lang="en-US" sz="1600" b="1" kern="0" spc="500" dirty="0">
                <a:solidFill>
                  <a:srgbClr val="8FA3B8"/>
                </a:solidFill>
                <a:latin typeface="Calibri" pitchFamily="34" charset="0"/>
                <a:ea typeface="Calibri" pitchFamily="34" charset="-122"/>
                <a:cs typeface="Calibri" pitchFamily="34" charset="-120"/>
              </a:rPr>
              <a:t>APPENDIX</a:t>
            </a:r>
            <a:endParaRPr lang="en-US" sz="1600" dirty="0"/>
          </a:p>
        </p:txBody>
      </p:sp>
      <p:sp>
        <p:nvSpPr>
          <p:cNvPr id="4" name="Text 1"/>
          <p:cNvSpPr txBox="1"/>
          <p:nvPr/>
        </p:nvSpPr>
        <p:spPr>
          <a:xfrm>
            <a:off x="594360" y="3108960"/>
            <a:ext cx="10058400" cy="777240"/>
          </a:xfrm>
          <a:prstGeom prst="rect">
            <a:avLst/>
          </a:prstGeom>
          <a:noFill/>
          <a:ln/>
        </p:spPr>
        <p:txBody>
          <a:bodyPr wrap="square" lIns="0" tIns="0" rIns="0" bIns="0" rtlCol="0" anchor="ctr"/>
          <a:lstStyle/>
          <a:p>
            <a:pPr marL="0" indent="0">
              <a:buNone/>
            </a:pPr>
            <a:r>
              <a:rPr lang="en-US" sz="3800" b="1" dirty="0">
                <a:solidFill>
                  <a:srgbClr val="E9EFF6"/>
                </a:solidFill>
                <a:latin typeface="Calibri" pitchFamily="34" charset="0"/>
                <a:ea typeface="Calibri" pitchFamily="34" charset="-122"/>
                <a:cs typeface="Calibri" pitchFamily="34" charset="-120"/>
              </a:rPr>
              <a:t>If the wifi dies</a:t>
            </a:r>
            <a:endParaRPr lang="en-US" sz="3800" dirty="0"/>
          </a:p>
        </p:txBody>
      </p:sp>
      <p:sp>
        <p:nvSpPr>
          <p:cNvPr id="5" name="Text 2"/>
          <p:cNvSpPr txBox="1"/>
          <p:nvPr/>
        </p:nvSpPr>
        <p:spPr>
          <a:xfrm>
            <a:off x="594360" y="4023360"/>
            <a:ext cx="8686800" cy="822960"/>
          </a:xfrm>
          <a:prstGeom prst="rect">
            <a:avLst/>
          </a:prstGeom>
          <a:noFill/>
          <a:ln/>
        </p:spPr>
        <p:txBody>
          <a:bodyPr wrap="square" lIns="0" tIns="0" rIns="0" bIns="0" rtlCol="0" anchor="ctr"/>
          <a:lstStyle/>
          <a:p>
            <a:pPr marL="0" indent="0">
              <a:buNone/>
            </a:pPr>
            <a:r>
              <a:rPr lang="en-US" sz="1600" dirty="0">
                <a:solidFill>
                  <a:srgbClr val="8FA3B8"/>
                </a:solidFill>
                <a:latin typeface="Calibri" pitchFamily="34" charset="0"/>
                <a:ea typeface="Calibri" pitchFamily="34" charset="-122"/>
                <a:cs typeface="Calibri" pitchFamily="34" charset="-120"/>
              </a:rPr>
              <a:t>Screenshots of each demo stage go behind this slide: raw stream, the funnel, the tree with root cause, and the terminal output. Capture them at the end of a clean rehearsal.</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703BEA-C48D-4B47-BF6A-148B9BFB993E}">
  <we:reference id="wa200010001" version="1.0.0.1" store="en-US" storeType="OMEX"/>
  <we:alternateReferences>
    <we:reference id="WA200010001"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199</TotalTime>
  <Words>3692</Words>
  <Application>Microsoft Office PowerPoint</Application>
  <PresentationFormat>Widescreen</PresentationFormat>
  <Paragraphs>440</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Smarter Monitoring: Building an AI-Enhanced Event Pipeline</dc:title>
  <dc:subject>PptxGenJS Presentation</dc:subject>
  <dc:creator>Donnie Taylor</dc:creator>
  <cp:lastModifiedBy>Donnie Taylor</cp:lastModifiedBy>
  <cp:revision>3</cp:revision>
  <dcterms:created xsi:type="dcterms:W3CDTF">2026-09-13T00:17:19Z</dcterms:created>
  <dcterms:modified xsi:type="dcterms:W3CDTF">2026-09-13T03:38:30Z</dcterms:modified>
</cp:coreProperties>
</file>