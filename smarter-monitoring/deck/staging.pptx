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slide. Walk it left to right once, then point at the two things that are not obvious: the dashed loop is the AI pass reading and writing the same table the ingest path writes, and the three question chips - same symptom, same incident, same problem - are the spine of the session. Roughly ninety seconds; do not narrate every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execution slide. Three swim lanes, one per trigger. The top lane is the one to spend time on: point at the row inside Add-EventToIncident and say that the incident is decided before the symptom - question two before question one - because they are the two halves of one row address. The other two lanes are a sentence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catalogue. Do not read it aloud; let it sit while you say the one sentence at the bottom. The thing to point at is the same-symptom row: one function, four lines, and the middle row - the plumbing - which is its own module now and knows nothing about correlation.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 before the first demo. The point is that the function that reads the hub is trivially small - all the interesting work is behind three verbs. Read the three lines in the inner loop out loud and move on; the next slides open each one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sources, three completely different JSON shapes, and none of them agree on what a field is called. This is the unglamorous half of any pipeline like this and it is worth saying so - people underestimate it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one, in full. Three lines. Say plainly that this is the entire deduplication engine and that it involves no intelligence of any kind - it is a hash of a string with the numbers taken out. Then be honest about the cost: "Port 22 closed" and "Port 443 closed" collapse together too. Worth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two. Read the four lines top to bottom: host if there is one, otherwise the Azure resource, otherwise the service. Trace is last on purpose - every request has its own, so it is the worst thing to group on. Then the last line: the incident id is just a hash of that key. Same host, same id, every time. No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Deflate the AI stage deliberately. It is one HTTP call with temperature zero and a JSON contract. The interesting engineering is everywhere except here - and that is the honest shape of most production AI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code slide, and the one that makes the argument. Ninety-seven percent of the code is not AI. If they remember one number from the technical half of the session, make it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statement. One idea, no supporting text. Use it when you want the room looking at you rather than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three-card row. Comparisons, taxonomies, before/during/after. Works with two to four items; the helper sizes them to the content width.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numbered rows. Sequences, lists of three or four, anything where order matters. Three rows breathe; four is the maximum before it gets cramped.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two panels. Limits and costs, pros and cons, before and after. Both panels are the same width - the numbers here are correct, do not eyeball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chain. Cause at the top, consequences below, triangles between. The colour of the top badge is the whole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log wall. Real-looking output, monospace, severity coloured. It should be hard to read - that is usually why it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flow. Architecture, pipelines, stages. Five boxes is the comfortable maximum at this width; four reads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demo marker. Warm ground so it is obvious in presenter view that a demo is coming. Put the literal command in the first 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image well. Drop the image over the grey box, then delete the box. The caption stays either way, so the slide still works if the image never turns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TO DASHBOARD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event flow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444752"/>
            <a:ext cx="2240280" cy="2788920"/>
          </a:xfrm>
          <a:prstGeom prst="roundRect">
            <a:avLst>
              <a:gd name="adj" fmla="val 2449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591056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1965960"/>
            <a:ext cx="137160" cy="137160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1901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1305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store-api on this laptop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3225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Application Insights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7240" y="274320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26791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9077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alert on failures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an action group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77240" y="3520440"/>
            <a:ext cx="137160" cy="137160"/>
          </a:xfrm>
          <a:prstGeom prst="ellipse">
            <a:avLst/>
          </a:prstGeom>
          <a:solidFill>
            <a:srgbClr val="46B98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05840" y="34564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monitoring tools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6850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Send-Event.ps1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8770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SAS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834640" y="2823210"/>
            <a:ext cx="155448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20" name="Shape 17"/>
          <p:cNvSpPr/>
          <p:nvPr/>
        </p:nvSpPr>
        <p:spPr>
          <a:xfrm rot="5400000">
            <a:off x="2990088" y="2770632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8960" y="1444752"/>
            <a:ext cx="1325880" cy="2788920"/>
          </a:xfrm>
          <a:prstGeom prst="roundRect">
            <a:avLst>
              <a:gd name="adj" fmla="val 4138"/>
            </a:avLst>
          </a:prstGeom>
          <a:solidFill>
            <a:srgbClr val="19242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46120" y="159105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HUB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246120" y="2180844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hub.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2793492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monitoring-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434840" y="2823210"/>
            <a:ext cx="155448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26" name="Shape 23"/>
          <p:cNvSpPr/>
          <p:nvPr/>
        </p:nvSpPr>
        <p:spPr>
          <a:xfrm rot="5400000">
            <a:off x="4590288" y="2770632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27" name="Shape 24"/>
          <p:cNvSpPr/>
          <p:nvPr/>
        </p:nvSpPr>
        <p:spPr>
          <a:xfrm>
            <a:off x="4709160" y="1444752"/>
            <a:ext cx="2926080" cy="2788920"/>
          </a:xfrm>
          <a:prstGeom prst="roundRect">
            <a:avLst>
              <a:gd name="adj" fmla="val 1967"/>
            </a:avLst>
          </a:prstGeom>
          <a:solidFill>
            <a:srgbClr val="19242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92040" y="15910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INGESTEVENTS  ·  EVENT HUBS TRIGGER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892040" y="1883664"/>
            <a:ext cx="256032" cy="256032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892040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5230368" y="18653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230368" y="20756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shapes, one object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256032" cy="256032"/>
          </a:xfrm>
          <a:prstGeom prst="ellipse">
            <a:avLst/>
          </a:prstGeom>
          <a:solidFill>
            <a:srgbClr val="7C90A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89204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230368" y="237744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successes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230368" y="2587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success is not an event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892040" y="2907792"/>
            <a:ext cx="256032" cy="256032"/>
          </a:xfrm>
          <a:prstGeom prst="ellipse">
            <a:avLst/>
          </a:prstGeom>
          <a:solidFill>
            <a:srgbClr val="46B98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892040" y="2907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230368" y="28895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the raw event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30998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merged yet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892040" y="3419856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892040" y="3419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230368" y="34015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230368" y="36118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incident, which symptom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4892040" y="3895344"/>
            <a:ext cx="109728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892040" y="38953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SYMPTOM?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062472" y="3895344"/>
            <a:ext cx="114300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62472" y="38953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INCIDENT?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7242048" y="389534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7635240" y="2823210"/>
            <a:ext cx="155448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51" name="Shape 48"/>
          <p:cNvSpPr/>
          <p:nvPr/>
        </p:nvSpPr>
        <p:spPr>
          <a:xfrm rot="5400000">
            <a:off x="7790688" y="2770632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52" name="Shape 49"/>
          <p:cNvSpPr/>
          <p:nvPr/>
        </p:nvSpPr>
        <p:spPr>
          <a:xfrm>
            <a:off x="7909560" y="1444752"/>
            <a:ext cx="1554480" cy="2788920"/>
          </a:xfrm>
          <a:prstGeom prst="roundRect">
            <a:avLst>
              <a:gd name="adj" fmla="val 3529"/>
            </a:avLst>
          </a:prstGeom>
          <a:solidFill>
            <a:srgbClr val="19242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065008" y="159105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STORAGE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065008" y="1901952"/>
            <a:ext cx="1243584" cy="621792"/>
          </a:xfrm>
          <a:prstGeom prst="roundRect">
            <a:avLst>
              <a:gd name="adj" fmla="val 8824"/>
            </a:avLst>
          </a:prstGeom>
          <a:solidFill>
            <a:srgbClr val="223140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74736" y="195681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RawEvents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8174736" y="215798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it arrived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065008" y="2651760"/>
            <a:ext cx="1243584" cy="621792"/>
          </a:xfrm>
          <a:prstGeom prst="roundRect">
            <a:avLst>
              <a:gd name="adj" fmla="val 8824"/>
            </a:avLst>
          </a:prstGeom>
          <a:solidFill>
            <a:srgbClr val="223140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8174736" y="270662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8174736" y="29077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+ count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8065008" y="3401568"/>
            <a:ext cx="1243584" cy="621792"/>
          </a:xfrm>
          <a:prstGeom prst="roundRect">
            <a:avLst>
              <a:gd name="adj" fmla="val 8824"/>
            </a:avLst>
          </a:prstGeom>
          <a:solidFill>
            <a:srgbClr val="223140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174736" y="3456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Incidents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8174736" y="36576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+ verdict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9464040" y="2823210"/>
            <a:ext cx="155448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64" name="Shape 61"/>
          <p:cNvSpPr/>
          <p:nvPr/>
        </p:nvSpPr>
        <p:spPr>
          <a:xfrm rot="5400000">
            <a:off x="9619488" y="2770632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65" name="Shape 62"/>
          <p:cNvSpPr/>
          <p:nvPr/>
        </p:nvSpPr>
        <p:spPr>
          <a:xfrm>
            <a:off x="9738360" y="1444752"/>
            <a:ext cx="1874520" cy="1298448"/>
          </a:xfrm>
          <a:prstGeom prst="roundRect">
            <a:avLst>
              <a:gd name="adj" fmla="val 4225"/>
            </a:avLst>
          </a:prstGeom>
          <a:solidFill>
            <a:srgbClr val="19242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9893808" y="15727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GETINCIDENTS  ·  HTTP</a:t>
            </a:r>
            <a:endParaRPr lang="en-US" sz="900" dirty="0"/>
          </a:p>
        </p:txBody>
      </p:sp>
      <p:sp>
        <p:nvSpPr>
          <p:cNvPr id="67" name="Text 64"/>
          <p:cNvSpPr txBox="1"/>
          <p:nvPr/>
        </p:nvSpPr>
        <p:spPr>
          <a:xfrm>
            <a:off x="9893808" y="18288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the data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screen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9893808" y="22860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?view= raw | summary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sources | tree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10664190" y="2743200"/>
            <a:ext cx="32004" cy="137160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70" name="Shape 67"/>
          <p:cNvSpPr/>
          <p:nvPr/>
        </p:nvSpPr>
        <p:spPr>
          <a:xfrm rot="10800000">
            <a:off x="10611612" y="2880360"/>
            <a:ext cx="137160" cy="118872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71" name="Shape 68"/>
          <p:cNvSpPr/>
          <p:nvPr/>
        </p:nvSpPr>
        <p:spPr>
          <a:xfrm>
            <a:off x="9738360" y="2999232"/>
            <a:ext cx="1874520" cy="1234440"/>
          </a:xfrm>
          <a:prstGeom prst="roundRect">
            <a:avLst>
              <a:gd name="adj" fmla="val 4444"/>
            </a:avLst>
          </a:prstGeom>
          <a:solidFill>
            <a:srgbClr val="223140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9893808" y="312724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WORKBOOK</a:t>
            </a:r>
            <a:endParaRPr lang="en-US" sz="900" dirty="0"/>
          </a:p>
        </p:txBody>
      </p:sp>
      <p:sp>
        <p:nvSpPr>
          <p:cNvPr id="73" name="Text 70"/>
          <p:cNvSpPr txBox="1"/>
          <p:nvPr/>
        </p:nvSpPr>
        <p:spPr>
          <a:xfrm>
            <a:off x="9893808" y="33649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300" dirty="0"/>
          </a:p>
        </p:txBody>
      </p:sp>
      <p:sp>
        <p:nvSpPr>
          <p:cNvPr id="74" name="Text 71"/>
          <p:cNvSpPr txBox="1"/>
          <p:nvPr/>
        </p:nvSpPr>
        <p:spPr>
          <a:xfrm>
            <a:off x="9893808" y="36576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endpoint,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 Analytics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8670798" y="4233672"/>
            <a:ext cx="32004" cy="201168"/>
          </a:xfrm>
          <a:prstGeom prst="rect">
            <a:avLst/>
          </a:prstGeom>
          <a:solidFill>
            <a:srgbClr val="E0443E"/>
          </a:solidFill>
          <a:ln/>
        </p:spPr>
      </p:sp>
      <p:sp>
        <p:nvSpPr>
          <p:cNvPr id="76" name="Shape 73"/>
          <p:cNvSpPr/>
          <p:nvPr/>
        </p:nvSpPr>
        <p:spPr>
          <a:xfrm rot="10800000">
            <a:off x="8618220" y="4434840"/>
            <a:ext cx="137160" cy="118872"/>
          </a:xfrm>
          <a:prstGeom prst="triangle">
            <a:avLst/>
          </a:prstGeom>
          <a:solidFill>
            <a:srgbClr val="E0443E"/>
          </a:solidFill>
          <a:ln/>
        </p:spPr>
      </p:sp>
      <p:sp>
        <p:nvSpPr>
          <p:cNvPr id="77" name="Shape 74"/>
          <p:cNvSpPr/>
          <p:nvPr/>
        </p:nvSpPr>
        <p:spPr>
          <a:xfrm>
            <a:off x="9082278" y="4352544"/>
            <a:ext cx="32004" cy="201168"/>
          </a:xfrm>
          <a:prstGeom prst="rect">
            <a:avLst/>
          </a:prstGeom>
          <a:solidFill>
            <a:srgbClr val="E0443E"/>
          </a:solidFill>
          <a:ln/>
        </p:spPr>
      </p:sp>
      <p:sp>
        <p:nvSpPr>
          <p:cNvPr id="78" name="Shape 75"/>
          <p:cNvSpPr/>
          <p:nvPr/>
        </p:nvSpPr>
        <p:spPr>
          <a:xfrm>
            <a:off x="9029700" y="4233672"/>
            <a:ext cx="137160" cy="118872"/>
          </a:xfrm>
          <a:prstGeom prst="triangle">
            <a:avLst/>
          </a:prstGeom>
          <a:solidFill>
            <a:srgbClr val="E0443E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8183880" y="43251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900" dirty="0"/>
          </a:p>
        </p:txBody>
      </p:sp>
      <p:sp>
        <p:nvSpPr>
          <p:cNvPr id="80" name="Text 77"/>
          <p:cNvSpPr txBox="1"/>
          <p:nvPr/>
        </p:nvSpPr>
        <p:spPr>
          <a:xfrm>
            <a:off x="9162288" y="43251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back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4709160" y="4553712"/>
            <a:ext cx="4754880" cy="1481328"/>
          </a:xfrm>
          <a:prstGeom prst="roundRect">
            <a:avLst>
              <a:gd name="adj" fmla="val 3704"/>
            </a:avLst>
          </a:prstGeom>
          <a:solidFill>
            <a:srgbClr val="19242F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4892040" y="46817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ANALYZETIMER  ·  EVERY MINUTE, ONLY WHEN SOMETHING CHANGED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4892040" y="4937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·  gpt-4.1-mini</a:t>
            </a:r>
            <a:endParaRPr lang="en-US" sz="1500" dirty="0"/>
          </a:p>
        </p:txBody>
      </p:sp>
      <p:sp>
        <p:nvSpPr>
          <p:cNvPr id="84" name="Text 81"/>
          <p:cNvSpPr txBox="1"/>
          <p:nvPr/>
        </p:nvSpPr>
        <p:spPr>
          <a:xfrm>
            <a:off x="4892040" y="52303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incidents are one problem. Which one is the cause. What to do first.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is written back onto the incident rows.</a:t>
            </a:r>
            <a:endParaRPr lang="en-US" sz="1100" dirty="0"/>
          </a:p>
        </p:txBody>
      </p:sp>
      <p:sp>
        <p:nvSpPr>
          <p:cNvPr id="85" name="Shape 82"/>
          <p:cNvSpPr/>
          <p:nvPr/>
        </p:nvSpPr>
        <p:spPr>
          <a:xfrm>
            <a:off x="4892040" y="5705856"/>
            <a:ext cx="109728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0443E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892040" y="570585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PROBLEM?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6062472" y="5705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question that needs English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94360" y="4553712"/>
            <a:ext cx="3840480" cy="1481328"/>
          </a:xfrm>
          <a:prstGeom prst="roundRect">
            <a:avLst>
              <a:gd name="adj" fmla="val 3704"/>
            </a:avLst>
          </a:prstGeom>
          <a:solidFill>
            <a:srgbClr val="223140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777240" y="46817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IN THIS DIAGRAM</a:t>
            </a:r>
            <a:endParaRPr lang="en-US" sz="900" dirty="0"/>
          </a:p>
        </p:txBody>
      </p:sp>
      <p:sp>
        <p:nvSpPr>
          <p:cNvPr id="90" name="Text 87"/>
          <p:cNvSpPr txBox="1"/>
          <p:nvPr/>
        </p:nvSpPr>
        <p:spPr>
          <a:xfrm>
            <a:off x="777240" y="4937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keys anywhere</a:t>
            </a:r>
            <a:endParaRPr lang="en-US" sz="1500" dirty="0"/>
          </a:p>
        </p:txBody>
      </p:sp>
      <p:sp>
        <p:nvSpPr>
          <p:cNvPr id="91" name="Text 88"/>
          <p:cNvSpPr txBox="1"/>
          <p:nvPr/>
        </p:nvSpPr>
        <p:spPr>
          <a:xfrm>
            <a:off x="777240" y="52486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App has a managed identity with three role assignments: read the hub, write the tables, call Azure OpenAI. Nothing in the pipeline holds a secret.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9738360" y="4553712"/>
            <a:ext cx="1874520" cy="1481328"/>
          </a:xfrm>
          <a:prstGeom prst="roundRect">
            <a:avLst>
              <a:gd name="adj" fmla="val 3704"/>
            </a:avLst>
          </a:prstGeom>
          <a:solidFill>
            <a:srgbClr val="19242F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9893808" y="46817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READS THE TABLES</a:t>
            </a:r>
            <a:endParaRPr lang="en-US" sz="900" dirty="0"/>
          </a:p>
        </p:txBody>
      </p:sp>
      <p:sp>
        <p:nvSpPr>
          <p:cNvPr id="94" name="Text 91"/>
          <p:cNvSpPr txBox="1"/>
          <p:nvPr/>
        </p:nvSpPr>
        <p:spPr>
          <a:xfrm>
            <a:off x="9893808" y="496519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Show-Incidents.ps1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Reset-Pipeline.ps1</a:t>
            </a:r>
            <a:endParaRPr lang="en-US" sz="1000" dirty="0"/>
          </a:p>
        </p:txBody>
      </p:sp>
      <p:sp>
        <p:nvSpPr>
          <p:cNvPr id="95" name="Text 92"/>
          <p:cNvSpPr txBox="1"/>
          <p:nvPr/>
        </p:nvSpPr>
        <p:spPr>
          <a:xfrm>
            <a:off x="9893808" y="54681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short-lived SAS,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terminal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594360" y="6199632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events in. 13 incidents and 2 root causes out. About four seconds of model time.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TRIGGERS, ONE TABLE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function runs when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371600"/>
            <a:ext cx="11002975" cy="2194560"/>
          </a:xfrm>
          <a:prstGeom prst="roundRect">
            <a:avLst>
              <a:gd name="adj" fmla="val 2500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8952" y="14996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INGESTEVENTS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171907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Hubs trigger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215798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per batch,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per event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259689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Normalize.psm1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Correlation.psm1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06040" y="1517904"/>
            <a:ext cx="2783738" cy="603504"/>
          </a:xfrm>
          <a:prstGeom prst="roundRect">
            <a:avLst>
              <a:gd name="adj" fmla="val 7576"/>
            </a:avLst>
          </a:prstGeom>
          <a:solidFill>
            <a:srgbClr val="22314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97480" y="1581912"/>
            <a:ext cx="26008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ConvertTo-PipelineEvent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697480" y="1801368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payload shapes become one event object. Successes are dropped here - a success is not an event.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170322" y="1609344"/>
            <a:ext cx="109728" cy="109728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14" name="Shape 11"/>
          <p:cNvSpPr/>
          <p:nvPr/>
        </p:nvSpPr>
        <p:spPr>
          <a:xfrm>
            <a:off x="5417210" y="1803654"/>
            <a:ext cx="146304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15" name="Shape 12"/>
          <p:cNvSpPr/>
          <p:nvPr/>
        </p:nvSpPr>
        <p:spPr>
          <a:xfrm rot="5400000">
            <a:off x="5563514" y="1751076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16" name="Shape 13"/>
          <p:cNvSpPr/>
          <p:nvPr/>
        </p:nvSpPr>
        <p:spPr>
          <a:xfrm>
            <a:off x="5709818" y="1517904"/>
            <a:ext cx="2783738" cy="603504"/>
          </a:xfrm>
          <a:prstGeom prst="roundRect">
            <a:avLst>
              <a:gd name="adj" fmla="val 7576"/>
            </a:avLst>
          </a:prstGeom>
          <a:solidFill>
            <a:srgbClr val="2231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801258" y="1581912"/>
            <a:ext cx="26008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Write-RawEvent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801258" y="1801368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exactly as it arrived, before anything is merged away. This is the RawEvents firehose.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274101" y="1609344"/>
            <a:ext cx="109728" cy="109728"/>
          </a:xfrm>
          <a:prstGeom prst="ellipse">
            <a:avLst/>
          </a:prstGeom>
          <a:solidFill>
            <a:srgbClr val="46B98A"/>
          </a:solidFill>
          <a:ln/>
        </p:spPr>
      </p:sp>
      <p:sp>
        <p:nvSpPr>
          <p:cNvPr id="20" name="Shape 17"/>
          <p:cNvSpPr/>
          <p:nvPr/>
        </p:nvSpPr>
        <p:spPr>
          <a:xfrm>
            <a:off x="8520989" y="1803654"/>
            <a:ext cx="146304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21" name="Shape 18"/>
          <p:cNvSpPr/>
          <p:nvPr/>
        </p:nvSpPr>
        <p:spPr>
          <a:xfrm rot="5400000">
            <a:off x="8667293" y="1751076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22" name="Shape 19"/>
          <p:cNvSpPr/>
          <p:nvPr/>
        </p:nvSpPr>
        <p:spPr>
          <a:xfrm>
            <a:off x="8813597" y="1517904"/>
            <a:ext cx="2783738" cy="603504"/>
          </a:xfrm>
          <a:prstGeom prst="roundRect">
            <a:avLst>
              <a:gd name="adj" fmla="val 7576"/>
            </a:avLst>
          </a:prstGeom>
          <a:solidFill>
            <a:srgbClr val="223140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05037" y="1581912"/>
            <a:ext cx="26008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Add-EventToIncident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905037" y="1801368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correlator. Everything on the row below happens inside this one call, in this order.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11377879" y="160934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606040" y="2176272"/>
            <a:ext cx="8991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Add-EventToIncident, for each event, left to right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606040" y="2359152"/>
            <a:ext cx="1637325" cy="1078992"/>
          </a:xfrm>
          <a:prstGeom prst="roundRect">
            <a:avLst>
              <a:gd name="adj" fmla="val 4237"/>
            </a:avLst>
          </a:prstGeom>
          <a:solidFill>
            <a:srgbClr val="22314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697480" y="2423160"/>
            <a:ext cx="14544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Get-PrimaryKey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Get-IncidentId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2697480" y="2752344"/>
            <a:ext cx="145444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incident: host &gt; resource &gt; service &gt; trace, then hashed.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697480" y="3163824"/>
            <a:ext cx="114300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697480" y="31638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INCIDENT?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270797" y="2882646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33" name="Shape 30"/>
          <p:cNvSpPr/>
          <p:nvPr/>
        </p:nvSpPr>
        <p:spPr>
          <a:xfrm rot="5400000">
            <a:off x="4298229" y="2830068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34" name="Shape 31"/>
          <p:cNvSpPr/>
          <p:nvPr/>
        </p:nvSpPr>
        <p:spPr>
          <a:xfrm>
            <a:off x="4444533" y="2359152"/>
            <a:ext cx="1637325" cy="1078992"/>
          </a:xfrm>
          <a:prstGeom prst="roundRect">
            <a:avLst>
              <a:gd name="adj" fmla="val 4237"/>
            </a:avLst>
          </a:prstGeom>
          <a:solidFill>
            <a:srgbClr val="22314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35973" y="2423160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Get-Fingerprint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4535973" y="2642616"/>
            <a:ext cx="14544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symptom. Digits → N, then source | kind | title | resource | host, hashed.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35973" y="3163824"/>
            <a:ext cx="114300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5973" y="31638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SYMPTOM?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109289" y="2882646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40" name="Shape 37"/>
          <p:cNvSpPr/>
          <p:nvPr/>
        </p:nvSpPr>
        <p:spPr>
          <a:xfrm rot="5400000">
            <a:off x="6136721" y="2830068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41" name="Shape 38"/>
          <p:cNvSpPr/>
          <p:nvPr/>
        </p:nvSpPr>
        <p:spPr>
          <a:xfrm>
            <a:off x="6283025" y="2359152"/>
            <a:ext cx="1637325" cy="1078992"/>
          </a:xfrm>
          <a:prstGeom prst="roundRect">
            <a:avLst>
              <a:gd name="adj" fmla="val 4237"/>
            </a:avLst>
          </a:prstGeom>
          <a:solidFill>
            <a:srgbClr val="22314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374465" y="2423160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New-Incident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6374465" y="2642616"/>
            <a:ext cx="14544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incident row, or revive it if it went quiet longer than the window.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947782" y="2882646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45" name="Shape 42"/>
          <p:cNvSpPr/>
          <p:nvPr/>
        </p:nvSpPr>
        <p:spPr>
          <a:xfrm rot="5400000">
            <a:off x="7975214" y="2830068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46" name="Shape 43"/>
          <p:cNvSpPr/>
          <p:nvPr/>
        </p:nvSpPr>
        <p:spPr>
          <a:xfrm>
            <a:off x="8121518" y="2359152"/>
            <a:ext cx="1637325" cy="1078992"/>
          </a:xfrm>
          <a:prstGeom prst="roundRect">
            <a:avLst>
              <a:gd name="adj" fmla="val 4237"/>
            </a:avLst>
          </a:prstGeom>
          <a:solidFill>
            <a:srgbClr val="22314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8212958" y="2423160"/>
            <a:ext cx="14544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Events(id, fp)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window?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8212958" y="2660904"/>
            <a:ext cx="14544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Count + 1, outcome deduped. No: POST a new symptom row, outcome new-symptom.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9786275" y="2882646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50" name="Shape 47"/>
          <p:cNvSpPr/>
          <p:nvPr/>
        </p:nvSpPr>
        <p:spPr>
          <a:xfrm rot="5400000">
            <a:off x="9813707" y="2830068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51" name="Shape 48"/>
          <p:cNvSpPr/>
          <p:nvPr/>
        </p:nvSpPr>
        <p:spPr>
          <a:xfrm>
            <a:off x="9960011" y="2359152"/>
            <a:ext cx="1637325" cy="1078992"/>
          </a:xfrm>
          <a:prstGeom prst="roundRect">
            <a:avLst>
              <a:gd name="adj" fmla="val 4237"/>
            </a:avLst>
          </a:prstGeom>
          <a:solidFill>
            <a:srgbClr val="223140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0051451" y="2423160"/>
            <a:ext cx="14544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the incident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0051451" y="2660904"/>
            <a:ext cx="14544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LastSeen and TouchedAt, unconditional. Nothing on the incident row is a counter, so nothing can race.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94360" y="3730752"/>
            <a:ext cx="11002975" cy="1335024"/>
          </a:xfrm>
          <a:prstGeom prst="roundRect">
            <a:avLst>
              <a:gd name="adj" fmla="val 4110"/>
            </a:avLst>
          </a:prstGeom>
          <a:solidFill>
            <a:srgbClr val="19242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758952" y="385876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ANALYZETIMER  ·  ANALYZE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58952" y="407822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minute,</a:t>
            </a:r>
            <a:endParaRPr lang="en-US" sz="12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on demand</a:t>
            </a:r>
            <a:endParaRPr lang="en-US" sz="1250" dirty="0"/>
          </a:p>
        </p:txBody>
      </p:sp>
      <p:sp>
        <p:nvSpPr>
          <p:cNvPr id="57" name="Text 54"/>
          <p:cNvSpPr txBox="1"/>
          <p:nvPr/>
        </p:nvSpPr>
        <p:spPr>
          <a:xfrm>
            <a:off x="758952" y="45171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to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Invoke-IncidentAnalysis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758952" y="484632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Ai.psm1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2606040" y="3877056"/>
            <a:ext cx="1637325" cy="1042416"/>
          </a:xfrm>
          <a:prstGeom prst="roundRect">
            <a:avLst>
              <a:gd name="adj" fmla="val 4386"/>
            </a:avLst>
          </a:prstGeom>
          <a:solidFill>
            <a:srgbClr val="223140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697480" y="3941064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Get-OpenIncident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2697480" y="4160520"/>
            <a:ext cx="14544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open incident seen in the last 60 minutes.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4270797" y="4382262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63" name="Shape 60"/>
          <p:cNvSpPr/>
          <p:nvPr/>
        </p:nvSpPr>
        <p:spPr>
          <a:xfrm rot="5400000">
            <a:off x="4298229" y="432968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64" name="Shape 61"/>
          <p:cNvSpPr/>
          <p:nvPr/>
        </p:nvSpPr>
        <p:spPr>
          <a:xfrm>
            <a:off x="4444533" y="3877056"/>
            <a:ext cx="1637325" cy="1042416"/>
          </a:xfrm>
          <a:prstGeom prst="roundRect">
            <a:avLst>
              <a:gd name="adj" fmla="val 4386"/>
            </a:avLst>
          </a:prstGeom>
          <a:solidFill>
            <a:srgbClr val="223140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4535973" y="3941064"/>
            <a:ext cx="14544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touched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last pass?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4535973" y="4178808"/>
            <a:ext cx="145444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row remembers LastRun. A quiet minute costs nothing. -Force skips the check for the demo.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6109289" y="4382262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68" name="Shape 65"/>
          <p:cNvSpPr/>
          <p:nvPr/>
        </p:nvSpPr>
        <p:spPr>
          <a:xfrm rot="5400000">
            <a:off x="6136721" y="432968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69" name="Shape 66"/>
          <p:cNvSpPr/>
          <p:nvPr/>
        </p:nvSpPr>
        <p:spPr>
          <a:xfrm>
            <a:off x="6283025" y="3877056"/>
            <a:ext cx="1637325" cy="1042416"/>
          </a:xfrm>
          <a:prstGeom prst="roundRect">
            <a:avLst>
              <a:gd name="adj" fmla="val 4386"/>
            </a:avLst>
          </a:prstGeom>
          <a:solidFill>
            <a:srgbClr val="223140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6374465" y="3941064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Get-IncidentBrief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6374465" y="4160520"/>
            <a:ext cx="14544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symptoms per incident. Row keys and plumbing stripped - the model sees the outage, not the schema.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7947782" y="4382262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73" name="Shape 70"/>
          <p:cNvSpPr/>
          <p:nvPr/>
        </p:nvSpPr>
        <p:spPr>
          <a:xfrm rot="5400000">
            <a:off x="7975214" y="432968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74" name="Shape 71"/>
          <p:cNvSpPr/>
          <p:nvPr/>
        </p:nvSpPr>
        <p:spPr>
          <a:xfrm>
            <a:off x="8121518" y="3877056"/>
            <a:ext cx="1637325" cy="1042416"/>
          </a:xfrm>
          <a:prstGeom prst="roundRect">
            <a:avLst>
              <a:gd name="adj" fmla="val 4386"/>
            </a:avLst>
          </a:prstGeom>
          <a:solidFill>
            <a:srgbClr val="22314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212958" y="3941064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Invoke-OpenAI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8212958" y="4160520"/>
            <a:ext cx="145444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call. gpt-4.1-mini, temp 0, JSON out, parsed by ConvertFrom-ModelJson.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8212958" y="4645152"/>
            <a:ext cx="114300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0443E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8212958" y="464515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PROBLEM?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9786275" y="4382262"/>
            <a:ext cx="27432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80" name="Shape 77"/>
          <p:cNvSpPr/>
          <p:nvPr/>
        </p:nvSpPr>
        <p:spPr>
          <a:xfrm rot="5400000">
            <a:off x="9813707" y="432968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81" name="Shape 78"/>
          <p:cNvSpPr/>
          <p:nvPr/>
        </p:nvSpPr>
        <p:spPr>
          <a:xfrm>
            <a:off x="9960011" y="3877056"/>
            <a:ext cx="1637325" cy="1042416"/>
          </a:xfrm>
          <a:prstGeom prst="roundRect">
            <a:avLst>
              <a:gd name="adj" fmla="val 4386"/>
            </a:avLst>
          </a:prstGeom>
          <a:solidFill>
            <a:srgbClr val="223140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10051451" y="3941064"/>
            <a:ext cx="14544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Write-IncidentVerdict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10051451" y="4160520"/>
            <a:ext cx="14544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incident: cause, downstream, unrelated or forgotten. Clusters of one are demoted. Then LastRun moves.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594360" y="5230368"/>
            <a:ext cx="11002975" cy="896112"/>
          </a:xfrm>
          <a:prstGeom prst="roundRect">
            <a:avLst>
              <a:gd name="adj" fmla="val 6122"/>
            </a:avLst>
          </a:prstGeom>
          <a:solidFill>
            <a:srgbClr val="19242F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758952" y="53583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GETINCIDENTS</a:t>
            </a:r>
            <a:endParaRPr lang="en-US" sz="950" dirty="0"/>
          </a:p>
        </p:txBody>
      </p:sp>
      <p:sp>
        <p:nvSpPr>
          <p:cNvPr id="86" name="Text 83"/>
          <p:cNvSpPr txBox="1"/>
          <p:nvPr/>
        </p:nvSpPr>
        <p:spPr>
          <a:xfrm>
            <a:off x="758952" y="55778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HTTP, when the</a:t>
            </a:r>
            <a:endParaRPr lang="en-US" sz="12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refreshes</a:t>
            </a:r>
            <a:endParaRPr lang="en-US" sz="1250" dirty="0"/>
          </a:p>
        </p:txBody>
      </p:sp>
      <p:sp>
        <p:nvSpPr>
          <p:cNvPr id="87" name="Shape 84"/>
          <p:cNvSpPr/>
          <p:nvPr/>
        </p:nvSpPr>
        <p:spPr>
          <a:xfrm>
            <a:off x="2606040" y="5367528"/>
            <a:ext cx="2783738" cy="621792"/>
          </a:xfrm>
          <a:prstGeom prst="roundRect">
            <a:avLst>
              <a:gd name="adj" fmla="val 7353"/>
            </a:avLst>
          </a:prstGeom>
          <a:solidFill>
            <a:srgbClr val="223140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2697480" y="5431536"/>
            <a:ext cx="2600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2697480" y="5669280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open in the last 2 hours, plus their Events rows. Imports Plumbing.psm1 and nothing else.</a:t>
            </a:r>
            <a:endParaRPr lang="en-US" sz="850" dirty="0"/>
          </a:p>
        </p:txBody>
      </p:sp>
      <p:sp>
        <p:nvSpPr>
          <p:cNvPr id="90" name="Shape 87"/>
          <p:cNvSpPr/>
          <p:nvPr/>
        </p:nvSpPr>
        <p:spPr>
          <a:xfrm>
            <a:off x="5417210" y="5662422"/>
            <a:ext cx="146304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91" name="Shape 88"/>
          <p:cNvSpPr/>
          <p:nvPr/>
        </p:nvSpPr>
        <p:spPr>
          <a:xfrm rot="5400000">
            <a:off x="5563514" y="560984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92" name="Shape 89"/>
          <p:cNvSpPr/>
          <p:nvPr/>
        </p:nvSpPr>
        <p:spPr>
          <a:xfrm>
            <a:off x="5709818" y="5367528"/>
            <a:ext cx="2783738" cy="621792"/>
          </a:xfrm>
          <a:prstGeom prst="roundRect">
            <a:avLst>
              <a:gd name="adj" fmla="val 7353"/>
            </a:avLst>
          </a:prstGeom>
          <a:solidFill>
            <a:srgbClr val="223140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5801258" y="5431536"/>
            <a:ext cx="2600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50" dirty="0"/>
          </a:p>
        </p:txBody>
      </p:sp>
      <p:sp>
        <p:nvSpPr>
          <p:cNvPr id="94" name="Text 91"/>
          <p:cNvSpPr txBox="1"/>
          <p:nvPr/>
        </p:nvSpPr>
        <p:spPr>
          <a:xfrm>
            <a:off x="5801258" y="5669280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?view= raw · summary · sources · tree · incidents · symptoms - one per visual on the workbook.</a:t>
            </a:r>
            <a:endParaRPr lang="en-US" sz="850" dirty="0"/>
          </a:p>
        </p:txBody>
      </p:sp>
      <p:sp>
        <p:nvSpPr>
          <p:cNvPr id="95" name="Shape 92"/>
          <p:cNvSpPr/>
          <p:nvPr/>
        </p:nvSpPr>
        <p:spPr>
          <a:xfrm>
            <a:off x="8520989" y="5662422"/>
            <a:ext cx="146304" cy="3200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96" name="Shape 93"/>
          <p:cNvSpPr/>
          <p:nvPr/>
        </p:nvSpPr>
        <p:spPr>
          <a:xfrm rot="5400000">
            <a:off x="8667293" y="5609844"/>
            <a:ext cx="118872" cy="137160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97" name="Shape 94"/>
          <p:cNvSpPr/>
          <p:nvPr/>
        </p:nvSpPr>
        <p:spPr>
          <a:xfrm>
            <a:off x="8813597" y="5367528"/>
            <a:ext cx="2783738" cy="621792"/>
          </a:xfrm>
          <a:prstGeom prst="roundRect">
            <a:avLst>
              <a:gd name="adj" fmla="val 7353"/>
            </a:avLst>
          </a:prstGeom>
          <a:solidFill>
            <a:srgbClr val="223140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8905037" y="5431536"/>
            <a:ext cx="2600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99" name="Text 96"/>
          <p:cNvSpPr txBox="1"/>
          <p:nvPr/>
        </p:nvSpPr>
        <p:spPr>
          <a:xfrm>
            <a:off x="8905037" y="5669280"/>
            <a:ext cx="2600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the workbook can colour. No correlation logic lives here; it is presentation only.</a:t>
            </a:r>
            <a:endParaRPr lang="en-US" sz="850" dirty="0"/>
          </a:p>
        </p:txBody>
      </p:sp>
      <p:sp>
        <p:nvSpPr>
          <p:cNvPr id="100" name="Text 97"/>
          <p:cNvSpPr txBox="1"/>
          <p:nvPr/>
        </p:nvSpPr>
        <p:spPr>
          <a:xfrm>
            <a:off x="594360" y="6236208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questions are not two passes. </a:t>
            </a:r>
            <a:pPr algn="ctr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two halves of one row address - </a:t>
            </a:r>
            <a:pPr algn="ctr"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Events(PartitionKey = incident id, RowKey = fingerprint)</a:t>
            </a:r>
            <a:pPr algn="ctr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and the code works out the incident before the symptom.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FUNCTION, BY JOB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function answers which question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389888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1490472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17556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Normalize.psm1 (10)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2743200" y="1463040"/>
            <a:ext cx="867125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ConvertTo-PipelineEvent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entry point: sniffs the payload shape and hands off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ConvertFrom-AppInsightsRecord · -AzureMonitorAlert · -ScriptEvent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per shape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Get-HostFromTarget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 dependency’s Target becomes the host, so the app’s failed call joins the server’s incident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Get-Field · Get-ExceptionMessage · Format-Time · New-PipelineEvent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" y="2359152"/>
            <a:ext cx="11002975" cy="603504"/>
          </a:xfrm>
          <a:prstGeom prst="roundRect">
            <a:avLst>
              <a:gd name="adj" fmla="val 9091"/>
            </a:avLst>
          </a:prstGeom>
          <a:solidFill>
            <a:srgbClr val="19242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95528" y="245973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symptom?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" y="2724912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" y="27249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72491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Correlation.psm1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432304"/>
            <a:ext cx="86712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Get-Fingerprint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SHA256 of source | kind | title with digits → N | resource | host.  Four lines. The whole answer.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3063240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1924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5528" y="31638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incident?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5528" y="342900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" y="34290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34290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Correlation.psm1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3136392"/>
            <a:ext cx="867125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Get-PrimaryKey · Get-IncidentId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one key that decides the incident, and the id derived from 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Get-EventKey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every key the event carries, for the “correlated on” line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Add-EventToIncident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orchestrator - the only thing IngestEvents calls after archiving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New-Incident · Write-RawEvent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writes; neither is conditional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4360" y="4032504"/>
            <a:ext cx="11002975" cy="713232"/>
          </a:xfrm>
          <a:prstGeom prst="roundRect">
            <a:avLst>
              <a:gd name="adj" fmla="val 7692"/>
            </a:avLst>
          </a:prstGeom>
          <a:solidFill>
            <a:srgbClr val="19242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95528" y="413308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Plumbing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" y="43982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Plumbing.psm1 (9)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105656"/>
            <a:ext cx="867125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Invoke-Table · Get-TableRow · Get-OpenIncident · Measure-Incident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Table Storage over REST, and the totals the incident row does not store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Get-ResourceToken · Get-StorageToken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managed identity, one token per resource, cached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Get-HttpStatus · ConvertTo-TableLiteral · ConvertTo-Utc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small conversions everyone leans 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4360" y="4846320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19242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95528" y="4946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problem?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95528" y="52120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E1621"/>
          </a:solidFill>
          <a:ln w="12700">
            <a:solidFill>
              <a:srgbClr val="E0443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28" y="52120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645920" y="52120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Ai.psm1 (5)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2743200" y="4919472"/>
            <a:ext cx="867125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Invoke-IncidentAnalysis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pass: fetch, skip if quiet, brief, ask, write back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Get-IncidentBrief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what the model is allowed to see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Invoke-OpenAI · ConvertFrom-ModelJson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one call, and the JSON it must return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Write-IncidentVerdict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incident’s verdict, a plain merge - it sends no counters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4360" y="5815584"/>
            <a:ext cx="11002975" cy="603504"/>
          </a:xfrm>
          <a:prstGeom prst="roundRect">
            <a:avLst>
              <a:gd name="adj" fmla="val 9091"/>
            </a:avLst>
          </a:prstGeom>
          <a:solidFill>
            <a:srgbClr val="19242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95528" y="591616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" y="61813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GetIncidents/run.ps1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2743200" y="5888736"/>
            <a:ext cx="86712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 ?view= shapes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raw · summary · sources · tree · incidents · symptoms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Format-Count · Format-Age · Write-Json · Get-TableRow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local helpers - that last one is a filter query, not the module’s point read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653796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functions. Three of them decide what belongs together. One of them talks to a model.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INGESTEVENTS / RUN.PS1  ·  34 LINES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trigger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3730752"/>
          </a:xfrm>
          <a:prstGeom prst="roundRect">
            <a:avLst>
              <a:gd name="adj" fmla="val 1471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($message in @($eventHubMessages)) {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43607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$payload = $message | ConvertFrom-Json -Depth 50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75534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007462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foreach ($event in ConvertTo-PipelineEvent -Payload $payload) {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339389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($event.Success) { $dropped++; continue }  # a success is not news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671316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03243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6B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Write-RawEvent      -Event $event   # keep the firehose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335170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Add-EventToIncident -Event $event   # correlate it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67098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999025"/>
            <a:ext cx="10362895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94360" y="5833872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2231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6035040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hub, normalise, throw away the successes, correlate. </a:t>
            </a:r>
            <a:pPr indent="0" marL="0">
              <a:buNone/>
            </a:pPr>
            <a:r>
              <a:rPr lang="en-US" sz="17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this session is one of those three verbs, opened up.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NORMALIZE.PSM1  ·  122 LINES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shapes, one object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6949440" cy="1849831"/>
          </a:xfrm>
          <a:prstGeom prst="roundRect">
            <a:avLst>
              <a:gd name="adj" fmla="val 2966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6309360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Get-PayloadShape {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299350"/>
            <a:ext cx="6309360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($Payload.records)         { 'appinsights' }  # diagnostic setting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587020"/>
            <a:ext cx="6309360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($Payload.data.essentials) { 'alert' }        # common alert schema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874691"/>
            <a:ext cx="6309360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($Payload.tool)            { 'script' }       # our own senders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2361"/>
            <a:ext cx="6309360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863840" y="1783080"/>
            <a:ext cx="3749040" cy="1849831"/>
          </a:xfrm>
          <a:prstGeom prst="roundRect">
            <a:avLst>
              <a:gd name="adj" fmla="val 2966"/>
            </a:avLst>
          </a:prstGeom>
          <a:solidFill>
            <a:srgbClr val="2231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38160" y="1938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the other side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30428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 Kind     Time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Title   Message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TraceId Host     Resource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" y="3998671"/>
            <a:ext cx="11002975" cy="1143000"/>
          </a:xfrm>
          <a:prstGeom prst="roundRect">
            <a:avLst>
              <a:gd name="adj" fmla="val 4800"/>
            </a:avLst>
          </a:prstGeom>
          <a:solidFill>
            <a:srgbClr val="22314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4199839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source disagrees about field names. </a:t>
            </a:r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OperationId or operation_Id. TimeGenerated or time or timestamp. Nothing downstream can be written until one object comes out of here - and this is the part everyone underestimates when they plan a pipeline like this.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CORRELATION.PSM1  ·  IS THIS THE SAME SYMPTOM?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Deduplication is three lines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1340876"/>
          </a:xfrm>
          <a:prstGeom prst="roundRect">
            <a:avLst>
              <a:gd name="adj" fmla="val 4092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10362895" cy="309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$title = $Event.Title -replace '\d+', 'N'          # 480 ms and 8 ms are the same symptom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21479"/>
            <a:ext cx="10362895" cy="309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$seed  = "$Source|$Kind|$title|$ResourceId|$Host".ToLowerInvariant()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31277"/>
            <a:ext cx="10362895" cy="309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$hash  = [Security.Cryptography.SHA256]::HashData([Text.Encoding]::UTF8.GetBytes($seed))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" y="3398276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19242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35354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855476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410 ms, sustained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455 ms, sustained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480 ms, sustained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512 ms, sustained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498 ms, sustained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466 ms, sustained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40383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6355080" y="3398276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22314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75120" y="35354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9652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Disk read latency N ms, sustained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44224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 ·  seen 6 times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94360" y="5382524"/>
            <a:ext cx="11002975" cy="914400"/>
          </a:xfrm>
          <a:prstGeom prst="roundRect">
            <a:avLst>
              <a:gd name="adj" fmla="val 6000"/>
            </a:avLst>
          </a:prstGeom>
          <a:solidFill>
            <a:srgbClr val="2231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5583692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of digits collapses.  </a:t>
            </a:r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Durations, counts, percentages and addresses are values, not identities - 300 identical checkout failures become one row with a count, not 300 rows.  </a:t>
            </a:r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cost: </a:t>
            </a:r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"Port 22 closed" and "Port 443 closed" collapse together too.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CORRELATION.PSM1  ·  IS THIS THE SAME INCIDENT?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derived, not invented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2712842"/>
          </a:xfrm>
          <a:prstGeom prst="roundRect">
            <a:avLst>
              <a:gd name="adj" fmla="val 2022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Get-PrimaryKey {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29935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($Event.Host)       { return "host:$($Event.Host)" }             # a machine name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58702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($Event.ResourceId) { return "resource:$($Event.ResourceId)" }   # an Azure resource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87469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($Event.Service)    { return "service:$($Event.Service)" }       # a role, when there is no host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236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($Event.TraceId)    { return "trace:$($Event.TraceId)" }         # last: one per request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45003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73770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025372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B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$incidentId = 'inc-' + (Sha256 $primaryKey).Substring(0, 12)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94360" y="4815962"/>
            <a:ext cx="11002975" cy="1188720"/>
          </a:xfrm>
          <a:prstGeom prst="roundRect">
            <a:avLst>
              <a:gd name="adj" fmla="val 4615"/>
            </a:avLst>
          </a:prstGeom>
          <a:solidFill>
            <a:srgbClr val="22314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501713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match wins, and the id is a hash of it. </a:t>
            </a:r>
            <a:pPr indent="0" marL="0">
              <a:buNone/>
            </a:pPr>
            <a:r>
              <a:rPr lang="en-US" sz="16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 reporting sql-prod-03 all produce the same key, so they all produce the same incident id - nothing is looked up, nothing is generated, nothing can drift. The same host always lands in the same incident.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AI.PSM1  ·  THE MODEL CALL IS 29 LINES OF IT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is the easy part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3575853"/>
          </a:xfrm>
          <a:prstGeom prst="roundRect">
            <a:avLst>
              <a:gd name="adj" fmla="val 1534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$body = @{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29935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@(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587020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@{ role = 'system'; content = $SystemPrompt }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87469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@{ role = 'user';   content = ($incidents | ConvertTo-Json -Depth 8) }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236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45003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temperature     = 0                          # same events, same 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737701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response_format = @{ type = 'json_object' }   # not prose, a contract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025372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313042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600712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Invoke-RestMethod -Uri $uri -Method Post -Body ($body | ConvertTo-Json -Depth 10) `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888382"/>
            <a:ext cx="10362895" cy="28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B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-Headers @{ Authorization = "Bearer $(Get-ResourceToken ...)" }  # managed identity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94360" y="5678973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2231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5880141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698 words. The code that sends it is 29 lines. </a:t>
            </a:r>
            <a:pPr indent="0" marL="0">
              <a:buNone/>
            </a:pPr>
            <a:r>
              <a:rPr lang="en-US" sz="17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this repo exists to make sure the question is worth asking.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912 LINES OF POWERSHELL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lines actually are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8013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endpoint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GetIncidents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94960" y="1837944"/>
            <a:ext cx="4937760" cy="237744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469880" y="18013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2768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stage (100 is the prompt)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2304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Ai.psm1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94960" y="2313432"/>
            <a:ext cx="4706303" cy="237744"/>
          </a:xfrm>
          <a:prstGeom prst="rect">
            <a:avLst/>
          </a:prstGeom>
          <a:solidFill>
            <a:srgbClr val="E0443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469880" y="22768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7523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correlation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2779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Correlation.psm1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94960" y="2788920"/>
            <a:ext cx="2661761" cy="23774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469880" y="275234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2278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Normalising three shapes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Normalize.psm1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94960" y="3264408"/>
            <a:ext cx="2353151" cy="237744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469880" y="32278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Storage plumbing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657600" y="37307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Plumbing.psm1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394960" y="3739896"/>
            <a:ext cx="1697355" cy="237744"/>
          </a:xfrm>
          <a:prstGeom prst="rect">
            <a:avLst/>
          </a:prstGeom>
          <a:solidFill>
            <a:srgbClr val="7C90A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469880" y="3703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" y="41788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Hubs trigger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IngestEvents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394960" y="4215384"/>
            <a:ext cx="636508" cy="237744"/>
          </a:xfrm>
          <a:prstGeom prst="rect">
            <a:avLst/>
          </a:prstGeom>
          <a:solidFill>
            <a:srgbClr val="46B98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469880" y="41788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465429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+ HTTP triggers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0" y="46817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Analyze*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394960" y="4690872"/>
            <a:ext cx="597932" cy="237744"/>
          </a:xfrm>
          <a:prstGeom prst="rect">
            <a:avLst/>
          </a:prstGeom>
          <a:solidFill>
            <a:srgbClr val="46B98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69880" y="46542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94360" y="5349240"/>
            <a:ext cx="11002975" cy="914400"/>
          </a:xfrm>
          <a:prstGeom prst="roundRect">
            <a:avLst>
              <a:gd name="adj" fmla="val 6000"/>
            </a:avLst>
          </a:prstGeom>
          <a:solidFill>
            <a:srgbClr val="22314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68680" y="5550408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 is 29 of those lines. </a:t>
            </a:r>
            <a:pPr indent="0" marL="0">
              <a:buNone/>
            </a:pPr>
            <a:r>
              <a:rPr lang="en-US" sz="16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Ninety-seven percent of this is plumbing, normalising and arithmetic - which is roughly the ratio you should expect from any AI feature that actually ships.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SLIDE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2743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loudest thing is almost never the cause.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one-line qualifier lives here, if it needs 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cards across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3423818" cy="3703320"/>
          </a:xfrm>
          <a:prstGeom prst="roundRect">
            <a:avLst>
              <a:gd name="adj" fmla="val 1602"/>
            </a:avLst>
          </a:prstGeom>
          <a:solidFill>
            <a:srgbClr val="19242F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432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004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it answers?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4048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 of supporting detail, no more than about twenty words.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9204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beat.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83938" y="1783080"/>
            <a:ext cx="3423818" cy="3703320"/>
          </a:xfrm>
          <a:prstGeom prst="roundRect">
            <a:avLst>
              <a:gd name="adj" fmla="val 1602"/>
            </a:avLst>
          </a:prstGeom>
          <a:solidFill>
            <a:srgbClr val="19242F"/>
          </a:solidFill>
          <a:ln/>
        </p:spPr>
      </p:sp>
      <p:sp>
        <p:nvSpPr>
          <p:cNvPr id="13" name="Shape 10"/>
          <p:cNvSpPr/>
          <p:nvPr/>
        </p:nvSpPr>
        <p:spPr>
          <a:xfrm>
            <a:off x="4703978" y="210312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397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703978" y="27432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thing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4703978" y="32004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it answers?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3978" y="384048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three bodies roughly the same length or the row looks broken.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703978" y="489204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beat.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173517" y="1783080"/>
            <a:ext cx="3423818" cy="3703320"/>
          </a:xfrm>
          <a:prstGeom prst="roundRect">
            <a:avLst>
              <a:gd name="adj" fmla="val 1602"/>
            </a:avLst>
          </a:prstGeom>
          <a:solidFill>
            <a:srgbClr val="19242F"/>
          </a:solidFill>
          <a:ln/>
        </p:spPr>
      </p:sp>
      <p:sp>
        <p:nvSpPr>
          <p:cNvPr id="20" name="Shape 17"/>
          <p:cNvSpPr/>
          <p:nvPr/>
        </p:nvSpPr>
        <p:spPr>
          <a:xfrm>
            <a:off x="8493557" y="2103120"/>
            <a:ext cx="457200" cy="457200"/>
          </a:xfrm>
          <a:prstGeom prst="ellipse">
            <a:avLst/>
          </a:prstGeom>
          <a:solidFill>
            <a:srgbClr val="E0443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9355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493557" y="27432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thing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8493557" y="32004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it answers?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493557" y="384048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card is where the argument lands, so give it the accent colour.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93557" y="489204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beat.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576072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under the row is where you say what the three add up to.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rows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1207008"/>
          </a:xfrm>
          <a:prstGeom prst="roundRect">
            <a:avLst>
              <a:gd name="adj" fmla="val 4545"/>
            </a:avLst>
          </a:prstGeom>
          <a:solidFill>
            <a:srgbClr val="19242F"/>
          </a:solidFill>
          <a:ln/>
        </p:spPr>
      </p:sp>
      <p:sp>
        <p:nvSpPr>
          <p:cNvPr id="6" name="Shape 3"/>
          <p:cNvSpPr/>
          <p:nvPr/>
        </p:nvSpPr>
        <p:spPr>
          <a:xfrm>
            <a:off x="886968" y="214884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86968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6596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bold statement per row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38658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line of detail underneath it, in muted grey.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94360" y="3154680"/>
            <a:ext cx="11002975" cy="1207008"/>
          </a:xfrm>
          <a:prstGeom prst="roundRect">
            <a:avLst>
              <a:gd name="adj" fmla="val 4545"/>
            </a:avLst>
          </a:prstGeom>
          <a:solidFill>
            <a:srgbClr val="19242F"/>
          </a:solidFill>
          <a:ln/>
        </p:spPr>
      </p:sp>
      <p:sp>
        <p:nvSpPr>
          <p:cNvPr id="11" name="Shape 8"/>
          <p:cNvSpPr/>
          <p:nvPr/>
        </p:nvSpPr>
        <p:spPr>
          <a:xfrm>
            <a:off x="886968" y="3520440"/>
            <a:ext cx="475488" cy="475488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8696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33756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rows are full content width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375818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them read faster than columns from the back of a room.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4360" y="4526280"/>
            <a:ext cx="11002975" cy="1207008"/>
          </a:xfrm>
          <a:prstGeom prst="roundRect">
            <a:avLst>
              <a:gd name="adj" fmla="val 4545"/>
            </a:avLst>
          </a:prstGeom>
          <a:solidFill>
            <a:srgbClr val="19242F"/>
          </a:solidFill>
          <a:ln/>
        </p:spPr>
      </p:sp>
      <p:sp>
        <p:nvSpPr>
          <p:cNvPr id="16" name="Shape 13"/>
          <p:cNvSpPr/>
          <p:nvPr/>
        </p:nvSpPr>
        <p:spPr>
          <a:xfrm>
            <a:off x="886968" y="4892040"/>
            <a:ext cx="475488" cy="475488"/>
          </a:xfrm>
          <a:prstGeom prst="ellipse">
            <a:avLst/>
          </a:prstGeom>
          <a:solidFill>
            <a:srgbClr val="46B9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86968" y="4892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70916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is the comfortable number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12978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fits. Five means the slide wants to be two slides.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panels, equal weight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left one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3957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bullet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short bullet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to one line each where you can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is the ceiling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355080" y="178308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1924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one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25603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~3.5k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59689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worth saying out loud, with its unit spelled out beside it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36118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1/min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364845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number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4663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7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70001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number - zero is the most persuasive one you have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chain of consequences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783080"/>
            <a:ext cx="11002975" cy="987552"/>
          </a:xfrm>
          <a:prstGeom prst="roundRect">
            <a:avLst>
              <a:gd name="adj" fmla="val 5556"/>
            </a:avLst>
          </a:prstGeom>
          <a:solidFill>
            <a:srgbClr val="19242F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2996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47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first-host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886200" y="206654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quiet thing that started it, described in one line.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 rot="10800000">
            <a:off x="1042416" y="2825496"/>
            <a:ext cx="155448" cy="118872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2990088"/>
            <a:ext cx="11002975" cy="987552"/>
          </a:xfrm>
          <a:prstGeom prst="roundRect">
            <a:avLst>
              <a:gd name="adj" fmla="val 5556"/>
            </a:avLst>
          </a:prstGeom>
          <a:solidFill>
            <a:srgbClr val="19242F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3236976"/>
            <a:ext cx="502920" cy="502920"/>
          </a:xfrm>
          <a:prstGeom prst="ellipse">
            <a:avLst/>
          </a:prstGeom>
          <a:solidFill>
            <a:srgbClr val="E0443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236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second-host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554480" y="3538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886200" y="32735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did downstream, on a different machine.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10800000">
            <a:off x="1042416" y="4032504"/>
            <a:ext cx="155448" cy="118872"/>
          </a:xfrm>
          <a:prstGeom prst="triangle">
            <a:avLst/>
          </a:prstGeom>
          <a:solidFill>
            <a:srgbClr val="7C90A6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4197096"/>
            <a:ext cx="11002975" cy="987552"/>
          </a:xfrm>
          <a:prstGeom prst="roundRect">
            <a:avLst>
              <a:gd name="adj" fmla="val 5556"/>
            </a:avLst>
          </a:prstGeom>
          <a:solidFill>
            <a:srgbClr val="19242F"/>
          </a:solidFill>
          <a:ln/>
        </p:spPr>
      </p:sp>
      <p:sp>
        <p:nvSpPr>
          <p:cNvPr id="20" name="Shape 17"/>
          <p:cNvSpPr/>
          <p:nvPr/>
        </p:nvSpPr>
        <p:spPr>
          <a:xfrm>
            <a:off x="868680" y="4443984"/>
            <a:ext cx="502920" cy="502920"/>
          </a:xfrm>
          <a:prstGeom prst="ellipse">
            <a:avLst/>
          </a:prstGeom>
          <a:solidFill>
            <a:srgbClr val="E0443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6868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554480" y="43616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F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third-host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47457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886200" y="44805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actually noticed.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94360" y="5349240"/>
            <a:ext cx="11002975" cy="868680"/>
          </a:xfrm>
          <a:prstGeom prst="roundRect">
            <a:avLst>
              <a:gd name="adj" fmla="val 6316"/>
            </a:avLst>
          </a:prstGeom>
          <a:solidFill>
            <a:srgbClr val="22314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8680" y="555040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6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NOW  </a:t>
            </a:r>
            <a:pPr indent="0" marL="0">
              <a:buNone/>
            </a:pPr>
            <a:r>
              <a:rPr lang="en-US" sz="1600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concrete first action, naming the thing to act on.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of machine output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600200"/>
            <a:ext cx="11002975" cy="1760220"/>
          </a:xfrm>
          <a:prstGeom prst="roundRect">
            <a:avLst>
              <a:gd name="adj" fmla="val 3117"/>
            </a:avLst>
          </a:prstGeom>
          <a:solidFill>
            <a:srgbClr val="1924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16:54:31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737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44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737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sql-watch      sql-prod-03    Connection pool exhausted, 97 of 100 in use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0345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16:54:30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20345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20345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storage-watch  sql-prod-03    Disk read latency 480 ms, sustained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16:54:29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783080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51760" y="23317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backup-agent   backup-01      Nightly backup still running, 4 hours over window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26289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16:54:28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783080" y="26289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44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651760" y="26289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apm            app-web-01     Checkout failures 27 percent of requests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16:54:27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783080" y="2926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2926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net-monitor    fw-edge-01     Carrier maintenance window opened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8404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you want them holding while they read it.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74980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flow, left to right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21488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9242F"/>
          </a:solidFill>
          <a:ln/>
        </p:spPr>
      </p:sp>
      <p:sp>
        <p:nvSpPr>
          <p:cNvPr id="6" name="Shape 3"/>
          <p:cNvSpPr/>
          <p:nvPr/>
        </p:nvSpPr>
        <p:spPr>
          <a:xfrm>
            <a:off x="1476756" y="1938528"/>
            <a:ext cx="201168" cy="201168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23774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one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52928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happens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560320" y="28803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52928" y="21488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9242F"/>
          </a:solidFill>
          <a:ln/>
        </p:spPr>
      </p:sp>
      <p:sp>
        <p:nvSpPr>
          <p:cNvPr id="11" name="Shape 8"/>
          <p:cNvSpPr/>
          <p:nvPr/>
        </p:nvSpPr>
        <p:spPr>
          <a:xfrm>
            <a:off x="3735324" y="1938528"/>
            <a:ext cx="201168" cy="201168"/>
          </a:xfrm>
          <a:prstGeom prst="ellipse">
            <a:avLst/>
          </a:prstGeom>
          <a:solidFill>
            <a:srgbClr val="8FA3B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852928" y="23774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two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852928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happens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18888" y="28803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111496" y="21488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9242F"/>
          </a:solidFill>
          <a:ln/>
        </p:spPr>
      </p:sp>
      <p:sp>
        <p:nvSpPr>
          <p:cNvPr id="16" name="Shape 13"/>
          <p:cNvSpPr/>
          <p:nvPr/>
        </p:nvSpPr>
        <p:spPr>
          <a:xfrm>
            <a:off x="5993892" y="1938528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111496" y="23774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three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852928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happens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077456" y="28803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370064" y="21488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9242F"/>
          </a:solidFill>
          <a:ln/>
        </p:spPr>
      </p:sp>
      <p:sp>
        <p:nvSpPr>
          <p:cNvPr id="21" name="Shape 18"/>
          <p:cNvSpPr/>
          <p:nvPr/>
        </p:nvSpPr>
        <p:spPr>
          <a:xfrm>
            <a:off x="8252460" y="1938528"/>
            <a:ext cx="201168" cy="201168"/>
          </a:xfrm>
          <a:prstGeom prst="ellipse">
            <a:avLst/>
          </a:prstGeom>
          <a:solidFill>
            <a:srgbClr val="8FA3B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70064" y="23774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four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852928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happens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336024" y="28803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9628632" y="21488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9242F"/>
          </a:solidFill>
          <a:ln/>
        </p:spPr>
      </p:sp>
      <p:sp>
        <p:nvSpPr>
          <p:cNvPr id="26" name="Shape 23"/>
          <p:cNvSpPr/>
          <p:nvPr/>
        </p:nvSpPr>
        <p:spPr>
          <a:xfrm>
            <a:off x="10511028" y="1938528"/>
            <a:ext cx="201168" cy="201168"/>
          </a:xfrm>
          <a:prstGeom prst="ellipse">
            <a:avLst/>
          </a:prstGeom>
          <a:solidFill>
            <a:srgbClr val="E0443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28632" y="23774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five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852928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happens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4360" y="4526280"/>
            <a:ext cx="11002975" cy="1234440"/>
          </a:xfrm>
          <a:prstGeom prst="roundRect">
            <a:avLst>
              <a:gd name="adj" fmla="val 4444"/>
            </a:avLst>
          </a:prstGeom>
          <a:solidFill>
            <a:srgbClr val="22314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68680" y="4727448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 about the diagram that is not obvious from the diagram. </a:t>
            </a:r>
            <a:pPr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a design decision and why it was made that way.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00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2057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about to run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command, verbatim, so you can read it off the screen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watch for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should change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 that always surprises people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 GOES HERE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2895448" y="1051560"/>
            <a:ext cx="6400800" cy="3602736"/>
          </a:xfrm>
          <a:prstGeom prst="roundRect">
            <a:avLst>
              <a:gd name="adj" fmla="val 1523"/>
            </a:avLst>
          </a:prstGeom>
          <a:solidFill>
            <a:srgbClr val="19242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2895448" y="2286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IMAGE HERE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444088" y="2788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image belongs here, described well enough that you can go find it.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895448" y="3566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1000 px wide  ·  under 3 MB  ·  cover this box, then delete it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956048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caption is the joke, or the point.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58064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an optional line underneath it.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Smarter Monitoring - staging</dc:title>
  <dc:subject>PptxGenJS Presentation</dc:subject>
  <dc:creator>Donnie Taylor</dc:creator>
  <cp:lastModifiedBy>Donnie Taylor</cp:lastModifiedBy>
  <cp:revision>1</cp:revision>
  <dcterms:created xsi:type="dcterms:W3CDTF">2026-09-18T03:07:51Z</dcterms:created>
  <dcterms:modified xsi:type="dcterms:W3CDTF">2026-09-18T03:07:51Z</dcterms:modified>
</cp:coreProperties>
</file>