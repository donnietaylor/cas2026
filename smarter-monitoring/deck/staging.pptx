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before the first demo. The point is that the function that reads the hub is trivially small - all the interesting work is behind three verbs. Read the three lines in the inner loop out loud and move on; the next slides open each one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sources, three completely different JSON shapes, and none of them agree on what a field is called. This is the unglamorous half of any pipeline like this and it is worth saying so - people underestimate it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Layer one, in full. Three lines. Say plainly that this is the entire deduplication engine and that it involves no intelligence of any kind - it is a hash of a string with the numbers taken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Layer two. The ordering is the interesting bit - trace is last on purpose because every request has its own, so it is the worst grouping key available. Then the id is derived from the key rather than generated, which is what makes the whole thing safe under concurrency.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Deflate the AI stage deliberately. It is one HTTP call with temperature zero and a JSON contract. The interesting engineering is everywhere except here - and that is the honest shape of most production AI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closing code slide, and the one that makes the argument. Ninety-seven percent of the code is not AI. If they remember one number from the technical half of the session, make it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statement. One idea, no supporting text. Use it when you want the room looking at you rather than the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three-card row. Comparisons, taxonomies, before/during/after. Works with two to four items; the helper sizes them to the content width.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numbered rows. Sequences, lists of three or four, anything where order matters. Three rows breathe; four is the maximum before it gets cramped.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two panels. Limits and costs, pros and cons, before and after. Both panels are the same width - the numbers here are correct, do not eyeball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chain. Cause at the top, consequences below, triangles between. The colour of the top badge is the whole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log wall. Real-looking output, monospace, severity coloured. It should be hard to read - that is usually why it is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flow. Architecture, pipelines, stages. Five boxes is the comfortable maximum at this width; four reads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demo marker. Warm ground so it is obvious in presenter view that a demo is coming. Put the literal command in the first bullet.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image well. Drop the image over the grey box, then delete the box. The caption stays either way, so the slide still works if the image never turns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621"/>
        </a:solidFill>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INGESTEVENTS / RUN.PS1  ·  34 LINES</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indent="0" marL="0">
              <a:buNone/>
            </a:pPr>
            <a:r>
              <a:rPr lang="en-US" sz="3600" b="1" dirty="0">
                <a:solidFill>
                  <a:srgbClr val="E9EFF6"/>
                </a:solidFill>
                <a:latin typeface="Calibri" pitchFamily="34" charset="0"/>
                <a:ea typeface="Calibri" pitchFamily="34" charset="-122"/>
                <a:cs typeface="Calibri" pitchFamily="34" charset="-120"/>
              </a:rPr>
              <a:t>The whole trigger</a:t>
            </a:r>
            <a:endParaRPr lang="en-US" sz="3600" dirty="0"/>
          </a:p>
        </p:txBody>
      </p:sp>
      <p:sp>
        <p:nvSpPr>
          <p:cNvPr id="5" name="Shape 2"/>
          <p:cNvSpPr/>
          <p:nvPr/>
        </p:nvSpPr>
        <p:spPr>
          <a:xfrm>
            <a:off x="594360" y="1783080"/>
            <a:ext cx="11002975" cy="3730752"/>
          </a:xfrm>
          <a:prstGeom prst="roundRect">
            <a:avLst>
              <a:gd name="adj" fmla="val 1471"/>
            </a:avLst>
          </a:prstGeom>
          <a:solidFill>
            <a:srgbClr val="19242F"/>
          </a:solidFill>
          <a:ln/>
        </p:spPr>
      </p:sp>
      <p:sp>
        <p:nvSpPr>
          <p:cNvPr id="6" name="Text 3"/>
          <p:cNvSpPr txBox="1"/>
          <p:nvPr/>
        </p:nvSpPr>
        <p:spPr>
          <a:xfrm>
            <a:off x="914400" y="2011680"/>
            <a:ext cx="10362895" cy="331927"/>
          </a:xfrm>
          <a:prstGeom prst="rect">
            <a:avLst/>
          </a:prstGeom>
          <a:noFill/>
          <a:ln/>
        </p:spPr>
        <p:txBody>
          <a:bodyPr wrap="square" lIns="0" tIns="0" rIns="0" bIns="0" rtlCol="0" anchor="ctr"/>
          <a:lstStyle/>
          <a:p>
            <a:pPr indent="0" marL="0">
              <a:buNone/>
            </a:pPr>
            <a:r>
              <a:rPr lang="en-US" sz="1500" dirty="0">
                <a:solidFill>
                  <a:srgbClr val="E9EFF6"/>
                </a:solidFill>
                <a:latin typeface="Courier New" pitchFamily="34" charset="0"/>
                <a:ea typeface="Courier New" pitchFamily="34" charset="-122"/>
                <a:cs typeface="Courier New" pitchFamily="34" charset="-120"/>
              </a:rPr>
              <a:t>foreach ($message in @($eventHubMessages)) {</a:t>
            </a:r>
            <a:endParaRPr lang="en-US" sz="1500" dirty="0"/>
          </a:p>
        </p:txBody>
      </p:sp>
      <p:sp>
        <p:nvSpPr>
          <p:cNvPr id="7" name="Text 4"/>
          <p:cNvSpPr txBox="1"/>
          <p:nvPr/>
        </p:nvSpPr>
        <p:spPr>
          <a:xfrm>
            <a:off x="914400" y="2343607"/>
            <a:ext cx="10362895" cy="331927"/>
          </a:xfrm>
          <a:prstGeom prst="rect">
            <a:avLst/>
          </a:prstGeom>
          <a:noFill/>
          <a:ln/>
        </p:spPr>
        <p:txBody>
          <a:bodyPr wrap="square" lIns="0" tIns="0" rIns="0" bIns="0" rtlCol="0" anchor="ctr"/>
          <a:lstStyle/>
          <a:p>
            <a:pPr indent="0" marL="0">
              <a:buNone/>
            </a:pPr>
            <a:r>
              <a:rPr lang="en-US" sz="1500" dirty="0">
                <a:solidFill>
                  <a:srgbClr val="8FA3B8"/>
                </a:solidFill>
                <a:latin typeface="Courier New" pitchFamily="34" charset="0"/>
                <a:ea typeface="Courier New" pitchFamily="34" charset="-122"/>
                <a:cs typeface="Courier New" pitchFamily="34" charset="-120"/>
              </a:rPr>
              <a:t>    $payload = $message | ConvertFrom-Json -Depth 50</a:t>
            </a:r>
            <a:endParaRPr lang="en-US" sz="1500" dirty="0"/>
          </a:p>
        </p:txBody>
      </p:sp>
      <p:sp>
        <p:nvSpPr>
          <p:cNvPr id="8" name="Text 5"/>
          <p:cNvSpPr txBox="1"/>
          <p:nvPr/>
        </p:nvSpPr>
        <p:spPr>
          <a:xfrm>
            <a:off x="914400" y="2675534"/>
            <a:ext cx="10362895" cy="331927"/>
          </a:xfrm>
          <a:prstGeom prst="rect">
            <a:avLst/>
          </a:prstGeom>
          <a:noFill/>
          <a:ln/>
        </p:spPr>
        <p:txBody>
          <a:bodyPr wrap="square" lIns="0" tIns="0" rIns="0" bIns="0" rtlCol="0" anchor="ctr"/>
          <a:lstStyle/>
          <a:p>
            <a:pPr indent="0" marL="0">
              <a:buNone/>
            </a:pPr>
            <a:endParaRPr lang="en-US" sz="1500" dirty="0"/>
          </a:p>
        </p:txBody>
      </p:sp>
      <p:sp>
        <p:nvSpPr>
          <p:cNvPr id="9" name="Text 6"/>
          <p:cNvSpPr txBox="1"/>
          <p:nvPr/>
        </p:nvSpPr>
        <p:spPr>
          <a:xfrm>
            <a:off x="914400" y="3007462"/>
            <a:ext cx="10362895" cy="331927"/>
          </a:xfrm>
          <a:prstGeom prst="rect">
            <a:avLst/>
          </a:prstGeom>
          <a:noFill/>
          <a:ln/>
        </p:spPr>
        <p:txBody>
          <a:bodyPr wrap="square" lIns="0" tIns="0" rIns="0" bIns="0" rtlCol="0" anchor="ctr"/>
          <a:lstStyle/>
          <a:p>
            <a:pPr indent="0" marL="0">
              <a:buNone/>
            </a:pPr>
            <a:r>
              <a:rPr lang="en-US" sz="1500" dirty="0">
                <a:solidFill>
                  <a:srgbClr val="E9EFF6"/>
                </a:solidFill>
                <a:latin typeface="Courier New" pitchFamily="34" charset="0"/>
                <a:ea typeface="Courier New" pitchFamily="34" charset="-122"/>
                <a:cs typeface="Courier New" pitchFamily="34" charset="-120"/>
              </a:rPr>
              <a:t>    foreach ($event in ConvertTo-PipelineEvent -Payload $payload) {</a:t>
            </a:r>
            <a:endParaRPr lang="en-US" sz="1500" dirty="0"/>
          </a:p>
        </p:txBody>
      </p:sp>
      <p:sp>
        <p:nvSpPr>
          <p:cNvPr id="10" name="Text 7"/>
          <p:cNvSpPr txBox="1"/>
          <p:nvPr/>
        </p:nvSpPr>
        <p:spPr>
          <a:xfrm>
            <a:off x="914400" y="3339389"/>
            <a:ext cx="10362895" cy="331927"/>
          </a:xfrm>
          <a:prstGeom prst="rect">
            <a:avLst/>
          </a:prstGeom>
          <a:noFill/>
          <a:ln/>
        </p:spPr>
        <p:txBody>
          <a:bodyPr wrap="square" lIns="0" tIns="0" rIns="0" bIns="0" rtlCol="0" anchor="ctr"/>
          <a:lstStyle/>
          <a:p>
            <a:pPr indent="0" marL="0">
              <a:buNone/>
            </a:pPr>
            <a:r>
              <a:rPr lang="en-US" sz="1500" dirty="0">
                <a:solidFill>
                  <a:srgbClr val="7C90A6"/>
                </a:solidFill>
                <a:latin typeface="Courier New" pitchFamily="34" charset="0"/>
                <a:ea typeface="Courier New" pitchFamily="34" charset="-122"/>
                <a:cs typeface="Courier New" pitchFamily="34" charset="-120"/>
              </a:rPr>
              <a:t>        if ($event.Success) { $dropped++; continue }  # a success is not news</a:t>
            </a:r>
            <a:endParaRPr lang="en-US" sz="1500" dirty="0"/>
          </a:p>
        </p:txBody>
      </p:sp>
      <p:sp>
        <p:nvSpPr>
          <p:cNvPr id="11" name="Text 8"/>
          <p:cNvSpPr txBox="1"/>
          <p:nvPr/>
        </p:nvSpPr>
        <p:spPr>
          <a:xfrm>
            <a:off x="914400" y="3671316"/>
            <a:ext cx="10362895" cy="331927"/>
          </a:xfrm>
          <a:prstGeom prst="rect">
            <a:avLst/>
          </a:prstGeom>
          <a:noFill/>
          <a:ln/>
        </p:spPr>
        <p:txBody>
          <a:bodyPr wrap="square" lIns="0" tIns="0" rIns="0" bIns="0" rtlCol="0" anchor="ctr"/>
          <a:lstStyle/>
          <a:p>
            <a:pPr indent="0" marL="0">
              <a:buNone/>
            </a:pPr>
            <a:endParaRPr lang="en-US" sz="1500" dirty="0"/>
          </a:p>
        </p:txBody>
      </p:sp>
      <p:sp>
        <p:nvSpPr>
          <p:cNvPr id="12" name="Text 9"/>
          <p:cNvSpPr txBox="1"/>
          <p:nvPr/>
        </p:nvSpPr>
        <p:spPr>
          <a:xfrm>
            <a:off x="914400" y="4003243"/>
            <a:ext cx="10362895" cy="331927"/>
          </a:xfrm>
          <a:prstGeom prst="rect">
            <a:avLst/>
          </a:prstGeom>
          <a:noFill/>
          <a:ln/>
        </p:spPr>
        <p:txBody>
          <a:bodyPr wrap="square" lIns="0" tIns="0" rIns="0" bIns="0" rtlCol="0" anchor="ctr"/>
          <a:lstStyle/>
          <a:p>
            <a:pPr indent="0" marL="0">
              <a:buNone/>
            </a:pPr>
            <a:r>
              <a:rPr lang="en-US" sz="1500" dirty="0">
                <a:solidFill>
                  <a:srgbClr val="46B98A"/>
                </a:solidFill>
                <a:latin typeface="Courier New" pitchFamily="34" charset="0"/>
                <a:ea typeface="Courier New" pitchFamily="34" charset="-122"/>
                <a:cs typeface="Courier New" pitchFamily="34" charset="-120"/>
              </a:rPr>
              <a:t>        Write-RawEvent      -Event $event   # keep the firehose</a:t>
            </a:r>
            <a:endParaRPr lang="en-US" sz="1500" dirty="0"/>
          </a:p>
        </p:txBody>
      </p:sp>
      <p:sp>
        <p:nvSpPr>
          <p:cNvPr id="13" name="Text 10"/>
          <p:cNvSpPr txBox="1"/>
          <p:nvPr/>
        </p:nvSpPr>
        <p:spPr>
          <a:xfrm>
            <a:off x="914400" y="4335170"/>
            <a:ext cx="10362895" cy="331927"/>
          </a:xfrm>
          <a:prstGeom prst="rect">
            <a:avLst/>
          </a:prstGeom>
          <a:noFill/>
          <a:ln/>
        </p:spPr>
        <p:txBody>
          <a:bodyPr wrap="square" lIns="0" tIns="0" rIns="0" bIns="0" rtlCol="0" anchor="ctr"/>
          <a:lstStyle/>
          <a:p>
            <a:pPr indent="0" marL="0">
              <a:buNone/>
            </a:pPr>
            <a:r>
              <a:rPr lang="en-US" sz="1500" dirty="0">
                <a:solidFill>
                  <a:srgbClr val="E8A33D"/>
                </a:solidFill>
                <a:latin typeface="Courier New" pitchFamily="34" charset="0"/>
                <a:ea typeface="Courier New" pitchFamily="34" charset="-122"/>
                <a:cs typeface="Courier New" pitchFamily="34" charset="-120"/>
              </a:rPr>
              <a:t>        Add-EventToIncident -Event $event   # correlate it</a:t>
            </a:r>
            <a:endParaRPr lang="en-US" sz="1500" dirty="0"/>
          </a:p>
        </p:txBody>
      </p:sp>
      <p:sp>
        <p:nvSpPr>
          <p:cNvPr id="14" name="Text 11"/>
          <p:cNvSpPr txBox="1"/>
          <p:nvPr/>
        </p:nvSpPr>
        <p:spPr>
          <a:xfrm>
            <a:off x="914400" y="4667098"/>
            <a:ext cx="10362895" cy="331927"/>
          </a:xfrm>
          <a:prstGeom prst="rect">
            <a:avLst/>
          </a:prstGeom>
          <a:noFill/>
          <a:ln/>
        </p:spPr>
        <p:txBody>
          <a:bodyPr wrap="square" lIns="0" tIns="0" rIns="0" bIns="0" rtlCol="0" anchor="ctr"/>
          <a:lstStyle/>
          <a:p>
            <a:pPr indent="0" marL="0">
              <a:buNone/>
            </a:pPr>
            <a:r>
              <a:rPr lang="en-US" sz="1500" dirty="0">
                <a:solidFill>
                  <a:srgbClr val="E9EFF6"/>
                </a:solidFill>
                <a:latin typeface="Courier New" pitchFamily="34" charset="0"/>
                <a:ea typeface="Courier New" pitchFamily="34" charset="-122"/>
                <a:cs typeface="Courier New" pitchFamily="34" charset="-120"/>
              </a:rPr>
              <a:t>    }</a:t>
            </a:r>
            <a:endParaRPr lang="en-US" sz="1500" dirty="0"/>
          </a:p>
        </p:txBody>
      </p:sp>
      <p:sp>
        <p:nvSpPr>
          <p:cNvPr id="15" name="Text 12"/>
          <p:cNvSpPr txBox="1"/>
          <p:nvPr/>
        </p:nvSpPr>
        <p:spPr>
          <a:xfrm>
            <a:off x="914400" y="4999025"/>
            <a:ext cx="10362895" cy="331927"/>
          </a:xfrm>
          <a:prstGeom prst="rect">
            <a:avLst/>
          </a:prstGeom>
          <a:noFill/>
          <a:ln/>
        </p:spPr>
        <p:txBody>
          <a:bodyPr wrap="square" lIns="0" tIns="0" rIns="0" bIns="0" rtlCol="0" anchor="ctr"/>
          <a:lstStyle/>
          <a:p>
            <a:pPr indent="0" marL="0">
              <a:buNone/>
            </a:pPr>
            <a:r>
              <a:rPr lang="en-US" sz="1500" dirty="0">
                <a:solidFill>
                  <a:srgbClr val="E9EFF6"/>
                </a:solidFill>
                <a:latin typeface="Courier New" pitchFamily="34" charset="0"/>
                <a:ea typeface="Courier New" pitchFamily="34" charset="-122"/>
                <a:cs typeface="Courier New" pitchFamily="34" charset="-120"/>
              </a:rPr>
              <a:t>}</a:t>
            </a:r>
            <a:endParaRPr lang="en-US" sz="1500" dirty="0"/>
          </a:p>
        </p:txBody>
      </p:sp>
      <p:sp>
        <p:nvSpPr>
          <p:cNvPr id="16" name="Shape 13"/>
          <p:cNvSpPr/>
          <p:nvPr/>
        </p:nvSpPr>
        <p:spPr>
          <a:xfrm>
            <a:off x="594360" y="5833872"/>
            <a:ext cx="11002975" cy="868680"/>
          </a:xfrm>
          <a:prstGeom prst="roundRect">
            <a:avLst>
              <a:gd name="adj" fmla="val 6316"/>
            </a:avLst>
          </a:prstGeom>
          <a:solidFill>
            <a:srgbClr val="223140"/>
          </a:solidFill>
          <a:ln/>
        </p:spPr>
      </p:sp>
      <p:sp>
        <p:nvSpPr>
          <p:cNvPr id="17" name="Text 14"/>
          <p:cNvSpPr txBox="1"/>
          <p:nvPr/>
        </p:nvSpPr>
        <p:spPr>
          <a:xfrm>
            <a:off x="868680" y="6035040"/>
            <a:ext cx="10454335" cy="50292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Read the hub, normalise, throw away the successes, correlate. </a:t>
            </a:r>
            <a:pPr indent="0" marL="0">
              <a:buNone/>
            </a:pPr>
            <a:r>
              <a:rPr lang="en-US" sz="1700" dirty="0">
                <a:solidFill>
                  <a:srgbClr val="8FA3B8"/>
                </a:solidFill>
                <a:latin typeface="Calibri" pitchFamily="34" charset="0"/>
                <a:ea typeface="Calibri" pitchFamily="34" charset="-122"/>
                <a:cs typeface="Calibri" pitchFamily="34" charset="-120"/>
              </a:rPr>
              <a:t>Everything else in this session is one of those three verbs, opened up.</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621"/>
        </a:solidFill>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indent="0" marL="0">
              <a:buNone/>
            </a:pPr>
            <a:r>
              <a:rPr lang="en-US" sz="1200" b="1" spc="200" kern="0" dirty="0">
                <a:solidFill>
                  <a:srgbClr val="5B9BD5"/>
                </a:solidFill>
                <a:latin typeface="Calibri" pitchFamily="34" charset="0"/>
                <a:ea typeface="Calibri" pitchFamily="34" charset="-122"/>
                <a:cs typeface="Calibri" pitchFamily="34" charset="-120"/>
              </a:rPr>
              <a:t>PIPELINE.PSM1  ·  176 LINES</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indent="0" marL="0">
              <a:buNone/>
            </a:pPr>
            <a:r>
              <a:rPr lang="en-US" sz="3600" b="1" dirty="0">
                <a:solidFill>
                  <a:srgbClr val="E9EFF6"/>
                </a:solidFill>
                <a:latin typeface="Calibri" pitchFamily="34" charset="0"/>
                <a:ea typeface="Calibri" pitchFamily="34" charset="-122"/>
                <a:cs typeface="Calibri" pitchFamily="34" charset="-120"/>
              </a:rPr>
              <a:t>Three shapes, one object</a:t>
            </a:r>
            <a:endParaRPr lang="en-US" sz="3600" dirty="0"/>
          </a:p>
        </p:txBody>
      </p:sp>
      <p:sp>
        <p:nvSpPr>
          <p:cNvPr id="5" name="Shape 2"/>
          <p:cNvSpPr/>
          <p:nvPr/>
        </p:nvSpPr>
        <p:spPr>
          <a:xfrm>
            <a:off x="594360" y="1783080"/>
            <a:ext cx="6949440" cy="1849831"/>
          </a:xfrm>
          <a:prstGeom prst="roundRect">
            <a:avLst>
              <a:gd name="adj" fmla="val 2966"/>
            </a:avLst>
          </a:prstGeom>
          <a:solidFill>
            <a:srgbClr val="19242F"/>
          </a:solidFill>
          <a:ln/>
        </p:spPr>
      </p:sp>
      <p:sp>
        <p:nvSpPr>
          <p:cNvPr id="6" name="Text 3"/>
          <p:cNvSpPr txBox="1"/>
          <p:nvPr/>
        </p:nvSpPr>
        <p:spPr>
          <a:xfrm>
            <a:off x="914400" y="2011680"/>
            <a:ext cx="6309360" cy="287670"/>
          </a:xfrm>
          <a:prstGeom prst="rect">
            <a:avLst/>
          </a:prstGeom>
          <a:noFill/>
          <a:ln/>
        </p:spPr>
        <p:txBody>
          <a:bodyPr wrap="square" lIns="0" tIns="0" rIns="0" bIns="0" rtlCol="0" anchor="ctr"/>
          <a:lstStyle/>
          <a:p>
            <a:pPr indent="0" marL="0">
              <a:buNone/>
            </a:pPr>
            <a:r>
              <a:rPr lang="en-US" sz="1300" dirty="0">
                <a:solidFill>
                  <a:srgbClr val="E9EFF6"/>
                </a:solidFill>
                <a:latin typeface="Courier New" pitchFamily="34" charset="0"/>
                <a:ea typeface="Courier New" pitchFamily="34" charset="-122"/>
                <a:cs typeface="Courier New" pitchFamily="34" charset="-120"/>
              </a:rPr>
              <a:t>function Get-PayloadShape {</a:t>
            </a:r>
            <a:endParaRPr lang="en-US" sz="1300" dirty="0"/>
          </a:p>
        </p:txBody>
      </p:sp>
      <p:sp>
        <p:nvSpPr>
          <p:cNvPr id="7" name="Text 4"/>
          <p:cNvSpPr txBox="1"/>
          <p:nvPr/>
        </p:nvSpPr>
        <p:spPr>
          <a:xfrm>
            <a:off x="914400" y="2299350"/>
            <a:ext cx="6309360" cy="287670"/>
          </a:xfrm>
          <a:prstGeom prst="rect">
            <a:avLst/>
          </a:prstGeom>
          <a:noFill/>
          <a:ln/>
        </p:spPr>
        <p:txBody>
          <a:bodyPr wrap="square" lIns="0" tIns="0" rIns="0" bIns="0" rtlCol="0" anchor="ctr"/>
          <a:lstStyle/>
          <a:p>
            <a:pPr indent="0" marL="0">
              <a:buNone/>
            </a:pPr>
            <a:r>
              <a:rPr lang="en-US" sz="1300" dirty="0">
                <a:solidFill>
                  <a:srgbClr val="8FA3B8"/>
                </a:solidFill>
                <a:latin typeface="Courier New" pitchFamily="34" charset="0"/>
                <a:ea typeface="Courier New" pitchFamily="34" charset="-122"/>
                <a:cs typeface="Courier New" pitchFamily="34" charset="-120"/>
              </a:rPr>
              <a:t>  if ($Payload.records)         { 'appinsights' }  # diagnostic setting</a:t>
            </a:r>
            <a:endParaRPr lang="en-US" sz="1300" dirty="0"/>
          </a:p>
        </p:txBody>
      </p:sp>
      <p:sp>
        <p:nvSpPr>
          <p:cNvPr id="8" name="Text 5"/>
          <p:cNvSpPr txBox="1"/>
          <p:nvPr/>
        </p:nvSpPr>
        <p:spPr>
          <a:xfrm>
            <a:off x="914400" y="2587020"/>
            <a:ext cx="6309360" cy="287670"/>
          </a:xfrm>
          <a:prstGeom prst="rect">
            <a:avLst/>
          </a:prstGeom>
          <a:noFill/>
          <a:ln/>
        </p:spPr>
        <p:txBody>
          <a:bodyPr wrap="square" lIns="0" tIns="0" rIns="0" bIns="0" rtlCol="0" anchor="ctr"/>
          <a:lstStyle/>
          <a:p>
            <a:pPr indent="0" marL="0">
              <a:buNone/>
            </a:pPr>
            <a:r>
              <a:rPr lang="en-US" sz="1300" dirty="0">
                <a:solidFill>
                  <a:srgbClr val="8FA3B8"/>
                </a:solidFill>
                <a:latin typeface="Courier New" pitchFamily="34" charset="0"/>
                <a:ea typeface="Courier New" pitchFamily="34" charset="-122"/>
                <a:cs typeface="Courier New" pitchFamily="34" charset="-120"/>
              </a:rPr>
              <a:t>  if ($Payload.data.essentials) { 'alert' }        # common alert schema</a:t>
            </a:r>
            <a:endParaRPr lang="en-US" sz="1300" dirty="0"/>
          </a:p>
        </p:txBody>
      </p:sp>
      <p:sp>
        <p:nvSpPr>
          <p:cNvPr id="9" name="Text 6"/>
          <p:cNvSpPr txBox="1"/>
          <p:nvPr/>
        </p:nvSpPr>
        <p:spPr>
          <a:xfrm>
            <a:off x="914400" y="2874691"/>
            <a:ext cx="6309360" cy="287670"/>
          </a:xfrm>
          <a:prstGeom prst="rect">
            <a:avLst/>
          </a:prstGeom>
          <a:noFill/>
          <a:ln/>
        </p:spPr>
        <p:txBody>
          <a:bodyPr wrap="square" lIns="0" tIns="0" rIns="0" bIns="0" rtlCol="0" anchor="ctr"/>
          <a:lstStyle/>
          <a:p>
            <a:pPr indent="0" marL="0">
              <a:buNone/>
            </a:pPr>
            <a:r>
              <a:rPr lang="en-US" sz="1300" dirty="0">
                <a:solidFill>
                  <a:srgbClr val="8FA3B8"/>
                </a:solidFill>
                <a:latin typeface="Courier New" pitchFamily="34" charset="0"/>
                <a:ea typeface="Courier New" pitchFamily="34" charset="-122"/>
                <a:cs typeface="Courier New" pitchFamily="34" charset="-120"/>
              </a:rPr>
              <a:t>  if ($Payload.tool)            { 'script' }       # our own senders</a:t>
            </a:r>
            <a:endParaRPr lang="en-US" sz="1300" dirty="0"/>
          </a:p>
        </p:txBody>
      </p:sp>
      <p:sp>
        <p:nvSpPr>
          <p:cNvPr id="10" name="Text 7"/>
          <p:cNvSpPr txBox="1"/>
          <p:nvPr/>
        </p:nvSpPr>
        <p:spPr>
          <a:xfrm>
            <a:off x="914400" y="3162361"/>
            <a:ext cx="6309360" cy="287670"/>
          </a:xfrm>
          <a:prstGeom prst="rect">
            <a:avLst/>
          </a:prstGeom>
          <a:noFill/>
          <a:ln/>
        </p:spPr>
        <p:txBody>
          <a:bodyPr wrap="square" lIns="0" tIns="0" rIns="0" bIns="0" rtlCol="0" anchor="ctr"/>
          <a:lstStyle/>
          <a:p>
            <a:pPr indent="0" marL="0">
              <a:buNone/>
            </a:pPr>
            <a:r>
              <a:rPr lang="en-US" sz="1300" dirty="0">
                <a:solidFill>
                  <a:srgbClr val="E9EFF6"/>
                </a:solidFill>
                <a:latin typeface="Courier New" pitchFamily="34" charset="0"/>
                <a:ea typeface="Courier New" pitchFamily="34" charset="-122"/>
                <a:cs typeface="Courier New" pitchFamily="34" charset="-120"/>
              </a:rPr>
              <a:t>}</a:t>
            </a:r>
            <a:endParaRPr lang="en-US" sz="1300" dirty="0"/>
          </a:p>
        </p:txBody>
      </p:sp>
      <p:sp>
        <p:nvSpPr>
          <p:cNvPr id="11" name="Shape 8"/>
          <p:cNvSpPr/>
          <p:nvPr/>
        </p:nvSpPr>
        <p:spPr>
          <a:xfrm>
            <a:off x="7863840" y="1783080"/>
            <a:ext cx="3749040" cy="1849831"/>
          </a:xfrm>
          <a:prstGeom prst="roundRect">
            <a:avLst>
              <a:gd name="adj" fmla="val 2966"/>
            </a:avLst>
          </a:prstGeom>
          <a:solidFill>
            <a:srgbClr val="223140"/>
          </a:solidFill>
          <a:ln/>
        </p:spPr>
      </p:sp>
      <p:sp>
        <p:nvSpPr>
          <p:cNvPr id="12" name="Text 9"/>
          <p:cNvSpPr txBox="1"/>
          <p:nvPr/>
        </p:nvSpPr>
        <p:spPr>
          <a:xfrm>
            <a:off x="8138160" y="1938528"/>
            <a:ext cx="3291840" cy="320040"/>
          </a:xfrm>
          <a:prstGeom prst="rect">
            <a:avLst/>
          </a:prstGeom>
          <a:noFill/>
          <a:ln/>
        </p:spPr>
        <p:txBody>
          <a:bodyPr wrap="square" lIns="0" tIns="0" rIns="0" bIns="0" rtlCol="0" anchor="ctr"/>
          <a:lstStyle/>
          <a:p>
            <a:pPr indent="0" marL="0">
              <a:buNone/>
            </a:pPr>
            <a:r>
              <a:rPr lang="en-US" sz="1600" b="1" dirty="0">
                <a:solidFill>
                  <a:srgbClr val="E9EFF6"/>
                </a:solidFill>
                <a:latin typeface="Calibri" pitchFamily="34" charset="0"/>
                <a:ea typeface="Calibri" pitchFamily="34" charset="-122"/>
                <a:cs typeface="Calibri" pitchFamily="34" charset="-120"/>
              </a:rPr>
              <a:t>Out the other side</a:t>
            </a:r>
            <a:endParaRPr lang="en-US" sz="1600" dirty="0"/>
          </a:p>
        </p:txBody>
      </p:sp>
      <p:sp>
        <p:nvSpPr>
          <p:cNvPr id="13" name="Text 10"/>
          <p:cNvSpPr txBox="1"/>
          <p:nvPr/>
        </p:nvSpPr>
        <p:spPr>
          <a:xfrm>
            <a:off x="8138160" y="2304288"/>
            <a:ext cx="3291840" cy="1005840"/>
          </a:xfrm>
          <a:prstGeom prst="rect">
            <a:avLst/>
          </a:prstGeom>
          <a:noFill/>
          <a:ln/>
        </p:spPr>
        <p:txBody>
          <a:bodyPr wrap="square" lIns="0" tIns="0" rIns="0" bIns="0" rtlCol="0" anchor="ctr"/>
          <a:lstStyle/>
          <a:p>
            <a:pPr indent="0" marL="0">
              <a:lnSpc>
                <a:spcPts val="1900"/>
              </a:lnSpc>
              <a:buNone/>
            </a:pPr>
            <a:r>
              <a:rPr lang="en-US" sz="1100" dirty="0">
                <a:solidFill>
                  <a:srgbClr val="8FA3B8"/>
                </a:solidFill>
                <a:latin typeface="Courier New" pitchFamily="34" charset="0"/>
                <a:ea typeface="Courier New" pitchFamily="34" charset="-122"/>
                <a:cs typeface="Courier New" pitchFamily="34" charset="-120"/>
              </a:rPr>
              <a:t>Source  Kind     Time</a:t>
            </a:r>
            <a:endParaRPr lang="en-US" sz="1100" dirty="0"/>
          </a:p>
          <a:p>
            <a:pPr indent="0" marL="0">
              <a:lnSpc>
                <a:spcPts val="1900"/>
              </a:lnSpc>
              <a:buNone/>
            </a:pPr>
            <a:r>
              <a:rPr lang="en-US" sz="1100" dirty="0">
                <a:solidFill>
                  <a:srgbClr val="8FA3B8"/>
                </a:solidFill>
                <a:latin typeface="Courier New" pitchFamily="34" charset="0"/>
                <a:ea typeface="Courier New" pitchFamily="34" charset="-122"/>
                <a:cs typeface="Courier New" pitchFamily="34" charset="-120"/>
              </a:rPr>
              <a:t>Severity Title   Message</a:t>
            </a:r>
            <a:endParaRPr lang="en-US" sz="1100" dirty="0"/>
          </a:p>
          <a:p>
            <a:pPr indent="0" marL="0">
              <a:lnSpc>
                <a:spcPts val="1900"/>
              </a:lnSpc>
              <a:buNone/>
            </a:pPr>
            <a:r>
              <a:rPr lang="en-US" sz="1100" dirty="0">
                <a:solidFill>
                  <a:srgbClr val="8FA3B8"/>
                </a:solidFill>
                <a:latin typeface="Courier New" pitchFamily="34" charset="0"/>
                <a:ea typeface="Courier New" pitchFamily="34" charset="-122"/>
                <a:cs typeface="Courier New" pitchFamily="34" charset="-120"/>
              </a:rPr>
              <a:t>TraceId Host     Resource</a:t>
            </a:r>
            <a:endParaRPr lang="en-US" sz="1100" dirty="0"/>
          </a:p>
        </p:txBody>
      </p:sp>
      <p:sp>
        <p:nvSpPr>
          <p:cNvPr id="14" name="Shape 11"/>
          <p:cNvSpPr/>
          <p:nvPr/>
        </p:nvSpPr>
        <p:spPr>
          <a:xfrm>
            <a:off x="594360" y="3998671"/>
            <a:ext cx="11002975" cy="1143000"/>
          </a:xfrm>
          <a:prstGeom prst="roundRect">
            <a:avLst>
              <a:gd name="adj" fmla="val 4800"/>
            </a:avLst>
          </a:prstGeom>
          <a:solidFill>
            <a:srgbClr val="223140"/>
          </a:solidFill>
          <a:ln/>
        </p:spPr>
      </p:sp>
      <p:sp>
        <p:nvSpPr>
          <p:cNvPr id="15" name="Text 12"/>
          <p:cNvSpPr txBox="1"/>
          <p:nvPr/>
        </p:nvSpPr>
        <p:spPr>
          <a:xfrm>
            <a:off x="868680" y="4199839"/>
            <a:ext cx="10454335" cy="7772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Every source disagrees about field names. </a:t>
            </a:r>
            <a:pPr indent="0" marL="0">
              <a:buNone/>
            </a:pPr>
            <a:r>
              <a:rPr lang="en-US" sz="1500" dirty="0">
                <a:solidFill>
                  <a:srgbClr val="8FA3B8"/>
                </a:solidFill>
                <a:latin typeface="Calibri" pitchFamily="34" charset="0"/>
                <a:ea typeface="Calibri" pitchFamily="34" charset="-122"/>
                <a:cs typeface="Calibri" pitchFamily="34" charset="-120"/>
              </a:rPr>
              <a:t>OperationId or operation_Id. TimeGenerated or time or timestamp. Nothing downstream can be written until one object comes out of here - and this is the part everyone underestimates when they plan a pipeline like this.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621"/>
        </a:solidFill>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CORRELATION.PSM1  ·  THE WHOLE OF LAYER ONE</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indent="0" marL="0">
              <a:buNone/>
            </a:pPr>
            <a:r>
              <a:rPr lang="en-US" sz="3600" b="1" dirty="0">
                <a:solidFill>
                  <a:srgbClr val="E9EFF6"/>
                </a:solidFill>
                <a:latin typeface="Calibri" pitchFamily="34" charset="0"/>
                <a:ea typeface="Calibri" pitchFamily="34" charset="-122"/>
                <a:cs typeface="Calibri" pitchFamily="34" charset="-120"/>
              </a:rPr>
              <a:t>Deduplication is three lines</a:t>
            </a:r>
            <a:endParaRPr lang="en-US" sz="3600" dirty="0"/>
          </a:p>
        </p:txBody>
      </p:sp>
      <p:sp>
        <p:nvSpPr>
          <p:cNvPr id="5" name="Shape 2"/>
          <p:cNvSpPr/>
          <p:nvPr/>
        </p:nvSpPr>
        <p:spPr>
          <a:xfrm>
            <a:off x="594360" y="1783080"/>
            <a:ext cx="11002975" cy="1960474"/>
          </a:xfrm>
          <a:prstGeom prst="roundRect">
            <a:avLst>
              <a:gd name="adj" fmla="val 2799"/>
            </a:avLst>
          </a:prstGeom>
          <a:solidFill>
            <a:srgbClr val="19242F"/>
          </a:solidFill>
          <a:ln/>
        </p:spPr>
      </p:sp>
      <p:sp>
        <p:nvSpPr>
          <p:cNvPr id="6" name="Text 3"/>
          <p:cNvSpPr txBox="1"/>
          <p:nvPr/>
        </p:nvSpPr>
        <p:spPr>
          <a:xfrm>
            <a:off x="914400" y="2011680"/>
            <a:ext cx="10362895" cy="309799"/>
          </a:xfrm>
          <a:prstGeom prst="rect">
            <a:avLst/>
          </a:prstGeom>
          <a:noFill/>
          <a:ln/>
        </p:spPr>
        <p:txBody>
          <a:bodyPr wrap="square" lIns="0" tIns="0" rIns="0" bIns="0" rtlCol="0" anchor="ctr"/>
          <a:lstStyle/>
          <a:p>
            <a:pPr indent="0" marL="0">
              <a:buNone/>
            </a:pPr>
            <a:r>
              <a:rPr lang="en-US" sz="1400" dirty="0">
                <a:solidFill>
                  <a:srgbClr val="E8A33D"/>
                </a:solidFill>
                <a:latin typeface="Courier New" pitchFamily="34" charset="0"/>
                <a:ea typeface="Courier New" pitchFamily="34" charset="-122"/>
                <a:cs typeface="Courier New" pitchFamily="34" charset="-120"/>
              </a:rPr>
              <a:t>$title = $Event.Title -replace '\d+', 'N'          # 480 ms and 8 ms are the same symptom</a:t>
            </a:r>
            <a:endParaRPr lang="en-US" sz="1400" dirty="0"/>
          </a:p>
        </p:txBody>
      </p:sp>
      <p:sp>
        <p:nvSpPr>
          <p:cNvPr id="7" name="Text 4"/>
          <p:cNvSpPr txBox="1"/>
          <p:nvPr/>
        </p:nvSpPr>
        <p:spPr>
          <a:xfrm>
            <a:off x="914400" y="2321479"/>
            <a:ext cx="10362895" cy="309799"/>
          </a:xfrm>
          <a:prstGeom prst="rect">
            <a:avLst/>
          </a:prstGeom>
          <a:noFill/>
          <a:ln/>
        </p:spPr>
        <p:txBody>
          <a:bodyPr wrap="square" lIns="0" tIns="0" rIns="0" bIns="0" rtlCol="0" anchor="ctr"/>
          <a:lstStyle/>
          <a:p>
            <a:pPr indent="0" marL="0">
              <a:buNone/>
            </a:pPr>
            <a:endParaRPr lang="en-US" sz="1400" dirty="0"/>
          </a:p>
        </p:txBody>
      </p:sp>
      <p:sp>
        <p:nvSpPr>
          <p:cNvPr id="8" name="Text 5"/>
          <p:cNvSpPr txBox="1"/>
          <p:nvPr/>
        </p:nvSpPr>
        <p:spPr>
          <a:xfrm>
            <a:off x="914400" y="2631277"/>
            <a:ext cx="10362895" cy="309799"/>
          </a:xfrm>
          <a:prstGeom prst="rect">
            <a:avLst/>
          </a:prstGeom>
          <a:noFill/>
          <a:ln/>
        </p:spPr>
        <p:txBody>
          <a:bodyPr wrap="square" lIns="0" tIns="0" rIns="0" bIns="0" rtlCol="0" anchor="ctr"/>
          <a:lstStyle/>
          <a:p>
            <a:pPr indent="0" marL="0">
              <a:buNone/>
            </a:pPr>
            <a:r>
              <a:rPr lang="en-US" sz="1400" dirty="0">
                <a:solidFill>
                  <a:srgbClr val="E9EFF6"/>
                </a:solidFill>
                <a:latin typeface="Courier New" pitchFamily="34" charset="0"/>
                <a:ea typeface="Courier New" pitchFamily="34" charset="-122"/>
                <a:cs typeface="Courier New" pitchFamily="34" charset="-120"/>
              </a:rPr>
              <a:t>$seed  = "$Source|$Kind|$title|$ResourceId|$Host".ToLowerInvariant()</a:t>
            </a:r>
            <a:endParaRPr lang="en-US" sz="1400" dirty="0"/>
          </a:p>
        </p:txBody>
      </p:sp>
      <p:sp>
        <p:nvSpPr>
          <p:cNvPr id="9" name="Text 6"/>
          <p:cNvSpPr txBox="1"/>
          <p:nvPr/>
        </p:nvSpPr>
        <p:spPr>
          <a:xfrm>
            <a:off x="914400" y="2941076"/>
            <a:ext cx="10362895" cy="309799"/>
          </a:xfrm>
          <a:prstGeom prst="rect">
            <a:avLst/>
          </a:prstGeom>
          <a:noFill/>
          <a:ln/>
        </p:spPr>
        <p:txBody>
          <a:bodyPr wrap="square" lIns="0" tIns="0" rIns="0" bIns="0" rtlCol="0" anchor="ctr"/>
          <a:lstStyle/>
          <a:p>
            <a:pPr indent="0" marL="0">
              <a:buNone/>
            </a:pPr>
            <a:endParaRPr lang="en-US" sz="1400" dirty="0"/>
          </a:p>
        </p:txBody>
      </p:sp>
      <p:sp>
        <p:nvSpPr>
          <p:cNvPr id="10" name="Text 7"/>
          <p:cNvSpPr txBox="1"/>
          <p:nvPr/>
        </p:nvSpPr>
        <p:spPr>
          <a:xfrm>
            <a:off x="914400" y="3250875"/>
            <a:ext cx="10362895" cy="309799"/>
          </a:xfrm>
          <a:prstGeom prst="rect">
            <a:avLst/>
          </a:prstGeom>
          <a:noFill/>
          <a:ln/>
        </p:spPr>
        <p:txBody>
          <a:bodyPr wrap="square" lIns="0" tIns="0" rIns="0" bIns="0" rtlCol="0" anchor="ctr"/>
          <a:lstStyle/>
          <a:p>
            <a:pPr indent="0" marL="0">
              <a:buNone/>
            </a:pPr>
            <a:r>
              <a:rPr lang="en-US" sz="1400" dirty="0">
                <a:solidFill>
                  <a:srgbClr val="E9EFF6"/>
                </a:solidFill>
                <a:latin typeface="Courier New" pitchFamily="34" charset="0"/>
                <a:ea typeface="Courier New" pitchFamily="34" charset="-122"/>
                <a:cs typeface="Courier New" pitchFamily="34" charset="-120"/>
              </a:rPr>
              <a:t>$hash  = [Security.Cryptography.SHA256]::HashData([Text.Encoding]::UTF8.GetBytes($seed))</a:t>
            </a:r>
            <a:endParaRPr lang="en-US" sz="1400" dirty="0"/>
          </a:p>
        </p:txBody>
      </p:sp>
      <p:sp>
        <p:nvSpPr>
          <p:cNvPr id="11" name="Shape 8"/>
          <p:cNvSpPr/>
          <p:nvPr/>
        </p:nvSpPr>
        <p:spPr>
          <a:xfrm>
            <a:off x="594360" y="4063594"/>
            <a:ext cx="5257800" cy="1737360"/>
          </a:xfrm>
          <a:prstGeom prst="roundRect">
            <a:avLst>
              <a:gd name="adj" fmla="val 3158"/>
            </a:avLst>
          </a:prstGeom>
          <a:solidFill>
            <a:srgbClr val="19242F"/>
          </a:solidFill>
          <a:ln/>
        </p:spPr>
      </p:sp>
      <p:sp>
        <p:nvSpPr>
          <p:cNvPr id="12" name="Text 9"/>
          <p:cNvSpPr txBox="1"/>
          <p:nvPr/>
        </p:nvSpPr>
        <p:spPr>
          <a:xfrm>
            <a:off x="914400" y="4219042"/>
            <a:ext cx="4617720" cy="320040"/>
          </a:xfrm>
          <a:prstGeom prst="rect">
            <a:avLst/>
          </a:prstGeom>
          <a:noFill/>
          <a:ln/>
        </p:spPr>
        <p:txBody>
          <a:bodyPr wrap="square" lIns="0" tIns="0" rIns="0" bIns="0" rtlCol="0" anchor="ctr"/>
          <a:lstStyle/>
          <a:p>
            <a:pPr indent="0" marL="0">
              <a:buNone/>
            </a:pPr>
            <a:r>
              <a:rPr lang="en-US" sz="1600" b="1" dirty="0">
                <a:solidFill>
                  <a:srgbClr val="8FA3B8"/>
                </a:solidFill>
                <a:latin typeface="Calibri" pitchFamily="34" charset="0"/>
                <a:ea typeface="Calibri" pitchFamily="34" charset="-122"/>
                <a:cs typeface="Calibri" pitchFamily="34" charset="-120"/>
              </a:rPr>
              <a:t>What goes in</a:t>
            </a:r>
            <a:endParaRPr lang="en-US" sz="1600" dirty="0"/>
          </a:p>
        </p:txBody>
      </p:sp>
      <p:sp>
        <p:nvSpPr>
          <p:cNvPr id="13" name="Text 10"/>
          <p:cNvSpPr txBox="1"/>
          <p:nvPr/>
        </p:nvSpPr>
        <p:spPr>
          <a:xfrm>
            <a:off x="914400" y="4584802"/>
            <a:ext cx="4617720" cy="1005840"/>
          </a:xfrm>
          <a:prstGeom prst="rect">
            <a:avLst/>
          </a:prstGeom>
          <a:noFill/>
          <a:ln/>
        </p:spPr>
        <p:txBody>
          <a:bodyPr wrap="square" lIns="0" tIns="0" rIns="0" bIns="0" rtlCol="0" anchor="ctr"/>
          <a:lstStyle/>
          <a:p>
            <a:pPr indent="0" marL="0">
              <a:lnSpc>
                <a:spcPts val="1900"/>
              </a:lnSpc>
              <a:buNone/>
            </a:pPr>
            <a:r>
              <a:rPr lang="en-US" sz="1200" dirty="0">
                <a:solidFill>
                  <a:srgbClr val="8FA3B8"/>
                </a:solidFill>
                <a:latin typeface="Courier New" pitchFamily="34" charset="0"/>
                <a:ea typeface="Courier New" pitchFamily="34" charset="-122"/>
                <a:cs typeface="Courier New" pitchFamily="34" charset="-120"/>
              </a:rPr>
              <a:t>Disk read latency 410 ms, sustained</a:t>
            </a:r>
            <a:endParaRPr lang="en-US" sz="1200" dirty="0"/>
          </a:p>
          <a:p>
            <a:pPr indent="0" marL="0">
              <a:lnSpc>
                <a:spcPts val="1900"/>
              </a:lnSpc>
              <a:buNone/>
            </a:pPr>
            <a:r>
              <a:rPr lang="en-US" sz="1200" dirty="0">
                <a:solidFill>
                  <a:srgbClr val="8FA3B8"/>
                </a:solidFill>
                <a:latin typeface="Courier New" pitchFamily="34" charset="0"/>
                <a:ea typeface="Courier New" pitchFamily="34" charset="-122"/>
                <a:cs typeface="Courier New" pitchFamily="34" charset="-120"/>
              </a:rPr>
              <a:t>Disk read latency 455 ms, sustained</a:t>
            </a:r>
            <a:endParaRPr lang="en-US" sz="1200" dirty="0"/>
          </a:p>
          <a:p>
            <a:pPr indent="0" marL="0">
              <a:lnSpc>
                <a:spcPts val="1900"/>
              </a:lnSpc>
              <a:buNone/>
            </a:pPr>
            <a:r>
              <a:rPr lang="en-US" sz="1200" dirty="0">
                <a:solidFill>
                  <a:srgbClr val="8FA3B8"/>
                </a:solidFill>
                <a:latin typeface="Courier New" pitchFamily="34" charset="0"/>
                <a:ea typeface="Courier New" pitchFamily="34" charset="-122"/>
                <a:cs typeface="Courier New" pitchFamily="34" charset="-120"/>
              </a:rPr>
              <a:t>Disk read latency 480 ms, sustained</a:t>
            </a:r>
            <a:endParaRPr lang="en-US" sz="1200" dirty="0"/>
          </a:p>
        </p:txBody>
      </p:sp>
      <p:sp>
        <p:nvSpPr>
          <p:cNvPr id="14" name="Shape 11"/>
          <p:cNvSpPr/>
          <p:nvPr/>
        </p:nvSpPr>
        <p:spPr>
          <a:xfrm>
            <a:off x="6355080" y="4063594"/>
            <a:ext cx="5257800" cy="1737360"/>
          </a:xfrm>
          <a:prstGeom prst="roundRect">
            <a:avLst>
              <a:gd name="adj" fmla="val 3158"/>
            </a:avLst>
          </a:prstGeom>
          <a:solidFill>
            <a:srgbClr val="223140"/>
          </a:solidFill>
          <a:ln/>
        </p:spPr>
      </p:sp>
      <p:sp>
        <p:nvSpPr>
          <p:cNvPr id="15" name="Text 12"/>
          <p:cNvSpPr txBox="1"/>
          <p:nvPr/>
        </p:nvSpPr>
        <p:spPr>
          <a:xfrm>
            <a:off x="6675120" y="4219042"/>
            <a:ext cx="4617720" cy="320040"/>
          </a:xfrm>
          <a:prstGeom prst="rect">
            <a:avLst/>
          </a:prstGeom>
          <a:noFill/>
          <a:ln/>
        </p:spPr>
        <p:txBody>
          <a:bodyPr wrap="square" lIns="0" tIns="0" rIns="0" bIns="0" rtlCol="0" anchor="ctr"/>
          <a:lstStyle/>
          <a:p>
            <a:pPr indent="0" marL="0">
              <a:buNone/>
            </a:pPr>
            <a:r>
              <a:rPr lang="en-US" sz="1600" b="1" dirty="0">
                <a:solidFill>
                  <a:srgbClr val="46B98A"/>
                </a:solidFill>
                <a:latin typeface="Calibri" pitchFamily="34" charset="0"/>
                <a:ea typeface="Calibri" pitchFamily="34" charset="-122"/>
                <a:cs typeface="Calibri" pitchFamily="34" charset="-120"/>
              </a:rPr>
              <a:t>What comes out</a:t>
            </a:r>
            <a:endParaRPr lang="en-US" sz="1600" dirty="0"/>
          </a:p>
        </p:txBody>
      </p:sp>
      <p:sp>
        <p:nvSpPr>
          <p:cNvPr id="16" name="Text 13"/>
          <p:cNvSpPr txBox="1"/>
          <p:nvPr/>
        </p:nvSpPr>
        <p:spPr>
          <a:xfrm>
            <a:off x="6675120" y="4612234"/>
            <a:ext cx="4617720" cy="320040"/>
          </a:xfrm>
          <a:prstGeom prst="rect">
            <a:avLst/>
          </a:prstGeom>
          <a:noFill/>
          <a:ln/>
        </p:spPr>
        <p:txBody>
          <a:bodyPr wrap="square" lIns="0" tIns="0" rIns="0" bIns="0" rtlCol="0" anchor="ctr"/>
          <a:lstStyle/>
          <a:p>
            <a:pPr indent="0" marL="0">
              <a:buNone/>
            </a:pPr>
            <a:r>
              <a:rPr lang="en-US" sz="1300" dirty="0">
                <a:solidFill>
                  <a:srgbClr val="E9EFF6"/>
                </a:solidFill>
                <a:latin typeface="Courier New" pitchFamily="34" charset="0"/>
                <a:ea typeface="Courier New" pitchFamily="34" charset="-122"/>
                <a:cs typeface="Courier New" pitchFamily="34" charset="-120"/>
              </a:rPr>
              <a:t>Disk read latency N ms, sustained</a:t>
            </a:r>
            <a:endParaRPr lang="en-US" sz="1300" dirty="0"/>
          </a:p>
        </p:txBody>
      </p:sp>
      <p:sp>
        <p:nvSpPr>
          <p:cNvPr id="17" name="Text 14"/>
          <p:cNvSpPr txBox="1"/>
          <p:nvPr/>
        </p:nvSpPr>
        <p:spPr>
          <a:xfrm>
            <a:off x="6675120" y="5069434"/>
            <a:ext cx="4617720" cy="320040"/>
          </a:xfrm>
          <a:prstGeom prst="rect">
            <a:avLst/>
          </a:prstGeom>
          <a:noFill/>
          <a:ln/>
        </p:spPr>
        <p:txBody>
          <a:bodyPr wrap="square" lIns="0" tIns="0" rIns="0" bIns="0" rtlCol="0" anchor="ctr"/>
          <a:lstStyle/>
          <a:p>
            <a:pPr indent="0" marL="0">
              <a:buNone/>
            </a:pPr>
            <a:r>
              <a:rPr lang="en-US" sz="1500" b="1" dirty="0">
                <a:solidFill>
                  <a:srgbClr val="E8A33D"/>
                </a:solidFill>
                <a:latin typeface="Calibri" pitchFamily="34" charset="0"/>
                <a:ea typeface="Calibri" pitchFamily="34" charset="-122"/>
                <a:cs typeface="Calibri" pitchFamily="34" charset="-120"/>
              </a:rPr>
              <a:t>one row  ·  seen 3 times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621"/>
        </a:solidFill>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CORRELATION.PSM1  ·  THE WHOLE OF LAYER TWO</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indent="0" marL="0">
              <a:buNone/>
            </a:pPr>
            <a:r>
              <a:rPr lang="en-US" sz="3600" b="1" dirty="0">
                <a:solidFill>
                  <a:srgbClr val="E9EFF6"/>
                </a:solidFill>
                <a:latin typeface="Calibri" pitchFamily="34" charset="0"/>
                <a:ea typeface="Calibri" pitchFamily="34" charset="-122"/>
                <a:cs typeface="Calibri" pitchFamily="34" charset="-120"/>
              </a:rPr>
              <a:t>Identity is derived, not invented</a:t>
            </a:r>
            <a:endParaRPr lang="en-US" sz="3600" dirty="0"/>
          </a:p>
        </p:txBody>
      </p:sp>
      <p:sp>
        <p:nvSpPr>
          <p:cNvPr id="5" name="Shape 2"/>
          <p:cNvSpPr/>
          <p:nvPr/>
        </p:nvSpPr>
        <p:spPr>
          <a:xfrm>
            <a:off x="594360" y="1783080"/>
            <a:ext cx="11002975" cy="3066898"/>
          </a:xfrm>
          <a:prstGeom prst="roundRect">
            <a:avLst>
              <a:gd name="adj" fmla="val 1789"/>
            </a:avLst>
          </a:prstGeom>
          <a:solidFill>
            <a:srgbClr val="19242F"/>
          </a:solidFill>
          <a:ln/>
        </p:spPr>
      </p:sp>
      <p:sp>
        <p:nvSpPr>
          <p:cNvPr id="6" name="Text 3"/>
          <p:cNvSpPr txBox="1"/>
          <p:nvPr/>
        </p:nvSpPr>
        <p:spPr>
          <a:xfrm>
            <a:off x="914400" y="2011680"/>
            <a:ext cx="10362895" cy="331927"/>
          </a:xfrm>
          <a:prstGeom prst="rect">
            <a:avLst/>
          </a:prstGeom>
          <a:noFill/>
          <a:ln/>
        </p:spPr>
        <p:txBody>
          <a:bodyPr wrap="square" lIns="0" tIns="0" rIns="0" bIns="0" rtlCol="0" anchor="ctr"/>
          <a:lstStyle/>
          <a:p>
            <a:pPr indent="0" marL="0">
              <a:buNone/>
            </a:pPr>
            <a:r>
              <a:rPr lang="en-US" sz="1500" dirty="0">
                <a:solidFill>
                  <a:srgbClr val="E9EFF6"/>
                </a:solidFill>
                <a:latin typeface="Courier New" pitchFamily="34" charset="0"/>
                <a:ea typeface="Courier New" pitchFamily="34" charset="-122"/>
                <a:cs typeface="Courier New" pitchFamily="34" charset="-120"/>
              </a:rPr>
              <a:t>function Get-PrimaryKey {</a:t>
            </a:r>
            <a:endParaRPr lang="en-US" sz="1500" dirty="0"/>
          </a:p>
        </p:txBody>
      </p:sp>
      <p:sp>
        <p:nvSpPr>
          <p:cNvPr id="7" name="Text 4"/>
          <p:cNvSpPr txBox="1"/>
          <p:nvPr/>
        </p:nvSpPr>
        <p:spPr>
          <a:xfrm>
            <a:off x="914400" y="2343607"/>
            <a:ext cx="10362895" cy="331927"/>
          </a:xfrm>
          <a:prstGeom prst="rect">
            <a:avLst/>
          </a:prstGeom>
          <a:noFill/>
          <a:ln/>
        </p:spPr>
        <p:txBody>
          <a:bodyPr wrap="square" lIns="0" tIns="0" rIns="0" bIns="0" rtlCol="0" anchor="ctr"/>
          <a:lstStyle/>
          <a:p>
            <a:pPr indent="0" marL="0">
              <a:buNone/>
            </a:pPr>
            <a:r>
              <a:rPr lang="en-US" sz="1500" dirty="0">
                <a:solidFill>
                  <a:srgbClr val="E8A33D"/>
                </a:solidFill>
                <a:latin typeface="Courier New" pitchFamily="34" charset="0"/>
                <a:ea typeface="Courier New" pitchFamily="34" charset="-122"/>
                <a:cs typeface="Courier New" pitchFamily="34" charset="-120"/>
              </a:rPr>
              <a:t>    if ($Event.Host)       { return "host:$($Event.Host)" }</a:t>
            </a:r>
            <a:endParaRPr lang="en-US" sz="1500" dirty="0"/>
          </a:p>
        </p:txBody>
      </p:sp>
      <p:sp>
        <p:nvSpPr>
          <p:cNvPr id="8" name="Text 5"/>
          <p:cNvSpPr txBox="1"/>
          <p:nvPr/>
        </p:nvSpPr>
        <p:spPr>
          <a:xfrm>
            <a:off x="914400" y="2675534"/>
            <a:ext cx="10362895" cy="331927"/>
          </a:xfrm>
          <a:prstGeom prst="rect">
            <a:avLst/>
          </a:prstGeom>
          <a:noFill/>
          <a:ln/>
        </p:spPr>
        <p:txBody>
          <a:bodyPr wrap="square" lIns="0" tIns="0" rIns="0" bIns="0" rtlCol="0" anchor="ctr"/>
          <a:lstStyle/>
          <a:p>
            <a:pPr indent="0" marL="0">
              <a:buNone/>
            </a:pPr>
            <a:r>
              <a:rPr lang="en-US" sz="1500" dirty="0">
                <a:solidFill>
                  <a:srgbClr val="8FA3B8"/>
                </a:solidFill>
                <a:latin typeface="Courier New" pitchFamily="34" charset="0"/>
                <a:ea typeface="Courier New" pitchFamily="34" charset="-122"/>
                <a:cs typeface="Courier New" pitchFamily="34" charset="-120"/>
              </a:rPr>
              <a:t>    if ($Event.ResourceId) { return "resource:$($Event.ResourceId)" }</a:t>
            </a:r>
            <a:endParaRPr lang="en-US" sz="1500" dirty="0"/>
          </a:p>
        </p:txBody>
      </p:sp>
      <p:sp>
        <p:nvSpPr>
          <p:cNvPr id="9" name="Text 6"/>
          <p:cNvSpPr txBox="1"/>
          <p:nvPr/>
        </p:nvSpPr>
        <p:spPr>
          <a:xfrm>
            <a:off x="914400" y="3007462"/>
            <a:ext cx="10362895" cy="331927"/>
          </a:xfrm>
          <a:prstGeom prst="rect">
            <a:avLst/>
          </a:prstGeom>
          <a:noFill/>
          <a:ln/>
        </p:spPr>
        <p:txBody>
          <a:bodyPr wrap="square" lIns="0" tIns="0" rIns="0" bIns="0" rtlCol="0" anchor="ctr"/>
          <a:lstStyle/>
          <a:p>
            <a:pPr indent="0" marL="0">
              <a:buNone/>
            </a:pPr>
            <a:r>
              <a:rPr lang="en-US" sz="1500" dirty="0">
                <a:solidFill>
                  <a:srgbClr val="8FA3B8"/>
                </a:solidFill>
                <a:latin typeface="Courier New" pitchFamily="34" charset="0"/>
                <a:ea typeface="Courier New" pitchFamily="34" charset="-122"/>
                <a:cs typeface="Courier New" pitchFamily="34" charset="-120"/>
              </a:rPr>
              <a:t>    if ($Event.Service)    { return "service:$($Event.Service)" }</a:t>
            </a:r>
            <a:endParaRPr lang="en-US" sz="1500" dirty="0"/>
          </a:p>
        </p:txBody>
      </p:sp>
      <p:sp>
        <p:nvSpPr>
          <p:cNvPr id="10" name="Text 7"/>
          <p:cNvSpPr txBox="1"/>
          <p:nvPr/>
        </p:nvSpPr>
        <p:spPr>
          <a:xfrm>
            <a:off x="914400" y="3339389"/>
            <a:ext cx="10362895" cy="331927"/>
          </a:xfrm>
          <a:prstGeom prst="rect">
            <a:avLst/>
          </a:prstGeom>
          <a:noFill/>
          <a:ln/>
        </p:spPr>
        <p:txBody>
          <a:bodyPr wrap="square" lIns="0" tIns="0" rIns="0" bIns="0" rtlCol="0" anchor="ctr"/>
          <a:lstStyle/>
          <a:p>
            <a:pPr indent="0" marL="0">
              <a:buNone/>
            </a:pPr>
            <a:r>
              <a:rPr lang="en-US" sz="1500" dirty="0">
                <a:solidFill>
                  <a:srgbClr val="7C90A6"/>
                </a:solidFill>
                <a:latin typeface="Courier New" pitchFamily="34" charset="0"/>
                <a:ea typeface="Courier New" pitchFamily="34" charset="-122"/>
                <a:cs typeface="Courier New" pitchFamily="34" charset="-120"/>
              </a:rPr>
              <a:t>    if ($Event.TraceId)    { return "trace:$($Event.TraceId)" }   # last: one per request</a:t>
            </a:r>
            <a:endParaRPr lang="en-US" sz="1500" dirty="0"/>
          </a:p>
        </p:txBody>
      </p:sp>
      <p:sp>
        <p:nvSpPr>
          <p:cNvPr id="11" name="Text 8"/>
          <p:cNvSpPr txBox="1"/>
          <p:nvPr/>
        </p:nvSpPr>
        <p:spPr>
          <a:xfrm>
            <a:off x="914400" y="3671316"/>
            <a:ext cx="10362895" cy="331927"/>
          </a:xfrm>
          <a:prstGeom prst="rect">
            <a:avLst/>
          </a:prstGeom>
          <a:noFill/>
          <a:ln/>
        </p:spPr>
        <p:txBody>
          <a:bodyPr wrap="square" lIns="0" tIns="0" rIns="0" bIns="0" rtlCol="0" anchor="ctr"/>
          <a:lstStyle/>
          <a:p>
            <a:pPr indent="0" marL="0">
              <a:buNone/>
            </a:pPr>
            <a:r>
              <a:rPr lang="en-US" sz="1500" dirty="0">
                <a:solidFill>
                  <a:srgbClr val="E9EFF6"/>
                </a:solidFill>
                <a:latin typeface="Courier New" pitchFamily="34" charset="0"/>
                <a:ea typeface="Courier New" pitchFamily="34" charset="-122"/>
                <a:cs typeface="Courier New" pitchFamily="34" charset="-120"/>
              </a:rPr>
              <a:t>}</a:t>
            </a:r>
            <a:endParaRPr lang="en-US" sz="1500" dirty="0"/>
          </a:p>
        </p:txBody>
      </p:sp>
      <p:sp>
        <p:nvSpPr>
          <p:cNvPr id="12" name="Text 9"/>
          <p:cNvSpPr txBox="1"/>
          <p:nvPr/>
        </p:nvSpPr>
        <p:spPr>
          <a:xfrm>
            <a:off x="914400" y="4003243"/>
            <a:ext cx="10362895" cy="331927"/>
          </a:xfrm>
          <a:prstGeom prst="rect">
            <a:avLst/>
          </a:prstGeom>
          <a:noFill/>
          <a:ln/>
        </p:spPr>
        <p:txBody>
          <a:bodyPr wrap="square" lIns="0" tIns="0" rIns="0" bIns="0" rtlCol="0" anchor="ctr"/>
          <a:lstStyle/>
          <a:p>
            <a:pPr indent="0" marL="0">
              <a:buNone/>
            </a:pPr>
            <a:endParaRPr lang="en-US" sz="1500" dirty="0"/>
          </a:p>
        </p:txBody>
      </p:sp>
      <p:sp>
        <p:nvSpPr>
          <p:cNvPr id="13" name="Text 10"/>
          <p:cNvSpPr txBox="1"/>
          <p:nvPr/>
        </p:nvSpPr>
        <p:spPr>
          <a:xfrm>
            <a:off x="914400" y="4335170"/>
            <a:ext cx="10362895" cy="331927"/>
          </a:xfrm>
          <a:prstGeom prst="rect">
            <a:avLst/>
          </a:prstGeom>
          <a:noFill/>
          <a:ln/>
        </p:spPr>
        <p:txBody>
          <a:bodyPr wrap="square" lIns="0" tIns="0" rIns="0" bIns="0" rtlCol="0" anchor="ctr"/>
          <a:lstStyle/>
          <a:p>
            <a:pPr indent="0" marL="0">
              <a:buNone/>
            </a:pPr>
            <a:r>
              <a:rPr lang="en-US" sz="1500" dirty="0">
                <a:solidFill>
                  <a:srgbClr val="46B98A"/>
                </a:solidFill>
                <a:latin typeface="Courier New" pitchFamily="34" charset="0"/>
                <a:ea typeface="Courier New" pitchFamily="34" charset="-122"/>
                <a:cs typeface="Courier New" pitchFamily="34" charset="-120"/>
              </a:rPr>
              <a:t>$incidentId = 'inc-' + (Sha256 $primaryKey).Substring(0, 12)</a:t>
            </a:r>
            <a:endParaRPr lang="en-US" sz="1500" dirty="0"/>
          </a:p>
        </p:txBody>
      </p:sp>
      <p:sp>
        <p:nvSpPr>
          <p:cNvPr id="14" name="Shape 11"/>
          <p:cNvSpPr/>
          <p:nvPr/>
        </p:nvSpPr>
        <p:spPr>
          <a:xfrm>
            <a:off x="594360" y="5170018"/>
            <a:ext cx="11002975" cy="1143000"/>
          </a:xfrm>
          <a:prstGeom prst="roundRect">
            <a:avLst>
              <a:gd name="adj" fmla="val 4800"/>
            </a:avLst>
          </a:prstGeom>
          <a:solidFill>
            <a:srgbClr val="223140"/>
          </a:solidFill>
          <a:ln/>
        </p:spPr>
      </p:sp>
      <p:sp>
        <p:nvSpPr>
          <p:cNvPr id="15" name="Text 12"/>
          <p:cNvSpPr txBox="1"/>
          <p:nvPr/>
        </p:nvSpPr>
        <p:spPr>
          <a:xfrm>
            <a:off x="868680" y="5371186"/>
            <a:ext cx="10454335" cy="777240"/>
          </a:xfrm>
          <a:prstGeom prst="rect">
            <a:avLst/>
          </a:prstGeom>
          <a:noFill/>
          <a:ln/>
        </p:spPr>
        <p:txBody>
          <a:bodyPr wrap="square" lIns="0" tIns="0" rIns="0" bIns="0" rtlCol="0" anchor="t"/>
          <a:lstStyle/>
          <a:p>
            <a:pPr indent="0" marL="0">
              <a:buNone/>
            </a:pPr>
            <a:r>
              <a:rPr lang="en-US" sz="1500" b="1" dirty="0">
                <a:solidFill>
                  <a:srgbClr val="46B98A"/>
                </a:solidFill>
                <a:latin typeface="Calibri" pitchFamily="34" charset="0"/>
                <a:ea typeface="Calibri" pitchFamily="34" charset="-122"/>
                <a:cs typeface="Calibri" pitchFamily="34" charset="-120"/>
              </a:rPr>
              <a:t>Two workers, one row. </a:t>
            </a:r>
            <a:pPr indent="0" marL="0">
              <a:buNone/>
            </a:pPr>
            <a:r>
              <a:rPr lang="en-US" sz="1500" dirty="0">
                <a:solidFill>
                  <a:srgbClr val="E9EFF6"/>
                </a:solidFill>
                <a:latin typeface="Calibri" pitchFamily="34" charset="0"/>
                <a:ea typeface="Calibri" pitchFamily="34" charset="-122"/>
                <a:cs typeface="Calibri" pitchFamily="34" charset="-120"/>
              </a:rPr>
              <a:t>The hub has two partitions, so two invocations correlate the same host at the same instant. Because the id is computed from the key rather than generated, they both write to the same incident - and the loser of the race gets a 409 it can ignore.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621"/>
        </a:solidFill>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indent="0" marL="0">
              <a:buNone/>
            </a:pPr>
            <a:r>
              <a:rPr lang="en-US" sz="1200" b="1" spc="200" kern="0" dirty="0">
                <a:solidFill>
                  <a:srgbClr val="E0443E"/>
                </a:solidFill>
                <a:latin typeface="Calibri" pitchFamily="34" charset="0"/>
                <a:ea typeface="Calibri" pitchFamily="34" charset="-122"/>
                <a:cs typeface="Calibri" pitchFamily="34" charset="-120"/>
              </a:rPr>
              <a:t>AI.PSM1  ·  THE MODEL CALL IS 29 LINES OF IT</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indent="0" marL="0">
              <a:buNone/>
            </a:pPr>
            <a:r>
              <a:rPr lang="en-US" sz="3600" b="1" dirty="0">
                <a:solidFill>
                  <a:srgbClr val="E9EFF6"/>
                </a:solidFill>
                <a:latin typeface="Calibri" pitchFamily="34" charset="0"/>
                <a:ea typeface="Calibri" pitchFamily="34" charset="-122"/>
                <a:cs typeface="Calibri" pitchFamily="34" charset="-120"/>
              </a:rPr>
              <a:t>Asking the model is the easy part</a:t>
            </a:r>
            <a:endParaRPr lang="en-US" sz="3600" dirty="0"/>
          </a:p>
        </p:txBody>
      </p:sp>
      <p:sp>
        <p:nvSpPr>
          <p:cNvPr id="5" name="Shape 2"/>
          <p:cNvSpPr/>
          <p:nvPr/>
        </p:nvSpPr>
        <p:spPr>
          <a:xfrm>
            <a:off x="594360" y="1783080"/>
            <a:ext cx="11002975" cy="3575853"/>
          </a:xfrm>
          <a:prstGeom prst="roundRect">
            <a:avLst>
              <a:gd name="adj" fmla="val 1534"/>
            </a:avLst>
          </a:prstGeom>
          <a:solidFill>
            <a:srgbClr val="19242F"/>
          </a:solidFill>
          <a:ln/>
        </p:spPr>
      </p:sp>
      <p:sp>
        <p:nvSpPr>
          <p:cNvPr id="6" name="Text 3"/>
          <p:cNvSpPr txBox="1"/>
          <p:nvPr/>
        </p:nvSpPr>
        <p:spPr>
          <a:xfrm>
            <a:off x="914400" y="2011680"/>
            <a:ext cx="10362895" cy="287670"/>
          </a:xfrm>
          <a:prstGeom prst="rect">
            <a:avLst/>
          </a:prstGeom>
          <a:noFill/>
          <a:ln/>
        </p:spPr>
        <p:txBody>
          <a:bodyPr wrap="square" lIns="0" tIns="0" rIns="0" bIns="0" rtlCol="0" anchor="ctr"/>
          <a:lstStyle/>
          <a:p>
            <a:pPr indent="0" marL="0">
              <a:buNone/>
            </a:pPr>
            <a:r>
              <a:rPr lang="en-US" sz="1300" dirty="0">
                <a:solidFill>
                  <a:srgbClr val="E9EFF6"/>
                </a:solidFill>
                <a:latin typeface="Courier New" pitchFamily="34" charset="0"/>
                <a:ea typeface="Courier New" pitchFamily="34" charset="-122"/>
                <a:cs typeface="Courier New" pitchFamily="34" charset="-120"/>
              </a:rPr>
              <a:t>$body = @{</a:t>
            </a:r>
            <a:endParaRPr lang="en-US" sz="1300" dirty="0"/>
          </a:p>
        </p:txBody>
      </p:sp>
      <p:sp>
        <p:nvSpPr>
          <p:cNvPr id="7" name="Text 4"/>
          <p:cNvSpPr txBox="1"/>
          <p:nvPr/>
        </p:nvSpPr>
        <p:spPr>
          <a:xfrm>
            <a:off x="914400" y="2299350"/>
            <a:ext cx="10362895" cy="287670"/>
          </a:xfrm>
          <a:prstGeom prst="rect">
            <a:avLst/>
          </a:prstGeom>
          <a:noFill/>
          <a:ln/>
        </p:spPr>
        <p:txBody>
          <a:bodyPr wrap="square" lIns="0" tIns="0" rIns="0" bIns="0" rtlCol="0" anchor="ctr"/>
          <a:lstStyle/>
          <a:p>
            <a:pPr indent="0" marL="0">
              <a:buNone/>
            </a:pPr>
            <a:r>
              <a:rPr lang="en-US" sz="1300" dirty="0">
                <a:solidFill>
                  <a:srgbClr val="8FA3B8"/>
                </a:solidFill>
                <a:latin typeface="Courier New" pitchFamily="34" charset="0"/>
                <a:ea typeface="Courier New" pitchFamily="34" charset="-122"/>
                <a:cs typeface="Courier New" pitchFamily="34" charset="-120"/>
              </a:rPr>
              <a:t>    messages = @(</a:t>
            </a:r>
            <a:endParaRPr lang="en-US" sz="1300" dirty="0"/>
          </a:p>
        </p:txBody>
      </p:sp>
      <p:sp>
        <p:nvSpPr>
          <p:cNvPr id="8" name="Text 5"/>
          <p:cNvSpPr txBox="1"/>
          <p:nvPr/>
        </p:nvSpPr>
        <p:spPr>
          <a:xfrm>
            <a:off x="914400" y="2587020"/>
            <a:ext cx="10362895" cy="287670"/>
          </a:xfrm>
          <a:prstGeom prst="rect">
            <a:avLst/>
          </a:prstGeom>
          <a:noFill/>
          <a:ln/>
        </p:spPr>
        <p:txBody>
          <a:bodyPr wrap="square" lIns="0" tIns="0" rIns="0" bIns="0" rtlCol="0" anchor="ctr"/>
          <a:lstStyle/>
          <a:p>
            <a:pPr indent="0" marL="0">
              <a:buNone/>
            </a:pPr>
            <a:r>
              <a:rPr lang="en-US" sz="1300" dirty="0">
                <a:solidFill>
                  <a:srgbClr val="8FA3B8"/>
                </a:solidFill>
                <a:latin typeface="Courier New" pitchFamily="34" charset="0"/>
                <a:ea typeface="Courier New" pitchFamily="34" charset="-122"/>
                <a:cs typeface="Courier New" pitchFamily="34" charset="-120"/>
              </a:rPr>
              <a:t>        @{ role = 'system'; content = $SystemPrompt }</a:t>
            </a:r>
            <a:endParaRPr lang="en-US" sz="1300" dirty="0"/>
          </a:p>
        </p:txBody>
      </p:sp>
      <p:sp>
        <p:nvSpPr>
          <p:cNvPr id="9" name="Text 6"/>
          <p:cNvSpPr txBox="1"/>
          <p:nvPr/>
        </p:nvSpPr>
        <p:spPr>
          <a:xfrm>
            <a:off x="914400" y="2874691"/>
            <a:ext cx="10362895" cy="287670"/>
          </a:xfrm>
          <a:prstGeom prst="rect">
            <a:avLst/>
          </a:prstGeom>
          <a:noFill/>
          <a:ln/>
        </p:spPr>
        <p:txBody>
          <a:bodyPr wrap="square" lIns="0" tIns="0" rIns="0" bIns="0" rtlCol="0" anchor="ctr"/>
          <a:lstStyle/>
          <a:p>
            <a:pPr indent="0" marL="0">
              <a:buNone/>
            </a:pPr>
            <a:r>
              <a:rPr lang="en-US" sz="1300" dirty="0">
                <a:solidFill>
                  <a:srgbClr val="8FA3B8"/>
                </a:solidFill>
                <a:latin typeface="Courier New" pitchFamily="34" charset="0"/>
                <a:ea typeface="Courier New" pitchFamily="34" charset="-122"/>
                <a:cs typeface="Courier New" pitchFamily="34" charset="-120"/>
              </a:rPr>
              <a:t>        @{ role = 'user';   content = ($incidents | ConvertTo-Json -Depth 8) }</a:t>
            </a:r>
            <a:endParaRPr lang="en-US" sz="1300" dirty="0"/>
          </a:p>
        </p:txBody>
      </p:sp>
      <p:sp>
        <p:nvSpPr>
          <p:cNvPr id="10" name="Text 7"/>
          <p:cNvSpPr txBox="1"/>
          <p:nvPr/>
        </p:nvSpPr>
        <p:spPr>
          <a:xfrm>
            <a:off x="914400" y="3162361"/>
            <a:ext cx="10362895" cy="287670"/>
          </a:xfrm>
          <a:prstGeom prst="rect">
            <a:avLst/>
          </a:prstGeom>
          <a:noFill/>
          <a:ln/>
        </p:spPr>
        <p:txBody>
          <a:bodyPr wrap="square" lIns="0" tIns="0" rIns="0" bIns="0" rtlCol="0" anchor="ctr"/>
          <a:lstStyle/>
          <a:p>
            <a:pPr indent="0" marL="0">
              <a:buNone/>
            </a:pPr>
            <a:r>
              <a:rPr lang="en-US" sz="1300" dirty="0">
                <a:solidFill>
                  <a:srgbClr val="8FA3B8"/>
                </a:solidFill>
                <a:latin typeface="Courier New" pitchFamily="34" charset="0"/>
                <a:ea typeface="Courier New" pitchFamily="34" charset="-122"/>
                <a:cs typeface="Courier New" pitchFamily="34" charset="-120"/>
              </a:rPr>
              <a:t>    )</a:t>
            </a:r>
            <a:endParaRPr lang="en-US" sz="1300" dirty="0"/>
          </a:p>
        </p:txBody>
      </p:sp>
      <p:sp>
        <p:nvSpPr>
          <p:cNvPr id="11" name="Text 8"/>
          <p:cNvSpPr txBox="1"/>
          <p:nvPr/>
        </p:nvSpPr>
        <p:spPr>
          <a:xfrm>
            <a:off x="914400" y="3450031"/>
            <a:ext cx="10362895" cy="287670"/>
          </a:xfrm>
          <a:prstGeom prst="rect">
            <a:avLst/>
          </a:prstGeom>
          <a:noFill/>
          <a:ln/>
        </p:spPr>
        <p:txBody>
          <a:bodyPr wrap="square" lIns="0" tIns="0" rIns="0" bIns="0" rtlCol="0" anchor="ctr"/>
          <a:lstStyle/>
          <a:p>
            <a:pPr indent="0" marL="0">
              <a:buNone/>
            </a:pPr>
            <a:r>
              <a:rPr lang="en-US" sz="1300" dirty="0">
                <a:solidFill>
                  <a:srgbClr val="E8A33D"/>
                </a:solidFill>
                <a:latin typeface="Courier New" pitchFamily="34" charset="0"/>
                <a:ea typeface="Courier New" pitchFamily="34" charset="-122"/>
                <a:cs typeface="Courier New" pitchFamily="34" charset="-120"/>
              </a:rPr>
              <a:t>    temperature     = 0                          # same events, same answer</a:t>
            </a:r>
            <a:endParaRPr lang="en-US" sz="1300" dirty="0"/>
          </a:p>
        </p:txBody>
      </p:sp>
      <p:sp>
        <p:nvSpPr>
          <p:cNvPr id="12" name="Text 9"/>
          <p:cNvSpPr txBox="1"/>
          <p:nvPr/>
        </p:nvSpPr>
        <p:spPr>
          <a:xfrm>
            <a:off x="914400" y="3737701"/>
            <a:ext cx="10362895" cy="287670"/>
          </a:xfrm>
          <a:prstGeom prst="rect">
            <a:avLst/>
          </a:prstGeom>
          <a:noFill/>
          <a:ln/>
        </p:spPr>
        <p:txBody>
          <a:bodyPr wrap="square" lIns="0" tIns="0" rIns="0" bIns="0" rtlCol="0" anchor="ctr"/>
          <a:lstStyle/>
          <a:p>
            <a:pPr indent="0" marL="0">
              <a:buNone/>
            </a:pPr>
            <a:r>
              <a:rPr lang="en-US" sz="1300" dirty="0">
                <a:solidFill>
                  <a:srgbClr val="E8A33D"/>
                </a:solidFill>
                <a:latin typeface="Courier New" pitchFamily="34" charset="0"/>
                <a:ea typeface="Courier New" pitchFamily="34" charset="-122"/>
                <a:cs typeface="Courier New" pitchFamily="34" charset="-120"/>
              </a:rPr>
              <a:t>    response_format = @{ type = 'json_object' }   # not prose, a contract</a:t>
            </a:r>
            <a:endParaRPr lang="en-US" sz="1300" dirty="0"/>
          </a:p>
        </p:txBody>
      </p:sp>
      <p:sp>
        <p:nvSpPr>
          <p:cNvPr id="13" name="Text 10"/>
          <p:cNvSpPr txBox="1"/>
          <p:nvPr/>
        </p:nvSpPr>
        <p:spPr>
          <a:xfrm>
            <a:off x="914400" y="4025372"/>
            <a:ext cx="10362895" cy="287670"/>
          </a:xfrm>
          <a:prstGeom prst="rect">
            <a:avLst/>
          </a:prstGeom>
          <a:noFill/>
          <a:ln/>
        </p:spPr>
        <p:txBody>
          <a:bodyPr wrap="square" lIns="0" tIns="0" rIns="0" bIns="0" rtlCol="0" anchor="ctr"/>
          <a:lstStyle/>
          <a:p>
            <a:pPr indent="0" marL="0">
              <a:buNone/>
            </a:pPr>
            <a:r>
              <a:rPr lang="en-US" sz="1300" dirty="0">
                <a:solidFill>
                  <a:srgbClr val="E9EFF6"/>
                </a:solidFill>
                <a:latin typeface="Courier New" pitchFamily="34" charset="0"/>
                <a:ea typeface="Courier New" pitchFamily="34" charset="-122"/>
                <a:cs typeface="Courier New" pitchFamily="34" charset="-120"/>
              </a:rPr>
              <a:t>}</a:t>
            </a:r>
            <a:endParaRPr lang="en-US" sz="1300" dirty="0"/>
          </a:p>
        </p:txBody>
      </p:sp>
      <p:sp>
        <p:nvSpPr>
          <p:cNvPr id="14" name="Text 11"/>
          <p:cNvSpPr txBox="1"/>
          <p:nvPr/>
        </p:nvSpPr>
        <p:spPr>
          <a:xfrm>
            <a:off x="914400" y="4313042"/>
            <a:ext cx="10362895" cy="287670"/>
          </a:xfrm>
          <a:prstGeom prst="rect">
            <a:avLst/>
          </a:prstGeom>
          <a:noFill/>
          <a:ln/>
        </p:spPr>
        <p:txBody>
          <a:bodyPr wrap="square" lIns="0" tIns="0" rIns="0" bIns="0" rtlCol="0" anchor="ctr"/>
          <a:lstStyle/>
          <a:p>
            <a:pPr indent="0" marL="0">
              <a:buNone/>
            </a:pPr>
            <a:endParaRPr lang="en-US" sz="1300" dirty="0"/>
          </a:p>
        </p:txBody>
      </p:sp>
      <p:sp>
        <p:nvSpPr>
          <p:cNvPr id="15" name="Text 12"/>
          <p:cNvSpPr txBox="1"/>
          <p:nvPr/>
        </p:nvSpPr>
        <p:spPr>
          <a:xfrm>
            <a:off x="914400" y="4600712"/>
            <a:ext cx="10362895" cy="287670"/>
          </a:xfrm>
          <a:prstGeom prst="rect">
            <a:avLst/>
          </a:prstGeom>
          <a:noFill/>
          <a:ln/>
        </p:spPr>
        <p:txBody>
          <a:bodyPr wrap="square" lIns="0" tIns="0" rIns="0" bIns="0" rtlCol="0" anchor="ctr"/>
          <a:lstStyle/>
          <a:p>
            <a:pPr indent="0" marL="0">
              <a:buNone/>
            </a:pPr>
            <a:r>
              <a:rPr lang="en-US" sz="1300" dirty="0">
                <a:solidFill>
                  <a:srgbClr val="E9EFF6"/>
                </a:solidFill>
                <a:latin typeface="Courier New" pitchFamily="34" charset="0"/>
                <a:ea typeface="Courier New" pitchFamily="34" charset="-122"/>
                <a:cs typeface="Courier New" pitchFamily="34" charset="-120"/>
              </a:rPr>
              <a:t>Invoke-RestMethod -Uri $uri -Method Post -Body ($body | ConvertTo-Json -Depth 10) `</a:t>
            </a:r>
            <a:endParaRPr lang="en-US" sz="1300" dirty="0"/>
          </a:p>
        </p:txBody>
      </p:sp>
      <p:sp>
        <p:nvSpPr>
          <p:cNvPr id="16" name="Text 13"/>
          <p:cNvSpPr txBox="1"/>
          <p:nvPr/>
        </p:nvSpPr>
        <p:spPr>
          <a:xfrm>
            <a:off x="914400" y="4888382"/>
            <a:ext cx="10362895" cy="287670"/>
          </a:xfrm>
          <a:prstGeom prst="rect">
            <a:avLst/>
          </a:prstGeom>
          <a:noFill/>
          <a:ln/>
        </p:spPr>
        <p:txBody>
          <a:bodyPr wrap="square" lIns="0" tIns="0" rIns="0" bIns="0" rtlCol="0" anchor="ctr"/>
          <a:lstStyle/>
          <a:p>
            <a:pPr indent="0" marL="0">
              <a:buNone/>
            </a:pPr>
            <a:r>
              <a:rPr lang="en-US" sz="1300" dirty="0">
                <a:solidFill>
                  <a:srgbClr val="46B98A"/>
                </a:solidFill>
                <a:latin typeface="Courier New" pitchFamily="34" charset="0"/>
                <a:ea typeface="Courier New" pitchFamily="34" charset="-122"/>
                <a:cs typeface="Courier New" pitchFamily="34" charset="-120"/>
              </a:rPr>
              <a:t>    -Headers @{ Authorization = "Bearer $(Get-ResourceToken ...)" }  # managed identity</a:t>
            </a:r>
            <a:endParaRPr lang="en-US" sz="1300" dirty="0"/>
          </a:p>
        </p:txBody>
      </p:sp>
      <p:sp>
        <p:nvSpPr>
          <p:cNvPr id="17" name="Shape 14"/>
          <p:cNvSpPr/>
          <p:nvPr/>
        </p:nvSpPr>
        <p:spPr>
          <a:xfrm>
            <a:off x="594360" y="5678973"/>
            <a:ext cx="11002975" cy="868680"/>
          </a:xfrm>
          <a:prstGeom prst="roundRect">
            <a:avLst>
              <a:gd name="adj" fmla="val 6316"/>
            </a:avLst>
          </a:prstGeom>
          <a:solidFill>
            <a:srgbClr val="223140"/>
          </a:solidFill>
          <a:ln/>
        </p:spPr>
      </p:sp>
      <p:sp>
        <p:nvSpPr>
          <p:cNvPr id="18" name="Text 15"/>
          <p:cNvSpPr txBox="1"/>
          <p:nvPr/>
        </p:nvSpPr>
        <p:spPr>
          <a:xfrm>
            <a:off x="868680" y="5880141"/>
            <a:ext cx="10454335" cy="50292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The prompt is 698 words. The code that sends it is 29 lines. </a:t>
            </a:r>
            <a:pPr indent="0" marL="0">
              <a:buNone/>
            </a:pPr>
            <a:r>
              <a:rPr lang="en-US" sz="1700" dirty="0">
                <a:solidFill>
                  <a:srgbClr val="8FA3B8"/>
                </a:solidFill>
                <a:latin typeface="Calibri" pitchFamily="34" charset="0"/>
                <a:ea typeface="Calibri" pitchFamily="34" charset="-122"/>
                <a:cs typeface="Calibri" pitchFamily="34" charset="-120"/>
              </a:rPr>
              <a:t>Everything else in this repo exists to make sure the question is worth asking.</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621"/>
        </a:solidFill>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1,151 LINES OF POWERSHELL</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indent="0" marL="0">
              <a:buNone/>
            </a:pPr>
            <a:r>
              <a:rPr lang="en-US" sz="3600" b="1" dirty="0">
                <a:solidFill>
                  <a:srgbClr val="E9EFF6"/>
                </a:solidFill>
                <a:latin typeface="Calibri" pitchFamily="34" charset="0"/>
                <a:ea typeface="Calibri" pitchFamily="34" charset="-122"/>
                <a:cs typeface="Calibri" pitchFamily="34" charset="-120"/>
              </a:rPr>
              <a:t>Where the lines actually are</a:t>
            </a:r>
            <a:endParaRPr lang="en-US" sz="3600" dirty="0"/>
          </a:p>
        </p:txBody>
      </p:sp>
      <p:sp>
        <p:nvSpPr>
          <p:cNvPr id="5" name="Text 2"/>
          <p:cNvSpPr txBox="1"/>
          <p:nvPr/>
        </p:nvSpPr>
        <p:spPr>
          <a:xfrm>
            <a:off x="594360" y="1801368"/>
            <a:ext cx="3017520" cy="320040"/>
          </a:xfrm>
          <a:prstGeom prst="rect">
            <a:avLst/>
          </a:prstGeom>
          <a:noFill/>
          <a:ln/>
        </p:spPr>
        <p:txBody>
          <a:bodyPr wrap="square" lIns="0" tIns="0" rIns="0" bIns="0" rtlCol="0" anchor="ctr"/>
          <a:lstStyle/>
          <a:p>
            <a:pPr indent="0" marL="0">
              <a:buNone/>
            </a:pPr>
            <a:r>
              <a:rPr lang="en-US" sz="1500" dirty="0">
                <a:solidFill>
                  <a:srgbClr val="E9EFF6"/>
                </a:solidFill>
                <a:latin typeface="Calibri" pitchFamily="34" charset="0"/>
                <a:ea typeface="Calibri" pitchFamily="34" charset="-122"/>
                <a:cs typeface="Calibri" pitchFamily="34" charset="-120"/>
              </a:rPr>
              <a:t>Deterministic correlation</a:t>
            </a:r>
            <a:endParaRPr lang="en-US" sz="1500" dirty="0"/>
          </a:p>
        </p:txBody>
      </p:sp>
      <p:sp>
        <p:nvSpPr>
          <p:cNvPr id="6" name="Text 3"/>
          <p:cNvSpPr txBox="1"/>
          <p:nvPr/>
        </p:nvSpPr>
        <p:spPr>
          <a:xfrm>
            <a:off x="3657600" y="1828800"/>
            <a:ext cx="1737360" cy="274320"/>
          </a:xfrm>
          <a:prstGeom prst="rect">
            <a:avLst/>
          </a:prstGeom>
          <a:noFill/>
          <a:ln/>
        </p:spPr>
        <p:txBody>
          <a:bodyPr wrap="square" lIns="0" tIns="0" rIns="0" bIns="0" rtlCol="0" anchor="ctr"/>
          <a:lstStyle/>
          <a:p>
            <a:pPr indent="0" marL="0">
              <a:buNone/>
            </a:pPr>
            <a:r>
              <a:rPr lang="en-US" sz="1100" dirty="0">
                <a:solidFill>
                  <a:srgbClr val="7C90A6"/>
                </a:solidFill>
                <a:latin typeface="Courier New" pitchFamily="34" charset="0"/>
                <a:ea typeface="Courier New" pitchFamily="34" charset="-122"/>
                <a:cs typeface="Courier New" pitchFamily="34" charset="-120"/>
              </a:rPr>
              <a:t>Correlation.psm1</a:t>
            </a:r>
            <a:endParaRPr lang="en-US" sz="1100" dirty="0"/>
          </a:p>
        </p:txBody>
      </p:sp>
      <p:sp>
        <p:nvSpPr>
          <p:cNvPr id="7" name="Shape 4"/>
          <p:cNvSpPr/>
          <p:nvPr/>
        </p:nvSpPr>
        <p:spPr>
          <a:xfrm>
            <a:off x="5394960" y="1837944"/>
            <a:ext cx="4937760" cy="237744"/>
          </a:xfrm>
          <a:prstGeom prst="rect">
            <a:avLst/>
          </a:prstGeom>
          <a:solidFill>
            <a:srgbClr val="E8A33D"/>
          </a:solidFill>
          <a:ln/>
        </p:spPr>
      </p:sp>
      <p:sp>
        <p:nvSpPr>
          <p:cNvPr id="8" name="Text 5"/>
          <p:cNvSpPr txBox="1"/>
          <p:nvPr/>
        </p:nvSpPr>
        <p:spPr>
          <a:xfrm>
            <a:off x="10469880" y="1801368"/>
            <a:ext cx="731520" cy="292608"/>
          </a:xfrm>
          <a:prstGeom prst="rect">
            <a:avLst/>
          </a:prstGeom>
          <a:noFill/>
          <a:ln/>
        </p:spPr>
        <p:txBody>
          <a:bodyPr wrap="square" lIns="0" tIns="0" rIns="0" bIns="0" rtlCol="0" anchor="ctr"/>
          <a:lstStyle/>
          <a:p>
            <a:pPr indent="0" marL="0">
              <a:buNone/>
            </a:pPr>
            <a:r>
              <a:rPr lang="en-US" sz="1500" b="1" dirty="0">
                <a:solidFill>
                  <a:srgbClr val="E9EFF6"/>
                </a:solidFill>
                <a:latin typeface="Calibri" pitchFamily="34" charset="0"/>
                <a:ea typeface="Calibri" pitchFamily="34" charset="-122"/>
                <a:cs typeface="Calibri" pitchFamily="34" charset="-120"/>
              </a:rPr>
              <a:t>348</a:t>
            </a:r>
            <a:endParaRPr lang="en-US" sz="1500" dirty="0"/>
          </a:p>
        </p:txBody>
      </p:sp>
      <p:sp>
        <p:nvSpPr>
          <p:cNvPr id="9" name="Text 6"/>
          <p:cNvSpPr txBox="1"/>
          <p:nvPr/>
        </p:nvSpPr>
        <p:spPr>
          <a:xfrm>
            <a:off x="594360" y="2368296"/>
            <a:ext cx="3017520" cy="320040"/>
          </a:xfrm>
          <a:prstGeom prst="rect">
            <a:avLst/>
          </a:prstGeom>
          <a:noFill/>
          <a:ln/>
        </p:spPr>
        <p:txBody>
          <a:bodyPr wrap="square" lIns="0" tIns="0" rIns="0" bIns="0" rtlCol="0" anchor="ctr"/>
          <a:lstStyle/>
          <a:p>
            <a:pPr indent="0" marL="0">
              <a:buNone/>
            </a:pPr>
            <a:r>
              <a:rPr lang="en-US" sz="1500" dirty="0">
                <a:solidFill>
                  <a:srgbClr val="E9EFF6"/>
                </a:solidFill>
                <a:latin typeface="Calibri" pitchFamily="34" charset="0"/>
                <a:ea typeface="Calibri" pitchFamily="34" charset="-122"/>
                <a:cs typeface="Calibri" pitchFamily="34" charset="-120"/>
              </a:rPr>
              <a:t>The AI stage</a:t>
            </a:r>
            <a:endParaRPr lang="en-US" sz="1500" dirty="0"/>
          </a:p>
        </p:txBody>
      </p:sp>
      <p:sp>
        <p:nvSpPr>
          <p:cNvPr id="10" name="Text 7"/>
          <p:cNvSpPr txBox="1"/>
          <p:nvPr/>
        </p:nvSpPr>
        <p:spPr>
          <a:xfrm>
            <a:off x="3657600" y="2395728"/>
            <a:ext cx="1737360" cy="274320"/>
          </a:xfrm>
          <a:prstGeom prst="rect">
            <a:avLst/>
          </a:prstGeom>
          <a:noFill/>
          <a:ln/>
        </p:spPr>
        <p:txBody>
          <a:bodyPr wrap="square" lIns="0" tIns="0" rIns="0" bIns="0" rtlCol="0" anchor="ctr"/>
          <a:lstStyle/>
          <a:p>
            <a:pPr indent="0" marL="0">
              <a:buNone/>
            </a:pPr>
            <a:r>
              <a:rPr lang="en-US" sz="1100" dirty="0">
                <a:solidFill>
                  <a:srgbClr val="7C90A6"/>
                </a:solidFill>
                <a:latin typeface="Courier New" pitchFamily="34" charset="0"/>
                <a:ea typeface="Courier New" pitchFamily="34" charset="-122"/>
                <a:cs typeface="Courier New" pitchFamily="34" charset="-120"/>
              </a:rPr>
              <a:t>Ai.psm1</a:t>
            </a:r>
            <a:endParaRPr lang="en-US" sz="1100" dirty="0"/>
          </a:p>
        </p:txBody>
      </p:sp>
      <p:sp>
        <p:nvSpPr>
          <p:cNvPr id="11" name="Shape 8"/>
          <p:cNvSpPr/>
          <p:nvPr/>
        </p:nvSpPr>
        <p:spPr>
          <a:xfrm>
            <a:off x="5394960" y="2404872"/>
            <a:ext cx="4114800" cy="237744"/>
          </a:xfrm>
          <a:prstGeom prst="rect">
            <a:avLst/>
          </a:prstGeom>
          <a:solidFill>
            <a:srgbClr val="E0443E"/>
          </a:solidFill>
          <a:ln/>
        </p:spPr>
      </p:sp>
      <p:sp>
        <p:nvSpPr>
          <p:cNvPr id="12" name="Text 9"/>
          <p:cNvSpPr txBox="1"/>
          <p:nvPr/>
        </p:nvSpPr>
        <p:spPr>
          <a:xfrm>
            <a:off x="10469880" y="2368296"/>
            <a:ext cx="731520" cy="292608"/>
          </a:xfrm>
          <a:prstGeom prst="rect">
            <a:avLst/>
          </a:prstGeom>
          <a:noFill/>
          <a:ln/>
        </p:spPr>
        <p:txBody>
          <a:bodyPr wrap="square" lIns="0" tIns="0" rIns="0" bIns="0" rtlCol="0" anchor="ctr"/>
          <a:lstStyle/>
          <a:p>
            <a:pPr indent="0" marL="0">
              <a:buNone/>
            </a:pPr>
            <a:r>
              <a:rPr lang="en-US" sz="1500" b="1" dirty="0">
                <a:solidFill>
                  <a:srgbClr val="E9EFF6"/>
                </a:solidFill>
                <a:latin typeface="Calibri" pitchFamily="34" charset="0"/>
                <a:ea typeface="Calibri" pitchFamily="34" charset="-122"/>
                <a:cs typeface="Calibri" pitchFamily="34" charset="-120"/>
              </a:rPr>
              <a:t>290</a:t>
            </a:r>
            <a:endParaRPr lang="en-US" sz="1500" dirty="0"/>
          </a:p>
        </p:txBody>
      </p:sp>
      <p:sp>
        <p:nvSpPr>
          <p:cNvPr id="13" name="Text 10"/>
          <p:cNvSpPr txBox="1"/>
          <p:nvPr/>
        </p:nvSpPr>
        <p:spPr>
          <a:xfrm>
            <a:off x="594360" y="2935224"/>
            <a:ext cx="3017520" cy="320040"/>
          </a:xfrm>
          <a:prstGeom prst="rect">
            <a:avLst/>
          </a:prstGeom>
          <a:noFill/>
          <a:ln/>
        </p:spPr>
        <p:txBody>
          <a:bodyPr wrap="square" lIns="0" tIns="0" rIns="0" bIns="0" rtlCol="0" anchor="ctr"/>
          <a:lstStyle/>
          <a:p>
            <a:pPr indent="0" marL="0">
              <a:buNone/>
            </a:pPr>
            <a:r>
              <a:rPr lang="en-US" sz="1500" dirty="0">
                <a:solidFill>
                  <a:srgbClr val="E9EFF6"/>
                </a:solidFill>
                <a:latin typeface="Calibri" pitchFamily="34" charset="0"/>
                <a:ea typeface="Calibri" pitchFamily="34" charset="-122"/>
                <a:cs typeface="Calibri" pitchFamily="34" charset="-120"/>
              </a:rPr>
              <a:t>The dashboard endpoint</a:t>
            </a:r>
            <a:endParaRPr lang="en-US" sz="1500" dirty="0"/>
          </a:p>
        </p:txBody>
      </p:sp>
      <p:sp>
        <p:nvSpPr>
          <p:cNvPr id="14" name="Text 11"/>
          <p:cNvSpPr txBox="1"/>
          <p:nvPr/>
        </p:nvSpPr>
        <p:spPr>
          <a:xfrm>
            <a:off x="3657600" y="2962656"/>
            <a:ext cx="1737360" cy="274320"/>
          </a:xfrm>
          <a:prstGeom prst="rect">
            <a:avLst/>
          </a:prstGeom>
          <a:noFill/>
          <a:ln/>
        </p:spPr>
        <p:txBody>
          <a:bodyPr wrap="square" lIns="0" tIns="0" rIns="0" bIns="0" rtlCol="0" anchor="ctr"/>
          <a:lstStyle/>
          <a:p>
            <a:pPr indent="0" marL="0">
              <a:buNone/>
            </a:pPr>
            <a:r>
              <a:rPr lang="en-US" sz="1100" dirty="0">
                <a:solidFill>
                  <a:srgbClr val="7C90A6"/>
                </a:solidFill>
                <a:latin typeface="Courier New" pitchFamily="34" charset="0"/>
                <a:ea typeface="Courier New" pitchFamily="34" charset="-122"/>
                <a:cs typeface="Courier New" pitchFamily="34" charset="-120"/>
              </a:rPr>
              <a:t>GetIncidents</a:t>
            </a:r>
            <a:endParaRPr lang="en-US" sz="1100" dirty="0"/>
          </a:p>
        </p:txBody>
      </p:sp>
      <p:sp>
        <p:nvSpPr>
          <p:cNvPr id="15" name="Shape 12"/>
          <p:cNvSpPr/>
          <p:nvPr/>
        </p:nvSpPr>
        <p:spPr>
          <a:xfrm>
            <a:off x="5394960" y="2971800"/>
            <a:ext cx="3859399" cy="237744"/>
          </a:xfrm>
          <a:prstGeom prst="rect">
            <a:avLst/>
          </a:prstGeom>
          <a:solidFill>
            <a:srgbClr val="5B9BD5"/>
          </a:solidFill>
          <a:ln/>
        </p:spPr>
      </p:sp>
      <p:sp>
        <p:nvSpPr>
          <p:cNvPr id="16" name="Text 13"/>
          <p:cNvSpPr txBox="1"/>
          <p:nvPr/>
        </p:nvSpPr>
        <p:spPr>
          <a:xfrm>
            <a:off x="10469880" y="2935224"/>
            <a:ext cx="731520" cy="292608"/>
          </a:xfrm>
          <a:prstGeom prst="rect">
            <a:avLst/>
          </a:prstGeom>
          <a:noFill/>
          <a:ln/>
        </p:spPr>
        <p:txBody>
          <a:bodyPr wrap="square" lIns="0" tIns="0" rIns="0" bIns="0" rtlCol="0" anchor="ctr"/>
          <a:lstStyle/>
          <a:p>
            <a:pPr indent="0" marL="0">
              <a:buNone/>
            </a:pPr>
            <a:r>
              <a:rPr lang="en-US" sz="1500" b="1" dirty="0">
                <a:solidFill>
                  <a:srgbClr val="E9EFF6"/>
                </a:solidFill>
                <a:latin typeface="Calibri" pitchFamily="34" charset="0"/>
                <a:ea typeface="Calibri" pitchFamily="34" charset="-122"/>
                <a:cs typeface="Calibri" pitchFamily="34" charset="-120"/>
              </a:rPr>
              <a:t>272</a:t>
            </a:r>
            <a:endParaRPr lang="en-US" sz="1500" dirty="0"/>
          </a:p>
        </p:txBody>
      </p:sp>
      <p:sp>
        <p:nvSpPr>
          <p:cNvPr id="17" name="Text 14"/>
          <p:cNvSpPr txBox="1"/>
          <p:nvPr/>
        </p:nvSpPr>
        <p:spPr>
          <a:xfrm>
            <a:off x="594360" y="3502152"/>
            <a:ext cx="3017520" cy="320040"/>
          </a:xfrm>
          <a:prstGeom prst="rect">
            <a:avLst/>
          </a:prstGeom>
          <a:noFill/>
          <a:ln/>
        </p:spPr>
        <p:txBody>
          <a:bodyPr wrap="square" lIns="0" tIns="0" rIns="0" bIns="0" rtlCol="0" anchor="ctr"/>
          <a:lstStyle/>
          <a:p>
            <a:pPr indent="0" marL="0">
              <a:buNone/>
            </a:pPr>
            <a:r>
              <a:rPr lang="en-US" sz="1500" dirty="0">
                <a:solidFill>
                  <a:srgbClr val="E9EFF6"/>
                </a:solidFill>
                <a:latin typeface="Calibri" pitchFamily="34" charset="0"/>
                <a:ea typeface="Calibri" pitchFamily="34" charset="-122"/>
                <a:cs typeface="Calibri" pitchFamily="34" charset="-120"/>
              </a:rPr>
              <a:t>Normalising three shapes</a:t>
            </a:r>
            <a:endParaRPr lang="en-US" sz="1500" dirty="0"/>
          </a:p>
        </p:txBody>
      </p:sp>
      <p:sp>
        <p:nvSpPr>
          <p:cNvPr id="18" name="Text 15"/>
          <p:cNvSpPr txBox="1"/>
          <p:nvPr/>
        </p:nvSpPr>
        <p:spPr>
          <a:xfrm>
            <a:off x="3657600" y="3529584"/>
            <a:ext cx="1737360" cy="274320"/>
          </a:xfrm>
          <a:prstGeom prst="rect">
            <a:avLst/>
          </a:prstGeom>
          <a:noFill/>
          <a:ln/>
        </p:spPr>
        <p:txBody>
          <a:bodyPr wrap="square" lIns="0" tIns="0" rIns="0" bIns="0" rtlCol="0" anchor="ctr"/>
          <a:lstStyle/>
          <a:p>
            <a:pPr indent="0" marL="0">
              <a:buNone/>
            </a:pPr>
            <a:r>
              <a:rPr lang="en-US" sz="1100" dirty="0">
                <a:solidFill>
                  <a:srgbClr val="7C90A6"/>
                </a:solidFill>
                <a:latin typeface="Courier New" pitchFamily="34" charset="0"/>
                <a:ea typeface="Courier New" pitchFamily="34" charset="-122"/>
                <a:cs typeface="Courier New" pitchFamily="34" charset="-120"/>
              </a:rPr>
              <a:t>Pipeline.psm1</a:t>
            </a:r>
            <a:endParaRPr lang="en-US" sz="1100" dirty="0"/>
          </a:p>
        </p:txBody>
      </p:sp>
      <p:sp>
        <p:nvSpPr>
          <p:cNvPr id="19" name="Shape 16"/>
          <p:cNvSpPr/>
          <p:nvPr/>
        </p:nvSpPr>
        <p:spPr>
          <a:xfrm>
            <a:off x="5394960" y="3538728"/>
            <a:ext cx="2497258" cy="237744"/>
          </a:xfrm>
          <a:prstGeom prst="rect">
            <a:avLst/>
          </a:prstGeom>
          <a:solidFill>
            <a:srgbClr val="5B9BD5"/>
          </a:solidFill>
          <a:ln/>
        </p:spPr>
      </p:sp>
      <p:sp>
        <p:nvSpPr>
          <p:cNvPr id="20" name="Text 17"/>
          <p:cNvSpPr txBox="1"/>
          <p:nvPr/>
        </p:nvSpPr>
        <p:spPr>
          <a:xfrm>
            <a:off x="10469880" y="3502152"/>
            <a:ext cx="731520" cy="292608"/>
          </a:xfrm>
          <a:prstGeom prst="rect">
            <a:avLst/>
          </a:prstGeom>
          <a:noFill/>
          <a:ln/>
        </p:spPr>
        <p:txBody>
          <a:bodyPr wrap="square" lIns="0" tIns="0" rIns="0" bIns="0" rtlCol="0" anchor="ctr"/>
          <a:lstStyle/>
          <a:p>
            <a:pPr indent="0" marL="0">
              <a:buNone/>
            </a:pPr>
            <a:r>
              <a:rPr lang="en-US" sz="1500" b="1" dirty="0">
                <a:solidFill>
                  <a:srgbClr val="E9EFF6"/>
                </a:solidFill>
                <a:latin typeface="Calibri" pitchFamily="34" charset="0"/>
                <a:ea typeface="Calibri" pitchFamily="34" charset="-122"/>
                <a:cs typeface="Calibri" pitchFamily="34" charset="-120"/>
              </a:rPr>
              <a:t>176</a:t>
            </a:r>
            <a:endParaRPr lang="en-US" sz="1500" dirty="0"/>
          </a:p>
        </p:txBody>
      </p:sp>
      <p:sp>
        <p:nvSpPr>
          <p:cNvPr id="21" name="Text 18"/>
          <p:cNvSpPr txBox="1"/>
          <p:nvPr/>
        </p:nvSpPr>
        <p:spPr>
          <a:xfrm>
            <a:off x="594360" y="4069080"/>
            <a:ext cx="3017520" cy="320040"/>
          </a:xfrm>
          <a:prstGeom prst="rect">
            <a:avLst/>
          </a:prstGeom>
          <a:noFill/>
          <a:ln/>
        </p:spPr>
        <p:txBody>
          <a:bodyPr wrap="square" lIns="0" tIns="0" rIns="0" bIns="0" rtlCol="0" anchor="ctr"/>
          <a:lstStyle/>
          <a:p>
            <a:pPr indent="0" marL="0">
              <a:buNone/>
            </a:pPr>
            <a:r>
              <a:rPr lang="en-US" sz="1500" dirty="0">
                <a:solidFill>
                  <a:srgbClr val="E9EFF6"/>
                </a:solidFill>
                <a:latin typeface="Calibri" pitchFamily="34" charset="0"/>
                <a:ea typeface="Calibri" pitchFamily="34" charset="-122"/>
                <a:cs typeface="Calibri" pitchFamily="34" charset="-120"/>
              </a:rPr>
              <a:t>The Event Hubs trigger</a:t>
            </a:r>
            <a:endParaRPr lang="en-US" sz="1500" dirty="0"/>
          </a:p>
        </p:txBody>
      </p:sp>
      <p:sp>
        <p:nvSpPr>
          <p:cNvPr id="22" name="Text 19"/>
          <p:cNvSpPr txBox="1"/>
          <p:nvPr/>
        </p:nvSpPr>
        <p:spPr>
          <a:xfrm>
            <a:off x="3657600" y="4096512"/>
            <a:ext cx="1737360" cy="274320"/>
          </a:xfrm>
          <a:prstGeom prst="rect">
            <a:avLst/>
          </a:prstGeom>
          <a:noFill/>
          <a:ln/>
        </p:spPr>
        <p:txBody>
          <a:bodyPr wrap="square" lIns="0" tIns="0" rIns="0" bIns="0" rtlCol="0" anchor="ctr"/>
          <a:lstStyle/>
          <a:p>
            <a:pPr indent="0" marL="0">
              <a:buNone/>
            </a:pPr>
            <a:r>
              <a:rPr lang="en-US" sz="1100" dirty="0">
                <a:solidFill>
                  <a:srgbClr val="7C90A6"/>
                </a:solidFill>
                <a:latin typeface="Courier New" pitchFamily="34" charset="0"/>
                <a:ea typeface="Courier New" pitchFamily="34" charset="-122"/>
                <a:cs typeface="Courier New" pitchFamily="34" charset="-120"/>
              </a:rPr>
              <a:t>IngestEvents</a:t>
            </a:r>
            <a:endParaRPr lang="en-US" sz="1100" dirty="0"/>
          </a:p>
        </p:txBody>
      </p:sp>
      <p:sp>
        <p:nvSpPr>
          <p:cNvPr id="23" name="Shape 20"/>
          <p:cNvSpPr/>
          <p:nvPr/>
        </p:nvSpPr>
        <p:spPr>
          <a:xfrm>
            <a:off x="5394960" y="4105656"/>
            <a:ext cx="482425" cy="237744"/>
          </a:xfrm>
          <a:prstGeom prst="rect">
            <a:avLst/>
          </a:prstGeom>
          <a:solidFill>
            <a:srgbClr val="46B98A"/>
          </a:solidFill>
          <a:ln/>
        </p:spPr>
      </p:sp>
      <p:sp>
        <p:nvSpPr>
          <p:cNvPr id="24" name="Text 21"/>
          <p:cNvSpPr txBox="1"/>
          <p:nvPr/>
        </p:nvSpPr>
        <p:spPr>
          <a:xfrm>
            <a:off x="10469880" y="4069080"/>
            <a:ext cx="731520" cy="292608"/>
          </a:xfrm>
          <a:prstGeom prst="rect">
            <a:avLst/>
          </a:prstGeom>
          <a:noFill/>
          <a:ln/>
        </p:spPr>
        <p:txBody>
          <a:bodyPr wrap="square" lIns="0" tIns="0" rIns="0" bIns="0" rtlCol="0" anchor="ctr"/>
          <a:lstStyle/>
          <a:p>
            <a:pPr indent="0" marL="0">
              <a:buNone/>
            </a:pPr>
            <a:r>
              <a:rPr lang="en-US" sz="1500" b="1" dirty="0">
                <a:solidFill>
                  <a:srgbClr val="E9EFF6"/>
                </a:solidFill>
                <a:latin typeface="Calibri" pitchFamily="34" charset="0"/>
                <a:ea typeface="Calibri" pitchFamily="34" charset="-122"/>
                <a:cs typeface="Calibri" pitchFamily="34" charset="-120"/>
              </a:rPr>
              <a:t>34</a:t>
            </a:r>
            <a:endParaRPr lang="en-US" sz="1500" dirty="0"/>
          </a:p>
        </p:txBody>
      </p:sp>
      <p:sp>
        <p:nvSpPr>
          <p:cNvPr id="25" name="Text 22"/>
          <p:cNvSpPr txBox="1"/>
          <p:nvPr/>
        </p:nvSpPr>
        <p:spPr>
          <a:xfrm>
            <a:off x="594360" y="4636008"/>
            <a:ext cx="3017520" cy="320040"/>
          </a:xfrm>
          <a:prstGeom prst="rect">
            <a:avLst/>
          </a:prstGeom>
          <a:noFill/>
          <a:ln/>
        </p:spPr>
        <p:txBody>
          <a:bodyPr wrap="square" lIns="0" tIns="0" rIns="0" bIns="0" rtlCol="0" anchor="ctr"/>
          <a:lstStyle/>
          <a:p>
            <a:pPr indent="0" marL="0">
              <a:buNone/>
            </a:pPr>
            <a:r>
              <a:rPr lang="en-US" sz="1500" dirty="0">
                <a:solidFill>
                  <a:srgbClr val="E9EFF6"/>
                </a:solidFill>
                <a:latin typeface="Calibri" pitchFamily="34" charset="0"/>
                <a:ea typeface="Calibri" pitchFamily="34" charset="-122"/>
                <a:cs typeface="Calibri" pitchFamily="34" charset="-120"/>
              </a:rPr>
              <a:t>Timer + HTTP triggers</a:t>
            </a:r>
            <a:endParaRPr lang="en-US" sz="1500" dirty="0"/>
          </a:p>
        </p:txBody>
      </p:sp>
      <p:sp>
        <p:nvSpPr>
          <p:cNvPr id="26" name="Text 23"/>
          <p:cNvSpPr txBox="1"/>
          <p:nvPr/>
        </p:nvSpPr>
        <p:spPr>
          <a:xfrm>
            <a:off x="3657600" y="4663440"/>
            <a:ext cx="1737360" cy="274320"/>
          </a:xfrm>
          <a:prstGeom prst="rect">
            <a:avLst/>
          </a:prstGeom>
          <a:noFill/>
          <a:ln/>
        </p:spPr>
        <p:txBody>
          <a:bodyPr wrap="square" lIns="0" tIns="0" rIns="0" bIns="0" rtlCol="0" anchor="ctr"/>
          <a:lstStyle/>
          <a:p>
            <a:pPr indent="0" marL="0">
              <a:buNone/>
            </a:pPr>
            <a:r>
              <a:rPr lang="en-US" sz="1100" dirty="0">
                <a:solidFill>
                  <a:srgbClr val="7C90A6"/>
                </a:solidFill>
                <a:latin typeface="Courier New" pitchFamily="34" charset="0"/>
                <a:ea typeface="Courier New" pitchFamily="34" charset="-122"/>
                <a:cs typeface="Courier New" pitchFamily="34" charset="-120"/>
              </a:rPr>
              <a:t>Analyze*</a:t>
            </a:r>
            <a:endParaRPr lang="en-US" sz="1100" dirty="0"/>
          </a:p>
        </p:txBody>
      </p:sp>
      <p:sp>
        <p:nvSpPr>
          <p:cNvPr id="27" name="Shape 24"/>
          <p:cNvSpPr/>
          <p:nvPr/>
        </p:nvSpPr>
        <p:spPr>
          <a:xfrm>
            <a:off x="5394960" y="4672584"/>
            <a:ext cx="439858" cy="237744"/>
          </a:xfrm>
          <a:prstGeom prst="rect">
            <a:avLst/>
          </a:prstGeom>
          <a:solidFill>
            <a:srgbClr val="46B98A"/>
          </a:solidFill>
          <a:ln/>
        </p:spPr>
      </p:sp>
      <p:sp>
        <p:nvSpPr>
          <p:cNvPr id="28" name="Text 25"/>
          <p:cNvSpPr txBox="1"/>
          <p:nvPr/>
        </p:nvSpPr>
        <p:spPr>
          <a:xfrm>
            <a:off x="10469880" y="4636008"/>
            <a:ext cx="731520" cy="292608"/>
          </a:xfrm>
          <a:prstGeom prst="rect">
            <a:avLst/>
          </a:prstGeom>
          <a:noFill/>
          <a:ln/>
        </p:spPr>
        <p:txBody>
          <a:bodyPr wrap="square" lIns="0" tIns="0" rIns="0" bIns="0" rtlCol="0" anchor="ctr"/>
          <a:lstStyle/>
          <a:p>
            <a:pPr indent="0" marL="0">
              <a:buNone/>
            </a:pPr>
            <a:r>
              <a:rPr lang="en-US" sz="1500" b="1" dirty="0">
                <a:solidFill>
                  <a:srgbClr val="E9EFF6"/>
                </a:solidFill>
                <a:latin typeface="Calibri" pitchFamily="34" charset="0"/>
                <a:ea typeface="Calibri" pitchFamily="34" charset="-122"/>
                <a:cs typeface="Calibri" pitchFamily="34" charset="-120"/>
              </a:rPr>
              <a:t>31</a:t>
            </a:r>
            <a:endParaRPr lang="en-US" sz="1500" dirty="0"/>
          </a:p>
        </p:txBody>
      </p:sp>
      <p:sp>
        <p:nvSpPr>
          <p:cNvPr id="29" name="Shape 26"/>
          <p:cNvSpPr/>
          <p:nvPr/>
        </p:nvSpPr>
        <p:spPr>
          <a:xfrm>
            <a:off x="594360" y="5349240"/>
            <a:ext cx="11002975" cy="914400"/>
          </a:xfrm>
          <a:prstGeom prst="roundRect">
            <a:avLst>
              <a:gd name="adj" fmla="val 6000"/>
            </a:avLst>
          </a:prstGeom>
          <a:solidFill>
            <a:srgbClr val="223140"/>
          </a:solidFill>
          <a:ln/>
        </p:spPr>
      </p:sp>
      <p:sp>
        <p:nvSpPr>
          <p:cNvPr id="30" name="Text 27"/>
          <p:cNvSpPr txBox="1"/>
          <p:nvPr/>
        </p:nvSpPr>
        <p:spPr>
          <a:xfrm>
            <a:off x="868680" y="5550408"/>
            <a:ext cx="10454335" cy="548640"/>
          </a:xfrm>
          <a:prstGeom prst="rect">
            <a:avLst/>
          </a:prstGeom>
          <a:noFill/>
          <a:ln/>
        </p:spPr>
        <p:txBody>
          <a:bodyPr wrap="square" lIns="0" tIns="0" rIns="0" bIns="0" rtlCol="0" anchor="t"/>
          <a:lstStyle/>
          <a:p>
            <a:pPr indent="0" marL="0">
              <a:buNone/>
            </a:pPr>
            <a:r>
              <a:rPr lang="en-US" sz="1600" b="1" dirty="0">
                <a:solidFill>
                  <a:srgbClr val="46B98A"/>
                </a:solidFill>
                <a:latin typeface="Calibri" pitchFamily="34" charset="0"/>
                <a:ea typeface="Calibri" pitchFamily="34" charset="-122"/>
                <a:cs typeface="Calibri" pitchFamily="34" charset="-120"/>
              </a:rPr>
              <a:t>The model call is 29 of those lines. </a:t>
            </a:r>
            <a:pPr indent="0" marL="0">
              <a:buNone/>
            </a:pPr>
            <a:r>
              <a:rPr lang="en-US" sz="1600" dirty="0">
                <a:solidFill>
                  <a:srgbClr val="E9EFF6"/>
                </a:solidFill>
                <a:latin typeface="Calibri" pitchFamily="34" charset="0"/>
                <a:ea typeface="Calibri" pitchFamily="34" charset="-122"/>
                <a:cs typeface="Calibri" pitchFamily="34" charset="-120"/>
              </a:rPr>
              <a:t>Ninety-seven percent of this is plumbing, normalising and arithmetic - which is roughly the ratio you should expect from any AI feature that actually ships.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621"/>
        </a:solidFill>
      </p:bgPr>
    </p:bg>
    <p:spTree>
      <p:nvGrpSpPr>
        <p:cNvPr id="1" name=""/>
        <p:cNvGrpSpPr/>
        <p:nvPr/>
      </p:nvGrpSpPr>
      <p:grpSpPr>
        <a:xfrm>
          <a:off x="0" y="0"/>
          <a:ext cx="0" cy="0"/>
          <a:chOff x="0" y="0"/>
          <a:chExt cx="0" cy="0"/>
        </a:xfrm>
      </p:grpSpPr>
      <p:sp>
        <p:nvSpPr>
          <p:cNvPr id="3" name="Text 0"/>
          <p:cNvSpPr txBox="1"/>
          <p:nvPr/>
        </p:nvSpPr>
        <p:spPr>
          <a:xfrm>
            <a:off x="594360" y="2286000"/>
            <a:ext cx="10058400" cy="365760"/>
          </a:xfrm>
          <a:prstGeom prst="rect">
            <a:avLst/>
          </a:prstGeom>
          <a:noFill/>
          <a:ln/>
        </p:spPr>
        <p:txBody>
          <a:bodyPr wrap="square" lIns="0" tIns="0" rIns="0" bIns="0" rtlCol="0" anchor="ctr"/>
          <a:lstStyle/>
          <a:p>
            <a:pPr indent="0" marL="0">
              <a:buNone/>
            </a:pPr>
            <a:r>
              <a:rPr lang="en-US" sz="1400" b="1" spc="400" kern="0" dirty="0">
                <a:solidFill>
                  <a:srgbClr val="E8A33D"/>
                </a:solidFill>
                <a:latin typeface="Calibri" pitchFamily="34" charset="0"/>
                <a:ea typeface="Calibri" pitchFamily="34" charset="-122"/>
                <a:cs typeface="Calibri" pitchFamily="34" charset="-120"/>
              </a:rPr>
              <a:t>STATEMENT SLIDE</a:t>
            </a:r>
            <a:endParaRPr lang="en-US" sz="1400" dirty="0"/>
          </a:p>
        </p:txBody>
      </p:sp>
      <p:sp>
        <p:nvSpPr>
          <p:cNvPr id="4" name="Text 1"/>
          <p:cNvSpPr txBox="1"/>
          <p:nvPr/>
        </p:nvSpPr>
        <p:spPr>
          <a:xfrm>
            <a:off x="594360" y="2743200"/>
            <a:ext cx="10515600" cy="1280160"/>
          </a:xfrm>
          <a:prstGeom prst="rect">
            <a:avLst/>
          </a:prstGeom>
          <a:noFill/>
          <a:ln/>
        </p:spPr>
        <p:txBody>
          <a:bodyPr wrap="square" lIns="0" tIns="0" rIns="0" bIns="0" rtlCol="0" anchor="ctr"/>
          <a:lstStyle/>
          <a:p>
            <a:pPr indent="0" marL="0">
              <a:lnSpc>
                <a:spcPts val="5200"/>
              </a:lnSpc>
              <a:buNone/>
            </a:pPr>
            <a:r>
              <a:rPr lang="en-US" sz="4400" b="1" dirty="0">
                <a:solidFill>
                  <a:srgbClr val="FFFFFF"/>
                </a:solidFill>
                <a:latin typeface="Calibri" pitchFamily="34" charset="0"/>
                <a:ea typeface="Calibri" pitchFamily="34" charset="-122"/>
                <a:cs typeface="Calibri" pitchFamily="34" charset="-120"/>
              </a:rPr>
              <a:t>The loudest thing is almost never the cause.</a:t>
            </a:r>
            <a:endParaRPr lang="en-US" sz="4400" dirty="0"/>
          </a:p>
        </p:txBody>
      </p:sp>
      <p:sp>
        <p:nvSpPr>
          <p:cNvPr id="5" name="Text 2"/>
          <p:cNvSpPr txBox="1"/>
          <p:nvPr/>
        </p:nvSpPr>
        <p:spPr>
          <a:xfrm>
            <a:off x="594360" y="4114800"/>
            <a:ext cx="9144000" cy="365760"/>
          </a:xfrm>
          <a:prstGeom prst="rect">
            <a:avLst/>
          </a:prstGeom>
          <a:noFill/>
          <a:ln/>
        </p:spPr>
        <p:txBody>
          <a:bodyPr wrap="square" lIns="0" tIns="0" rIns="0" bIns="0" rtlCol="0" anchor="ctr"/>
          <a:lstStyle/>
          <a:p>
            <a:pPr indent="0" marL="0">
              <a:buNone/>
            </a:pPr>
            <a:r>
              <a:rPr lang="en-US" sz="1700" i="1" dirty="0">
                <a:solidFill>
                  <a:srgbClr val="8FA3B8"/>
                </a:solidFill>
                <a:latin typeface="Calibri" pitchFamily="34" charset="0"/>
                <a:ea typeface="Calibri" pitchFamily="34" charset="-122"/>
                <a:cs typeface="Calibri" pitchFamily="34" charset="-120"/>
              </a:rPr>
              <a:t>A one-line qualifier lives here, if it needs one.</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621"/>
        </a:solidFill>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EYEBROW GOES HERE</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indent="0" marL="0">
              <a:buNone/>
            </a:pPr>
            <a:r>
              <a:rPr lang="en-US" sz="3600" b="1" dirty="0">
                <a:solidFill>
                  <a:srgbClr val="E9EFF6"/>
                </a:solidFill>
                <a:latin typeface="Calibri" pitchFamily="34" charset="0"/>
                <a:ea typeface="Calibri" pitchFamily="34" charset="-122"/>
                <a:cs typeface="Calibri" pitchFamily="34" charset="-120"/>
              </a:rPr>
              <a:t>Three cards across</a:t>
            </a:r>
            <a:endParaRPr lang="en-US" sz="3600" dirty="0"/>
          </a:p>
        </p:txBody>
      </p:sp>
      <p:sp>
        <p:nvSpPr>
          <p:cNvPr id="5" name="Shape 2"/>
          <p:cNvSpPr/>
          <p:nvPr/>
        </p:nvSpPr>
        <p:spPr>
          <a:xfrm>
            <a:off x="594360" y="1783080"/>
            <a:ext cx="3423818" cy="3703320"/>
          </a:xfrm>
          <a:prstGeom prst="roundRect">
            <a:avLst>
              <a:gd name="adj" fmla="val 1602"/>
            </a:avLst>
          </a:prstGeom>
          <a:solidFill>
            <a:srgbClr val="19242F"/>
          </a:solidFill>
          <a:ln/>
        </p:spPr>
      </p:sp>
      <p:sp>
        <p:nvSpPr>
          <p:cNvPr id="6" name="Shape 3"/>
          <p:cNvSpPr/>
          <p:nvPr/>
        </p:nvSpPr>
        <p:spPr>
          <a:xfrm>
            <a:off x="914400" y="2103120"/>
            <a:ext cx="457200" cy="457200"/>
          </a:xfrm>
          <a:prstGeom prst="ellipse">
            <a:avLst/>
          </a:prstGeom>
          <a:solidFill>
            <a:srgbClr val="5B9BD5"/>
          </a:solidFill>
          <a:ln/>
        </p:spPr>
      </p:sp>
      <p:sp>
        <p:nvSpPr>
          <p:cNvPr id="7" name="Text 4"/>
          <p:cNvSpPr txBox="1"/>
          <p:nvPr/>
        </p:nvSpPr>
        <p:spPr>
          <a:xfrm>
            <a:off x="914400" y="2103120"/>
            <a:ext cx="457200" cy="457200"/>
          </a:xfrm>
          <a:prstGeom prst="rect">
            <a:avLst/>
          </a:prstGeom>
          <a:noFill/>
          <a:ln/>
        </p:spPr>
        <p:txBody>
          <a:bodyPr wrap="square" lIns="0" tIns="0" rIns="0" bIns="0" rtlCol="0" anchor="ctr"/>
          <a:lstStyle/>
          <a:p>
            <a:pPr algn="ctr" indent="0" marL="0">
              <a:buNone/>
            </a:pPr>
            <a:r>
              <a:rPr lang="en-US" sz="1300" b="1" dirty="0">
                <a:solidFill>
                  <a:srgbClr val="0E1621"/>
                </a:solidFill>
                <a:latin typeface="Calibri" pitchFamily="34" charset="0"/>
                <a:ea typeface="Calibri" pitchFamily="34" charset="-122"/>
                <a:cs typeface="Calibri" pitchFamily="34" charset="-120"/>
              </a:rPr>
              <a:t>1</a:t>
            </a:r>
            <a:endParaRPr lang="en-US" sz="1300" dirty="0"/>
          </a:p>
        </p:txBody>
      </p:sp>
      <p:sp>
        <p:nvSpPr>
          <p:cNvPr id="8" name="Text 5"/>
          <p:cNvSpPr txBox="1"/>
          <p:nvPr/>
        </p:nvSpPr>
        <p:spPr>
          <a:xfrm>
            <a:off x="914400" y="2743200"/>
            <a:ext cx="2783738" cy="365760"/>
          </a:xfrm>
          <a:prstGeom prst="rect">
            <a:avLst/>
          </a:prstGeom>
          <a:noFill/>
          <a:ln/>
        </p:spPr>
        <p:txBody>
          <a:bodyPr wrap="square" lIns="0" tIns="0" rIns="0" bIns="0" rtlCol="0" anchor="ctr"/>
          <a:lstStyle/>
          <a:p>
            <a:pPr indent="0" marL="0">
              <a:buNone/>
            </a:pPr>
            <a:r>
              <a:rPr lang="en-US" sz="2100" b="1" dirty="0">
                <a:solidFill>
                  <a:srgbClr val="E9EFF6"/>
                </a:solidFill>
                <a:latin typeface="Calibri" pitchFamily="34" charset="0"/>
                <a:ea typeface="Calibri" pitchFamily="34" charset="-122"/>
                <a:cs typeface="Calibri" pitchFamily="34" charset="-120"/>
              </a:rPr>
              <a:t>First thing</a:t>
            </a:r>
            <a:endParaRPr lang="en-US" sz="2100" dirty="0"/>
          </a:p>
        </p:txBody>
      </p:sp>
      <p:sp>
        <p:nvSpPr>
          <p:cNvPr id="9" name="Text 6"/>
          <p:cNvSpPr txBox="1"/>
          <p:nvPr/>
        </p:nvSpPr>
        <p:spPr>
          <a:xfrm>
            <a:off x="914400" y="3200400"/>
            <a:ext cx="2783738" cy="548640"/>
          </a:xfrm>
          <a:prstGeom prst="rect">
            <a:avLst/>
          </a:prstGeom>
          <a:noFill/>
          <a:ln/>
        </p:spPr>
        <p:txBody>
          <a:bodyPr wrap="square" lIns="0" tIns="0" rIns="0" bIns="0" rtlCol="0" anchor="t"/>
          <a:lstStyle/>
          <a:p>
            <a:pPr indent="0" marL="0">
              <a:buNone/>
            </a:pPr>
            <a:r>
              <a:rPr lang="en-US" sz="1500" i="1" dirty="0">
                <a:solidFill>
                  <a:srgbClr val="5B9BD5"/>
                </a:solidFill>
                <a:latin typeface="Calibri" pitchFamily="34" charset="0"/>
                <a:ea typeface="Calibri" pitchFamily="34" charset="-122"/>
                <a:cs typeface="Calibri" pitchFamily="34" charset="-120"/>
              </a:rPr>
              <a:t>The question it answers?</a:t>
            </a:r>
            <a:endParaRPr lang="en-US" sz="1500" dirty="0"/>
          </a:p>
        </p:txBody>
      </p:sp>
      <p:sp>
        <p:nvSpPr>
          <p:cNvPr id="10" name="Text 7"/>
          <p:cNvSpPr txBox="1"/>
          <p:nvPr/>
        </p:nvSpPr>
        <p:spPr>
          <a:xfrm>
            <a:off x="914400" y="3840480"/>
            <a:ext cx="2783738" cy="822960"/>
          </a:xfrm>
          <a:prstGeom prst="rect">
            <a:avLst/>
          </a:prstGeom>
          <a:noFill/>
          <a:ln/>
        </p:spPr>
        <p:txBody>
          <a:bodyPr wrap="square" lIns="0" tIns="0" rIns="0" bIns="0" rtlCol="0" anchor="t"/>
          <a:lstStyle/>
          <a:p>
            <a:pPr indent="0" marL="0">
              <a:buNone/>
            </a:pPr>
            <a:r>
              <a:rPr lang="en-US" sz="1400" dirty="0">
                <a:solidFill>
                  <a:srgbClr val="8FA3B8"/>
                </a:solidFill>
                <a:latin typeface="Calibri" pitchFamily="34" charset="0"/>
                <a:ea typeface="Calibri" pitchFamily="34" charset="-122"/>
                <a:cs typeface="Calibri" pitchFamily="34" charset="-120"/>
              </a:rPr>
              <a:t>Two lines of supporting detail, no more than about twenty words.</a:t>
            </a:r>
            <a:endParaRPr lang="en-US" sz="1400" dirty="0"/>
          </a:p>
        </p:txBody>
      </p:sp>
      <p:sp>
        <p:nvSpPr>
          <p:cNvPr id="11" name="Text 8"/>
          <p:cNvSpPr txBox="1"/>
          <p:nvPr/>
        </p:nvSpPr>
        <p:spPr>
          <a:xfrm>
            <a:off x="914400" y="4892040"/>
            <a:ext cx="2783738" cy="320040"/>
          </a:xfrm>
          <a:prstGeom prst="rect">
            <a:avLst/>
          </a:prstGeom>
          <a:noFill/>
          <a:ln/>
        </p:spPr>
        <p:txBody>
          <a:bodyPr wrap="square" lIns="0" tIns="0" rIns="0" bIns="0" rtlCol="0" anchor="ctr"/>
          <a:lstStyle/>
          <a:p>
            <a:pPr indent="0" marL="0">
              <a:buNone/>
            </a:pPr>
            <a:r>
              <a:rPr lang="en-US" sz="1300" b="1" dirty="0">
                <a:solidFill>
                  <a:srgbClr val="7C90A6"/>
                </a:solidFill>
                <a:latin typeface="Calibri" pitchFamily="34" charset="0"/>
                <a:ea typeface="Calibri" pitchFamily="34" charset="-122"/>
                <a:cs typeface="Calibri" pitchFamily="34" charset="-120"/>
              </a:rPr>
              <a:t>A closing beat.</a:t>
            </a:r>
            <a:endParaRPr lang="en-US" sz="1300" dirty="0"/>
          </a:p>
        </p:txBody>
      </p:sp>
      <p:sp>
        <p:nvSpPr>
          <p:cNvPr id="12" name="Shape 9"/>
          <p:cNvSpPr/>
          <p:nvPr/>
        </p:nvSpPr>
        <p:spPr>
          <a:xfrm>
            <a:off x="4383938" y="1783080"/>
            <a:ext cx="3423818" cy="3703320"/>
          </a:xfrm>
          <a:prstGeom prst="roundRect">
            <a:avLst>
              <a:gd name="adj" fmla="val 1602"/>
            </a:avLst>
          </a:prstGeom>
          <a:solidFill>
            <a:srgbClr val="19242F"/>
          </a:solidFill>
          <a:ln/>
        </p:spPr>
      </p:sp>
      <p:sp>
        <p:nvSpPr>
          <p:cNvPr id="13" name="Shape 10"/>
          <p:cNvSpPr/>
          <p:nvPr/>
        </p:nvSpPr>
        <p:spPr>
          <a:xfrm>
            <a:off x="4703978" y="2103120"/>
            <a:ext cx="457200" cy="457200"/>
          </a:xfrm>
          <a:prstGeom prst="ellipse">
            <a:avLst/>
          </a:prstGeom>
          <a:solidFill>
            <a:srgbClr val="E8A33D"/>
          </a:solidFill>
          <a:ln/>
        </p:spPr>
      </p:sp>
      <p:sp>
        <p:nvSpPr>
          <p:cNvPr id="14" name="Text 11"/>
          <p:cNvSpPr txBox="1"/>
          <p:nvPr/>
        </p:nvSpPr>
        <p:spPr>
          <a:xfrm>
            <a:off x="4703978" y="2103120"/>
            <a:ext cx="457200" cy="457200"/>
          </a:xfrm>
          <a:prstGeom prst="rect">
            <a:avLst/>
          </a:prstGeom>
          <a:noFill/>
          <a:ln/>
        </p:spPr>
        <p:txBody>
          <a:bodyPr wrap="square" lIns="0" tIns="0" rIns="0" bIns="0" rtlCol="0" anchor="ctr"/>
          <a:lstStyle/>
          <a:p>
            <a:pPr algn="ctr" indent="0" marL="0">
              <a:buNone/>
            </a:pPr>
            <a:r>
              <a:rPr lang="en-US" sz="1300" b="1" dirty="0">
                <a:solidFill>
                  <a:srgbClr val="0E1621"/>
                </a:solidFill>
                <a:latin typeface="Calibri" pitchFamily="34" charset="0"/>
                <a:ea typeface="Calibri" pitchFamily="34" charset="-122"/>
                <a:cs typeface="Calibri" pitchFamily="34" charset="-120"/>
              </a:rPr>
              <a:t>2</a:t>
            </a:r>
            <a:endParaRPr lang="en-US" sz="1300" dirty="0"/>
          </a:p>
        </p:txBody>
      </p:sp>
      <p:sp>
        <p:nvSpPr>
          <p:cNvPr id="15" name="Text 12"/>
          <p:cNvSpPr txBox="1"/>
          <p:nvPr/>
        </p:nvSpPr>
        <p:spPr>
          <a:xfrm>
            <a:off x="4703978" y="2743200"/>
            <a:ext cx="2783738" cy="365760"/>
          </a:xfrm>
          <a:prstGeom prst="rect">
            <a:avLst/>
          </a:prstGeom>
          <a:noFill/>
          <a:ln/>
        </p:spPr>
        <p:txBody>
          <a:bodyPr wrap="square" lIns="0" tIns="0" rIns="0" bIns="0" rtlCol="0" anchor="ctr"/>
          <a:lstStyle/>
          <a:p>
            <a:pPr indent="0" marL="0">
              <a:buNone/>
            </a:pPr>
            <a:r>
              <a:rPr lang="en-US" sz="2100" b="1" dirty="0">
                <a:solidFill>
                  <a:srgbClr val="E9EFF6"/>
                </a:solidFill>
                <a:latin typeface="Calibri" pitchFamily="34" charset="0"/>
                <a:ea typeface="Calibri" pitchFamily="34" charset="-122"/>
                <a:cs typeface="Calibri" pitchFamily="34" charset="-120"/>
              </a:rPr>
              <a:t>Second thing</a:t>
            </a:r>
            <a:endParaRPr lang="en-US" sz="2100" dirty="0"/>
          </a:p>
        </p:txBody>
      </p:sp>
      <p:sp>
        <p:nvSpPr>
          <p:cNvPr id="16" name="Text 13"/>
          <p:cNvSpPr txBox="1"/>
          <p:nvPr/>
        </p:nvSpPr>
        <p:spPr>
          <a:xfrm>
            <a:off x="4703978" y="3200400"/>
            <a:ext cx="2783738" cy="548640"/>
          </a:xfrm>
          <a:prstGeom prst="rect">
            <a:avLst/>
          </a:prstGeom>
          <a:noFill/>
          <a:ln/>
        </p:spPr>
        <p:txBody>
          <a:bodyPr wrap="square" lIns="0" tIns="0" rIns="0" bIns="0" rtlCol="0" anchor="t"/>
          <a:lstStyle/>
          <a:p>
            <a:pPr indent="0" marL="0">
              <a:buNone/>
            </a:pPr>
            <a:r>
              <a:rPr lang="en-US" sz="1500" i="1" dirty="0">
                <a:solidFill>
                  <a:srgbClr val="E8A33D"/>
                </a:solidFill>
                <a:latin typeface="Calibri" pitchFamily="34" charset="0"/>
                <a:ea typeface="Calibri" pitchFamily="34" charset="-122"/>
                <a:cs typeface="Calibri" pitchFamily="34" charset="-120"/>
              </a:rPr>
              <a:t>The question it answers?</a:t>
            </a:r>
            <a:endParaRPr lang="en-US" sz="1500" dirty="0"/>
          </a:p>
        </p:txBody>
      </p:sp>
      <p:sp>
        <p:nvSpPr>
          <p:cNvPr id="17" name="Text 14"/>
          <p:cNvSpPr txBox="1"/>
          <p:nvPr/>
        </p:nvSpPr>
        <p:spPr>
          <a:xfrm>
            <a:off x="4703978" y="3840480"/>
            <a:ext cx="2783738" cy="822960"/>
          </a:xfrm>
          <a:prstGeom prst="rect">
            <a:avLst/>
          </a:prstGeom>
          <a:noFill/>
          <a:ln/>
        </p:spPr>
        <p:txBody>
          <a:bodyPr wrap="square" lIns="0" tIns="0" rIns="0" bIns="0" rtlCol="0" anchor="t"/>
          <a:lstStyle/>
          <a:p>
            <a:pPr indent="0" marL="0">
              <a:buNone/>
            </a:pPr>
            <a:r>
              <a:rPr lang="en-US" sz="1400" dirty="0">
                <a:solidFill>
                  <a:srgbClr val="8FA3B8"/>
                </a:solidFill>
                <a:latin typeface="Calibri" pitchFamily="34" charset="0"/>
                <a:ea typeface="Calibri" pitchFamily="34" charset="-122"/>
                <a:cs typeface="Calibri" pitchFamily="34" charset="-120"/>
              </a:rPr>
              <a:t>Keep the three bodies roughly the same length or the row looks broken.</a:t>
            </a:r>
            <a:endParaRPr lang="en-US" sz="1400" dirty="0"/>
          </a:p>
        </p:txBody>
      </p:sp>
      <p:sp>
        <p:nvSpPr>
          <p:cNvPr id="18" name="Text 15"/>
          <p:cNvSpPr txBox="1"/>
          <p:nvPr/>
        </p:nvSpPr>
        <p:spPr>
          <a:xfrm>
            <a:off x="4703978" y="4892040"/>
            <a:ext cx="2783738" cy="320040"/>
          </a:xfrm>
          <a:prstGeom prst="rect">
            <a:avLst/>
          </a:prstGeom>
          <a:noFill/>
          <a:ln/>
        </p:spPr>
        <p:txBody>
          <a:bodyPr wrap="square" lIns="0" tIns="0" rIns="0" bIns="0" rtlCol="0" anchor="ctr"/>
          <a:lstStyle/>
          <a:p>
            <a:pPr indent="0" marL="0">
              <a:buNone/>
            </a:pPr>
            <a:r>
              <a:rPr lang="en-US" sz="1300" b="1" dirty="0">
                <a:solidFill>
                  <a:srgbClr val="7C90A6"/>
                </a:solidFill>
                <a:latin typeface="Calibri" pitchFamily="34" charset="0"/>
                <a:ea typeface="Calibri" pitchFamily="34" charset="-122"/>
                <a:cs typeface="Calibri" pitchFamily="34" charset="-120"/>
              </a:rPr>
              <a:t>A closing beat.</a:t>
            </a:r>
            <a:endParaRPr lang="en-US" sz="1300" dirty="0"/>
          </a:p>
        </p:txBody>
      </p:sp>
      <p:sp>
        <p:nvSpPr>
          <p:cNvPr id="19" name="Shape 16"/>
          <p:cNvSpPr/>
          <p:nvPr/>
        </p:nvSpPr>
        <p:spPr>
          <a:xfrm>
            <a:off x="8173517" y="1783080"/>
            <a:ext cx="3423818" cy="3703320"/>
          </a:xfrm>
          <a:prstGeom prst="roundRect">
            <a:avLst>
              <a:gd name="adj" fmla="val 1602"/>
            </a:avLst>
          </a:prstGeom>
          <a:solidFill>
            <a:srgbClr val="19242F"/>
          </a:solidFill>
          <a:ln/>
        </p:spPr>
      </p:sp>
      <p:sp>
        <p:nvSpPr>
          <p:cNvPr id="20" name="Shape 17"/>
          <p:cNvSpPr/>
          <p:nvPr/>
        </p:nvSpPr>
        <p:spPr>
          <a:xfrm>
            <a:off x="8493557" y="2103120"/>
            <a:ext cx="457200" cy="457200"/>
          </a:xfrm>
          <a:prstGeom prst="ellipse">
            <a:avLst/>
          </a:prstGeom>
          <a:solidFill>
            <a:srgbClr val="E0443E"/>
          </a:solidFill>
          <a:ln/>
        </p:spPr>
      </p:sp>
      <p:sp>
        <p:nvSpPr>
          <p:cNvPr id="21" name="Text 18"/>
          <p:cNvSpPr txBox="1"/>
          <p:nvPr/>
        </p:nvSpPr>
        <p:spPr>
          <a:xfrm>
            <a:off x="8493557" y="2103120"/>
            <a:ext cx="457200" cy="457200"/>
          </a:xfrm>
          <a:prstGeom prst="rect">
            <a:avLst/>
          </a:prstGeom>
          <a:noFill/>
          <a:ln/>
        </p:spPr>
        <p:txBody>
          <a:bodyPr wrap="square" lIns="0" tIns="0" rIns="0" bIns="0" rtlCol="0" anchor="ctr"/>
          <a:lstStyle/>
          <a:p>
            <a:pPr algn="ctr" indent="0" marL="0">
              <a:buNone/>
            </a:pPr>
            <a:r>
              <a:rPr lang="en-US" sz="1300" b="1" dirty="0">
                <a:solidFill>
                  <a:srgbClr val="0E1621"/>
                </a:solidFill>
                <a:latin typeface="Calibri" pitchFamily="34" charset="0"/>
                <a:ea typeface="Calibri" pitchFamily="34" charset="-122"/>
                <a:cs typeface="Calibri" pitchFamily="34" charset="-120"/>
              </a:rPr>
              <a:t>3</a:t>
            </a:r>
            <a:endParaRPr lang="en-US" sz="1300" dirty="0"/>
          </a:p>
        </p:txBody>
      </p:sp>
      <p:sp>
        <p:nvSpPr>
          <p:cNvPr id="22" name="Text 19"/>
          <p:cNvSpPr txBox="1"/>
          <p:nvPr/>
        </p:nvSpPr>
        <p:spPr>
          <a:xfrm>
            <a:off x="8493557" y="2743200"/>
            <a:ext cx="2783738" cy="365760"/>
          </a:xfrm>
          <a:prstGeom prst="rect">
            <a:avLst/>
          </a:prstGeom>
          <a:noFill/>
          <a:ln/>
        </p:spPr>
        <p:txBody>
          <a:bodyPr wrap="square" lIns="0" tIns="0" rIns="0" bIns="0" rtlCol="0" anchor="ctr"/>
          <a:lstStyle/>
          <a:p>
            <a:pPr indent="0" marL="0">
              <a:buNone/>
            </a:pPr>
            <a:r>
              <a:rPr lang="en-US" sz="2100" b="1" dirty="0">
                <a:solidFill>
                  <a:srgbClr val="E9EFF6"/>
                </a:solidFill>
                <a:latin typeface="Calibri" pitchFamily="34" charset="0"/>
                <a:ea typeface="Calibri" pitchFamily="34" charset="-122"/>
                <a:cs typeface="Calibri" pitchFamily="34" charset="-120"/>
              </a:rPr>
              <a:t>Third thing</a:t>
            </a:r>
            <a:endParaRPr lang="en-US" sz="2100" dirty="0"/>
          </a:p>
        </p:txBody>
      </p:sp>
      <p:sp>
        <p:nvSpPr>
          <p:cNvPr id="23" name="Text 20"/>
          <p:cNvSpPr txBox="1"/>
          <p:nvPr/>
        </p:nvSpPr>
        <p:spPr>
          <a:xfrm>
            <a:off x="8493557" y="3200400"/>
            <a:ext cx="2783738" cy="548640"/>
          </a:xfrm>
          <a:prstGeom prst="rect">
            <a:avLst/>
          </a:prstGeom>
          <a:noFill/>
          <a:ln/>
        </p:spPr>
        <p:txBody>
          <a:bodyPr wrap="square" lIns="0" tIns="0" rIns="0" bIns="0" rtlCol="0" anchor="t"/>
          <a:lstStyle/>
          <a:p>
            <a:pPr indent="0" marL="0">
              <a:buNone/>
            </a:pPr>
            <a:r>
              <a:rPr lang="en-US" sz="1500" i="1" dirty="0">
                <a:solidFill>
                  <a:srgbClr val="E0443E"/>
                </a:solidFill>
                <a:latin typeface="Calibri" pitchFamily="34" charset="0"/>
                <a:ea typeface="Calibri" pitchFamily="34" charset="-122"/>
                <a:cs typeface="Calibri" pitchFamily="34" charset="-120"/>
              </a:rPr>
              <a:t>The question it answers?</a:t>
            </a:r>
            <a:endParaRPr lang="en-US" sz="1500" dirty="0"/>
          </a:p>
        </p:txBody>
      </p:sp>
      <p:sp>
        <p:nvSpPr>
          <p:cNvPr id="24" name="Text 21"/>
          <p:cNvSpPr txBox="1"/>
          <p:nvPr/>
        </p:nvSpPr>
        <p:spPr>
          <a:xfrm>
            <a:off x="8493557" y="3840480"/>
            <a:ext cx="2783738" cy="822960"/>
          </a:xfrm>
          <a:prstGeom prst="rect">
            <a:avLst/>
          </a:prstGeom>
          <a:noFill/>
          <a:ln/>
        </p:spPr>
        <p:txBody>
          <a:bodyPr wrap="square" lIns="0" tIns="0" rIns="0" bIns="0" rtlCol="0" anchor="t"/>
          <a:lstStyle/>
          <a:p>
            <a:pPr indent="0" marL="0">
              <a:buNone/>
            </a:pPr>
            <a:r>
              <a:rPr lang="en-US" sz="1400" dirty="0">
                <a:solidFill>
                  <a:srgbClr val="8FA3B8"/>
                </a:solidFill>
                <a:latin typeface="Calibri" pitchFamily="34" charset="0"/>
                <a:ea typeface="Calibri" pitchFamily="34" charset="-122"/>
                <a:cs typeface="Calibri" pitchFamily="34" charset="-120"/>
              </a:rPr>
              <a:t>The last card is where the argument lands, so give it the accent colour.</a:t>
            </a:r>
            <a:endParaRPr lang="en-US" sz="1400" dirty="0"/>
          </a:p>
        </p:txBody>
      </p:sp>
      <p:sp>
        <p:nvSpPr>
          <p:cNvPr id="25" name="Text 22"/>
          <p:cNvSpPr txBox="1"/>
          <p:nvPr/>
        </p:nvSpPr>
        <p:spPr>
          <a:xfrm>
            <a:off x="8493557" y="4892040"/>
            <a:ext cx="2783738" cy="320040"/>
          </a:xfrm>
          <a:prstGeom prst="rect">
            <a:avLst/>
          </a:prstGeom>
          <a:noFill/>
          <a:ln/>
        </p:spPr>
        <p:txBody>
          <a:bodyPr wrap="square" lIns="0" tIns="0" rIns="0" bIns="0" rtlCol="0" anchor="ctr"/>
          <a:lstStyle/>
          <a:p>
            <a:pPr indent="0" marL="0">
              <a:buNone/>
            </a:pPr>
            <a:r>
              <a:rPr lang="en-US" sz="1300" b="1" dirty="0">
                <a:solidFill>
                  <a:srgbClr val="7C90A6"/>
                </a:solidFill>
                <a:latin typeface="Calibri" pitchFamily="34" charset="0"/>
                <a:ea typeface="Calibri" pitchFamily="34" charset="-122"/>
                <a:cs typeface="Calibri" pitchFamily="34" charset="-120"/>
              </a:rPr>
              <a:t>A closing beat.</a:t>
            </a:r>
            <a:endParaRPr lang="en-US" sz="1300" dirty="0"/>
          </a:p>
        </p:txBody>
      </p:sp>
      <p:sp>
        <p:nvSpPr>
          <p:cNvPr id="26" name="Text 23"/>
          <p:cNvSpPr txBox="1"/>
          <p:nvPr/>
        </p:nvSpPr>
        <p:spPr>
          <a:xfrm>
            <a:off x="594360" y="5760720"/>
            <a:ext cx="11002975" cy="3657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The line under the row is where you say what the three add up to.</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621"/>
        </a:solidFill>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EYEBROW GOES HERE</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indent="0" marL="0">
              <a:buNone/>
            </a:pPr>
            <a:r>
              <a:rPr lang="en-US" sz="3600" b="1" dirty="0">
                <a:solidFill>
                  <a:srgbClr val="E9EFF6"/>
                </a:solidFill>
                <a:latin typeface="Calibri" pitchFamily="34" charset="0"/>
                <a:ea typeface="Calibri" pitchFamily="34" charset="-122"/>
                <a:cs typeface="Calibri" pitchFamily="34" charset="-120"/>
              </a:rPr>
              <a:t>Stacked rows</a:t>
            </a:r>
            <a:endParaRPr lang="en-US" sz="3600" dirty="0"/>
          </a:p>
        </p:txBody>
      </p:sp>
      <p:sp>
        <p:nvSpPr>
          <p:cNvPr id="5" name="Shape 2"/>
          <p:cNvSpPr/>
          <p:nvPr/>
        </p:nvSpPr>
        <p:spPr>
          <a:xfrm>
            <a:off x="594360" y="1783080"/>
            <a:ext cx="11002975" cy="1207008"/>
          </a:xfrm>
          <a:prstGeom prst="roundRect">
            <a:avLst>
              <a:gd name="adj" fmla="val 4545"/>
            </a:avLst>
          </a:prstGeom>
          <a:solidFill>
            <a:srgbClr val="19242F"/>
          </a:solidFill>
          <a:ln/>
        </p:spPr>
      </p:sp>
      <p:sp>
        <p:nvSpPr>
          <p:cNvPr id="6" name="Shape 3"/>
          <p:cNvSpPr/>
          <p:nvPr/>
        </p:nvSpPr>
        <p:spPr>
          <a:xfrm>
            <a:off x="886968" y="2148840"/>
            <a:ext cx="475488" cy="475488"/>
          </a:xfrm>
          <a:prstGeom prst="ellipse">
            <a:avLst/>
          </a:prstGeom>
          <a:solidFill>
            <a:srgbClr val="E8A33D"/>
          </a:solidFill>
          <a:ln/>
        </p:spPr>
      </p:sp>
      <p:sp>
        <p:nvSpPr>
          <p:cNvPr id="7" name="Text 4"/>
          <p:cNvSpPr txBox="1"/>
          <p:nvPr/>
        </p:nvSpPr>
        <p:spPr>
          <a:xfrm>
            <a:off x="886968" y="2148840"/>
            <a:ext cx="475488" cy="475488"/>
          </a:xfrm>
          <a:prstGeom prst="rect">
            <a:avLst/>
          </a:prstGeom>
          <a:noFill/>
          <a:ln/>
        </p:spPr>
        <p:txBody>
          <a:bodyPr wrap="square" lIns="0" tIns="0" rIns="0" bIns="0" rtlCol="0" anchor="ctr"/>
          <a:lstStyle/>
          <a:p>
            <a:pPr algn="ctr" indent="0" marL="0">
              <a:buNone/>
            </a:pPr>
            <a:r>
              <a:rPr lang="en-US" sz="1300" b="1" dirty="0">
                <a:solidFill>
                  <a:srgbClr val="0E1621"/>
                </a:solidFill>
                <a:latin typeface="Calibri" pitchFamily="34" charset="0"/>
                <a:ea typeface="Calibri" pitchFamily="34" charset="-122"/>
                <a:cs typeface="Calibri" pitchFamily="34" charset="-120"/>
              </a:rPr>
              <a:t>1</a:t>
            </a:r>
            <a:endParaRPr lang="en-US" sz="1300" dirty="0"/>
          </a:p>
        </p:txBody>
      </p:sp>
      <p:sp>
        <p:nvSpPr>
          <p:cNvPr id="8" name="Text 5"/>
          <p:cNvSpPr txBox="1"/>
          <p:nvPr/>
        </p:nvSpPr>
        <p:spPr>
          <a:xfrm>
            <a:off x="1554480" y="1965960"/>
            <a:ext cx="9509760" cy="384048"/>
          </a:xfrm>
          <a:prstGeom prst="rect">
            <a:avLst/>
          </a:prstGeom>
          <a:noFill/>
          <a:ln/>
        </p:spPr>
        <p:txBody>
          <a:bodyPr wrap="square" lIns="0" tIns="0" rIns="0" bIns="0" rtlCol="0" anchor="ctr"/>
          <a:lstStyle/>
          <a:p>
            <a:pPr indent="0" marL="0">
              <a:buNone/>
            </a:pPr>
            <a:r>
              <a:rPr lang="en-US" sz="2000" b="1" dirty="0">
                <a:solidFill>
                  <a:srgbClr val="E9EFF6"/>
                </a:solidFill>
                <a:latin typeface="Calibri" pitchFamily="34" charset="0"/>
                <a:ea typeface="Calibri" pitchFamily="34" charset="-122"/>
                <a:cs typeface="Calibri" pitchFamily="34" charset="-120"/>
              </a:rPr>
              <a:t>A bold statement per row</a:t>
            </a:r>
            <a:endParaRPr lang="en-US" sz="2000" dirty="0"/>
          </a:p>
        </p:txBody>
      </p:sp>
      <p:sp>
        <p:nvSpPr>
          <p:cNvPr id="9" name="Text 6"/>
          <p:cNvSpPr txBox="1"/>
          <p:nvPr/>
        </p:nvSpPr>
        <p:spPr>
          <a:xfrm>
            <a:off x="1554480" y="2386584"/>
            <a:ext cx="9509760" cy="457200"/>
          </a:xfrm>
          <a:prstGeom prst="rect">
            <a:avLst/>
          </a:prstGeom>
          <a:noFill/>
          <a:ln/>
        </p:spPr>
        <p:txBody>
          <a:bodyPr wrap="square" lIns="0" tIns="0" rIns="0" bIns="0" rtlCol="0" anchor="ctr"/>
          <a:lstStyle/>
          <a:p>
            <a:pPr indent="0" marL="0">
              <a:buNone/>
            </a:pPr>
            <a:r>
              <a:rPr lang="en-US" sz="1400" dirty="0">
                <a:solidFill>
                  <a:srgbClr val="8FA3B8"/>
                </a:solidFill>
                <a:latin typeface="Calibri" pitchFamily="34" charset="0"/>
                <a:ea typeface="Calibri" pitchFamily="34" charset="-122"/>
                <a:cs typeface="Calibri" pitchFamily="34" charset="-120"/>
              </a:rPr>
              <a:t>And one line of detail underneath it, in muted grey.</a:t>
            </a:r>
            <a:endParaRPr lang="en-US" sz="1400" dirty="0"/>
          </a:p>
        </p:txBody>
      </p:sp>
      <p:sp>
        <p:nvSpPr>
          <p:cNvPr id="10" name="Shape 7"/>
          <p:cNvSpPr/>
          <p:nvPr/>
        </p:nvSpPr>
        <p:spPr>
          <a:xfrm>
            <a:off x="594360" y="3154680"/>
            <a:ext cx="11002975" cy="1207008"/>
          </a:xfrm>
          <a:prstGeom prst="roundRect">
            <a:avLst>
              <a:gd name="adj" fmla="val 4545"/>
            </a:avLst>
          </a:prstGeom>
          <a:solidFill>
            <a:srgbClr val="19242F"/>
          </a:solidFill>
          <a:ln/>
        </p:spPr>
      </p:sp>
      <p:sp>
        <p:nvSpPr>
          <p:cNvPr id="11" name="Shape 8"/>
          <p:cNvSpPr/>
          <p:nvPr/>
        </p:nvSpPr>
        <p:spPr>
          <a:xfrm>
            <a:off x="886968" y="3520440"/>
            <a:ext cx="475488" cy="475488"/>
          </a:xfrm>
          <a:prstGeom prst="ellipse">
            <a:avLst/>
          </a:prstGeom>
          <a:solidFill>
            <a:srgbClr val="5B9BD5"/>
          </a:solidFill>
          <a:ln/>
        </p:spPr>
      </p:sp>
      <p:sp>
        <p:nvSpPr>
          <p:cNvPr id="12" name="Text 9"/>
          <p:cNvSpPr txBox="1"/>
          <p:nvPr/>
        </p:nvSpPr>
        <p:spPr>
          <a:xfrm>
            <a:off x="886968" y="3520440"/>
            <a:ext cx="475488" cy="475488"/>
          </a:xfrm>
          <a:prstGeom prst="rect">
            <a:avLst/>
          </a:prstGeom>
          <a:noFill/>
          <a:ln/>
        </p:spPr>
        <p:txBody>
          <a:bodyPr wrap="square" lIns="0" tIns="0" rIns="0" bIns="0" rtlCol="0" anchor="ctr"/>
          <a:lstStyle/>
          <a:p>
            <a:pPr algn="ctr" indent="0" marL="0">
              <a:buNone/>
            </a:pPr>
            <a:r>
              <a:rPr lang="en-US" sz="1300" b="1" dirty="0">
                <a:solidFill>
                  <a:srgbClr val="0E1621"/>
                </a:solidFill>
                <a:latin typeface="Calibri" pitchFamily="34" charset="0"/>
                <a:ea typeface="Calibri" pitchFamily="34" charset="-122"/>
                <a:cs typeface="Calibri" pitchFamily="34" charset="-120"/>
              </a:rPr>
              <a:t>2</a:t>
            </a:r>
            <a:endParaRPr lang="en-US" sz="1300" dirty="0"/>
          </a:p>
        </p:txBody>
      </p:sp>
      <p:sp>
        <p:nvSpPr>
          <p:cNvPr id="13" name="Text 10"/>
          <p:cNvSpPr txBox="1"/>
          <p:nvPr/>
        </p:nvSpPr>
        <p:spPr>
          <a:xfrm>
            <a:off x="1554480" y="3337560"/>
            <a:ext cx="9509760" cy="384048"/>
          </a:xfrm>
          <a:prstGeom prst="rect">
            <a:avLst/>
          </a:prstGeom>
          <a:noFill/>
          <a:ln/>
        </p:spPr>
        <p:txBody>
          <a:bodyPr wrap="square" lIns="0" tIns="0" rIns="0" bIns="0" rtlCol="0" anchor="ctr"/>
          <a:lstStyle/>
          <a:p>
            <a:pPr indent="0" marL="0">
              <a:buNone/>
            </a:pPr>
            <a:r>
              <a:rPr lang="en-US" sz="2000" b="1" dirty="0">
                <a:solidFill>
                  <a:srgbClr val="E9EFF6"/>
                </a:solidFill>
                <a:latin typeface="Calibri" pitchFamily="34" charset="0"/>
                <a:ea typeface="Calibri" pitchFamily="34" charset="-122"/>
                <a:cs typeface="Calibri" pitchFamily="34" charset="-120"/>
              </a:rPr>
              <a:t>The rows are full content width</a:t>
            </a:r>
            <a:endParaRPr lang="en-US" sz="2000" dirty="0"/>
          </a:p>
        </p:txBody>
      </p:sp>
      <p:sp>
        <p:nvSpPr>
          <p:cNvPr id="14" name="Text 11"/>
          <p:cNvSpPr txBox="1"/>
          <p:nvPr/>
        </p:nvSpPr>
        <p:spPr>
          <a:xfrm>
            <a:off x="1554480" y="3758184"/>
            <a:ext cx="9509760" cy="457200"/>
          </a:xfrm>
          <a:prstGeom prst="rect">
            <a:avLst/>
          </a:prstGeom>
          <a:noFill/>
          <a:ln/>
        </p:spPr>
        <p:txBody>
          <a:bodyPr wrap="square" lIns="0" tIns="0" rIns="0" bIns="0" rtlCol="0" anchor="ctr"/>
          <a:lstStyle/>
          <a:p>
            <a:pPr indent="0" marL="0">
              <a:buNone/>
            </a:pPr>
            <a:r>
              <a:rPr lang="en-US" sz="1400" dirty="0">
                <a:solidFill>
                  <a:srgbClr val="8FA3B8"/>
                </a:solidFill>
                <a:latin typeface="Calibri" pitchFamily="34" charset="0"/>
                <a:ea typeface="Calibri" pitchFamily="34" charset="-122"/>
                <a:cs typeface="Calibri" pitchFamily="34" charset="-120"/>
              </a:rPr>
              <a:t>Which makes them read faster than columns from the back of a room.</a:t>
            </a:r>
            <a:endParaRPr lang="en-US" sz="1400" dirty="0"/>
          </a:p>
        </p:txBody>
      </p:sp>
      <p:sp>
        <p:nvSpPr>
          <p:cNvPr id="15" name="Shape 12"/>
          <p:cNvSpPr/>
          <p:nvPr/>
        </p:nvSpPr>
        <p:spPr>
          <a:xfrm>
            <a:off x="594360" y="4526280"/>
            <a:ext cx="11002975" cy="1207008"/>
          </a:xfrm>
          <a:prstGeom prst="roundRect">
            <a:avLst>
              <a:gd name="adj" fmla="val 4545"/>
            </a:avLst>
          </a:prstGeom>
          <a:solidFill>
            <a:srgbClr val="19242F"/>
          </a:solidFill>
          <a:ln/>
        </p:spPr>
      </p:sp>
      <p:sp>
        <p:nvSpPr>
          <p:cNvPr id="16" name="Shape 13"/>
          <p:cNvSpPr/>
          <p:nvPr/>
        </p:nvSpPr>
        <p:spPr>
          <a:xfrm>
            <a:off x="886968" y="4892040"/>
            <a:ext cx="475488" cy="475488"/>
          </a:xfrm>
          <a:prstGeom prst="ellipse">
            <a:avLst/>
          </a:prstGeom>
          <a:solidFill>
            <a:srgbClr val="46B98A"/>
          </a:solidFill>
          <a:ln/>
        </p:spPr>
      </p:sp>
      <p:sp>
        <p:nvSpPr>
          <p:cNvPr id="17" name="Text 14"/>
          <p:cNvSpPr txBox="1"/>
          <p:nvPr/>
        </p:nvSpPr>
        <p:spPr>
          <a:xfrm>
            <a:off x="886968" y="4892040"/>
            <a:ext cx="475488" cy="475488"/>
          </a:xfrm>
          <a:prstGeom prst="rect">
            <a:avLst/>
          </a:prstGeom>
          <a:noFill/>
          <a:ln/>
        </p:spPr>
        <p:txBody>
          <a:bodyPr wrap="square" lIns="0" tIns="0" rIns="0" bIns="0" rtlCol="0" anchor="ctr"/>
          <a:lstStyle/>
          <a:p>
            <a:pPr algn="ctr" indent="0" marL="0">
              <a:buNone/>
            </a:pPr>
            <a:r>
              <a:rPr lang="en-US" sz="1300" b="1" dirty="0">
                <a:solidFill>
                  <a:srgbClr val="0E1621"/>
                </a:solidFill>
                <a:latin typeface="Calibri" pitchFamily="34" charset="0"/>
                <a:ea typeface="Calibri" pitchFamily="34" charset="-122"/>
                <a:cs typeface="Calibri" pitchFamily="34" charset="-120"/>
              </a:rPr>
              <a:t>3</a:t>
            </a:r>
            <a:endParaRPr lang="en-US" sz="1300" dirty="0"/>
          </a:p>
        </p:txBody>
      </p:sp>
      <p:sp>
        <p:nvSpPr>
          <p:cNvPr id="18" name="Text 15"/>
          <p:cNvSpPr txBox="1"/>
          <p:nvPr/>
        </p:nvSpPr>
        <p:spPr>
          <a:xfrm>
            <a:off x="1554480" y="4709160"/>
            <a:ext cx="9509760" cy="384048"/>
          </a:xfrm>
          <a:prstGeom prst="rect">
            <a:avLst/>
          </a:prstGeom>
          <a:noFill/>
          <a:ln/>
        </p:spPr>
        <p:txBody>
          <a:bodyPr wrap="square" lIns="0" tIns="0" rIns="0" bIns="0" rtlCol="0" anchor="ctr"/>
          <a:lstStyle/>
          <a:p>
            <a:pPr indent="0" marL="0">
              <a:buNone/>
            </a:pPr>
            <a:r>
              <a:rPr lang="en-US" sz="2000" b="1" dirty="0">
                <a:solidFill>
                  <a:srgbClr val="E9EFF6"/>
                </a:solidFill>
                <a:latin typeface="Calibri" pitchFamily="34" charset="0"/>
                <a:ea typeface="Calibri" pitchFamily="34" charset="-122"/>
                <a:cs typeface="Calibri" pitchFamily="34" charset="-120"/>
              </a:rPr>
              <a:t>Three is the comfortable number</a:t>
            </a:r>
            <a:endParaRPr lang="en-US" sz="2000" dirty="0"/>
          </a:p>
        </p:txBody>
      </p:sp>
      <p:sp>
        <p:nvSpPr>
          <p:cNvPr id="19" name="Text 16"/>
          <p:cNvSpPr txBox="1"/>
          <p:nvPr/>
        </p:nvSpPr>
        <p:spPr>
          <a:xfrm>
            <a:off x="1554480" y="5129784"/>
            <a:ext cx="9509760" cy="457200"/>
          </a:xfrm>
          <a:prstGeom prst="rect">
            <a:avLst/>
          </a:prstGeom>
          <a:noFill/>
          <a:ln/>
        </p:spPr>
        <p:txBody>
          <a:bodyPr wrap="square" lIns="0" tIns="0" rIns="0" bIns="0" rtlCol="0" anchor="ctr"/>
          <a:lstStyle/>
          <a:p>
            <a:pPr indent="0" marL="0">
              <a:buNone/>
            </a:pPr>
            <a:r>
              <a:rPr lang="en-US" sz="1400" dirty="0">
                <a:solidFill>
                  <a:srgbClr val="8FA3B8"/>
                </a:solidFill>
                <a:latin typeface="Calibri" pitchFamily="34" charset="0"/>
                <a:ea typeface="Calibri" pitchFamily="34" charset="-122"/>
                <a:cs typeface="Calibri" pitchFamily="34" charset="-120"/>
              </a:rPr>
              <a:t>Four fits. Five means the slide wants to be two slides.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621"/>
        </a:solidFill>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indent="0" marL="0">
              <a:buNone/>
            </a:pPr>
            <a:r>
              <a:rPr lang="en-US" sz="1200" b="1" spc="200" kern="0" dirty="0">
                <a:solidFill>
                  <a:srgbClr val="E0443E"/>
                </a:solidFill>
                <a:latin typeface="Calibri" pitchFamily="34" charset="0"/>
                <a:ea typeface="Calibri" pitchFamily="34" charset="-122"/>
                <a:cs typeface="Calibri" pitchFamily="34" charset="-120"/>
              </a:rPr>
              <a:t>EYEBROW GOES HERE</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indent="0" marL="0">
              <a:buNone/>
            </a:pPr>
            <a:r>
              <a:rPr lang="en-US" sz="3600" b="1" dirty="0">
                <a:solidFill>
                  <a:srgbClr val="E9EFF6"/>
                </a:solidFill>
                <a:latin typeface="Calibri" pitchFamily="34" charset="0"/>
                <a:ea typeface="Calibri" pitchFamily="34" charset="-122"/>
                <a:cs typeface="Calibri" pitchFamily="34" charset="-120"/>
              </a:rPr>
              <a:t>Two panels, equal weight</a:t>
            </a:r>
            <a:endParaRPr lang="en-US" sz="3600" dirty="0"/>
          </a:p>
        </p:txBody>
      </p:sp>
      <p:sp>
        <p:nvSpPr>
          <p:cNvPr id="5" name="Shape 2"/>
          <p:cNvSpPr/>
          <p:nvPr/>
        </p:nvSpPr>
        <p:spPr>
          <a:xfrm>
            <a:off x="594360" y="1783080"/>
            <a:ext cx="5257800" cy="3977640"/>
          </a:xfrm>
          <a:prstGeom prst="roundRect">
            <a:avLst>
              <a:gd name="adj" fmla="val 1379"/>
            </a:avLst>
          </a:prstGeom>
          <a:solidFill>
            <a:srgbClr val="19242F"/>
          </a:solidFill>
          <a:ln/>
        </p:spPr>
      </p:sp>
      <p:sp>
        <p:nvSpPr>
          <p:cNvPr id="6" name="Text 3"/>
          <p:cNvSpPr txBox="1"/>
          <p:nvPr/>
        </p:nvSpPr>
        <p:spPr>
          <a:xfrm>
            <a:off x="914400" y="2011680"/>
            <a:ext cx="4617720" cy="365760"/>
          </a:xfrm>
          <a:prstGeom prst="rect">
            <a:avLst/>
          </a:prstGeom>
          <a:noFill/>
          <a:ln/>
        </p:spPr>
        <p:txBody>
          <a:bodyPr wrap="square" lIns="0" tIns="0" rIns="0" bIns="0" rtlCol="0" anchor="ctr"/>
          <a:lstStyle/>
          <a:p>
            <a:pPr indent="0" marL="0">
              <a:buNone/>
            </a:pPr>
            <a:r>
              <a:rPr lang="en-US" sz="2100" b="1" dirty="0">
                <a:solidFill>
                  <a:srgbClr val="E0443E"/>
                </a:solidFill>
                <a:latin typeface="Calibri" pitchFamily="34" charset="0"/>
                <a:ea typeface="Calibri" pitchFamily="34" charset="-122"/>
                <a:cs typeface="Calibri" pitchFamily="34" charset="-120"/>
              </a:rPr>
              <a:t>The left one</a:t>
            </a:r>
            <a:endParaRPr lang="en-US" sz="2100" dirty="0"/>
          </a:p>
        </p:txBody>
      </p:sp>
      <p:sp>
        <p:nvSpPr>
          <p:cNvPr id="7" name="Text 4"/>
          <p:cNvSpPr txBox="1"/>
          <p:nvPr/>
        </p:nvSpPr>
        <p:spPr>
          <a:xfrm>
            <a:off x="960120" y="2395728"/>
            <a:ext cx="4572000" cy="30175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8FA3B8"/>
                </a:solidFill>
                <a:latin typeface="Calibri" pitchFamily="34" charset="0"/>
                <a:ea typeface="Calibri" pitchFamily="34" charset="-122"/>
                <a:cs typeface="Calibri" pitchFamily="34" charset="-120"/>
              </a:rPr>
              <a:t>A short bullet</a:t>
            </a:r>
            <a:endParaRPr lang="en-US" sz="1500" dirty="0"/>
          </a:p>
          <a:p>
            <a:pPr marL="342900" indent="-342900">
              <a:spcAft>
                <a:spcPts val="1000"/>
              </a:spcAft>
              <a:buSzPct val="100000"/>
              <a:buChar char="•"/>
            </a:pPr>
            <a:r>
              <a:rPr lang="en-US" sz="1500" dirty="0">
                <a:solidFill>
                  <a:srgbClr val="8FA3B8"/>
                </a:solidFill>
                <a:latin typeface="Calibri" pitchFamily="34" charset="0"/>
                <a:ea typeface="Calibri" pitchFamily="34" charset="-122"/>
                <a:cs typeface="Calibri" pitchFamily="34" charset="-120"/>
              </a:rPr>
              <a:t>Another short bullet</a:t>
            </a:r>
            <a:endParaRPr lang="en-US" sz="1500" dirty="0"/>
          </a:p>
          <a:p>
            <a:pPr marL="342900" indent="-342900">
              <a:spcAft>
                <a:spcPts val="1000"/>
              </a:spcAft>
              <a:buSzPct val="100000"/>
              <a:buChar char="•"/>
            </a:pPr>
            <a:r>
              <a:rPr lang="en-US" sz="1500" dirty="0">
                <a:solidFill>
                  <a:srgbClr val="8FA3B8"/>
                </a:solidFill>
                <a:latin typeface="Calibri" pitchFamily="34" charset="0"/>
                <a:ea typeface="Calibri" pitchFamily="34" charset="-122"/>
                <a:cs typeface="Calibri" pitchFamily="34" charset="-120"/>
              </a:rPr>
              <a:t>Keep them to one line each where you can</a:t>
            </a:r>
            <a:endParaRPr lang="en-US" sz="1500" dirty="0"/>
          </a:p>
          <a:p>
            <a:pPr marL="342900" indent="-342900">
              <a:spcAft>
                <a:spcPts val="1000"/>
              </a:spcAft>
              <a:buSzPct val="100000"/>
              <a:buChar char="•"/>
            </a:pPr>
            <a:r>
              <a:rPr lang="en-US" sz="1500" dirty="0">
                <a:solidFill>
                  <a:srgbClr val="8FA3B8"/>
                </a:solidFill>
                <a:latin typeface="Calibri" pitchFamily="34" charset="0"/>
                <a:ea typeface="Calibri" pitchFamily="34" charset="-122"/>
                <a:cs typeface="Calibri" pitchFamily="34" charset="-120"/>
              </a:rPr>
              <a:t>Five is the ceiling</a:t>
            </a:r>
            <a:endParaRPr lang="en-US" sz="1500" dirty="0"/>
          </a:p>
        </p:txBody>
      </p:sp>
      <p:sp>
        <p:nvSpPr>
          <p:cNvPr id="8" name="Shape 5"/>
          <p:cNvSpPr/>
          <p:nvPr/>
        </p:nvSpPr>
        <p:spPr>
          <a:xfrm>
            <a:off x="6355080" y="1783080"/>
            <a:ext cx="5257800" cy="3977640"/>
          </a:xfrm>
          <a:prstGeom prst="roundRect">
            <a:avLst>
              <a:gd name="adj" fmla="val 1379"/>
            </a:avLst>
          </a:prstGeom>
          <a:solidFill>
            <a:srgbClr val="19242F"/>
          </a:solidFill>
          <a:ln/>
        </p:spPr>
      </p:sp>
      <p:sp>
        <p:nvSpPr>
          <p:cNvPr id="9" name="Text 6"/>
          <p:cNvSpPr txBox="1"/>
          <p:nvPr/>
        </p:nvSpPr>
        <p:spPr>
          <a:xfrm>
            <a:off x="6675120" y="2011680"/>
            <a:ext cx="4663440" cy="365760"/>
          </a:xfrm>
          <a:prstGeom prst="rect">
            <a:avLst/>
          </a:prstGeom>
          <a:noFill/>
          <a:ln/>
        </p:spPr>
        <p:txBody>
          <a:bodyPr wrap="square" lIns="0" tIns="0" rIns="0" bIns="0" rtlCol="0" anchor="ctr"/>
          <a:lstStyle/>
          <a:p>
            <a:pPr indent="0" marL="0">
              <a:buNone/>
            </a:pPr>
            <a:r>
              <a:rPr lang="en-US" sz="2100" b="1" dirty="0">
                <a:solidFill>
                  <a:srgbClr val="46B98A"/>
                </a:solidFill>
                <a:latin typeface="Calibri" pitchFamily="34" charset="0"/>
                <a:ea typeface="Calibri" pitchFamily="34" charset="-122"/>
                <a:cs typeface="Calibri" pitchFamily="34" charset="-120"/>
              </a:rPr>
              <a:t>The right one</a:t>
            </a:r>
            <a:endParaRPr lang="en-US" sz="2100" dirty="0"/>
          </a:p>
        </p:txBody>
      </p:sp>
      <p:sp>
        <p:nvSpPr>
          <p:cNvPr id="10" name="Text 7"/>
          <p:cNvSpPr txBox="1"/>
          <p:nvPr/>
        </p:nvSpPr>
        <p:spPr>
          <a:xfrm>
            <a:off x="6675120" y="2560320"/>
            <a:ext cx="1417320" cy="502920"/>
          </a:xfrm>
          <a:prstGeom prst="rect">
            <a:avLst/>
          </a:prstGeom>
          <a:noFill/>
          <a:ln/>
        </p:spPr>
        <p:txBody>
          <a:bodyPr wrap="square" lIns="0" tIns="0" rIns="0" bIns="0" rtlCol="0" anchor="ctr"/>
          <a:lstStyle/>
          <a:p>
            <a:pPr indent="0" marL="0">
              <a:buNone/>
            </a:pPr>
            <a:r>
              <a:rPr lang="en-US" sz="2700" b="1" dirty="0">
                <a:solidFill>
                  <a:srgbClr val="E9EFF6"/>
                </a:solidFill>
                <a:latin typeface="Calibri" pitchFamily="34" charset="0"/>
                <a:ea typeface="Calibri" pitchFamily="34" charset="-122"/>
                <a:cs typeface="Calibri" pitchFamily="34" charset="-120"/>
              </a:rPr>
              <a:t>~3.5k</a:t>
            </a:r>
            <a:endParaRPr lang="en-US" sz="2700" dirty="0"/>
          </a:p>
        </p:txBody>
      </p:sp>
      <p:sp>
        <p:nvSpPr>
          <p:cNvPr id="11" name="Text 8"/>
          <p:cNvSpPr txBox="1"/>
          <p:nvPr/>
        </p:nvSpPr>
        <p:spPr>
          <a:xfrm>
            <a:off x="8183880" y="2596896"/>
            <a:ext cx="3200400" cy="731520"/>
          </a:xfrm>
          <a:prstGeom prst="rect">
            <a:avLst/>
          </a:prstGeom>
          <a:noFill/>
          <a:ln/>
        </p:spPr>
        <p:txBody>
          <a:bodyPr wrap="square" lIns="0" tIns="0" rIns="0" bIns="0" rtlCol="0" anchor="ctr"/>
          <a:lstStyle/>
          <a:p>
            <a:pPr indent="0" marL="0">
              <a:buNone/>
            </a:pPr>
            <a:r>
              <a:rPr lang="en-US" sz="1400" dirty="0">
                <a:solidFill>
                  <a:srgbClr val="8FA3B8"/>
                </a:solidFill>
                <a:latin typeface="Calibri" pitchFamily="34" charset="0"/>
                <a:ea typeface="Calibri" pitchFamily="34" charset="-122"/>
                <a:cs typeface="Calibri" pitchFamily="34" charset="-120"/>
              </a:rPr>
              <a:t>a number worth saying out loud, with its unit spelled out beside it</a:t>
            </a:r>
            <a:endParaRPr lang="en-US" sz="1400" dirty="0"/>
          </a:p>
        </p:txBody>
      </p:sp>
      <p:sp>
        <p:nvSpPr>
          <p:cNvPr id="12" name="Text 9"/>
          <p:cNvSpPr txBox="1"/>
          <p:nvPr/>
        </p:nvSpPr>
        <p:spPr>
          <a:xfrm>
            <a:off x="6675120" y="3611880"/>
            <a:ext cx="1417320" cy="502920"/>
          </a:xfrm>
          <a:prstGeom prst="rect">
            <a:avLst/>
          </a:prstGeom>
          <a:noFill/>
          <a:ln/>
        </p:spPr>
        <p:txBody>
          <a:bodyPr wrap="square" lIns="0" tIns="0" rIns="0" bIns="0" rtlCol="0" anchor="ctr"/>
          <a:lstStyle/>
          <a:p>
            <a:pPr indent="0" marL="0">
              <a:buNone/>
            </a:pPr>
            <a:r>
              <a:rPr lang="en-US" sz="2700" b="1" dirty="0">
                <a:solidFill>
                  <a:srgbClr val="E9EFF6"/>
                </a:solidFill>
                <a:latin typeface="Calibri" pitchFamily="34" charset="0"/>
                <a:ea typeface="Calibri" pitchFamily="34" charset="-122"/>
                <a:cs typeface="Calibri" pitchFamily="34" charset="-120"/>
              </a:rPr>
              <a:t>1/min</a:t>
            </a:r>
            <a:endParaRPr lang="en-US" sz="2700" dirty="0"/>
          </a:p>
        </p:txBody>
      </p:sp>
      <p:sp>
        <p:nvSpPr>
          <p:cNvPr id="13" name="Text 10"/>
          <p:cNvSpPr txBox="1"/>
          <p:nvPr/>
        </p:nvSpPr>
        <p:spPr>
          <a:xfrm>
            <a:off x="8183880" y="3648456"/>
            <a:ext cx="3200400" cy="731520"/>
          </a:xfrm>
          <a:prstGeom prst="rect">
            <a:avLst/>
          </a:prstGeom>
          <a:noFill/>
          <a:ln/>
        </p:spPr>
        <p:txBody>
          <a:bodyPr wrap="square" lIns="0" tIns="0" rIns="0" bIns="0" rtlCol="0" anchor="ctr"/>
          <a:lstStyle/>
          <a:p>
            <a:pPr indent="0" marL="0">
              <a:buNone/>
            </a:pPr>
            <a:r>
              <a:rPr lang="en-US" sz="1400" dirty="0">
                <a:solidFill>
                  <a:srgbClr val="8FA3B8"/>
                </a:solidFill>
                <a:latin typeface="Calibri" pitchFamily="34" charset="0"/>
                <a:ea typeface="Calibri" pitchFamily="34" charset="-122"/>
                <a:cs typeface="Calibri" pitchFamily="34" charset="-120"/>
              </a:rPr>
              <a:t>the second number</a:t>
            </a:r>
            <a:endParaRPr lang="en-US" sz="1400" dirty="0"/>
          </a:p>
        </p:txBody>
      </p:sp>
      <p:sp>
        <p:nvSpPr>
          <p:cNvPr id="14" name="Text 11"/>
          <p:cNvSpPr txBox="1"/>
          <p:nvPr/>
        </p:nvSpPr>
        <p:spPr>
          <a:xfrm>
            <a:off x="6675120" y="4663440"/>
            <a:ext cx="1417320" cy="502920"/>
          </a:xfrm>
          <a:prstGeom prst="rect">
            <a:avLst/>
          </a:prstGeom>
          <a:noFill/>
          <a:ln/>
        </p:spPr>
        <p:txBody>
          <a:bodyPr wrap="square" lIns="0" tIns="0" rIns="0" bIns="0" rtlCol="0" anchor="ctr"/>
          <a:lstStyle/>
          <a:p>
            <a:pPr indent="0" marL="0">
              <a:buNone/>
            </a:pPr>
            <a:r>
              <a:rPr lang="en-US" sz="2700" b="1" dirty="0">
                <a:solidFill>
                  <a:srgbClr val="E9EFF6"/>
                </a:solidFill>
                <a:latin typeface="Calibri" pitchFamily="34" charset="0"/>
                <a:ea typeface="Calibri" pitchFamily="34" charset="-122"/>
                <a:cs typeface="Calibri" pitchFamily="34" charset="-120"/>
              </a:rPr>
              <a:t>0</a:t>
            </a:r>
            <a:endParaRPr lang="en-US" sz="2700" dirty="0"/>
          </a:p>
        </p:txBody>
      </p:sp>
      <p:sp>
        <p:nvSpPr>
          <p:cNvPr id="15" name="Text 12"/>
          <p:cNvSpPr txBox="1"/>
          <p:nvPr/>
        </p:nvSpPr>
        <p:spPr>
          <a:xfrm>
            <a:off x="8183880" y="4700016"/>
            <a:ext cx="3200400" cy="731520"/>
          </a:xfrm>
          <a:prstGeom prst="rect">
            <a:avLst/>
          </a:prstGeom>
          <a:noFill/>
          <a:ln/>
        </p:spPr>
        <p:txBody>
          <a:bodyPr wrap="square" lIns="0" tIns="0" rIns="0" bIns="0" rtlCol="0" anchor="ctr"/>
          <a:lstStyle/>
          <a:p>
            <a:pPr indent="0" marL="0">
              <a:buNone/>
            </a:pPr>
            <a:r>
              <a:rPr lang="en-US" sz="1400" dirty="0">
                <a:solidFill>
                  <a:srgbClr val="8FA3B8"/>
                </a:solidFill>
                <a:latin typeface="Calibri" pitchFamily="34" charset="0"/>
                <a:ea typeface="Calibri" pitchFamily="34" charset="-122"/>
                <a:cs typeface="Calibri" pitchFamily="34" charset="-120"/>
              </a:rPr>
              <a:t>the third number - zero is the most persuasive one you have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621"/>
        </a:solidFill>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EYEBROW GOES HERE</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indent="0" marL="0">
              <a:buNone/>
            </a:pPr>
            <a:r>
              <a:rPr lang="en-US" sz="3600" b="1" dirty="0">
                <a:solidFill>
                  <a:srgbClr val="E9EFF6"/>
                </a:solidFill>
                <a:latin typeface="Calibri" pitchFamily="34" charset="0"/>
                <a:ea typeface="Calibri" pitchFamily="34" charset="-122"/>
                <a:cs typeface="Calibri" pitchFamily="34" charset="-120"/>
              </a:rPr>
              <a:t>A chain of consequences</a:t>
            </a:r>
            <a:endParaRPr lang="en-US" sz="3600" dirty="0"/>
          </a:p>
        </p:txBody>
      </p:sp>
      <p:sp>
        <p:nvSpPr>
          <p:cNvPr id="5" name="Shape 2"/>
          <p:cNvSpPr/>
          <p:nvPr/>
        </p:nvSpPr>
        <p:spPr>
          <a:xfrm>
            <a:off x="594360" y="1783080"/>
            <a:ext cx="11002975" cy="987552"/>
          </a:xfrm>
          <a:prstGeom prst="roundRect">
            <a:avLst>
              <a:gd name="adj" fmla="val 5556"/>
            </a:avLst>
          </a:prstGeom>
          <a:solidFill>
            <a:srgbClr val="19242F"/>
          </a:solidFill>
          <a:ln/>
        </p:spPr>
      </p:sp>
      <p:sp>
        <p:nvSpPr>
          <p:cNvPr id="6" name="Shape 3"/>
          <p:cNvSpPr/>
          <p:nvPr/>
        </p:nvSpPr>
        <p:spPr>
          <a:xfrm>
            <a:off x="868680" y="2029968"/>
            <a:ext cx="502920" cy="502920"/>
          </a:xfrm>
          <a:prstGeom prst="ellipse">
            <a:avLst/>
          </a:prstGeom>
          <a:solidFill>
            <a:srgbClr val="E8A33D"/>
          </a:solidFill>
          <a:ln/>
        </p:spPr>
      </p:sp>
      <p:sp>
        <p:nvSpPr>
          <p:cNvPr id="7" name="Text 4"/>
          <p:cNvSpPr txBox="1"/>
          <p:nvPr/>
        </p:nvSpPr>
        <p:spPr>
          <a:xfrm>
            <a:off x="868680" y="2029968"/>
            <a:ext cx="502920" cy="502920"/>
          </a:xfrm>
          <a:prstGeom prst="rect">
            <a:avLst/>
          </a:prstGeom>
          <a:noFill/>
          <a:ln/>
        </p:spPr>
        <p:txBody>
          <a:bodyPr wrap="square" lIns="0" tIns="0" rIns="0" bIns="0" rtlCol="0" anchor="ctr"/>
          <a:lstStyle/>
          <a:p>
            <a:pPr algn="ctr" indent="0" marL="0">
              <a:buNone/>
            </a:pPr>
            <a:r>
              <a:rPr lang="en-US" sz="1300" b="1" dirty="0">
                <a:solidFill>
                  <a:srgbClr val="0E1621"/>
                </a:solidFill>
                <a:latin typeface="Calibri" pitchFamily="34" charset="0"/>
                <a:ea typeface="Calibri" pitchFamily="34" charset="-122"/>
                <a:cs typeface="Calibri" pitchFamily="34" charset="-120"/>
              </a:rPr>
              <a:t>1</a:t>
            </a:r>
            <a:endParaRPr lang="en-US" sz="1300" dirty="0"/>
          </a:p>
        </p:txBody>
      </p:sp>
      <p:sp>
        <p:nvSpPr>
          <p:cNvPr id="8" name="Text 5"/>
          <p:cNvSpPr txBox="1"/>
          <p:nvPr/>
        </p:nvSpPr>
        <p:spPr>
          <a:xfrm>
            <a:off x="1554480" y="1947672"/>
            <a:ext cx="2194560" cy="365760"/>
          </a:xfrm>
          <a:prstGeom prst="rect">
            <a:avLst/>
          </a:prstGeom>
          <a:noFill/>
          <a:ln/>
        </p:spPr>
        <p:txBody>
          <a:bodyPr wrap="square" lIns="0" tIns="0" rIns="0" bIns="0" rtlCol="0" anchor="ctr"/>
          <a:lstStyle/>
          <a:p>
            <a:pPr indent="0" marL="0">
              <a:buNone/>
            </a:pPr>
            <a:r>
              <a:rPr lang="en-US" sz="1600" b="1" dirty="0">
                <a:solidFill>
                  <a:srgbClr val="E9EFF6"/>
                </a:solidFill>
                <a:latin typeface="Courier New" pitchFamily="34" charset="0"/>
                <a:ea typeface="Courier New" pitchFamily="34" charset="-122"/>
                <a:cs typeface="Courier New" pitchFamily="34" charset="-120"/>
              </a:rPr>
              <a:t>first-host</a:t>
            </a:r>
            <a:endParaRPr lang="en-US" sz="1600" dirty="0"/>
          </a:p>
        </p:txBody>
      </p:sp>
      <p:sp>
        <p:nvSpPr>
          <p:cNvPr id="9" name="Text 6"/>
          <p:cNvSpPr txBox="1"/>
          <p:nvPr/>
        </p:nvSpPr>
        <p:spPr>
          <a:xfrm>
            <a:off x="1554480" y="2331720"/>
            <a:ext cx="2194560" cy="292608"/>
          </a:xfrm>
          <a:prstGeom prst="rect">
            <a:avLst/>
          </a:prstGeom>
          <a:noFill/>
          <a:ln/>
        </p:spPr>
        <p:txBody>
          <a:bodyPr wrap="square" lIns="0" tIns="0" rIns="0" bIns="0" rtlCol="0" anchor="ctr"/>
          <a:lstStyle/>
          <a:p>
            <a:pPr indent="0" marL="0">
              <a:buNone/>
            </a:pPr>
            <a:r>
              <a:rPr lang="en-US" sz="1300" b="1" dirty="0">
                <a:solidFill>
                  <a:srgbClr val="E8A33D"/>
                </a:solidFill>
                <a:latin typeface="Calibri" pitchFamily="34" charset="0"/>
                <a:ea typeface="Calibri" pitchFamily="34" charset="-122"/>
                <a:cs typeface="Calibri" pitchFamily="34" charset="-120"/>
              </a:rPr>
              <a:t>warning</a:t>
            </a:r>
            <a:endParaRPr lang="en-US" sz="1300" dirty="0"/>
          </a:p>
        </p:txBody>
      </p:sp>
      <p:sp>
        <p:nvSpPr>
          <p:cNvPr id="10" name="Text 7"/>
          <p:cNvSpPr txBox="1"/>
          <p:nvPr/>
        </p:nvSpPr>
        <p:spPr>
          <a:xfrm>
            <a:off x="3886200" y="2066544"/>
            <a:ext cx="7498080" cy="457200"/>
          </a:xfrm>
          <a:prstGeom prst="rect">
            <a:avLst/>
          </a:prstGeom>
          <a:noFill/>
          <a:ln/>
        </p:spPr>
        <p:txBody>
          <a:bodyPr wrap="square" lIns="0" tIns="0" rIns="0" bIns="0" rtlCol="0" anchor="ctr"/>
          <a:lstStyle/>
          <a:p>
            <a:pPr indent="0" marL="0">
              <a:buNone/>
            </a:pPr>
            <a:r>
              <a:rPr lang="en-US" sz="1500" dirty="0">
                <a:solidFill>
                  <a:srgbClr val="8FA3B8"/>
                </a:solidFill>
                <a:latin typeface="Calibri" pitchFamily="34" charset="0"/>
                <a:ea typeface="Calibri" pitchFamily="34" charset="-122"/>
                <a:cs typeface="Calibri" pitchFamily="34" charset="-120"/>
              </a:rPr>
              <a:t>The quiet thing that started it, described in one line.</a:t>
            </a:r>
            <a:endParaRPr lang="en-US" sz="1500" dirty="0"/>
          </a:p>
        </p:txBody>
      </p:sp>
      <p:sp>
        <p:nvSpPr>
          <p:cNvPr id="11" name="Shape 8"/>
          <p:cNvSpPr/>
          <p:nvPr/>
        </p:nvSpPr>
        <p:spPr>
          <a:xfrm rot="10800000">
            <a:off x="1042416" y="2825496"/>
            <a:ext cx="155448" cy="118872"/>
          </a:xfrm>
          <a:prstGeom prst="triangle">
            <a:avLst/>
          </a:prstGeom>
          <a:solidFill>
            <a:srgbClr val="7C90A6"/>
          </a:solidFill>
          <a:ln/>
        </p:spPr>
      </p:sp>
      <p:sp>
        <p:nvSpPr>
          <p:cNvPr id="12" name="Shape 9"/>
          <p:cNvSpPr/>
          <p:nvPr/>
        </p:nvSpPr>
        <p:spPr>
          <a:xfrm>
            <a:off x="594360" y="2990088"/>
            <a:ext cx="11002975" cy="987552"/>
          </a:xfrm>
          <a:prstGeom prst="roundRect">
            <a:avLst>
              <a:gd name="adj" fmla="val 5556"/>
            </a:avLst>
          </a:prstGeom>
          <a:solidFill>
            <a:srgbClr val="19242F"/>
          </a:solidFill>
          <a:ln/>
        </p:spPr>
      </p:sp>
      <p:sp>
        <p:nvSpPr>
          <p:cNvPr id="13" name="Shape 10"/>
          <p:cNvSpPr/>
          <p:nvPr/>
        </p:nvSpPr>
        <p:spPr>
          <a:xfrm>
            <a:off x="868680" y="3236976"/>
            <a:ext cx="502920" cy="502920"/>
          </a:xfrm>
          <a:prstGeom prst="ellipse">
            <a:avLst/>
          </a:prstGeom>
          <a:solidFill>
            <a:srgbClr val="E0443E"/>
          </a:solidFill>
          <a:ln/>
        </p:spPr>
      </p:sp>
      <p:sp>
        <p:nvSpPr>
          <p:cNvPr id="14" name="Text 11"/>
          <p:cNvSpPr txBox="1"/>
          <p:nvPr/>
        </p:nvSpPr>
        <p:spPr>
          <a:xfrm>
            <a:off x="868680" y="3236976"/>
            <a:ext cx="502920" cy="502920"/>
          </a:xfrm>
          <a:prstGeom prst="rect">
            <a:avLst/>
          </a:prstGeom>
          <a:noFill/>
          <a:ln/>
        </p:spPr>
        <p:txBody>
          <a:bodyPr wrap="square" lIns="0" tIns="0" rIns="0" bIns="0" rtlCol="0" anchor="ctr"/>
          <a:lstStyle/>
          <a:p>
            <a:pPr algn="ctr" indent="0" marL="0">
              <a:buNone/>
            </a:pPr>
            <a:r>
              <a:rPr lang="en-US" sz="1300" b="1" dirty="0">
                <a:solidFill>
                  <a:srgbClr val="0E1621"/>
                </a:solidFill>
                <a:latin typeface="Calibri" pitchFamily="34" charset="0"/>
                <a:ea typeface="Calibri" pitchFamily="34" charset="-122"/>
                <a:cs typeface="Calibri" pitchFamily="34" charset="-120"/>
              </a:rPr>
              <a:t>2</a:t>
            </a:r>
            <a:endParaRPr lang="en-US" sz="1300" dirty="0"/>
          </a:p>
        </p:txBody>
      </p:sp>
      <p:sp>
        <p:nvSpPr>
          <p:cNvPr id="15" name="Text 12"/>
          <p:cNvSpPr txBox="1"/>
          <p:nvPr/>
        </p:nvSpPr>
        <p:spPr>
          <a:xfrm>
            <a:off x="1554480" y="3154680"/>
            <a:ext cx="2194560" cy="365760"/>
          </a:xfrm>
          <a:prstGeom prst="rect">
            <a:avLst/>
          </a:prstGeom>
          <a:noFill/>
          <a:ln/>
        </p:spPr>
        <p:txBody>
          <a:bodyPr wrap="square" lIns="0" tIns="0" rIns="0" bIns="0" rtlCol="0" anchor="ctr"/>
          <a:lstStyle/>
          <a:p>
            <a:pPr indent="0" marL="0">
              <a:buNone/>
            </a:pPr>
            <a:r>
              <a:rPr lang="en-US" sz="1600" b="1" dirty="0">
                <a:solidFill>
                  <a:srgbClr val="E9EFF6"/>
                </a:solidFill>
                <a:latin typeface="Courier New" pitchFamily="34" charset="0"/>
                <a:ea typeface="Courier New" pitchFamily="34" charset="-122"/>
                <a:cs typeface="Courier New" pitchFamily="34" charset="-120"/>
              </a:rPr>
              <a:t>second-host</a:t>
            </a:r>
            <a:endParaRPr lang="en-US" sz="1600" dirty="0"/>
          </a:p>
        </p:txBody>
      </p:sp>
      <p:sp>
        <p:nvSpPr>
          <p:cNvPr id="16" name="Text 13"/>
          <p:cNvSpPr txBox="1"/>
          <p:nvPr/>
        </p:nvSpPr>
        <p:spPr>
          <a:xfrm>
            <a:off x="1554480" y="3538728"/>
            <a:ext cx="2194560" cy="292608"/>
          </a:xfrm>
          <a:prstGeom prst="rect">
            <a:avLst/>
          </a:prstGeom>
          <a:noFill/>
          <a:ln/>
        </p:spPr>
        <p:txBody>
          <a:bodyPr wrap="square" lIns="0" tIns="0" rIns="0" bIns="0" rtlCol="0" anchor="ctr"/>
          <a:lstStyle/>
          <a:p>
            <a:pPr indent="0" marL="0">
              <a:buNone/>
            </a:pPr>
            <a:r>
              <a:rPr lang="en-US" sz="1300" b="1" dirty="0">
                <a:solidFill>
                  <a:srgbClr val="E0443E"/>
                </a:solidFill>
                <a:latin typeface="Calibri" pitchFamily="34" charset="0"/>
                <a:ea typeface="Calibri" pitchFamily="34" charset="-122"/>
                <a:cs typeface="Calibri" pitchFamily="34" charset="-120"/>
              </a:rPr>
              <a:t>critical</a:t>
            </a:r>
            <a:endParaRPr lang="en-US" sz="1300" dirty="0"/>
          </a:p>
        </p:txBody>
      </p:sp>
      <p:sp>
        <p:nvSpPr>
          <p:cNvPr id="17" name="Text 14"/>
          <p:cNvSpPr txBox="1"/>
          <p:nvPr/>
        </p:nvSpPr>
        <p:spPr>
          <a:xfrm>
            <a:off x="3886200" y="3273552"/>
            <a:ext cx="7498080" cy="457200"/>
          </a:xfrm>
          <a:prstGeom prst="rect">
            <a:avLst/>
          </a:prstGeom>
          <a:noFill/>
          <a:ln/>
        </p:spPr>
        <p:txBody>
          <a:bodyPr wrap="square" lIns="0" tIns="0" rIns="0" bIns="0" rtlCol="0" anchor="ctr"/>
          <a:lstStyle/>
          <a:p>
            <a:pPr indent="0" marL="0">
              <a:buNone/>
            </a:pPr>
            <a:r>
              <a:rPr lang="en-US" sz="1500" dirty="0">
                <a:solidFill>
                  <a:srgbClr val="8FA3B8"/>
                </a:solidFill>
                <a:latin typeface="Calibri" pitchFamily="34" charset="0"/>
                <a:ea typeface="Calibri" pitchFamily="34" charset="-122"/>
                <a:cs typeface="Calibri" pitchFamily="34" charset="-120"/>
              </a:rPr>
              <a:t>What that did downstream, on a different machine.</a:t>
            </a:r>
            <a:endParaRPr lang="en-US" sz="1500" dirty="0"/>
          </a:p>
        </p:txBody>
      </p:sp>
      <p:sp>
        <p:nvSpPr>
          <p:cNvPr id="18" name="Shape 15"/>
          <p:cNvSpPr/>
          <p:nvPr/>
        </p:nvSpPr>
        <p:spPr>
          <a:xfrm rot="10800000">
            <a:off x="1042416" y="4032504"/>
            <a:ext cx="155448" cy="118872"/>
          </a:xfrm>
          <a:prstGeom prst="triangle">
            <a:avLst/>
          </a:prstGeom>
          <a:solidFill>
            <a:srgbClr val="7C90A6"/>
          </a:solidFill>
          <a:ln/>
        </p:spPr>
      </p:sp>
      <p:sp>
        <p:nvSpPr>
          <p:cNvPr id="19" name="Shape 16"/>
          <p:cNvSpPr/>
          <p:nvPr/>
        </p:nvSpPr>
        <p:spPr>
          <a:xfrm>
            <a:off x="594360" y="4197096"/>
            <a:ext cx="11002975" cy="987552"/>
          </a:xfrm>
          <a:prstGeom prst="roundRect">
            <a:avLst>
              <a:gd name="adj" fmla="val 5556"/>
            </a:avLst>
          </a:prstGeom>
          <a:solidFill>
            <a:srgbClr val="19242F"/>
          </a:solidFill>
          <a:ln/>
        </p:spPr>
      </p:sp>
      <p:sp>
        <p:nvSpPr>
          <p:cNvPr id="20" name="Shape 17"/>
          <p:cNvSpPr/>
          <p:nvPr/>
        </p:nvSpPr>
        <p:spPr>
          <a:xfrm>
            <a:off x="868680" y="4443984"/>
            <a:ext cx="502920" cy="502920"/>
          </a:xfrm>
          <a:prstGeom prst="ellipse">
            <a:avLst/>
          </a:prstGeom>
          <a:solidFill>
            <a:srgbClr val="E0443E"/>
          </a:solidFill>
          <a:ln/>
        </p:spPr>
      </p:sp>
      <p:sp>
        <p:nvSpPr>
          <p:cNvPr id="21" name="Text 18"/>
          <p:cNvSpPr txBox="1"/>
          <p:nvPr/>
        </p:nvSpPr>
        <p:spPr>
          <a:xfrm>
            <a:off x="868680" y="4443984"/>
            <a:ext cx="502920" cy="502920"/>
          </a:xfrm>
          <a:prstGeom prst="rect">
            <a:avLst/>
          </a:prstGeom>
          <a:noFill/>
          <a:ln/>
        </p:spPr>
        <p:txBody>
          <a:bodyPr wrap="square" lIns="0" tIns="0" rIns="0" bIns="0" rtlCol="0" anchor="ctr"/>
          <a:lstStyle/>
          <a:p>
            <a:pPr algn="ctr" indent="0" marL="0">
              <a:buNone/>
            </a:pPr>
            <a:r>
              <a:rPr lang="en-US" sz="1300" b="1" dirty="0">
                <a:solidFill>
                  <a:srgbClr val="0E1621"/>
                </a:solidFill>
                <a:latin typeface="Calibri" pitchFamily="34" charset="0"/>
                <a:ea typeface="Calibri" pitchFamily="34" charset="-122"/>
                <a:cs typeface="Calibri" pitchFamily="34" charset="-120"/>
              </a:rPr>
              <a:t>3</a:t>
            </a:r>
            <a:endParaRPr lang="en-US" sz="1300" dirty="0"/>
          </a:p>
        </p:txBody>
      </p:sp>
      <p:sp>
        <p:nvSpPr>
          <p:cNvPr id="22" name="Text 19"/>
          <p:cNvSpPr txBox="1"/>
          <p:nvPr/>
        </p:nvSpPr>
        <p:spPr>
          <a:xfrm>
            <a:off x="1554480" y="4361688"/>
            <a:ext cx="2194560" cy="365760"/>
          </a:xfrm>
          <a:prstGeom prst="rect">
            <a:avLst/>
          </a:prstGeom>
          <a:noFill/>
          <a:ln/>
        </p:spPr>
        <p:txBody>
          <a:bodyPr wrap="square" lIns="0" tIns="0" rIns="0" bIns="0" rtlCol="0" anchor="ctr"/>
          <a:lstStyle/>
          <a:p>
            <a:pPr indent="0" marL="0">
              <a:buNone/>
            </a:pPr>
            <a:r>
              <a:rPr lang="en-US" sz="1600" b="1" dirty="0">
                <a:solidFill>
                  <a:srgbClr val="E9EFF6"/>
                </a:solidFill>
                <a:latin typeface="Courier New" pitchFamily="34" charset="0"/>
                <a:ea typeface="Courier New" pitchFamily="34" charset="-122"/>
                <a:cs typeface="Courier New" pitchFamily="34" charset="-120"/>
              </a:rPr>
              <a:t>third-host</a:t>
            </a:r>
            <a:endParaRPr lang="en-US" sz="1600" dirty="0"/>
          </a:p>
        </p:txBody>
      </p:sp>
      <p:sp>
        <p:nvSpPr>
          <p:cNvPr id="23" name="Text 20"/>
          <p:cNvSpPr txBox="1"/>
          <p:nvPr/>
        </p:nvSpPr>
        <p:spPr>
          <a:xfrm>
            <a:off x="1554480" y="4745736"/>
            <a:ext cx="2194560" cy="292608"/>
          </a:xfrm>
          <a:prstGeom prst="rect">
            <a:avLst/>
          </a:prstGeom>
          <a:noFill/>
          <a:ln/>
        </p:spPr>
        <p:txBody>
          <a:bodyPr wrap="square" lIns="0" tIns="0" rIns="0" bIns="0" rtlCol="0" anchor="ctr"/>
          <a:lstStyle/>
          <a:p>
            <a:pPr indent="0" marL="0">
              <a:buNone/>
            </a:pPr>
            <a:r>
              <a:rPr lang="en-US" sz="1300" b="1" dirty="0">
                <a:solidFill>
                  <a:srgbClr val="E0443E"/>
                </a:solidFill>
                <a:latin typeface="Calibri" pitchFamily="34" charset="0"/>
                <a:ea typeface="Calibri" pitchFamily="34" charset="-122"/>
                <a:cs typeface="Calibri" pitchFamily="34" charset="-120"/>
              </a:rPr>
              <a:t>critical</a:t>
            </a:r>
            <a:endParaRPr lang="en-US" sz="1300" dirty="0"/>
          </a:p>
        </p:txBody>
      </p:sp>
      <p:sp>
        <p:nvSpPr>
          <p:cNvPr id="24" name="Text 21"/>
          <p:cNvSpPr txBox="1"/>
          <p:nvPr/>
        </p:nvSpPr>
        <p:spPr>
          <a:xfrm>
            <a:off x="3886200" y="4480560"/>
            <a:ext cx="7498080" cy="457200"/>
          </a:xfrm>
          <a:prstGeom prst="rect">
            <a:avLst/>
          </a:prstGeom>
          <a:noFill/>
          <a:ln/>
        </p:spPr>
        <p:txBody>
          <a:bodyPr wrap="square" lIns="0" tIns="0" rIns="0" bIns="0" rtlCol="0" anchor="ctr"/>
          <a:lstStyle/>
          <a:p>
            <a:pPr indent="0" marL="0">
              <a:buNone/>
            </a:pPr>
            <a:r>
              <a:rPr lang="en-US" sz="1500" dirty="0">
                <a:solidFill>
                  <a:srgbClr val="8FA3B8"/>
                </a:solidFill>
                <a:latin typeface="Calibri" pitchFamily="34" charset="0"/>
                <a:ea typeface="Calibri" pitchFamily="34" charset="-122"/>
                <a:cs typeface="Calibri" pitchFamily="34" charset="-120"/>
              </a:rPr>
              <a:t>What the user actually noticed.</a:t>
            </a:r>
            <a:endParaRPr lang="en-US" sz="1500" dirty="0"/>
          </a:p>
        </p:txBody>
      </p:sp>
      <p:sp>
        <p:nvSpPr>
          <p:cNvPr id="25" name="Shape 22"/>
          <p:cNvSpPr/>
          <p:nvPr/>
        </p:nvSpPr>
        <p:spPr>
          <a:xfrm>
            <a:off x="594360" y="5349240"/>
            <a:ext cx="11002975" cy="868680"/>
          </a:xfrm>
          <a:prstGeom prst="roundRect">
            <a:avLst>
              <a:gd name="adj" fmla="val 6316"/>
            </a:avLst>
          </a:prstGeom>
          <a:solidFill>
            <a:srgbClr val="223140"/>
          </a:solidFill>
          <a:ln/>
        </p:spPr>
      </p:sp>
      <p:sp>
        <p:nvSpPr>
          <p:cNvPr id="26" name="Text 23"/>
          <p:cNvSpPr txBox="1"/>
          <p:nvPr/>
        </p:nvSpPr>
        <p:spPr>
          <a:xfrm>
            <a:off x="868680" y="5550408"/>
            <a:ext cx="10454335" cy="502920"/>
          </a:xfrm>
          <a:prstGeom prst="rect">
            <a:avLst/>
          </a:prstGeom>
          <a:noFill/>
          <a:ln/>
        </p:spPr>
        <p:txBody>
          <a:bodyPr wrap="square" lIns="0" tIns="0" rIns="0" bIns="0" rtlCol="0" anchor="t"/>
          <a:lstStyle/>
          <a:p>
            <a:pPr indent="0" marL="0">
              <a:buNone/>
            </a:pPr>
            <a:r>
              <a:rPr lang="en-US" sz="1600" b="1" dirty="0">
                <a:solidFill>
                  <a:srgbClr val="46B98A"/>
                </a:solidFill>
                <a:latin typeface="Calibri" pitchFamily="34" charset="0"/>
                <a:ea typeface="Calibri" pitchFamily="34" charset="-122"/>
                <a:cs typeface="Calibri" pitchFamily="34" charset="-120"/>
              </a:rPr>
              <a:t>DO NOW  </a:t>
            </a:r>
            <a:pPr indent="0" marL="0">
              <a:buNone/>
            </a:pPr>
            <a:r>
              <a:rPr lang="en-US" sz="1600" dirty="0">
                <a:solidFill>
                  <a:srgbClr val="E9EFF6"/>
                </a:solidFill>
                <a:latin typeface="Calibri" pitchFamily="34" charset="0"/>
                <a:ea typeface="Calibri" pitchFamily="34" charset="-122"/>
                <a:cs typeface="Calibri" pitchFamily="34" charset="-120"/>
              </a:rPr>
              <a:t>The concrete first action, naming the thing to act on.</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621"/>
        </a:solidFill>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indent="0" marL="0">
              <a:buNone/>
            </a:pPr>
            <a:r>
              <a:rPr lang="en-US" sz="1200" b="1" spc="200" kern="0" dirty="0">
                <a:solidFill>
                  <a:srgbClr val="E0443E"/>
                </a:solidFill>
                <a:latin typeface="Calibri" pitchFamily="34" charset="0"/>
                <a:ea typeface="Calibri" pitchFamily="34" charset="-122"/>
                <a:cs typeface="Calibri" pitchFamily="34" charset="-120"/>
              </a:rPr>
              <a:t>EYEBROW GOES HERE</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indent="0" marL="0">
              <a:buNone/>
            </a:pPr>
            <a:r>
              <a:rPr lang="en-US" sz="3600" b="1" dirty="0">
                <a:solidFill>
                  <a:srgbClr val="E9EFF6"/>
                </a:solidFill>
                <a:latin typeface="Calibri" pitchFamily="34" charset="0"/>
                <a:ea typeface="Calibri" pitchFamily="34" charset="-122"/>
                <a:cs typeface="Calibri" pitchFamily="34" charset="-120"/>
              </a:rPr>
              <a:t>A wall of machine output</a:t>
            </a:r>
            <a:endParaRPr lang="en-US" sz="3600" dirty="0"/>
          </a:p>
        </p:txBody>
      </p:sp>
      <p:sp>
        <p:nvSpPr>
          <p:cNvPr id="5" name="Shape 2"/>
          <p:cNvSpPr/>
          <p:nvPr/>
        </p:nvSpPr>
        <p:spPr>
          <a:xfrm>
            <a:off x="594360" y="1600200"/>
            <a:ext cx="11002975" cy="1760220"/>
          </a:xfrm>
          <a:prstGeom prst="roundRect">
            <a:avLst>
              <a:gd name="adj" fmla="val 3117"/>
            </a:avLst>
          </a:prstGeom>
          <a:solidFill>
            <a:srgbClr val="19242F"/>
          </a:solidFill>
          <a:ln/>
        </p:spPr>
      </p:sp>
      <p:sp>
        <p:nvSpPr>
          <p:cNvPr id="6" name="Text 3"/>
          <p:cNvSpPr txBox="1"/>
          <p:nvPr/>
        </p:nvSpPr>
        <p:spPr>
          <a:xfrm>
            <a:off x="822960" y="1737360"/>
            <a:ext cx="914400" cy="274320"/>
          </a:xfrm>
          <a:prstGeom prst="rect">
            <a:avLst/>
          </a:prstGeom>
          <a:noFill/>
          <a:ln/>
        </p:spPr>
        <p:txBody>
          <a:bodyPr wrap="square" lIns="0" tIns="0" rIns="0" bIns="0" rtlCol="0" anchor="ctr"/>
          <a:lstStyle/>
          <a:p>
            <a:pPr indent="0" marL="0">
              <a:buNone/>
            </a:pPr>
            <a:r>
              <a:rPr lang="en-US" sz="1100" dirty="0">
                <a:solidFill>
                  <a:srgbClr val="7C90A6"/>
                </a:solidFill>
                <a:latin typeface="Courier New" pitchFamily="34" charset="0"/>
                <a:ea typeface="Courier New" pitchFamily="34" charset="-122"/>
                <a:cs typeface="Courier New" pitchFamily="34" charset="-120"/>
              </a:rPr>
              <a:t>16:54:31</a:t>
            </a:r>
            <a:endParaRPr lang="en-US" sz="1100" dirty="0"/>
          </a:p>
        </p:txBody>
      </p:sp>
      <p:sp>
        <p:nvSpPr>
          <p:cNvPr id="7" name="Text 4"/>
          <p:cNvSpPr txBox="1"/>
          <p:nvPr/>
        </p:nvSpPr>
        <p:spPr>
          <a:xfrm>
            <a:off x="1783080" y="1737360"/>
            <a:ext cx="777240" cy="274320"/>
          </a:xfrm>
          <a:prstGeom prst="rect">
            <a:avLst/>
          </a:prstGeom>
          <a:noFill/>
          <a:ln/>
        </p:spPr>
        <p:txBody>
          <a:bodyPr wrap="square" lIns="0" tIns="0" rIns="0" bIns="0" rtlCol="0" anchor="ctr"/>
          <a:lstStyle/>
          <a:p>
            <a:pPr indent="0" marL="0">
              <a:buNone/>
            </a:pPr>
            <a:r>
              <a:rPr lang="en-US" sz="1100" b="1" dirty="0">
                <a:solidFill>
                  <a:srgbClr val="E0443E"/>
                </a:solidFill>
                <a:latin typeface="Courier New" pitchFamily="34" charset="0"/>
                <a:ea typeface="Courier New" pitchFamily="34" charset="-122"/>
                <a:cs typeface="Courier New" pitchFamily="34" charset="-120"/>
              </a:rPr>
              <a:t>critical</a:t>
            </a:r>
            <a:endParaRPr lang="en-US" sz="1100" dirty="0"/>
          </a:p>
        </p:txBody>
      </p:sp>
      <p:sp>
        <p:nvSpPr>
          <p:cNvPr id="8" name="Text 5"/>
          <p:cNvSpPr txBox="1"/>
          <p:nvPr/>
        </p:nvSpPr>
        <p:spPr>
          <a:xfrm>
            <a:off x="2651760" y="1737360"/>
            <a:ext cx="8686800" cy="274320"/>
          </a:xfrm>
          <a:prstGeom prst="rect">
            <a:avLst/>
          </a:prstGeom>
          <a:noFill/>
          <a:ln/>
        </p:spPr>
        <p:txBody>
          <a:bodyPr wrap="square" lIns="0" tIns="0" rIns="0" bIns="0" rtlCol="0" anchor="ctr"/>
          <a:lstStyle/>
          <a:p>
            <a:pPr indent="0" marL="0">
              <a:buNone/>
            </a:pPr>
            <a:r>
              <a:rPr lang="en-US" sz="1100" dirty="0">
                <a:solidFill>
                  <a:srgbClr val="8FA3B8"/>
                </a:solidFill>
                <a:latin typeface="Courier New" pitchFamily="34" charset="0"/>
                <a:ea typeface="Courier New" pitchFamily="34" charset="-122"/>
                <a:cs typeface="Courier New" pitchFamily="34" charset="-120"/>
              </a:rPr>
              <a:t>sql-watch      sql-prod-03    Connection pool exhausted, 97 of 100 in use</a:t>
            </a:r>
            <a:endParaRPr lang="en-US" sz="1100" dirty="0"/>
          </a:p>
        </p:txBody>
      </p:sp>
      <p:sp>
        <p:nvSpPr>
          <p:cNvPr id="9" name="Text 6"/>
          <p:cNvSpPr txBox="1"/>
          <p:nvPr/>
        </p:nvSpPr>
        <p:spPr>
          <a:xfrm>
            <a:off x="822960" y="2034540"/>
            <a:ext cx="914400" cy="274320"/>
          </a:xfrm>
          <a:prstGeom prst="rect">
            <a:avLst/>
          </a:prstGeom>
          <a:noFill/>
          <a:ln/>
        </p:spPr>
        <p:txBody>
          <a:bodyPr wrap="square" lIns="0" tIns="0" rIns="0" bIns="0" rtlCol="0" anchor="ctr"/>
          <a:lstStyle/>
          <a:p>
            <a:pPr indent="0" marL="0">
              <a:buNone/>
            </a:pPr>
            <a:r>
              <a:rPr lang="en-US" sz="1100" dirty="0">
                <a:solidFill>
                  <a:srgbClr val="7C90A6"/>
                </a:solidFill>
                <a:latin typeface="Courier New" pitchFamily="34" charset="0"/>
                <a:ea typeface="Courier New" pitchFamily="34" charset="-122"/>
                <a:cs typeface="Courier New" pitchFamily="34" charset="-120"/>
              </a:rPr>
              <a:t>16:54:30</a:t>
            </a:r>
            <a:endParaRPr lang="en-US" sz="1100" dirty="0"/>
          </a:p>
        </p:txBody>
      </p:sp>
      <p:sp>
        <p:nvSpPr>
          <p:cNvPr id="10" name="Text 7"/>
          <p:cNvSpPr txBox="1"/>
          <p:nvPr/>
        </p:nvSpPr>
        <p:spPr>
          <a:xfrm>
            <a:off x="1783080" y="2034540"/>
            <a:ext cx="777240" cy="274320"/>
          </a:xfrm>
          <a:prstGeom prst="rect">
            <a:avLst/>
          </a:prstGeom>
          <a:noFill/>
          <a:ln/>
        </p:spPr>
        <p:txBody>
          <a:bodyPr wrap="square" lIns="0" tIns="0" rIns="0" bIns="0" rtlCol="0" anchor="ctr"/>
          <a:lstStyle/>
          <a:p>
            <a:pPr indent="0" marL="0">
              <a:buNone/>
            </a:pPr>
            <a:r>
              <a:rPr lang="en-US" sz="1100" b="1" dirty="0">
                <a:solidFill>
                  <a:srgbClr val="E8A33D"/>
                </a:solidFill>
                <a:latin typeface="Courier New" pitchFamily="34" charset="0"/>
                <a:ea typeface="Courier New" pitchFamily="34" charset="-122"/>
                <a:cs typeface="Courier New" pitchFamily="34" charset="-120"/>
              </a:rPr>
              <a:t>error</a:t>
            </a:r>
            <a:endParaRPr lang="en-US" sz="1100" dirty="0"/>
          </a:p>
        </p:txBody>
      </p:sp>
      <p:sp>
        <p:nvSpPr>
          <p:cNvPr id="11" name="Text 8"/>
          <p:cNvSpPr txBox="1"/>
          <p:nvPr/>
        </p:nvSpPr>
        <p:spPr>
          <a:xfrm>
            <a:off x="2651760" y="2034540"/>
            <a:ext cx="8686800" cy="274320"/>
          </a:xfrm>
          <a:prstGeom prst="rect">
            <a:avLst/>
          </a:prstGeom>
          <a:noFill/>
          <a:ln/>
        </p:spPr>
        <p:txBody>
          <a:bodyPr wrap="square" lIns="0" tIns="0" rIns="0" bIns="0" rtlCol="0" anchor="ctr"/>
          <a:lstStyle/>
          <a:p>
            <a:pPr indent="0" marL="0">
              <a:buNone/>
            </a:pPr>
            <a:r>
              <a:rPr lang="en-US" sz="1100" dirty="0">
                <a:solidFill>
                  <a:srgbClr val="8FA3B8"/>
                </a:solidFill>
                <a:latin typeface="Courier New" pitchFamily="34" charset="0"/>
                <a:ea typeface="Courier New" pitchFamily="34" charset="-122"/>
                <a:cs typeface="Courier New" pitchFamily="34" charset="-120"/>
              </a:rPr>
              <a:t>storage-watch  sql-prod-03    Disk read latency 480 ms, sustained</a:t>
            </a:r>
            <a:endParaRPr lang="en-US" sz="1100" dirty="0"/>
          </a:p>
        </p:txBody>
      </p:sp>
      <p:sp>
        <p:nvSpPr>
          <p:cNvPr id="12" name="Text 9"/>
          <p:cNvSpPr txBox="1"/>
          <p:nvPr/>
        </p:nvSpPr>
        <p:spPr>
          <a:xfrm>
            <a:off x="822960" y="2331720"/>
            <a:ext cx="914400" cy="274320"/>
          </a:xfrm>
          <a:prstGeom prst="rect">
            <a:avLst/>
          </a:prstGeom>
          <a:noFill/>
          <a:ln/>
        </p:spPr>
        <p:txBody>
          <a:bodyPr wrap="square" lIns="0" tIns="0" rIns="0" bIns="0" rtlCol="0" anchor="ctr"/>
          <a:lstStyle/>
          <a:p>
            <a:pPr indent="0" marL="0">
              <a:buNone/>
            </a:pPr>
            <a:r>
              <a:rPr lang="en-US" sz="1100" dirty="0">
                <a:solidFill>
                  <a:srgbClr val="7C90A6"/>
                </a:solidFill>
                <a:latin typeface="Courier New" pitchFamily="34" charset="0"/>
                <a:ea typeface="Courier New" pitchFamily="34" charset="-122"/>
                <a:cs typeface="Courier New" pitchFamily="34" charset="-120"/>
              </a:rPr>
              <a:t>16:54:29</a:t>
            </a:r>
            <a:endParaRPr lang="en-US" sz="1100" dirty="0"/>
          </a:p>
        </p:txBody>
      </p:sp>
      <p:sp>
        <p:nvSpPr>
          <p:cNvPr id="13" name="Text 10"/>
          <p:cNvSpPr txBox="1"/>
          <p:nvPr/>
        </p:nvSpPr>
        <p:spPr>
          <a:xfrm>
            <a:off x="1783080" y="2331720"/>
            <a:ext cx="777240" cy="274320"/>
          </a:xfrm>
          <a:prstGeom prst="rect">
            <a:avLst/>
          </a:prstGeom>
          <a:noFill/>
          <a:ln/>
        </p:spPr>
        <p:txBody>
          <a:bodyPr wrap="square" lIns="0" tIns="0" rIns="0" bIns="0" rtlCol="0" anchor="ctr"/>
          <a:lstStyle/>
          <a:p>
            <a:pPr indent="0" marL="0">
              <a:buNone/>
            </a:pPr>
            <a:r>
              <a:rPr lang="en-US" sz="1100" b="1" dirty="0">
                <a:solidFill>
                  <a:srgbClr val="7C90A6"/>
                </a:solidFill>
                <a:latin typeface="Courier New" pitchFamily="34" charset="0"/>
                <a:ea typeface="Courier New" pitchFamily="34" charset="-122"/>
                <a:cs typeface="Courier New" pitchFamily="34" charset="-120"/>
              </a:rPr>
              <a:t>warning</a:t>
            </a:r>
            <a:endParaRPr lang="en-US" sz="1100" dirty="0"/>
          </a:p>
        </p:txBody>
      </p:sp>
      <p:sp>
        <p:nvSpPr>
          <p:cNvPr id="14" name="Text 11"/>
          <p:cNvSpPr txBox="1"/>
          <p:nvPr/>
        </p:nvSpPr>
        <p:spPr>
          <a:xfrm>
            <a:off x="2651760" y="2331720"/>
            <a:ext cx="8686800" cy="274320"/>
          </a:xfrm>
          <a:prstGeom prst="rect">
            <a:avLst/>
          </a:prstGeom>
          <a:noFill/>
          <a:ln/>
        </p:spPr>
        <p:txBody>
          <a:bodyPr wrap="square" lIns="0" tIns="0" rIns="0" bIns="0" rtlCol="0" anchor="ctr"/>
          <a:lstStyle/>
          <a:p>
            <a:pPr indent="0" marL="0">
              <a:buNone/>
            </a:pPr>
            <a:r>
              <a:rPr lang="en-US" sz="1100" dirty="0">
                <a:solidFill>
                  <a:srgbClr val="8FA3B8"/>
                </a:solidFill>
                <a:latin typeface="Courier New" pitchFamily="34" charset="0"/>
                <a:ea typeface="Courier New" pitchFamily="34" charset="-122"/>
                <a:cs typeface="Courier New" pitchFamily="34" charset="-120"/>
              </a:rPr>
              <a:t>backup-agent   backup-01      Nightly backup still running, 4 hours over window</a:t>
            </a:r>
            <a:endParaRPr lang="en-US" sz="1100" dirty="0"/>
          </a:p>
        </p:txBody>
      </p:sp>
      <p:sp>
        <p:nvSpPr>
          <p:cNvPr id="15" name="Text 12"/>
          <p:cNvSpPr txBox="1"/>
          <p:nvPr/>
        </p:nvSpPr>
        <p:spPr>
          <a:xfrm>
            <a:off x="822960" y="2628900"/>
            <a:ext cx="914400" cy="274320"/>
          </a:xfrm>
          <a:prstGeom prst="rect">
            <a:avLst/>
          </a:prstGeom>
          <a:noFill/>
          <a:ln/>
        </p:spPr>
        <p:txBody>
          <a:bodyPr wrap="square" lIns="0" tIns="0" rIns="0" bIns="0" rtlCol="0" anchor="ctr"/>
          <a:lstStyle/>
          <a:p>
            <a:pPr indent="0" marL="0">
              <a:buNone/>
            </a:pPr>
            <a:r>
              <a:rPr lang="en-US" sz="1100" dirty="0">
                <a:solidFill>
                  <a:srgbClr val="7C90A6"/>
                </a:solidFill>
                <a:latin typeface="Courier New" pitchFamily="34" charset="0"/>
                <a:ea typeface="Courier New" pitchFamily="34" charset="-122"/>
                <a:cs typeface="Courier New" pitchFamily="34" charset="-120"/>
              </a:rPr>
              <a:t>16:54:28</a:t>
            </a:r>
            <a:endParaRPr lang="en-US" sz="1100" dirty="0"/>
          </a:p>
        </p:txBody>
      </p:sp>
      <p:sp>
        <p:nvSpPr>
          <p:cNvPr id="16" name="Text 13"/>
          <p:cNvSpPr txBox="1"/>
          <p:nvPr/>
        </p:nvSpPr>
        <p:spPr>
          <a:xfrm>
            <a:off x="1783080" y="2628900"/>
            <a:ext cx="777240" cy="274320"/>
          </a:xfrm>
          <a:prstGeom prst="rect">
            <a:avLst/>
          </a:prstGeom>
          <a:noFill/>
          <a:ln/>
        </p:spPr>
        <p:txBody>
          <a:bodyPr wrap="square" lIns="0" tIns="0" rIns="0" bIns="0" rtlCol="0" anchor="ctr"/>
          <a:lstStyle/>
          <a:p>
            <a:pPr indent="0" marL="0">
              <a:buNone/>
            </a:pPr>
            <a:r>
              <a:rPr lang="en-US" sz="1100" b="1" dirty="0">
                <a:solidFill>
                  <a:srgbClr val="E0443E"/>
                </a:solidFill>
                <a:latin typeface="Courier New" pitchFamily="34" charset="0"/>
                <a:ea typeface="Courier New" pitchFamily="34" charset="-122"/>
                <a:cs typeface="Courier New" pitchFamily="34" charset="-120"/>
              </a:rPr>
              <a:t>critical</a:t>
            </a:r>
            <a:endParaRPr lang="en-US" sz="1100" dirty="0"/>
          </a:p>
        </p:txBody>
      </p:sp>
      <p:sp>
        <p:nvSpPr>
          <p:cNvPr id="17" name="Text 14"/>
          <p:cNvSpPr txBox="1"/>
          <p:nvPr/>
        </p:nvSpPr>
        <p:spPr>
          <a:xfrm>
            <a:off x="2651760" y="2628900"/>
            <a:ext cx="8686800" cy="274320"/>
          </a:xfrm>
          <a:prstGeom prst="rect">
            <a:avLst/>
          </a:prstGeom>
          <a:noFill/>
          <a:ln/>
        </p:spPr>
        <p:txBody>
          <a:bodyPr wrap="square" lIns="0" tIns="0" rIns="0" bIns="0" rtlCol="0" anchor="ctr"/>
          <a:lstStyle/>
          <a:p>
            <a:pPr indent="0" marL="0">
              <a:buNone/>
            </a:pPr>
            <a:r>
              <a:rPr lang="en-US" sz="1100" dirty="0">
                <a:solidFill>
                  <a:srgbClr val="8FA3B8"/>
                </a:solidFill>
                <a:latin typeface="Courier New" pitchFamily="34" charset="0"/>
                <a:ea typeface="Courier New" pitchFamily="34" charset="-122"/>
                <a:cs typeface="Courier New" pitchFamily="34" charset="-120"/>
              </a:rPr>
              <a:t>apm            app-web-01     Checkout failures 27 percent of requests</a:t>
            </a:r>
            <a:endParaRPr lang="en-US" sz="1100" dirty="0"/>
          </a:p>
        </p:txBody>
      </p:sp>
      <p:sp>
        <p:nvSpPr>
          <p:cNvPr id="18" name="Text 15"/>
          <p:cNvSpPr txBox="1"/>
          <p:nvPr/>
        </p:nvSpPr>
        <p:spPr>
          <a:xfrm>
            <a:off x="822960" y="2926080"/>
            <a:ext cx="914400" cy="274320"/>
          </a:xfrm>
          <a:prstGeom prst="rect">
            <a:avLst/>
          </a:prstGeom>
          <a:noFill/>
          <a:ln/>
        </p:spPr>
        <p:txBody>
          <a:bodyPr wrap="square" lIns="0" tIns="0" rIns="0" bIns="0" rtlCol="0" anchor="ctr"/>
          <a:lstStyle/>
          <a:p>
            <a:pPr indent="0" marL="0">
              <a:buNone/>
            </a:pPr>
            <a:r>
              <a:rPr lang="en-US" sz="1100" dirty="0">
                <a:solidFill>
                  <a:srgbClr val="7C90A6"/>
                </a:solidFill>
                <a:latin typeface="Courier New" pitchFamily="34" charset="0"/>
                <a:ea typeface="Courier New" pitchFamily="34" charset="-122"/>
                <a:cs typeface="Courier New" pitchFamily="34" charset="-120"/>
              </a:rPr>
              <a:t>16:54:27</a:t>
            </a:r>
            <a:endParaRPr lang="en-US" sz="1100" dirty="0"/>
          </a:p>
        </p:txBody>
      </p:sp>
      <p:sp>
        <p:nvSpPr>
          <p:cNvPr id="19" name="Text 16"/>
          <p:cNvSpPr txBox="1"/>
          <p:nvPr/>
        </p:nvSpPr>
        <p:spPr>
          <a:xfrm>
            <a:off x="1783080" y="2926080"/>
            <a:ext cx="777240" cy="274320"/>
          </a:xfrm>
          <a:prstGeom prst="rect">
            <a:avLst/>
          </a:prstGeom>
          <a:noFill/>
          <a:ln/>
        </p:spPr>
        <p:txBody>
          <a:bodyPr wrap="square" lIns="0" tIns="0" rIns="0" bIns="0" rtlCol="0" anchor="ctr"/>
          <a:lstStyle/>
          <a:p>
            <a:pPr indent="0" marL="0">
              <a:buNone/>
            </a:pPr>
            <a:r>
              <a:rPr lang="en-US" sz="1100" b="1" dirty="0">
                <a:solidFill>
                  <a:srgbClr val="5B9BD5"/>
                </a:solidFill>
                <a:latin typeface="Courier New" pitchFamily="34" charset="0"/>
                <a:ea typeface="Courier New" pitchFamily="34" charset="-122"/>
                <a:cs typeface="Courier New" pitchFamily="34" charset="-120"/>
              </a:rPr>
              <a:t>info</a:t>
            </a:r>
            <a:endParaRPr lang="en-US" sz="1100" dirty="0"/>
          </a:p>
        </p:txBody>
      </p:sp>
      <p:sp>
        <p:nvSpPr>
          <p:cNvPr id="20" name="Text 17"/>
          <p:cNvSpPr txBox="1"/>
          <p:nvPr/>
        </p:nvSpPr>
        <p:spPr>
          <a:xfrm>
            <a:off x="2651760" y="2926080"/>
            <a:ext cx="8686800" cy="274320"/>
          </a:xfrm>
          <a:prstGeom prst="rect">
            <a:avLst/>
          </a:prstGeom>
          <a:noFill/>
          <a:ln/>
        </p:spPr>
        <p:txBody>
          <a:bodyPr wrap="square" lIns="0" tIns="0" rIns="0" bIns="0" rtlCol="0" anchor="ctr"/>
          <a:lstStyle/>
          <a:p>
            <a:pPr indent="0" marL="0">
              <a:buNone/>
            </a:pPr>
            <a:r>
              <a:rPr lang="en-US" sz="1100" dirty="0">
                <a:solidFill>
                  <a:srgbClr val="8FA3B8"/>
                </a:solidFill>
                <a:latin typeface="Courier New" pitchFamily="34" charset="0"/>
                <a:ea typeface="Courier New" pitchFamily="34" charset="-122"/>
                <a:cs typeface="Courier New" pitchFamily="34" charset="-120"/>
              </a:rPr>
              <a:t>net-monitor    fw-edge-01     Carrier maintenance window opened</a:t>
            </a:r>
            <a:endParaRPr lang="en-US" sz="1100" dirty="0"/>
          </a:p>
        </p:txBody>
      </p:sp>
      <p:sp>
        <p:nvSpPr>
          <p:cNvPr id="21" name="Text 18"/>
          <p:cNvSpPr txBox="1"/>
          <p:nvPr/>
        </p:nvSpPr>
        <p:spPr>
          <a:xfrm>
            <a:off x="594360" y="3840480"/>
            <a:ext cx="11002975" cy="3657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The question you want them holding while they read it.</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621"/>
        </a:solidFill>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EYEBROW GOES HERE</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indent="0" marL="0">
              <a:buNone/>
            </a:pPr>
            <a:r>
              <a:rPr lang="en-US" sz="3600" b="1" dirty="0">
                <a:solidFill>
                  <a:srgbClr val="E9EFF6"/>
                </a:solidFill>
                <a:latin typeface="Calibri" pitchFamily="34" charset="0"/>
                <a:ea typeface="Calibri" pitchFamily="34" charset="-122"/>
                <a:cs typeface="Calibri" pitchFamily="34" charset="-120"/>
              </a:rPr>
              <a:t>A flow, left to right</a:t>
            </a:r>
            <a:endParaRPr lang="en-US" sz="3600" dirty="0"/>
          </a:p>
        </p:txBody>
      </p:sp>
      <p:sp>
        <p:nvSpPr>
          <p:cNvPr id="5" name="Shape 2"/>
          <p:cNvSpPr/>
          <p:nvPr/>
        </p:nvSpPr>
        <p:spPr>
          <a:xfrm>
            <a:off x="594360" y="2148840"/>
            <a:ext cx="1965960" cy="1965960"/>
          </a:xfrm>
          <a:prstGeom prst="roundRect">
            <a:avLst>
              <a:gd name="adj" fmla="val 2791"/>
            </a:avLst>
          </a:prstGeom>
          <a:solidFill>
            <a:srgbClr val="19242F"/>
          </a:solidFill>
          <a:ln/>
        </p:spPr>
      </p:sp>
      <p:sp>
        <p:nvSpPr>
          <p:cNvPr id="6" name="Shape 3"/>
          <p:cNvSpPr/>
          <p:nvPr/>
        </p:nvSpPr>
        <p:spPr>
          <a:xfrm>
            <a:off x="1476756" y="1938528"/>
            <a:ext cx="201168" cy="201168"/>
          </a:xfrm>
          <a:prstGeom prst="ellipse">
            <a:avLst/>
          </a:prstGeom>
          <a:solidFill>
            <a:srgbClr val="5B9BD5"/>
          </a:solidFill>
          <a:ln/>
        </p:spPr>
      </p:sp>
      <p:sp>
        <p:nvSpPr>
          <p:cNvPr id="7" name="Text 4"/>
          <p:cNvSpPr txBox="1"/>
          <p:nvPr/>
        </p:nvSpPr>
        <p:spPr>
          <a:xfrm>
            <a:off x="594360" y="2377440"/>
            <a:ext cx="1965960" cy="365760"/>
          </a:xfrm>
          <a:prstGeom prst="rect">
            <a:avLst/>
          </a:prstGeom>
          <a:noFill/>
          <a:ln/>
        </p:spPr>
        <p:txBody>
          <a:bodyPr wrap="square" lIns="0" tIns="0" rIns="0" bIns="0" rtlCol="0" anchor="ctr"/>
          <a:lstStyle/>
          <a:p>
            <a:pPr algn="ctr" indent="0" marL="0">
              <a:buNone/>
            </a:pPr>
            <a:r>
              <a:rPr lang="en-US" sz="1800" b="1" dirty="0">
                <a:solidFill>
                  <a:srgbClr val="E9EFF6"/>
                </a:solidFill>
                <a:latin typeface="Calibri" pitchFamily="34" charset="0"/>
                <a:ea typeface="Calibri" pitchFamily="34" charset="-122"/>
                <a:cs typeface="Calibri" pitchFamily="34" charset="-120"/>
              </a:rPr>
              <a:t>Stage one</a:t>
            </a:r>
            <a:endParaRPr lang="en-US" sz="1800" dirty="0"/>
          </a:p>
        </p:txBody>
      </p:sp>
      <p:sp>
        <p:nvSpPr>
          <p:cNvPr id="8" name="Text 5"/>
          <p:cNvSpPr txBox="1"/>
          <p:nvPr/>
        </p:nvSpPr>
        <p:spPr>
          <a:xfrm>
            <a:off x="731520" y="2852928"/>
            <a:ext cx="1691640" cy="1097280"/>
          </a:xfrm>
          <a:prstGeom prst="rect">
            <a:avLst/>
          </a:prstGeom>
          <a:noFill/>
          <a:ln/>
        </p:spPr>
        <p:txBody>
          <a:bodyPr wrap="square" lIns="0" tIns="0" rIns="0" bIns="0" rtlCol="0" anchor="ctr"/>
          <a:lstStyle/>
          <a:p>
            <a:pPr algn="ctr" indent="0" marL="0">
              <a:lnSpc>
                <a:spcPts val="1700"/>
              </a:lnSpc>
              <a:buNone/>
            </a:pPr>
            <a:r>
              <a:rPr lang="en-US" sz="1100" dirty="0">
                <a:solidFill>
                  <a:srgbClr val="8FA3B8"/>
                </a:solidFill>
                <a:latin typeface="Courier New" pitchFamily="34" charset="0"/>
                <a:ea typeface="Courier New" pitchFamily="34" charset="-122"/>
                <a:cs typeface="Courier New" pitchFamily="34" charset="-120"/>
              </a:rPr>
              <a:t>what</a:t>
            </a:r>
            <a:endParaRPr lang="en-US" sz="1100" dirty="0"/>
          </a:p>
          <a:p>
            <a:pPr algn="ctr" indent="0" marL="0">
              <a:lnSpc>
                <a:spcPts val="1700"/>
              </a:lnSpc>
              <a:buNone/>
            </a:pPr>
            <a:r>
              <a:rPr lang="en-US" sz="1100" dirty="0">
                <a:solidFill>
                  <a:srgbClr val="8FA3B8"/>
                </a:solidFill>
                <a:latin typeface="Courier New" pitchFamily="34" charset="0"/>
                <a:ea typeface="Courier New" pitchFamily="34" charset="-122"/>
                <a:cs typeface="Courier New" pitchFamily="34" charset="-120"/>
              </a:rPr>
              <a:t>happens</a:t>
            </a:r>
            <a:endParaRPr lang="en-US" sz="1100" dirty="0"/>
          </a:p>
          <a:p>
            <a:pPr algn="ctr" indent="0" marL="0">
              <a:lnSpc>
                <a:spcPts val="1700"/>
              </a:lnSpc>
              <a:buNone/>
            </a:pPr>
            <a:r>
              <a:rPr lang="en-US" sz="1100" dirty="0">
                <a:solidFill>
                  <a:srgbClr val="8FA3B8"/>
                </a:solidFill>
                <a:latin typeface="Courier New" pitchFamily="34" charset="0"/>
                <a:ea typeface="Courier New" pitchFamily="34" charset="-122"/>
                <a:cs typeface="Courier New" pitchFamily="34" charset="-120"/>
              </a:rPr>
              <a:t>here</a:t>
            </a:r>
            <a:endParaRPr lang="en-US" sz="1100" dirty="0"/>
          </a:p>
        </p:txBody>
      </p:sp>
      <p:sp>
        <p:nvSpPr>
          <p:cNvPr id="9" name="Text 6"/>
          <p:cNvSpPr txBox="1"/>
          <p:nvPr/>
        </p:nvSpPr>
        <p:spPr>
          <a:xfrm>
            <a:off x="2560320" y="2880360"/>
            <a:ext cx="292608" cy="365760"/>
          </a:xfrm>
          <a:prstGeom prst="rect">
            <a:avLst/>
          </a:prstGeom>
          <a:noFill/>
          <a:ln/>
        </p:spPr>
        <p:txBody>
          <a:bodyPr wrap="square" lIns="0" tIns="0" rIns="0" bIns="0" rtlCol="0" anchor="ctr"/>
          <a:lstStyle/>
          <a:p>
            <a:pPr algn="ctr" indent="0" marL="0">
              <a:buNone/>
            </a:pPr>
            <a:r>
              <a:rPr lang="en-US" sz="2000" b="1" dirty="0">
                <a:solidFill>
                  <a:srgbClr val="7C90A6"/>
                </a:solidFill>
                <a:latin typeface="Calibri" pitchFamily="34" charset="0"/>
                <a:ea typeface="Calibri" pitchFamily="34" charset="-122"/>
                <a:cs typeface="Calibri" pitchFamily="34" charset="-120"/>
              </a:rPr>
              <a:t>&gt;</a:t>
            </a:r>
            <a:endParaRPr lang="en-US" sz="2000" dirty="0"/>
          </a:p>
        </p:txBody>
      </p:sp>
      <p:sp>
        <p:nvSpPr>
          <p:cNvPr id="10" name="Shape 7"/>
          <p:cNvSpPr/>
          <p:nvPr/>
        </p:nvSpPr>
        <p:spPr>
          <a:xfrm>
            <a:off x="2852928" y="2148840"/>
            <a:ext cx="1965960" cy="1965960"/>
          </a:xfrm>
          <a:prstGeom prst="roundRect">
            <a:avLst>
              <a:gd name="adj" fmla="val 2791"/>
            </a:avLst>
          </a:prstGeom>
          <a:solidFill>
            <a:srgbClr val="19242F"/>
          </a:solidFill>
          <a:ln/>
        </p:spPr>
      </p:sp>
      <p:sp>
        <p:nvSpPr>
          <p:cNvPr id="11" name="Shape 8"/>
          <p:cNvSpPr/>
          <p:nvPr/>
        </p:nvSpPr>
        <p:spPr>
          <a:xfrm>
            <a:off x="3735324" y="1938528"/>
            <a:ext cx="201168" cy="201168"/>
          </a:xfrm>
          <a:prstGeom prst="ellipse">
            <a:avLst/>
          </a:prstGeom>
          <a:solidFill>
            <a:srgbClr val="8FA3B8"/>
          </a:solidFill>
          <a:ln/>
        </p:spPr>
      </p:sp>
      <p:sp>
        <p:nvSpPr>
          <p:cNvPr id="12" name="Text 9"/>
          <p:cNvSpPr txBox="1"/>
          <p:nvPr/>
        </p:nvSpPr>
        <p:spPr>
          <a:xfrm>
            <a:off x="2852928" y="2377440"/>
            <a:ext cx="1965960" cy="365760"/>
          </a:xfrm>
          <a:prstGeom prst="rect">
            <a:avLst/>
          </a:prstGeom>
          <a:noFill/>
          <a:ln/>
        </p:spPr>
        <p:txBody>
          <a:bodyPr wrap="square" lIns="0" tIns="0" rIns="0" bIns="0" rtlCol="0" anchor="ctr"/>
          <a:lstStyle/>
          <a:p>
            <a:pPr algn="ctr" indent="0" marL="0">
              <a:buNone/>
            </a:pPr>
            <a:r>
              <a:rPr lang="en-US" sz="1800" b="1" dirty="0">
                <a:solidFill>
                  <a:srgbClr val="E9EFF6"/>
                </a:solidFill>
                <a:latin typeface="Calibri" pitchFamily="34" charset="0"/>
                <a:ea typeface="Calibri" pitchFamily="34" charset="-122"/>
                <a:cs typeface="Calibri" pitchFamily="34" charset="-120"/>
              </a:rPr>
              <a:t>Stage two</a:t>
            </a:r>
            <a:endParaRPr lang="en-US" sz="1800" dirty="0"/>
          </a:p>
        </p:txBody>
      </p:sp>
      <p:sp>
        <p:nvSpPr>
          <p:cNvPr id="13" name="Text 10"/>
          <p:cNvSpPr txBox="1"/>
          <p:nvPr/>
        </p:nvSpPr>
        <p:spPr>
          <a:xfrm>
            <a:off x="2990088" y="2852928"/>
            <a:ext cx="1691640" cy="1097280"/>
          </a:xfrm>
          <a:prstGeom prst="rect">
            <a:avLst/>
          </a:prstGeom>
          <a:noFill/>
          <a:ln/>
        </p:spPr>
        <p:txBody>
          <a:bodyPr wrap="square" lIns="0" tIns="0" rIns="0" bIns="0" rtlCol="0" anchor="ctr"/>
          <a:lstStyle/>
          <a:p>
            <a:pPr algn="ctr" indent="0" marL="0">
              <a:lnSpc>
                <a:spcPts val="1700"/>
              </a:lnSpc>
              <a:buNone/>
            </a:pPr>
            <a:r>
              <a:rPr lang="en-US" sz="1100" dirty="0">
                <a:solidFill>
                  <a:srgbClr val="8FA3B8"/>
                </a:solidFill>
                <a:latin typeface="Courier New" pitchFamily="34" charset="0"/>
                <a:ea typeface="Courier New" pitchFamily="34" charset="-122"/>
                <a:cs typeface="Courier New" pitchFamily="34" charset="-120"/>
              </a:rPr>
              <a:t>what</a:t>
            </a:r>
            <a:endParaRPr lang="en-US" sz="1100" dirty="0"/>
          </a:p>
          <a:p>
            <a:pPr algn="ctr" indent="0" marL="0">
              <a:lnSpc>
                <a:spcPts val="1700"/>
              </a:lnSpc>
              <a:buNone/>
            </a:pPr>
            <a:r>
              <a:rPr lang="en-US" sz="1100" dirty="0">
                <a:solidFill>
                  <a:srgbClr val="8FA3B8"/>
                </a:solidFill>
                <a:latin typeface="Courier New" pitchFamily="34" charset="0"/>
                <a:ea typeface="Courier New" pitchFamily="34" charset="-122"/>
                <a:cs typeface="Courier New" pitchFamily="34" charset="-120"/>
              </a:rPr>
              <a:t>happens</a:t>
            </a:r>
            <a:endParaRPr lang="en-US" sz="1100" dirty="0"/>
          </a:p>
          <a:p>
            <a:pPr algn="ctr" indent="0" marL="0">
              <a:lnSpc>
                <a:spcPts val="1700"/>
              </a:lnSpc>
              <a:buNone/>
            </a:pPr>
            <a:r>
              <a:rPr lang="en-US" sz="1100" dirty="0">
                <a:solidFill>
                  <a:srgbClr val="8FA3B8"/>
                </a:solidFill>
                <a:latin typeface="Courier New" pitchFamily="34" charset="0"/>
                <a:ea typeface="Courier New" pitchFamily="34" charset="-122"/>
                <a:cs typeface="Courier New" pitchFamily="34" charset="-120"/>
              </a:rPr>
              <a:t>here</a:t>
            </a:r>
            <a:endParaRPr lang="en-US" sz="1100" dirty="0"/>
          </a:p>
        </p:txBody>
      </p:sp>
      <p:sp>
        <p:nvSpPr>
          <p:cNvPr id="14" name="Text 11"/>
          <p:cNvSpPr txBox="1"/>
          <p:nvPr/>
        </p:nvSpPr>
        <p:spPr>
          <a:xfrm>
            <a:off x="4818888" y="2880360"/>
            <a:ext cx="292608" cy="365760"/>
          </a:xfrm>
          <a:prstGeom prst="rect">
            <a:avLst/>
          </a:prstGeom>
          <a:noFill/>
          <a:ln/>
        </p:spPr>
        <p:txBody>
          <a:bodyPr wrap="square" lIns="0" tIns="0" rIns="0" bIns="0" rtlCol="0" anchor="ctr"/>
          <a:lstStyle/>
          <a:p>
            <a:pPr algn="ctr" indent="0" marL="0">
              <a:buNone/>
            </a:pPr>
            <a:r>
              <a:rPr lang="en-US" sz="2000" b="1" dirty="0">
                <a:solidFill>
                  <a:srgbClr val="7C90A6"/>
                </a:solidFill>
                <a:latin typeface="Calibri" pitchFamily="34" charset="0"/>
                <a:ea typeface="Calibri" pitchFamily="34" charset="-122"/>
                <a:cs typeface="Calibri" pitchFamily="34" charset="-120"/>
              </a:rPr>
              <a:t>&gt;</a:t>
            </a:r>
            <a:endParaRPr lang="en-US" sz="2000" dirty="0"/>
          </a:p>
        </p:txBody>
      </p:sp>
      <p:sp>
        <p:nvSpPr>
          <p:cNvPr id="15" name="Shape 12"/>
          <p:cNvSpPr/>
          <p:nvPr/>
        </p:nvSpPr>
        <p:spPr>
          <a:xfrm>
            <a:off x="5111496" y="2148840"/>
            <a:ext cx="1965960" cy="1965960"/>
          </a:xfrm>
          <a:prstGeom prst="roundRect">
            <a:avLst>
              <a:gd name="adj" fmla="val 2791"/>
            </a:avLst>
          </a:prstGeom>
          <a:solidFill>
            <a:srgbClr val="19242F"/>
          </a:solidFill>
          <a:ln/>
        </p:spPr>
      </p:sp>
      <p:sp>
        <p:nvSpPr>
          <p:cNvPr id="16" name="Shape 13"/>
          <p:cNvSpPr/>
          <p:nvPr/>
        </p:nvSpPr>
        <p:spPr>
          <a:xfrm>
            <a:off x="5993892" y="1938528"/>
            <a:ext cx="201168" cy="201168"/>
          </a:xfrm>
          <a:prstGeom prst="ellipse">
            <a:avLst/>
          </a:prstGeom>
          <a:solidFill>
            <a:srgbClr val="E8A33D"/>
          </a:solidFill>
          <a:ln/>
        </p:spPr>
      </p:sp>
      <p:sp>
        <p:nvSpPr>
          <p:cNvPr id="17" name="Text 14"/>
          <p:cNvSpPr txBox="1"/>
          <p:nvPr/>
        </p:nvSpPr>
        <p:spPr>
          <a:xfrm>
            <a:off x="5111496" y="2377440"/>
            <a:ext cx="1965960" cy="365760"/>
          </a:xfrm>
          <a:prstGeom prst="rect">
            <a:avLst/>
          </a:prstGeom>
          <a:noFill/>
          <a:ln/>
        </p:spPr>
        <p:txBody>
          <a:bodyPr wrap="square" lIns="0" tIns="0" rIns="0" bIns="0" rtlCol="0" anchor="ctr"/>
          <a:lstStyle/>
          <a:p>
            <a:pPr algn="ctr" indent="0" marL="0">
              <a:buNone/>
            </a:pPr>
            <a:r>
              <a:rPr lang="en-US" sz="1800" b="1" dirty="0">
                <a:solidFill>
                  <a:srgbClr val="E9EFF6"/>
                </a:solidFill>
                <a:latin typeface="Calibri" pitchFamily="34" charset="0"/>
                <a:ea typeface="Calibri" pitchFamily="34" charset="-122"/>
                <a:cs typeface="Calibri" pitchFamily="34" charset="-120"/>
              </a:rPr>
              <a:t>Stage three</a:t>
            </a:r>
            <a:endParaRPr lang="en-US" sz="1800" dirty="0"/>
          </a:p>
        </p:txBody>
      </p:sp>
      <p:sp>
        <p:nvSpPr>
          <p:cNvPr id="18" name="Text 15"/>
          <p:cNvSpPr txBox="1"/>
          <p:nvPr/>
        </p:nvSpPr>
        <p:spPr>
          <a:xfrm>
            <a:off x="5248656" y="2852928"/>
            <a:ext cx="1691640" cy="1097280"/>
          </a:xfrm>
          <a:prstGeom prst="rect">
            <a:avLst/>
          </a:prstGeom>
          <a:noFill/>
          <a:ln/>
        </p:spPr>
        <p:txBody>
          <a:bodyPr wrap="square" lIns="0" tIns="0" rIns="0" bIns="0" rtlCol="0" anchor="ctr"/>
          <a:lstStyle/>
          <a:p>
            <a:pPr algn="ctr" indent="0" marL="0">
              <a:lnSpc>
                <a:spcPts val="1700"/>
              </a:lnSpc>
              <a:buNone/>
            </a:pPr>
            <a:r>
              <a:rPr lang="en-US" sz="1100" dirty="0">
                <a:solidFill>
                  <a:srgbClr val="8FA3B8"/>
                </a:solidFill>
                <a:latin typeface="Courier New" pitchFamily="34" charset="0"/>
                <a:ea typeface="Courier New" pitchFamily="34" charset="-122"/>
                <a:cs typeface="Courier New" pitchFamily="34" charset="-120"/>
              </a:rPr>
              <a:t>what</a:t>
            </a:r>
            <a:endParaRPr lang="en-US" sz="1100" dirty="0"/>
          </a:p>
          <a:p>
            <a:pPr algn="ctr" indent="0" marL="0">
              <a:lnSpc>
                <a:spcPts val="1700"/>
              </a:lnSpc>
              <a:buNone/>
            </a:pPr>
            <a:r>
              <a:rPr lang="en-US" sz="1100" dirty="0">
                <a:solidFill>
                  <a:srgbClr val="8FA3B8"/>
                </a:solidFill>
                <a:latin typeface="Courier New" pitchFamily="34" charset="0"/>
                <a:ea typeface="Courier New" pitchFamily="34" charset="-122"/>
                <a:cs typeface="Courier New" pitchFamily="34" charset="-120"/>
              </a:rPr>
              <a:t>happens</a:t>
            </a:r>
            <a:endParaRPr lang="en-US" sz="1100" dirty="0"/>
          </a:p>
          <a:p>
            <a:pPr algn="ctr" indent="0" marL="0">
              <a:lnSpc>
                <a:spcPts val="1700"/>
              </a:lnSpc>
              <a:buNone/>
            </a:pPr>
            <a:r>
              <a:rPr lang="en-US" sz="1100" dirty="0">
                <a:solidFill>
                  <a:srgbClr val="8FA3B8"/>
                </a:solidFill>
                <a:latin typeface="Courier New" pitchFamily="34" charset="0"/>
                <a:ea typeface="Courier New" pitchFamily="34" charset="-122"/>
                <a:cs typeface="Courier New" pitchFamily="34" charset="-120"/>
              </a:rPr>
              <a:t>here</a:t>
            </a:r>
            <a:endParaRPr lang="en-US" sz="1100" dirty="0"/>
          </a:p>
        </p:txBody>
      </p:sp>
      <p:sp>
        <p:nvSpPr>
          <p:cNvPr id="19" name="Text 16"/>
          <p:cNvSpPr txBox="1"/>
          <p:nvPr/>
        </p:nvSpPr>
        <p:spPr>
          <a:xfrm>
            <a:off x="7077456" y="2880360"/>
            <a:ext cx="292608" cy="365760"/>
          </a:xfrm>
          <a:prstGeom prst="rect">
            <a:avLst/>
          </a:prstGeom>
          <a:noFill/>
          <a:ln/>
        </p:spPr>
        <p:txBody>
          <a:bodyPr wrap="square" lIns="0" tIns="0" rIns="0" bIns="0" rtlCol="0" anchor="ctr"/>
          <a:lstStyle/>
          <a:p>
            <a:pPr algn="ctr" indent="0" marL="0">
              <a:buNone/>
            </a:pPr>
            <a:r>
              <a:rPr lang="en-US" sz="2000" b="1" dirty="0">
                <a:solidFill>
                  <a:srgbClr val="7C90A6"/>
                </a:solidFill>
                <a:latin typeface="Calibri" pitchFamily="34" charset="0"/>
                <a:ea typeface="Calibri" pitchFamily="34" charset="-122"/>
                <a:cs typeface="Calibri" pitchFamily="34" charset="-120"/>
              </a:rPr>
              <a:t>&gt;</a:t>
            </a:r>
            <a:endParaRPr lang="en-US" sz="2000" dirty="0"/>
          </a:p>
        </p:txBody>
      </p:sp>
      <p:sp>
        <p:nvSpPr>
          <p:cNvPr id="20" name="Shape 17"/>
          <p:cNvSpPr/>
          <p:nvPr/>
        </p:nvSpPr>
        <p:spPr>
          <a:xfrm>
            <a:off x="7370064" y="2148840"/>
            <a:ext cx="1965960" cy="1965960"/>
          </a:xfrm>
          <a:prstGeom prst="roundRect">
            <a:avLst>
              <a:gd name="adj" fmla="val 2791"/>
            </a:avLst>
          </a:prstGeom>
          <a:solidFill>
            <a:srgbClr val="19242F"/>
          </a:solidFill>
          <a:ln/>
        </p:spPr>
      </p:sp>
      <p:sp>
        <p:nvSpPr>
          <p:cNvPr id="21" name="Shape 18"/>
          <p:cNvSpPr/>
          <p:nvPr/>
        </p:nvSpPr>
        <p:spPr>
          <a:xfrm>
            <a:off x="8252460" y="1938528"/>
            <a:ext cx="201168" cy="201168"/>
          </a:xfrm>
          <a:prstGeom prst="ellipse">
            <a:avLst/>
          </a:prstGeom>
          <a:solidFill>
            <a:srgbClr val="8FA3B8"/>
          </a:solidFill>
          <a:ln/>
        </p:spPr>
      </p:sp>
      <p:sp>
        <p:nvSpPr>
          <p:cNvPr id="22" name="Text 19"/>
          <p:cNvSpPr txBox="1"/>
          <p:nvPr/>
        </p:nvSpPr>
        <p:spPr>
          <a:xfrm>
            <a:off x="7370064" y="2377440"/>
            <a:ext cx="1965960" cy="365760"/>
          </a:xfrm>
          <a:prstGeom prst="rect">
            <a:avLst/>
          </a:prstGeom>
          <a:noFill/>
          <a:ln/>
        </p:spPr>
        <p:txBody>
          <a:bodyPr wrap="square" lIns="0" tIns="0" rIns="0" bIns="0" rtlCol="0" anchor="ctr"/>
          <a:lstStyle/>
          <a:p>
            <a:pPr algn="ctr" indent="0" marL="0">
              <a:buNone/>
            </a:pPr>
            <a:r>
              <a:rPr lang="en-US" sz="1800" b="1" dirty="0">
                <a:solidFill>
                  <a:srgbClr val="E9EFF6"/>
                </a:solidFill>
                <a:latin typeface="Calibri" pitchFamily="34" charset="0"/>
                <a:ea typeface="Calibri" pitchFamily="34" charset="-122"/>
                <a:cs typeface="Calibri" pitchFamily="34" charset="-120"/>
              </a:rPr>
              <a:t>Stage four</a:t>
            </a:r>
            <a:endParaRPr lang="en-US" sz="1800" dirty="0"/>
          </a:p>
        </p:txBody>
      </p:sp>
      <p:sp>
        <p:nvSpPr>
          <p:cNvPr id="23" name="Text 20"/>
          <p:cNvSpPr txBox="1"/>
          <p:nvPr/>
        </p:nvSpPr>
        <p:spPr>
          <a:xfrm>
            <a:off x="7507224" y="2852928"/>
            <a:ext cx="1691640" cy="1097280"/>
          </a:xfrm>
          <a:prstGeom prst="rect">
            <a:avLst/>
          </a:prstGeom>
          <a:noFill/>
          <a:ln/>
        </p:spPr>
        <p:txBody>
          <a:bodyPr wrap="square" lIns="0" tIns="0" rIns="0" bIns="0" rtlCol="0" anchor="ctr"/>
          <a:lstStyle/>
          <a:p>
            <a:pPr algn="ctr" indent="0" marL="0">
              <a:lnSpc>
                <a:spcPts val="1700"/>
              </a:lnSpc>
              <a:buNone/>
            </a:pPr>
            <a:r>
              <a:rPr lang="en-US" sz="1100" dirty="0">
                <a:solidFill>
                  <a:srgbClr val="8FA3B8"/>
                </a:solidFill>
                <a:latin typeface="Courier New" pitchFamily="34" charset="0"/>
                <a:ea typeface="Courier New" pitchFamily="34" charset="-122"/>
                <a:cs typeface="Courier New" pitchFamily="34" charset="-120"/>
              </a:rPr>
              <a:t>what</a:t>
            </a:r>
            <a:endParaRPr lang="en-US" sz="1100" dirty="0"/>
          </a:p>
          <a:p>
            <a:pPr algn="ctr" indent="0" marL="0">
              <a:lnSpc>
                <a:spcPts val="1700"/>
              </a:lnSpc>
              <a:buNone/>
            </a:pPr>
            <a:r>
              <a:rPr lang="en-US" sz="1100" dirty="0">
                <a:solidFill>
                  <a:srgbClr val="8FA3B8"/>
                </a:solidFill>
                <a:latin typeface="Courier New" pitchFamily="34" charset="0"/>
                <a:ea typeface="Courier New" pitchFamily="34" charset="-122"/>
                <a:cs typeface="Courier New" pitchFamily="34" charset="-120"/>
              </a:rPr>
              <a:t>happens</a:t>
            </a:r>
            <a:endParaRPr lang="en-US" sz="1100" dirty="0"/>
          </a:p>
          <a:p>
            <a:pPr algn="ctr" indent="0" marL="0">
              <a:lnSpc>
                <a:spcPts val="1700"/>
              </a:lnSpc>
              <a:buNone/>
            </a:pPr>
            <a:r>
              <a:rPr lang="en-US" sz="1100" dirty="0">
                <a:solidFill>
                  <a:srgbClr val="8FA3B8"/>
                </a:solidFill>
                <a:latin typeface="Courier New" pitchFamily="34" charset="0"/>
                <a:ea typeface="Courier New" pitchFamily="34" charset="-122"/>
                <a:cs typeface="Courier New" pitchFamily="34" charset="-120"/>
              </a:rPr>
              <a:t>here</a:t>
            </a:r>
            <a:endParaRPr lang="en-US" sz="1100" dirty="0"/>
          </a:p>
        </p:txBody>
      </p:sp>
      <p:sp>
        <p:nvSpPr>
          <p:cNvPr id="24" name="Text 21"/>
          <p:cNvSpPr txBox="1"/>
          <p:nvPr/>
        </p:nvSpPr>
        <p:spPr>
          <a:xfrm>
            <a:off x="9336024" y="2880360"/>
            <a:ext cx="292608" cy="365760"/>
          </a:xfrm>
          <a:prstGeom prst="rect">
            <a:avLst/>
          </a:prstGeom>
          <a:noFill/>
          <a:ln/>
        </p:spPr>
        <p:txBody>
          <a:bodyPr wrap="square" lIns="0" tIns="0" rIns="0" bIns="0" rtlCol="0" anchor="ctr"/>
          <a:lstStyle/>
          <a:p>
            <a:pPr algn="ctr" indent="0" marL="0">
              <a:buNone/>
            </a:pPr>
            <a:r>
              <a:rPr lang="en-US" sz="2000" b="1" dirty="0">
                <a:solidFill>
                  <a:srgbClr val="7C90A6"/>
                </a:solidFill>
                <a:latin typeface="Calibri" pitchFamily="34" charset="0"/>
                <a:ea typeface="Calibri" pitchFamily="34" charset="-122"/>
                <a:cs typeface="Calibri" pitchFamily="34" charset="-120"/>
              </a:rPr>
              <a:t>&gt;</a:t>
            </a:r>
            <a:endParaRPr lang="en-US" sz="2000" dirty="0"/>
          </a:p>
        </p:txBody>
      </p:sp>
      <p:sp>
        <p:nvSpPr>
          <p:cNvPr id="25" name="Shape 22"/>
          <p:cNvSpPr/>
          <p:nvPr/>
        </p:nvSpPr>
        <p:spPr>
          <a:xfrm>
            <a:off x="9628632" y="2148840"/>
            <a:ext cx="1965960" cy="1965960"/>
          </a:xfrm>
          <a:prstGeom prst="roundRect">
            <a:avLst>
              <a:gd name="adj" fmla="val 2791"/>
            </a:avLst>
          </a:prstGeom>
          <a:solidFill>
            <a:srgbClr val="19242F"/>
          </a:solidFill>
          <a:ln/>
        </p:spPr>
      </p:sp>
      <p:sp>
        <p:nvSpPr>
          <p:cNvPr id="26" name="Shape 23"/>
          <p:cNvSpPr/>
          <p:nvPr/>
        </p:nvSpPr>
        <p:spPr>
          <a:xfrm>
            <a:off x="10511028" y="1938528"/>
            <a:ext cx="201168" cy="201168"/>
          </a:xfrm>
          <a:prstGeom prst="ellipse">
            <a:avLst/>
          </a:prstGeom>
          <a:solidFill>
            <a:srgbClr val="E0443E"/>
          </a:solidFill>
          <a:ln/>
        </p:spPr>
      </p:sp>
      <p:sp>
        <p:nvSpPr>
          <p:cNvPr id="27" name="Text 24"/>
          <p:cNvSpPr txBox="1"/>
          <p:nvPr/>
        </p:nvSpPr>
        <p:spPr>
          <a:xfrm>
            <a:off x="9628632" y="2377440"/>
            <a:ext cx="1965960" cy="365760"/>
          </a:xfrm>
          <a:prstGeom prst="rect">
            <a:avLst/>
          </a:prstGeom>
          <a:noFill/>
          <a:ln/>
        </p:spPr>
        <p:txBody>
          <a:bodyPr wrap="square" lIns="0" tIns="0" rIns="0" bIns="0" rtlCol="0" anchor="ctr"/>
          <a:lstStyle/>
          <a:p>
            <a:pPr algn="ctr" indent="0" marL="0">
              <a:buNone/>
            </a:pPr>
            <a:r>
              <a:rPr lang="en-US" sz="1800" b="1" dirty="0">
                <a:solidFill>
                  <a:srgbClr val="E9EFF6"/>
                </a:solidFill>
                <a:latin typeface="Calibri" pitchFamily="34" charset="0"/>
                <a:ea typeface="Calibri" pitchFamily="34" charset="-122"/>
                <a:cs typeface="Calibri" pitchFamily="34" charset="-120"/>
              </a:rPr>
              <a:t>Stage five</a:t>
            </a:r>
            <a:endParaRPr lang="en-US" sz="1800" dirty="0"/>
          </a:p>
        </p:txBody>
      </p:sp>
      <p:sp>
        <p:nvSpPr>
          <p:cNvPr id="28" name="Text 25"/>
          <p:cNvSpPr txBox="1"/>
          <p:nvPr/>
        </p:nvSpPr>
        <p:spPr>
          <a:xfrm>
            <a:off x="9765792" y="2852928"/>
            <a:ext cx="1691640" cy="1097280"/>
          </a:xfrm>
          <a:prstGeom prst="rect">
            <a:avLst/>
          </a:prstGeom>
          <a:noFill/>
          <a:ln/>
        </p:spPr>
        <p:txBody>
          <a:bodyPr wrap="square" lIns="0" tIns="0" rIns="0" bIns="0" rtlCol="0" anchor="ctr"/>
          <a:lstStyle/>
          <a:p>
            <a:pPr algn="ctr" indent="0" marL="0">
              <a:lnSpc>
                <a:spcPts val="1700"/>
              </a:lnSpc>
              <a:buNone/>
            </a:pPr>
            <a:r>
              <a:rPr lang="en-US" sz="1100" dirty="0">
                <a:solidFill>
                  <a:srgbClr val="8FA3B8"/>
                </a:solidFill>
                <a:latin typeface="Courier New" pitchFamily="34" charset="0"/>
                <a:ea typeface="Courier New" pitchFamily="34" charset="-122"/>
                <a:cs typeface="Courier New" pitchFamily="34" charset="-120"/>
              </a:rPr>
              <a:t>what</a:t>
            </a:r>
            <a:endParaRPr lang="en-US" sz="1100" dirty="0"/>
          </a:p>
          <a:p>
            <a:pPr algn="ctr" indent="0" marL="0">
              <a:lnSpc>
                <a:spcPts val="1700"/>
              </a:lnSpc>
              <a:buNone/>
            </a:pPr>
            <a:r>
              <a:rPr lang="en-US" sz="1100" dirty="0">
                <a:solidFill>
                  <a:srgbClr val="8FA3B8"/>
                </a:solidFill>
                <a:latin typeface="Courier New" pitchFamily="34" charset="0"/>
                <a:ea typeface="Courier New" pitchFamily="34" charset="-122"/>
                <a:cs typeface="Courier New" pitchFamily="34" charset="-120"/>
              </a:rPr>
              <a:t>happens</a:t>
            </a:r>
            <a:endParaRPr lang="en-US" sz="1100" dirty="0"/>
          </a:p>
          <a:p>
            <a:pPr algn="ctr" indent="0" marL="0">
              <a:lnSpc>
                <a:spcPts val="1700"/>
              </a:lnSpc>
              <a:buNone/>
            </a:pPr>
            <a:r>
              <a:rPr lang="en-US" sz="1100" dirty="0">
                <a:solidFill>
                  <a:srgbClr val="8FA3B8"/>
                </a:solidFill>
                <a:latin typeface="Courier New" pitchFamily="34" charset="0"/>
                <a:ea typeface="Courier New" pitchFamily="34" charset="-122"/>
                <a:cs typeface="Courier New" pitchFamily="34" charset="-120"/>
              </a:rPr>
              <a:t>here</a:t>
            </a:r>
            <a:endParaRPr lang="en-US" sz="1100" dirty="0"/>
          </a:p>
        </p:txBody>
      </p:sp>
      <p:sp>
        <p:nvSpPr>
          <p:cNvPr id="29" name="Shape 26"/>
          <p:cNvSpPr/>
          <p:nvPr/>
        </p:nvSpPr>
        <p:spPr>
          <a:xfrm>
            <a:off x="594360" y="4526280"/>
            <a:ext cx="11002975" cy="1234440"/>
          </a:xfrm>
          <a:prstGeom prst="roundRect">
            <a:avLst>
              <a:gd name="adj" fmla="val 4444"/>
            </a:avLst>
          </a:prstGeom>
          <a:solidFill>
            <a:srgbClr val="223140"/>
          </a:solidFill>
          <a:ln/>
        </p:spPr>
      </p:sp>
      <p:sp>
        <p:nvSpPr>
          <p:cNvPr id="30" name="Text 27"/>
          <p:cNvSpPr txBox="1"/>
          <p:nvPr/>
        </p:nvSpPr>
        <p:spPr>
          <a:xfrm>
            <a:off x="868680" y="4727448"/>
            <a:ext cx="10454335" cy="8686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The thing about the diagram that is not obvious from the diagram. </a:t>
            </a:r>
            <a:pPr indent="0" marL="0">
              <a:buNone/>
            </a:pPr>
            <a:r>
              <a:rPr lang="en-US" sz="1500" dirty="0">
                <a:solidFill>
                  <a:srgbClr val="8FA3B8"/>
                </a:solidFill>
                <a:latin typeface="Calibri" pitchFamily="34" charset="0"/>
                <a:ea typeface="Calibri" pitchFamily="34" charset="-122"/>
                <a:cs typeface="Calibri" pitchFamily="34" charset="-120"/>
              </a:rPr>
              <a:t>Usually a design decision and why it was made that way.</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621"/>
        </a:solidFill>
      </p:bgPr>
    </p:bg>
    <p:spTree>
      <p:nvGrpSpPr>
        <p:cNvPr id="1" name=""/>
        <p:cNvGrpSpPr/>
        <p:nvPr/>
      </p:nvGrpSpPr>
      <p:grpSpPr>
        <a:xfrm>
          <a:off x="0" y="0"/>
          <a:ext cx="0" cy="0"/>
          <a:chOff x="0" y="0"/>
          <a:chExt cx="0" cy="0"/>
        </a:xfrm>
      </p:grpSpPr>
      <p:sp>
        <p:nvSpPr>
          <p:cNvPr id="3" name="Shape 0"/>
          <p:cNvSpPr/>
          <p:nvPr/>
        </p:nvSpPr>
        <p:spPr>
          <a:xfrm>
            <a:off x="0" y="0"/>
            <a:ext cx="12191695" cy="6858000"/>
          </a:xfrm>
          <a:prstGeom prst="rect">
            <a:avLst/>
          </a:prstGeom>
          <a:solidFill>
            <a:srgbClr val="15100C"/>
          </a:solidFill>
          <a:ln/>
        </p:spPr>
      </p:sp>
      <p:sp>
        <p:nvSpPr>
          <p:cNvPr id="4" name="Text 1"/>
          <p:cNvSpPr txBox="1"/>
          <p:nvPr/>
        </p:nvSpPr>
        <p:spPr>
          <a:xfrm>
            <a:off x="594360" y="2057400"/>
            <a:ext cx="5486400" cy="411480"/>
          </a:xfrm>
          <a:prstGeom prst="rect">
            <a:avLst/>
          </a:prstGeom>
          <a:noFill/>
          <a:ln/>
        </p:spPr>
        <p:txBody>
          <a:bodyPr wrap="square" lIns="0" tIns="0" rIns="0" bIns="0" rtlCol="0" anchor="ctr"/>
          <a:lstStyle/>
          <a:p>
            <a:pPr indent="0" marL="0">
              <a:buNone/>
            </a:pPr>
            <a:r>
              <a:rPr lang="en-US" sz="1600" b="1" spc="500" kern="0" dirty="0">
                <a:solidFill>
                  <a:srgbClr val="E8A33D"/>
                </a:solidFill>
                <a:latin typeface="Calibri" pitchFamily="34" charset="0"/>
                <a:ea typeface="Calibri" pitchFamily="34" charset="-122"/>
                <a:cs typeface="Calibri" pitchFamily="34" charset="-120"/>
              </a:rPr>
              <a:t>DEMO N</a:t>
            </a:r>
            <a:endParaRPr lang="en-US" sz="1600" dirty="0"/>
          </a:p>
        </p:txBody>
      </p:sp>
      <p:sp>
        <p:nvSpPr>
          <p:cNvPr id="5" name="Text 2"/>
          <p:cNvSpPr txBox="1"/>
          <p:nvPr/>
        </p:nvSpPr>
        <p:spPr>
          <a:xfrm>
            <a:off x="594360" y="2514600"/>
            <a:ext cx="10515600" cy="914400"/>
          </a:xfrm>
          <a:prstGeom prst="rect">
            <a:avLst/>
          </a:prstGeom>
          <a:noFill/>
          <a:ln/>
        </p:spPr>
        <p:txBody>
          <a:bodyPr wrap="square" lIns="0" tIns="0" rIns="0" bIns="0" rtlCol="0" anchor="ctr"/>
          <a:lstStyle/>
          <a:p>
            <a:pPr indent="0" marL="0">
              <a:buNone/>
            </a:pPr>
            <a:r>
              <a:rPr lang="en-US" sz="4200" b="1" dirty="0">
                <a:solidFill>
                  <a:srgbClr val="FFFFFF"/>
                </a:solidFill>
                <a:latin typeface="Calibri" pitchFamily="34" charset="0"/>
                <a:ea typeface="Calibri" pitchFamily="34" charset="-122"/>
                <a:cs typeface="Calibri" pitchFamily="34" charset="-120"/>
              </a:rPr>
              <a:t>What you are about to run</a:t>
            </a:r>
            <a:endParaRPr lang="en-US" sz="4200" dirty="0"/>
          </a:p>
        </p:txBody>
      </p:sp>
      <p:sp>
        <p:nvSpPr>
          <p:cNvPr id="6" name="Text 3"/>
          <p:cNvSpPr txBox="1"/>
          <p:nvPr/>
        </p:nvSpPr>
        <p:spPr>
          <a:xfrm>
            <a:off x="640080" y="3703320"/>
            <a:ext cx="9601200" cy="14630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8FA3B8"/>
                </a:solidFill>
                <a:latin typeface="Calibri" pitchFamily="34" charset="0"/>
                <a:ea typeface="Calibri" pitchFamily="34" charset="-122"/>
                <a:cs typeface="Calibri" pitchFamily="34" charset="-120"/>
              </a:rPr>
              <a:t>The command, verbatim, so you can read it off the screen</a:t>
            </a:r>
            <a:endParaRPr lang="en-US" sz="1600" dirty="0"/>
          </a:p>
          <a:p>
            <a:pPr marL="342900" indent="-342900">
              <a:spcAft>
                <a:spcPts val="800"/>
              </a:spcAft>
              <a:buSzPct val="100000"/>
              <a:buChar char="•"/>
            </a:pPr>
            <a:r>
              <a:rPr lang="en-US" sz="1600" dirty="0">
                <a:solidFill>
                  <a:srgbClr val="8FA3B8"/>
                </a:solidFill>
                <a:latin typeface="Calibri" pitchFamily="34" charset="0"/>
                <a:ea typeface="Calibri" pitchFamily="34" charset="-122"/>
                <a:cs typeface="Calibri" pitchFamily="34" charset="-120"/>
              </a:rPr>
              <a:t>What the room should watch for</a:t>
            </a:r>
            <a:endParaRPr lang="en-US" sz="1600" dirty="0"/>
          </a:p>
          <a:p>
            <a:pPr marL="342900" indent="-342900">
              <a:spcAft>
                <a:spcPts val="800"/>
              </a:spcAft>
              <a:buSzPct val="100000"/>
              <a:buChar char="•"/>
            </a:pPr>
            <a:r>
              <a:rPr lang="en-US" sz="1600" dirty="0">
                <a:solidFill>
                  <a:srgbClr val="8FA3B8"/>
                </a:solidFill>
                <a:latin typeface="Calibri" pitchFamily="34" charset="0"/>
                <a:ea typeface="Calibri" pitchFamily="34" charset="-122"/>
                <a:cs typeface="Calibri" pitchFamily="34" charset="-120"/>
              </a:rPr>
              <a:t>The number that should change</a:t>
            </a:r>
            <a:endParaRPr lang="en-US" sz="1600" dirty="0"/>
          </a:p>
          <a:p>
            <a:pPr marL="342900" indent="-342900">
              <a:spcAft>
                <a:spcPts val="800"/>
              </a:spcAft>
              <a:buSzPct val="100000"/>
              <a:buChar char="•"/>
            </a:pPr>
            <a:r>
              <a:rPr lang="en-US" sz="1600" dirty="0">
                <a:solidFill>
                  <a:srgbClr val="8FA3B8"/>
                </a:solidFill>
                <a:latin typeface="Calibri" pitchFamily="34" charset="0"/>
                <a:ea typeface="Calibri" pitchFamily="34" charset="-122"/>
                <a:cs typeface="Calibri" pitchFamily="34" charset="-120"/>
              </a:rPr>
              <a:t>The bit that always surprises people</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621"/>
        </a:solidFill>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EYEBROW GOES HERE</a:t>
            </a:r>
            <a:endParaRPr lang="en-US" sz="1200" dirty="0"/>
          </a:p>
        </p:txBody>
      </p:sp>
      <p:sp>
        <p:nvSpPr>
          <p:cNvPr id="4" name="Shape 1"/>
          <p:cNvSpPr/>
          <p:nvPr/>
        </p:nvSpPr>
        <p:spPr>
          <a:xfrm>
            <a:off x="2895448" y="1051560"/>
            <a:ext cx="6400800" cy="3602736"/>
          </a:xfrm>
          <a:prstGeom prst="roundRect">
            <a:avLst>
              <a:gd name="adj" fmla="val 1523"/>
            </a:avLst>
          </a:prstGeom>
          <a:solidFill>
            <a:srgbClr val="19242F"/>
          </a:solidFill>
          <a:ln/>
        </p:spPr>
      </p:sp>
      <p:sp>
        <p:nvSpPr>
          <p:cNvPr id="5" name="Text 2"/>
          <p:cNvSpPr txBox="1"/>
          <p:nvPr/>
        </p:nvSpPr>
        <p:spPr>
          <a:xfrm>
            <a:off x="2895448" y="2286000"/>
            <a:ext cx="6400800" cy="411480"/>
          </a:xfrm>
          <a:prstGeom prst="rect">
            <a:avLst/>
          </a:prstGeom>
          <a:noFill/>
          <a:ln/>
        </p:spPr>
        <p:txBody>
          <a:bodyPr wrap="square" lIns="0" tIns="0" rIns="0" bIns="0" rtlCol="0" anchor="ctr"/>
          <a:lstStyle/>
          <a:p>
            <a:pPr algn="ctr" indent="0" marL="0">
              <a:buNone/>
            </a:pPr>
            <a:r>
              <a:rPr lang="en-US" sz="2000" b="1" spc="300" kern="0" dirty="0">
                <a:solidFill>
                  <a:srgbClr val="E8A33D"/>
                </a:solidFill>
                <a:latin typeface="Calibri" pitchFamily="34" charset="0"/>
                <a:ea typeface="Calibri" pitchFamily="34" charset="-122"/>
                <a:cs typeface="Calibri" pitchFamily="34" charset="-120"/>
              </a:rPr>
              <a:t>DROP IMAGE HERE</a:t>
            </a:r>
            <a:endParaRPr lang="en-US" sz="2000" dirty="0"/>
          </a:p>
        </p:txBody>
      </p:sp>
      <p:sp>
        <p:nvSpPr>
          <p:cNvPr id="6" name="Text 3"/>
          <p:cNvSpPr txBox="1"/>
          <p:nvPr/>
        </p:nvSpPr>
        <p:spPr>
          <a:xfrm>
            <a:off x="3444088" y="2788920"/>
            <a:ext cx="5303520" cy="548640"/>
          </a:xfrm>
          <a:prstGeom prst="rect">
            <a:avLst/>
          </a:prstGeom>
          <a:noFill/>
          <a:ln/>
        </p:spPr>
        <p:txBody>
          <a:bodyPr wrap="square" lIns="0" tIns="0" rIns="0" bIns="0" rtlCol="0" anchor="t"/>
          <a:lstStyle/>
          <a:p>
            <a:pPr algn="ctr" indent="0" marL="0">
              <a:buNone/>
            </a:pPr>
            <a:r>
              <a:rPr lang="en-US" sz="1500" dirty="0">
                <a:solidFill>
                  <a:srgbClr val="8FA3B8"/>
                </a:solidFill>
                <a:latin typeface="Calibri" pitchFamily="34" charset="0"/>
                <a:ea typeface="Calibri" pitchFamily="34" charset="-122"/>
                <a:cs typeface="Calibri" pitchFamily="34" charset="-120"/>
              </a:rPr>
              <a:t>What image belongs here, described well enough that you can go find it.</a:t>
            </a:r>
            <a:endParaRPr lang="en-US" sz="1500" dirty="0"/>
          </a:p>
        </p:txBody>
      </p:sp>
      <p:sp>
        <p:nvSpPr>
          <p:cNvPr id="7" name="Text 4"/>
          <p:cNvSpPr txBox="1"/>
          <p:nvPr/>
        </p:nvSpPr>
        <p:spPr>
          <a:xfrm>
            <a:off x="2895448" y="3566160"/>
            <a:ext cx="6400800" cy="320040"/>
          </a:xfrm>
          <a:prstGeom prst="rect">
            <a:avLst/>
          </a:prstGeom>
          <a:noFill/>
          <a:ln/>
        </p:spPr>
        <p:txBody>
          <a:bodyPr wrap="square" lIns="0" tIns="0" rIns="0" bIns="0" rtlCol="0" anchor="ctr"/>
          <a:lstStyle/>
          <a:p>
            <a:pPr algn="ctr" indent="0" marL="0">
              <a:buNone/>
            </a:pPr>
            <a:r>
              <a:rPr lang="en-US" sz="1200" i="1" dirty="0">
                <a:solidFill>
                  <a:srgbClr val="7C90A6"/>
                </a:solidFill>
                <a:latin typeface="Calibri" pitchFamily="34" charset="0"/>
                <a:ea typeface="Calibri" pitchFamily="34" charset="-122"/>
                <a:cs typeface="Calibri" pitchFamily="34" charset="-120"/>
              </a:rPr>
              <a:t>about 1000 px wide  ·  under 3 MB  ·  cover this box, then delete it</a:t>
            </a:r>
            <a:endParaRPr lang="en-US" sz="1200" dirty="0"/>
          </a:p>
        </p:txBody>
      </p:sp>
      <p:sp>
        <p:nvSpPr>
          <p:cNvPr id="8" name="Text 5"/>
          <p:cNvSpPr txBox="1"/>
          <p:nvPr/>
        </p:nvSpPr>
        <p:spPr>
          <a:xfrm>
            <a:off x="594360" y="4956048"/>
            <a:ext cx="11002975" cy="868680"/>
          </a:xfrm>
          <a:prstGeom prst="rect">
            <a:avLst/>
          </a:prstGeom>
          <a:noFill/>
          <a:ln/>
        </p:spPr>
        <p:txBody>
          <a:bodyPr wrap="square" lIns="0" tIns="0" rIns="0" bIns="0" rtlCol="0" anchor="t"/>
          <a:lstStyle/>
          <a:p>
            <a:pPr algn="ctr" indent="0" marL="0">
              <a:buNone/>
            </a:pPr>
            <a:r>
              <a:rPr lang="en-US" sz="2700" b="1" dirty="0">
                <a:solidFill>
                  <a:srgbClr val="FFFFFF"/>
                </a:solidFill>
                <a:latin typeface="Calibri" pitchFamily="34" charset="0"/>
                <a:ea typeface="Calibri" pitchFamily="34" charset="-122"/>
                <a:cs typeface="Calibri" pitchFamily="34" charset="-120"/>
              </a:rPr>
              <a:t>The caption is the joke, or the point.</a:t>
            </a:r>
            <a:endParaRPr lang="en-US" sz="2700" dirty="0"/>
          </a:p>
        </p:txBody>
      </p:sp>
      <p:sp>
        <p:nvSpPr>
          <p:cNvPr id="9" name="Text 6"/>
          <p:cNvSpPr txBox="1"/>
          <p:nvPr/>
        </p:nvSpPr>
        <p:spPr>
          <a:xfrm>
            <a:off x="594360" y="5806440"/>
            <a:ext cx="11002975" cy="365760"/>
          </a:xfrm>
          <a:prstGeom prst="rect">
            <a:avLst/>
          </a:prstGeom>
          <a:noFill/>
          <a:ln/>
        </p:spPr>
        <p:txBody>
          <a:bodyPr wrap="square" lIns="0" tIns="0" rIns="0" bIns="0" rtlCol="0" anchor="ctr"/>
          <a:lstStyle/>
          <a:p>
            <a:pPr algn="ctr" indent="0" marL="0">
              <a:buNone/>
            </a:pPr>
            <a:r>
              <a:rPr lang="en-US" sz="1500" i="1" dirty="0">
                <a:solidFill>
                  <a:srgbClr val="8FA3B8"/>
                </a:solidFill>
                <a:latin typeface="Calibri" pitchFamily="34" charset="0"/>
                <a:ea typeface="Calibri" pitchFamily="34" charset="-122"/>
                <a:cs typeface="Calibri" pitchFamily="34" charset="-120"/>
              </a:rPr>
              <a:t>And an optional line underneath it.</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Smarter Monitoring - staging</dc:title>
  <dc:subject>PptxGenJS Presentation</dc:subject>
  <dc:creator>Donnie Taylor</dc:creator>
  <cp:lastModifiedBy>Donnie Taylor</cp:lastModifiedBy>
  <cp:revision>1</cp:revision>
  <dcterms:created xsi:type="dcterms:W3CDTF">2026-09-13T02:16:27Z</dcterms:created>
  <dcterms:modified xsi:type="dcterms:W3CDTF">2026-09-13T02:16:27Z</dcterms:modified>
</cp:coreProperties>
</file>