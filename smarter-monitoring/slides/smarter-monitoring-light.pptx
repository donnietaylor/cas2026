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9" r:id="rId3"/>
    <p:sldId id="289" r:id="rId4"/>
    <p:sldId id="257" r:id="rId5"/>
    <p:sldId id="258" r:id="rId6"/>
    <p:sldId id="261" r:id="rId7"/>
    <p:sldId id="263" r:id="rId8"/>
    <p:sldId id="277" r:id="rId9"/>
    <p:sldId id="284" r:id="rId10"/>
    <p:sldId id="279" r:id="rId11"/>
    <p:sldId id="264" r:id="rId12"/>
    <p:sldId id="285" r:id="rId13"/>
    <p:sldId id="280" r:id="rId14"/>
    <p:sldId id="281" r:id="rId15"/>
    <p:sldId id="287" r:id="rId16"/>
    <p:sldId id="282" r:id="rId17"/>
    <p:sldId id="267" r:id="rId18"/>
    <p:sldId id="268" r:id="rId19"/>
    <p:sldId id="269" r:id="rId20"/>
    <p:sldId id="283" r:id="rId21"/>
    <p:sldId id="270" r:id="rId22"/>
    <p:sldId id="271" r:id="rId23"/>
    <p:sldId id="272" r:id="rId24"/>
    <p:sldId id="273" r:id="rId25"/>
    <p:sldId id="275" r:id="rId26"/>
    <p:sldId id="276" r:id="rId27"/>
    <p:sldId id="286" r:id="rId28"/>
    <p:sldId id="288"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16710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cold. Do not introduce yourself yet - go straight to the firehose slide and let them try to find the cause. Come back to who you are after they have felt the problem.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sixty seconds. They came for the pipeline, not the resume.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cold open. Read two or three lines out loud, then stop talking and let the room look. Ask it straight: which one caused the others? Take a couple of guesses from the audience - people usually pick a critical. Nobody picks the backup job. That is the whole talk in thirty seconds.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it and move. The room has just failed to find the cause, so this is a release valve, not a bit. If it gets a laugh, ride it straight into the introduction.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what makes the rest of the session legible. Most monitoring tools do the first. Some do the second. Almost nothing does the third, and the third is what the on-call engineer actually needs at 3am.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genuinely different shapes arriving on one hub. The point of the third is that it is fake infrastructure - I am not deploying a SQL box to prove a correlation engine works.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hub and spoke. Start in the middle: three tables in one storage account. Left side is the write path - the hub fires IngestEvents and it writes. Top right is the AI pass: reads the open incidents, asks the model, writes the verdict back onto the same rows. Bottom right is the dashboard, which only reads. Nothing talks to anything except through the middle.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architecture slide. Walk it left to right once, then point at the two things that are not obvious: the dashed loop is the AI pass reading and writing the same table the ingest path writes, and the three question chips - same symptom, same incident, same problem - are the spine of the session. Roughly ninety seconds; do not narrate every box.</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this before the first demo. The point is that the function that reads the hub is trivially small - all the interesting work is behind three verbs. Read the three lines in the inner loop out loud and move on; the next slides open each one 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it and talk over it. The checkouts going red in the terminal are real HTTP calls against the Flask app on this machine. Do not skip the raw view - that is the "can you find it" screen again, now live.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execution slide. Three swim lanes, one per trigger. The top lane is the one to spend time on: point at the row inside Add-EventToIncident and say that the incident is decided before the symptom - question two before question one - because they are the two halves of one row address. The other two lanes are a sentence each.</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sources, three completely different JSON shapes, and none of them agree on what a field is called. This is the unglamorous half of any pipeline like this and it is worth saying so - people underestimate it every time.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one, in full. Three lines. Say plainly that this is the entire deduplication engine and that it involves no intelligence of any kind - it is a hash of a string with the numbers taken out. Then be honest about the cost: "Port 22 closed" and "Port 443 closed" collapse together too. Worth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OPTION B - follow one alert. Step one is a real alert from the demo. Step two: we pick the one label to group on - the machine name if the alert has one, otherwise the Azure resource, otherwise the app name. Step three: that label is hashed into the incident id. inc-de92ae29a9bb is the real id for sql-prod-03. The punchline is the callout: every other alert about that machine computes the same id, so it lands in the same incident without anyone searching for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Question two. Read the four lines top to bottom: host if there is one, otherwise the Azure resource, otherwise the service. Trace is last on purpose - every request has its own, so it is the worst thing to group on. Then the last line: the incident id is just a hash of that key. Same host, same id, every time. No lookup.</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advocacy slide and probably the most useful thing anyone takes home. Five lines of span attributes did work that would otherwise need a model. Say it plainly: good telemetry is cheaper than inference.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Land the last bullet hard. Thirteen incidents is a real improvement and it is still thirteen things to look at. The backup job is sitting there as a warning nobody would open.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model earns its place. The link between backup-01 and sql-prod-03 exists only in English - no shared host, no shared resource, no trace. No amount of key matching finds 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Deflate the AI stage deliberately. It is one HTTP call with temperature zero and a JSON contract. The interesting engineering is everywhere except here - and that is the honest shape of most production AI features.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best-fitting joke in the deck because the picture IS the point. Set up the next demo with it: the interesting question is not what the model connects, it is what it refuses to connect. Then go run the analysis.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Point at the red herrings as hard as at the root cause. A correlator that connects everything is as useless as one that connects nothing. The firewall packet loss during carrier maintenance is there to be left alone, and it was.</a:t>
            </a:r>
          </a:p>
          <a:p>
            <a:endParaRPr/>
          </a:p>
          <a:p>
            <a:r>
              <a:t>STAGING: the AnalyzeTimer must be OFF during the talk (app setting AzureWebJobs.AnalyzeTimer.Disabled = 1), or the dashboard shows root cause a minute after Demo 1 and this reveal is gone. This demo is the forced call: POST /api/analyze. Turn the timer back on afterwards.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top line out loud - it is the single most portable idea in the session and the thing people will repeat to their team on Monday. Then go to the chain slide and walk it.</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Flip back here if the room loses the thread during any demo. This is the scenario on one slide.</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skip this one. Saying where it breaks is what makes the rest credible, and this room can smell a sales pitch.</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not seven. If they remember one, make it the middle one.</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catalogue. Do not read it aloud; let it sit while you say the one sentence at the bottom. The thing to point at is the same-symptom row: one function, four lines, and the middle row - the plumbing - which is its own module now and knows nothing about correlation.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Thank-you slide. Leave it up through the last questions so people can grab the links. The repo line is the one to point at: Deploy-Azure.ps1 builds the whole thing in their own subscription.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ponsors">
    <p:bg>
      <p:bgPr>
        <a:blipFill dpi="0" rotWithShape="1">
          <a:blip r:embed="rId2"/>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8799754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3.gif"/><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4.gif"/><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1965960"/>
            <a:ext cx="10972800" cy="365760"/>
          </a:xfrm>
          <a:prstGeom prst="rect">
            <a:avLst/>
          </a:prstGeom>
          <a:noFill/>
          <a:ln/>
        </p:spPr>
        <p:txBody>
          <a:bodyPr wrap="square" lIns="0" tIns="0" rIns="0" bIns="0" rtlCol="0" anchor="ctr"/>
          <a:lstStyle/>
          <a:p>
            <a:pPr marL="0" indent="0">
              <a:buNone/>
            </a:pPr>
            <a:r>
              <a:rPr lang="en-US" sz="1500" b="1" kern="0" spc="400" dirty="0">
                <a:solidFill>
                  <a:srgbClr val="A86400"/>
                </a:solidFill>
                <a:latin typeface="Calibri" pitchFamily="34" charset="0"/>
                <a:ea typeface="Calibri" pitchFamily="34" charset="-122"/>
                <a:cs typeface="Calibri" pitchFamily="34" charset="-120"/>
              </a:rPr>
              <a:t>SMARTER MONITORING</a:t>
            </a:r>
            <a:endParaRPr lang="en-US" sz="1500" dirty="0"/>
          </a:p>
        </p:txBody>
      </p:sp>
      <p:sp>
        <p:nvSpPr>
          <p:cNvPr id="4" name="Text 1"/>
          <p:cNvSpPr txBox="1"/>
          <p:nvPr/>
        </p:nvSpPr>
        <p:spPr>
          <a:xfrm>
            <a:off x="594360" y="2377440"/>
            <a:ext cx="10515600" cy="1737360"/>
          </a:xfrm>
          <a:prstGeom prst="rect">
            <a:avLst/>
          </a:prstGeom>
          <a:noFill/>
          <a:ln/>
        </p:spPr>
        <p:txBody>
          <a:bodyPr wrap="square" lIns="0" tIns="0" rIns="0" bIns="0" rtlCol="0" anchor="ctr"/>
          <a:lstStyle/>
          <a:p>
            <a:pPr marL="0" indent="0">
              <a:lnSpc>
                <a:spcPts val="5200"/>
              </a:lnSpc>
              <a:buNone/>
            </a:pPr>
            <a:r>
              <a:rPr lang="en-US" sz="4600" b="1" dirty="0">
                <a:solidFill>
                  <a:srgbClr val="16212C"/>
                </a:solidFill>
                <a:latin typeface="Calibri" pitchFamily="34" charset="0"/>
                <a:ea typeface="Calibri" pitchFamily="34" charset="-122"/>
                <a:cs typeface="Calibri" pitchFamily="34" charset="-120"/>
              </a:rPr>
              <a:t>Building an AI-Enhanced</a:t>
            </a:r>
            <a:endParaRPr lang="en-US" sz="4600" dirty="0"/>
          </a:p>
          <a:p>
            <a:pPr marL="0" indent="0">
              <a:lnSpc>
                <a:spcPts val="5200"/>
              </a:lnSpc>
              <a:buNone/>
            </a:pPr>
            <a:r>
              <a:rPr lang="en-US" sz="4600" b="1" dirty="0">
                <a:solidFill>
                  <a:srgbClr val="16212C"/>
                </a:solidFill>
                <a:latin typeface="Calibri" pitchFamily="34" charset="0"/>
                <a:ea typeface="Calibri" pitchFamily="34" charset="-122"/>
                <a:cs typeface="Calibri" pitchFamily="34" charset="-120"/>
              </a:rPr>
              <a:t>Event Pipeline</a:t>
            </a:r>
            <a:endParaRPr lang="en-US" sz="4600" dirty="0"/>
          </a:p>
        </p:txBody>
      </p:sp>
      <p:sp>
        <p:nvSpPr>
          <p:cNvPr id="5" name="Text 2"/>
          <p:cNvSpPr txBox="1"/>
          <p:nvPr/>
        </p:nvSpPr>
        <p:spPr>
          <a:xfrm>
            <a:off x="594360" y="4160520"/>
            <a:ext cx="9144000" cy="365760"/>
          </a:xfrm>
          <a:prstGeom prst="rect">
            <a:avLst/>
          </a:prstGeom>
          <a:noFill/>
          <a:ln/>
        </p:spPr>
        <p:txBody>
          <a:bodyPr wrap="square" lIns="0" tIns="0" rIns="0" bIns="0" rtlCol="0" anchor="ctr"/>
          <a:lstStyle/>
          <a:p>
            <a:pPr marL="0" indent="0">
              <a:buNone/>
            </a:pPr>
            <a:r>
              <a:rPr lang="en-US" sz="1700" i="1" dirty="0">
                <a:solidFill>
                  <a:srgbClr val="475A6D"/>
                </a:solidFill>
                <a:latin typeface="Calibri" pitchFamily="34" charset="0"/>
                <a:ea typeface="Calibri" pitchFamily="34" charset="-122"/>
                <a:cs typeface="Calibri" pitchFamily="34" charset="-120"/>
              </a:rPr>
              <a:t>Correlating events from everywhere into the two that matter.</a:t>
            </a:r>
            <a:endParaRPr lang="en-US" sz="1700" dirty="0"/>
          </a:p>
        </p:txBody>
      </p:sp>
      <p:sp>
        <p:nvSpPr>
          <p:cNvPr id="6" name="Text 3"/>
          <p:cNvSpPr txBox="1"/>
          <p:nvPr/>
        </p:nvSpPr>
        <p:spPr>
          <a:xfrm>
            <a:off x="594360" y="5029200"/>
            <a:ext cx="9144000" cy="320040"/>
          </a:xfrm>
          <a:prstGeom prst="rect">
            <a:avLst/>
          </a:prstGeom>
          <a:noFill/>
          <a:ln/>
        </p:spPr>
        <p:txBody>
          <a:bodyPr wrap="square" lIns="0" tIns="0" rIns="0" bIns="0" rtlCol="0" anchor="ctr"/>
          <a:lstStyle/>
          <a:p>
            <a:pPr marL="0" indent="0">
              <a:buNone/>
            </a:pPr>
            <a:r>
              <a:rPr lang="en-US" sz="1500" dirty="0">
                <a:solidFill>
                  <a:srgbClr val="16212C"/>
                </a:solidFill>
                <a:latin typeface="Calibri" pitchFamily="34" charset="0"/>
                <a:ea typeface="Calibri" pitchFamily="34" charset="-122"/>
                <a:cs typeface="Calibri" pitchFamily="34" charset="-120"/>
              </a:rPr>
              <a:t>Donnie Taylor   ·   The Cloud &amp; AI Summit 2026</a:t>
            </a:r>
            <a:endParaRPr lang="en-US" sz="1500" dirty="0"/>
          </a:p>
        </p:txBody>
      </p:sp>
      <p:sp>
        <p:nvSpPr>
          <p:cNvPr id="7" name="Shape 4"/>
          <p:cNvSpPr/>
          <p:nvPr/>
        </p:nvSpPr>
        <p:spPr>
          <a:xfrm>
            <a:off x="10643616" y="5806440"/>
            <a:ext cx="201168" cy="201168"/>
          </a:xfrm>
          <a:prstGeom prst="ellipse">
            <a:avLst/>
          </a:prstGeom>
          <a:solidFill>
            <a:srgbClr val="E0443E"/>
          </a:solidFill>
          <a:ln/>
        </p:spPr>
        <p:txBody>
          <a:bodyPr/>
          <a:lstStyle/>
          <a:p>
            <a:endParaRPr lang="en-US"/>
          </a:p>
        </p:txBody>
      </p:sp>
      <p:sp>
        <p:nvSpPr>
          <p:cNvPr id="8" name="Shape 5"/>
          <p:cNvSpPr/>
          <p:nvPr/>
        </p:nvSpPr>
        <p:spPr>
          <a:xfrm>
            <a:off x="11027664" y="5806440"/>
            <a:ext cx="201168" cy="201168"/>
          </a:xfrm>
          <a:prstGeom prst="ellipse">
            <a:avLst/>
          </a:prstGeom>
          <a:solidFill>
            <a:srgbClr val="E8A33D"/>
          </a:solidFill>
          <a:ln/>
        </p:spPr>
        <p:txBody>
          <a:bodyPr/>
          <a:lstStyle/>
          <a:p>
            <a:endParaRPr lang="en-US"/>
          </a:p>
        </p:txBody>
      </p:sp>
      <p:sp>
        <p:nvSpPr>
          <p:cNvPr id="9" name="Shape 6"/>
          <p:cNvSpPr/>
          <p:nvPr/>
        </p:nvSpPr>
        <p:spPr>
          <a:xfrm>
            <a:off x="11411712" y="5806440"/>
            <a:ext cx="201168" cy="201168"/>
          </a:xfrm>
          <a:prstGeom prst="ellipse">
            <a:avLst/>
          </a:prstGeom>
          <a:solidFill>
            <a:srgbClr val="46B98A"/>
          </a:solidFill>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4">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BEFORE WE GO FURTHER</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Donnie Taylor</a:t>
            </a:r>
            <a:endParaRPr lang="en-US" sz="3600" dirty="0"/>
          </a:p>
        </p:txBody>
      </p:sp>
      <p:sp>
        <p:nvSpPr>
          <p:cNvPr id="5" name="Shape 2"/>
          <p:cNvSpPr/>
          <p:nvPr/>
        </p:nvSpPr>
        <p:spPr>
          <a:xfrm>
            <a:off x="594360" y="1783080"/>
            <a:ext cx="475488" cy="475488"/>
          </a:xfrm>
          <a:prstGeom prst="ellipse">
            <a:avLst/>
          </a:prstGeom>
          <a:solidFill>
            <a:srgbClr val="E8A33D"/>
          </a:solidFill>
          <a:ln/>
        </p:spPr>
        <p:txBody>
          <a:bodyPr/>
          <a:lstStyle/>
          <a:p>
            <a:endParaRPr lang="en-US"/>
          </a:p>
        </p:txBody>
      </p:sp>
      <p:sp>
        <p:nvSpPr>
          <p:cNvPr id="6" name="Text 3"/>
          <p:cNvSpPr txBox="1"/>
          <p:nvPr/>
        </p:nvSpPr>
        <p:spPr>
          <a:xfrm>
            <a:off x="594360" y="1783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7" name="Text 4"/>
          <p:cNvSpPr txBox="1"/>
          <p:nvPr/>
        </p:nvSpPr>
        <p:spPr>
          <a:xfrm>
            <a:off x="1371600" y="1746504"/>
            <a:ext cx="9601200" cy="365760"/>
          </a:xfrm>
          <a:prstGeom prst="rect">
            <a:avLst/>
          </a:prstGeom>
          <a:noFill/>
          <a:ln/>
        </p:spPr>
        <p:txBody>
          <a:bodyPr wrap="square" lIns="0" tIns="0" rIns="0" bIns="0" rtlCol="0" anchor="ctr"/>
          <a:lstStyle/>
          <a:p>
            <a:pPr marL="0" indent="0">
              <a:buNone/>
            </a:pPr>
            <a:r>
              <a:rPr lang="en-US" sz="2000" b="1" dirty="0">
                <a:solidFill>
                  <a:srgbClr val="16212C"/>
                </a:solidFill>
                <a:latin typeface="Calibri" pitchFamily="34" charset="0"/>
                <a:ea typeface="Calibri" pitchFamily="34" charset="-122"/>
                <a:cs typeface="Calibri" pitchFamily="34" charset="-120"/>
              </a:rPr>
              <a:t>Microsoft MVP, ninth consecutive year</a:t>
            </a:r>
            <a:endParaRPr lang="en-US" sz="2000" dirty="0"/>
          </a:p>
        </p:txBody>
      </p:sp>
      <p:sp>
        <p:nvSpPr>
          <p:cNvPr id="8" name="Text 5"/>
          <p:cNvSpPr txBox="1"/>
          <p:nvPr/>
        </p:nvSpPr>
        <p:spPr>
          <a:xfrm>
            <a:off x="1371600" y="2130552"/>
            <a:ext cx="9601200" cy="36576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Azure, PowerShell, and increasingly AI plumbing.</a:t>
            </a:r>
            <a:endParaRPr lang="en-US" sz="1500" dirty="0"/>
          </a:p>
        </p:txBody>
      </p:sp>
      <p:sp>
        <p:nvSpPr>
          <p:cNvPr id="9" name="Shape 6"/>
          <p:cNvSpPr/>
          <p:nvPr/>
        </p:nvSpPr>
        <p:spPr>
          <a:xfrm>
            <a:off x="594360" y="2926080"/>
            <a:ext cx="475488" cy="475488"/>
          </a:xfrm>
          <a:prstGeom prst="ellipse">
            <a:avLst/>
          </a:prstGeom>
          <a:solidFill>
            <a:srgbClr val="5B9BD5"/>
          </a:solidFill>
          <a:ln/>
        </p:spPr>
        <p:txBody>
          <a:bodyPr/>
          <a:lstStyle/>
          <a:p>
            <a:endParaRPr lang="en-US"/>
          </a:p>
        </p:txBody>
      </p:sp>
      <p:sp>
        <p:nvSpPr>
          <p:cNvPr id="10" name="Text 7"/>
          <p:cNvSpPr txBox="1"/>
          <p:nvPr/>
        </p:nvSpPr>
        <p:spPr>
          <a:xfrm>
            <a:off x="594360" y="2926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1" name="Text 8"/>
          <p:cNvSpPr txBox="1"/>
          <p:nvPr/>
        </p:nvSpPr>
        <p:spPr>
          <a:xfrm>
            <a:off x="1371600" y="2889504"/>
            <a:ext cx="9601200" cy="365760"/>
          </a:xfrm>
          <a:prstGeom prst="rect">
            <a:avLst/>
          </a:prstGeom>
          <a:noFill/>
          <a:ln/>
        </p:spPr>
        <p:txBody>
          <a:bodyPr wrap="square" lIns="0" tIns="0" rIns="0" bIns="0" rtlCol="0" anchor="ctr"/>
          <a:lstStyle/>
          <a:p>
            <a:pPr marL="0" indent="0">
              <a:buNone/>
            </a:pPr>
            <a:r>
              <a:rPr lang="en-US" sz="2000" b="1" dirty="0">
                <a:solidFill>
                  <a:srgbClr val="16212C"/>
                </a:solidFill>
                <a:latin typeface="Calibri" pitchFamily="34" charset="0"/>
                <a:ea typeface="Calibri" pitchFamily="34" charset="-122"/>
                <a:cs typeface="Calibri" pitchFamily="34" charset="-120"/>
              </a:rPr>
              <a:t>Woodworker, solar enthusiast, home automation</a:t>
            </a:r>
            <a:endParaRPr lang="en-US" sz="2000" dirty="0"/>
          </a:p>
        </p:txBody>
      </p:sp>
      <p:sp>
        <p:nvSpPr>
          <p:cNvPr id="12" name="Text 9"/>
          <p:cNvSpPr txBox="1"/>
          <p:nvPr/>
        </p:nvSpPr>
        <p:spPr>
          <a:xfrm>
            <a:off x="1371600" y="3273552"/>
            <a:ext cx="9601200" cy="36576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No good way to tie those together – or is there?</a:t>
            </a:r>
            <a:endParaRPr lang="en-US" sz="1500" dirty="0"/>
          </a:p>
        </p:txBody>
      </p:sp>
      <p:sp>
        <p:nvSpPr>
          <p:cNvPr id="13" name="Shape 10"/>
          <p:cNvSpPr/>
          <p:nvPr/>
        </p:nvSpPr>
        <p:spPr>
          <a:xfrm>
            <a:off x="594360" y="4069080"/>
            <a:ext cx="475488" cy="475488"/>
          </a:xfrm>
          <a:prstGeom prst="ellipse">
            <a:avLst/>
          </a:prstGeom>
          <a:solidFill>
            <a:srgbClr val="46B98A"/>
          </a:solidFill>
          <a:ln/>
        </p:spPr>
        <p:txBody>
          <a:bodyPr/>
          <a:lstStyle/>
          <a:p>
            <a:endParaRPr lang="en-US"/>
          </a:p>
        </p:txBody>
      </p:sp>
      <p:sp>
        <p:nvSpPr>
          <p:cNvPr id="14" name="Text 11"/>
          <p:cNvSpPr txBox="1"/>
          <p:nvPr/>
        </p:nvSpPr>
        <p:spPr>
          <a:xfrm>
            <a:off x="594360" y="406908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5" name="Text 12"/>
          <p:cNvSpPr txBox="1"/>
          <p:nvPr/>
        </p:nvSpPr>
        <p:spPr>
          <a:xfrm>
            <a:off x="1371600" y="4032504"/>
            <a:ext cx="9601200" cy="365760"/>
          </a:xfrm>
          <a:prstGeom prst="rect">
            <a:avLst/>
          </a:prstGeom>
          <a:noFill/>
          <a:ln/>
        </p:spPr>
        <p:txBody>
          <a:bodyPr wrap="square" lIns="0" tIns="0" rIns="0" bIns="0" rtlCol="0" anchor="ctr"/>
          <a:lstStyle/>
          <a:p>
            <a:pPr marL="0" indent="0">
              <a:buNone/>
            </a:pPr>
            <a:r>
              <a:rPr lang="en-US" sz="2000" b="1" dirty="0">
                <a:solidFill>
                  <a:srgbClr val="16212C"/>
                </a:solidFill>
                <a:latin typeface="Calibri" pitchFamily="34" charset="0"/>
                <a:ea typeface="Calibri" pitchFamily="34" charset="-122"/>
                <a:cs typeface="Calibri" pitchFamily="34" charset="-120"/>
              </a:rPr>
              <a:t>Everything here is on GitHub</a:t>
            </a:r>
            <a:endParaRPr lang="en-US" sz="2000" dirty="0"/>
          </a:p>
        </p:txBody>
      </p:sp>
      <p:sp>
        <p:nvSpPr>
          <p:cNvPr id="16" name="Text 13"/>
          <p:cNvSpPr txBox="1"/>
          <p:nvPr/>
        </p:nvSpPr>
        <p:spPr>
          <a:xfrm>
            <a:off x="1371600" y="4416552"/>
            <a:ext cx="9601200" cy="36576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github.com/donnietaylor - deploy it in your own tenant in about ten minutes.</a:t>
            </a:r>
            <a:endParaRPr lang="en-US" sz="1500" dirty="0"/>
          </a:p>
        </p:txBody>
      </p:sp>
      <p:sp>
        <p:nvSpPr>
          <p:cNvPr id="17" name="Text 14"/>
          <p:cNvSpPr txBox="1"/>
          <p:nvPr/>
        </p:nvSpPr>
        <p:spPr>
          <a:xfrm>
            <a:off x="594360" y="5806440"/>
            <a:ext cx="10972800" cy="320040"/>
          </a:xfrm>
          <a:prstGeom prst="rect">
            <a:avLst/>
          </a:prstGeom>
          <a:noFill/>
          <a:ln/>
        </p:spPr>
        <p:txBody>
          <a:bodyPr wrap="square" lIns="0" tIns="0" rIns="0" bIns="0" rtlCol="0" anchor="ctr"/>
          <a:lstStyle/>
          <a:p>
            <a:pPr marL="0" indent="0">
              <a:buNone/>
            </a:pPr>
            <a:r>
              <a:rPr lang="en-US" sz="1400" dirty="0">
                <a:solidFill>
                  <a:srgbClr val="5A6D81"/>
                </a:solidFill>
                <a:latin typeface="Calibri" pitchFamily="34" charset="0"/>
                <a:ea typeface="Calibri" pitchFamily="34" charset="-122"/>
                <a:cs typeface="Calibri" pitchFamily="34" charset="-120"/>
              </a:rPr>
              <a:t>draith.com   ·   linkedin.com/in/donnietaylor   ·   @donnietaylor.bsky.social</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2">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42E28"/>
                </a:solidFill>
                <a:latin typeface="Calibri" pitchFamily="34" charset="0"/>
                <a:ea typeface="Calibri" pitchFamily="34" charset="-122"/>
                <a:cs typeface="Calibri" pitchFamily="34" charset="-120"/>
              </a:rPr>
              <a:t>THREE MINUTES OF PRODUCTION</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179 events. 12 tools. One cause.</a:t>
            </a:r>
            <a:endParaRPr lang="en-US" sz="3600" dirty="0"/>
          </a:p>
        </p:txBody>
      </p:sp>
      <p:sp>
        <p:nvSpPr>
          <p:cNvPr id="5" name="Shape 2"/>
          <p:cNvSpPr/>
          <p:nvPr/>
        </p:nvSpPr>
        <p:spPr>
          <a:xfrm>
            <a:off x="594360" y="1600200"/>
            <a:ext cx="11018520" cy="4114800"/>
          </a:xfrm>
          <a:prstGeom prst="roundRect">
            <a:avLst>
              <a:gd name="adj" fmla="val 1333"/>
            </a:avLst>
          </a:prstGeom>
          <a:solidFill>
            <a:srgbClr val="E7EDF3"/>
          </a:solidFill>
          <a:ln/>
        </p:spPr>
        <p:txBody>
          <a:bodyPr/>
          <a:lstStyle/>
          <a:p>
            <a:endParaRPr lang="en-US"/>
          </a:p>
        </p:txBody>
      </p:sp>
      <p:sp>
        <p:nvSpPr>
          <p:cNvPr id="6" name="Text 3"/>
          <p:cNvSpPr txBox="1"/>
          <p:nvPr/>
        </p:nvSpPr>
        <p:spPr>
          <a:xfrm>
            <a:off x="822960" y="173736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16:54:31</a:t>
            </a:r>
            <a:endParaRPr lang="en-US" sz="1100" b="1" dirty="0"/>
          </a:p>
        </p:txBody>
      </p:sp>
      <p:sp>
        <p:nvSpPr>
          <p:cNvPr id="7" name="Text 4"/>
          <p:cNvSpPr txBox="1"/>
          <p:nvPr/>
        </p:nvSpPr>
        <p:spPr>
          <a:xfrm>
            <a:off x="1783080" y="1737360"/>
            <a:ext cx="777240" cy="274320"/>
          </a:xfrm>
          <a:prstGeom prst="rect">
            <a:avLst/>
          </a:prstGeom>
          <a:noFill/>
          <a:ln/>
        </p:spPr>
        <p:txBody>
          <a:bodyPr wrap="square" lIns="0" tIns="0" rIns="0" bIns="0" rtlCol="0" anchor="ctr"/>
          <a:lstStyle/>
          <a:p>
            <a:pPr marL="0" indent="0">
              <a:buNone/>
            </a:pPr>
            <a:r>
              <a:rPr lang="en-US" sz="1100" b="1" dirty="0">
                <a:solidFill>
                  <a:srgbClr val="C42E28"/>
                </a:solidFill>
                <a:latin typeface="Courier New" pitchFamily="34" charset="0"/>
                <a:ea typeface="Courier New" pitchFamily="34" charset="-122"/>
                <a:cs typeface="Courier New" pitchFamily="34" charset="-120"/>
              </a:rPr>
              <a:t>critical</a:t>
            </a:r>
            <a:endParaRPr lang="en-US" sz="1100" b="1" dirty="0"/>
          </a:p>
        </p:txBody>
      </p:sp>
      <p:sp>
        <p:nvSpPr>
          <p:cNvPr id="8" name="Text 5"/>
          <p:cNvSpPr txBox="1"/>
          <p:nvPr/>
        </p:nvSpPr>
        <p:spPr>
          <a:xfrm>
            <a:off x="2651760" y="173736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sql-watch      sql-prod-03    Connection pool exhausted, 97 of 100 in use</a:t>
            </a:r>
            <a:endParaRPr lang="en-US" sz="1100" b="1" dirty="0"/>
          </a:p>
        </p:txBody>
      </p:sp>
      <p:sp>
        <p:nvSpPr>
          <p:cNvPr id="9" name="Text 6"/>
          <p:cNvSpPr txBox="1"/>
          <p:nvPr/>
        </p:nvSpPr>
        <p:spPr>
          <a:xfrm>
            <a:off x="822960" y="203454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16:54:30</a:t>
            </a:r>
            <a:endParaRPr lang="en-US" sz="1100" b="1" dirty="0"/>
          </a:p>
        </p:txBody>
      </p:sp>
      <p:sp>
        <p:nvSpPr>
          <p:cNvPr id="10" name="Text 7"/>
          <p:cNvSpPr txBox="1"/>
          <p:nvPr/>
        </p:nvSpPr>
        <p:spPr>
          <a:xfrm>
            <a:off x="1783080" y="2034540"/>
            <a:ext cx="777240" cy="274320"/>
          </a:xfrm>
          <a:prstGeom prst="rect">
            <a:avLst/>
          </a:prstGeom>
          <a:noFill/>
          <a:ln/>
        </p:spPr>
        <p:txBody>
          <a:bodyPr wrap="square" lIns="0" tIns="0" rIns="0" bIns="0" rtlCol="0" anchor="ctr"/>
          <a:lstStyle/>
          <a:p>
            <a:pPr marL="0" indent="0">
              <a:buNone/>
            </a:pPr>
            <a:r>
              <a:rPr lang="en-US" sz="1100" b="1" dirty="0">
                <a:solidFill>
                  <a:srgbClr val="A86400"/>
                </a:solidFill>
                <a:latin typeface="Courier New" pitchFamily="34" charset="0"/>
                <a:ea typeface="Courier New" pitchFamily="34" charset="-122"/>
                <a:cs typeface="Courier New" pitchFamily="34" charset="-120"/>
              </a:rPr>
              <a:t>error</a:t>
            </a:r>
            <a:endParaRPr lang="en-US" sz="1100" b="1" dirty="0"/>
          </a:p>
        </p:txBody>
      </p:sp>
      <p:sp>
        <p:nvSpPr>
          <p:cNvPr id="11" name="Text 8"/>
          <p:cNvSpPr txBox="1"/>
          <p:nvPr/>
        </p:nvSpPr>
        <p:spPr>
          <a:xfrm>
            <a:off x="2651760" y="203454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storage-watch  sql-prod-03    Disk read latency 480 ms, sustained</a:t>
            </a:r>
            <a:endParaRPr lang="en-US" sz="1100" b="1" dirty="0"/>
          </a:p>
        </p:txBody>
      </p:sp>
      <p:sp>
        <p:nvSpPr>
          <p:cNvPr id="12" name="Text 9"/>
          <p:cNvSpPr txBox="1"/>
          <p:nvPr/>
        </p:nvSpPr>
        <p:spPr>
          <a:xfrm>
            <a:off x="822960" y="233172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16:54:30</a:t>
            </a:r>
            <a:endParaRPr lang="en-US" sz="1100" b="1" dirty="0"/>
          </a:p>
        </p:txBody>
      </p:sp>
      <p:sp>
        <p:nvSpPr>
          <p:cNvPr id="13" name="Text 10"/>
          <p:cNvSpPr txBox="1"/>
          <p:nvPr/>
        </p:nvSpPr>
        <p:spPr>
          <a:xfrm>
            <a:off x="1783080" y="2331720"/>
            <a:ext cx="777240" cy="274320"/>
          </a:xfrm>
          <a:prstGeom prst="rect">
            <a:avLst/>
          </a:prstGeom>
          <a:noFill/>
          <a:ln/>
        </p:spPr>
        <p:txBody>
          <a:bodyPr wrap="square" lIns="0" tIns="0" rIns="0" bIns="0" rtlCol="0" anchor="ctr"/>
          <a:lstStyle/>
          <a:p>
            <a:pPr marL="0" indent="0">
              <a:buNone/>
            </a:pPr>
            <a:r>
              <a:rPr lang="en-US" sz="1100" b="1" dirty="0">
                <a:solidFill>
                  <a:srgbClr val="C42E28"/>
                </a:solidFill>
                <a:latin typeface="Courier New" pitchFamily="34" charset="0"/>
                <a:ea typeface="Courier New" pitchFamily="34" charset="-122"/>
                <a:cs typeface="Courier New" pitchFamily="34" charset="-120"/>
              </a:rPr>
              <a:t>critical</a:t>
            </a:r>
            <a:endParaRPr lang="en-US" sz="1100" b="1" dirty="0"/>
          </a:p>
        </p:txBody>
      </p:sp>
      <p:sp>
        <p:nvSpPr>
          <p:cNvPr id="14" name="Text 11"/>
          <p:cNvSpPr txBox="1"/>
          <p:nvPr/>
        </p:nvSpPr>
        <p:spPr>
          <a:xfrm>
            <a:off x="2651760" y="233172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apm            app-web-01     Checkout failures 27 percent of requests</a:t>
            </a:r>
            <a:endParaRPr lang="en-US" sz="1100" b="1" dirty="0"/>
          </a:p>
        </p:txBody>
      </p:sp>
      <p:sp>
        <p:nvSpPr>
          <p:cNvPr id="15" name="Text 12"/>
          <p:cNvSpPr txBox="1"/>
          <p:nvPr/>
        </p:nvSpPr>
        <p:spPr>
          <a:xfrm>
            <a:off x="822960" y="262890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16:54:29</a:t>
            </a:r>
            <a:endParaRPr lang="en-US" sz="1100" b="1" dirty="0"/>
          </a:p>
        </p:txBody>
      </p:sp>
      <p:sp>
        <p:nvSpPr>
          <p:cNvPr id="16" name="Text 13"/>
          <p:cNvSpPr txBox="1"/>
          <p:nvPr/>
        </p:nvSpPr>
        <p:spPr>
          <a:xfrm>
            <a:off x="1783080" y="2628900"/>
            <a:ext cx="777240" cy="274320"/>
          </a:xfrm>
          <a:prstGeom prst="rect">
            <a:avLst/>
          </a:prstGeom>
          <a:noFill/>
          <a:ln/>
        </p:spPr>
        <p:txBody>
          <a:bodyPr wrap="square" lIns="0" tIns="0" rIns="0" bIns="0" rtlCol="0" anchor="ctr"/>
          <a:lstStyle/>
          <a:p>
            <a:pPr marL="0" indent="0">
              <a:buNone/>
            </a:pPr>
            <a:r>
              <a:rPr lang="en-US" sz="1100" b="1" dirty="0">
                <a:solidFill>
                  <a:srgbClr val="A86400"/>
                </a:solidFill>
                <a:latin typeface="Courier New" pitchFamily="34" charset="0"/>
                <a:ea typeface="Courier New" pitchFamily="34" charset="-122"/>
                <a:cs typeface="Courier New" pitchFamily="34" charset="-120"/>
              </a:rPr>
              <a:t>error</a:t>
            </a:r>
            <a:endParaRPr lang="en-US" sz="1100" b="1" dirty="0"/>
          </a:p>
        </p:txBody>
      </p:sp>
      <p:sp>
        <p:nvSpPr>
          <p:cNvPr id="17" name="Text 14"/>
          <p:cNvSpPr txBox="1"/>
          <p:nvPr/>
        </p:nvSpPr>
        <p:spPr>
          <a:xfrm>
            <a:off x="2651760" y="262890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auth-svc       app-api-03     Token validation failing, upstream returned 526</a:t>
            </a:r>
            <a:endParaRPr lang="en-US" sz="1100" b="1" dirty="0"/>
          </a:p>
        </p:txBody>
      </p:sp>
      <p:sp>
        <p:nvSpPr>
          <p:cNvPr id="18" name="Text 15"/>
          <p:cNvSpPr txBox="1"/>
          <p:nvPr/>
        </p:nvSpPr>
        <p:spPr>
          <a:xfrm>
            <a:off x="822960" y="292608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16:54:28</a:t>
            </a:r>
            <a:endParaRPr lang="en-US" sz="1100" b="1" dirty="0"/>
          </a:p>
        </p:txBody>
      </p:sp>
      <p:sp>
        <p:nvSpPr>
          <p:cNvPr id="19" name="Text 16"/>
          <p:cNvSpPr txBox="1"/>
          <p:nvPr/>
        </p:nvSpPr>
        <p:spPr>
          <a:xfrm>
            <a:off x="1783080" y="2926080"/>
            <a:ext cx="77724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warning</a:t>
            </a:r>
            <a:endParaRPr lang="en-US" sz="1100" b="1" dirty="0"/>
          </a:p>
        </p:txBody>
      </p:sp>
      <p:sp>
        <p:nvSpPr>
          <p:cNvPr id="20" name="Text 17"/>
          <p:cNvSpPr txBox="1"/>
          <p:nvPr/>
        </p:nvSpPr>
        <p:spPr>
          <a:xfrm>
            <a:off x="2651760" y="292608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net-monitor    fw-edge-01     Packet loss 2 percent on WAN interface</a:t>
            </a:r>
            <a:endParaRPr lang="en-US" sz="1100" b="1" dirty="0"/>
          </a:p>
        </p:txBody>
      </p:sp>
      <p:sp>
        <p:nvSpPr>
          <p:cNvPr id="21" name="Text 18"/>
          <p:cNvSpPr txBox="1"/>
          <p:nvPr/>
        </p:nvSpPr>
        <p:spPr>
          <a:xfrm>
            <a:off x="822960" y="322326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16:54:28</a:t>
            </a:r>
            <a:endParaRPr lang="en-US" sz="1100" b="1" dirty="0"/>
          </a:p>
        </p:txBody>
      </p:sp>
      <p:sp>
        <p:nvSpPr>
          <p:cNvPr id="22" name="Text 19"/>
          <p:cNvSpPr txBox="1"/>
          <p:nvPr/>
        </p:nvSpPr>
        <p:spPr>
          <a:xfrm>
            <a:off x="1783080" y="3223260"/>
            <a:ext cx="777240" cy="274320"/>
          </a:xfrm>
          <a:prstGeom prst="rect">
            <a:avLst/>
          </a:prstGeom>
          <a:noFill/>
          <a:ln/>
        </p:spPr>
        <p:txBody>
          <a:bodyPr wrap="square" lIns="0" tIns="0" rIns="0" bIns="0" rtlCol="0" anchor="ctr"/>
          <a:lstStyle/>
          <a:p>
            <a:pPr marL="0" indent="0">
              <a:buNone/>
            </a:pPr>
            <a:r>
              <a:rPr lang="en-US" sz="1100" b="1" dirty="0">
                <a:solidFill>
                  <a:srgbClr val="C42E28"/>
                </a:solidFill>
                <a:latin typeface="Courier New" pitchFamily="34" charset="0"/>
                <a:ea typeface="Courier New" pitchFamily="34" charset="-122"/>
                <a:cs typeface="Courier New" pitchFamily="34" charset="-120"/>
              </a:rPr>
              <a:t>critical</a:t>
            </a:r>
            <a:endParaRPr lang="en-US" sz="1100" b="1" dirty="0"/>
          </a:p>
        </p:txBody>
      </p:sp>
      <p:sp>
        <p:nvSpPr>
          <p:cNvPr id="23" name="Text 20"/>
          <p:cNvSpPr txBox="1"/>
          <p:nvPr/>
        </p:nvSpPr>
        <p:spPr>
          <a:xfrm>
            <a:off x="2651760" y="322326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store-api      sql-prod-03    Call to sql-prod-03 failed (500)</a:t>
            </a:r>
            <a:endParaRPr lang="en-US" sz="1100" b="1" dirty="0"/>
          </a:p>
        </p:txBody>
      </p:sp>
      <p:sp>
        <p:nvSpPr>
          <p:cNvPr id="24" name="Text 21"/>
          <p:cNvSpPr txBox="1"/>
          <p:nvPr/>
        </p:nvSpPr>
        <p:spPr>
          <a:xfrm>
            <a:off x="822960" y="352044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16:54:27</a:t>
            </a:r>
            <a:endParaRPr lang="en-US" sz="1100" b="1" dirty="0"/>
          </a:p>
        </p:txBody>
      </p:sp>
      <p:sp>
        <p:nvSpPr>
          <p:cNvPr id="25" name="Text 22"/>
          <p:cNvSpPr txBox="1"/>
          <p:nvPr/>
        </p:nvSpPr>
        <p:spPr>
          <a:xfrm>
            <a:off x="1783080" y="3520440"/>
            <a:ext cx="77724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warning</a:t>
            </a:r>
            <a:endParaRPr lang="en-US" sz="1100" b="1" dirty="0"/>
          </a:p>
        </p:txBody>
      </p:sp>
      <p:sp>
        <p:nvSpPr>
          <p:cNvPr id="26" name="Text 23"/>
          <p:cNvSpPr txBox="1"/>
          <p:nvPr/>
        </p:nvSpPr>
        <p:spPr>
          <a:xfrm>
            <a:off x="2651760" y="352044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backup-agent   backup-01      Nightly backup of sql-prod-03 still running, 4 hours over window</a:t>
            </a:r>
            <a:endParaRPr lang="en-US" sz="1100" b="1" dirty="0"/>
          </a:p>
        </p:txBody>
      </p:sp>
      <p:sp>
        <p:nvSpPr>
          <p:cNvPr id="27" name="Text 24"/>
          <p:cNvSpPr txBox="1"/>
          <p:nvPr/>
        </p:nvSpPr>
        <p:spPr>
          <a:xfrm>
            <a:off x="822960" y="381762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16:54:27</a:t>
            </a:r>
            <a:endParaRPr lang="en-US" sz="1100" b="1" dirty="0"/>
          </a:p>
        </p:txBody>
      </p:sp>
      <p:sp>
        <p:nvSpPr>
          <p:cNvPr id="28" name="Text 25"/>
          <p:cNvSpPr txBox="1"/>
          <p:nvPr/>
        </p:nvSpPr>
        <p:spPr>
          <a:xfrm>
            <a:off x="1783080" y="3817620"/>
            <a:ext cx="777240" cy="274320"/>
          </a:xfrm>
          <a:prstGeom prst="rect">
            <a:avLst/>
          </a:prstGeom>
          <a:noFill/>
          <a:ln/>
        </p:spPr>
        <p:txBody>
          <a:bodyPr wrap="square" lIns="0" tIns="0" rIns="0" bIns="0" rtlCol="0" anchor="ctr"/>
          <a:lstStyle/>
          <a:p>
            <a:pPr marL="0" indent="0">
              <a:buNone/>
            </a:pPr>
            <a:r>
              <a:rPr lang="en-US" sz="1100" b="1" dirty="0">
                <a:solidFill>
                  <a:srgbClr val="A86400"/>
                </a:solidFill>
                <a:latin typeface="Courier New" pitchFamily="34" charset="0"/>
                <a:ea typeface="Courier New" pitchFamily="34" charset="-122"/>
                <a:cs typeface="Courier New" pitchFamily="34" charset="-120"/>
              </a:rPr>
              <a:t>error</a:t>
            </a:r>
            <a:endParaRPr lang="en-US" sz="1100" b="1" dirty="0"/>
          </a:p>
        </p:txBody>
      </p:sp>
      <p:sp>
        <p:nvSpPr>
          <p:cNvPr id="29" name="Text 26"/>
          <p:cNvSpPr txBox="1"/>
          <p:nvPr/>
        </p:nvSpPr>
        <p:spPr>
          <a:xfrm>
            <a:off x="2651760" y="381762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sql-watch      sql-prod-03    Lock wait time 4400 ms on OrderLines</a:t>
            </a:r>
            <a:endParaRPr lang="en-US" sz="1100" b="1" dirty="0"/>
          </a:p>
        </p:txBody>
      </p:sp>
      <p:sp>
        <p:nvSpPr>
          <p:cNvPr id="30" name="Text 27"/>
          <p:cNvSpPr txBox="1"/>
          <p:nvPr/>
        </p:nvSpPr>
        <p:spPr>
          <a:xfrm>
            <a:off x="822960" y="411480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16:54:26</a:t>
            </a:r>
            <a:endParaRPr lang="en-US" sz="1100" b="1" dirty="0"/>
          </a:p>
        </p:txBody>
      </p:sp>
      <p:sp>
        <p:nvSpPr>
          <p:cNvPr id="31" name="Text 28"/>
          <p:cNvSpPr txBox="1"/>
          <p:nvPr/>
        </p:nvSpPr>
        <p:spPr>
          <a:xfrm>
            <a:off x="1783080" y="4114800"/>
            <a:ext cx="777240" cy="274320"/>
          </a:xfrm>
          <a:prstGeom prst="rect">
            <a:avLst/>
          </a:prstGeom>
          <a:noFill/>
          <a:ln/>
        </p:spPr>
        <p:txBody>
          <a:bodyPr wrap="square" lIns="0" tIns="0" rIns="0" bIns="0" rtlCol="0" anchor="ctr"/>
          <a:lstStyle/>
          <a:p>
            <a:pPr marL="0" indent="0">
              <a:buNone/>
            </a:pPr>
            <a:r>
              <a:rPr lang="en-US" sz="1100" b="1" dirty="0">
                <a:solidFill>
                  <a:srgbClr val="C42E28"/>
                </a:solidFill>
                <a:latin typeface="Courier New" pitchFamily="34" charset="0"/>
                <a:ea typeface="Courier New" pitchFamily="34" charset="-122"/>
                <a:cs typeface="Courier New" pitchFamily="34" charset="-120"/>
              </a:rPr>
              <a:t>critical</a:t>
            </a:r>
            <a:endParaRPr lang="en-US" sz="1100" b="1" dirty="0"/>
          </a:p>
        </p:txBody>
      </p:sp>
      <p:sp>
        <p:nvSpPr>
          <p:cNvPr id="32" name="Text 29"/>
          <p:cNvSpPr txBox="1"/>
          <p:nvPr/>
        </p:nvSpPr>
        <p:spPr>
          <a:xfrm>
            <a:off x="2651760" y="411480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cert-watch     lb-edge-02     TLS certificate for api.contoso.com expired</a:t>
            </a:r>
            <a:endParaRPr lang="en-US" sz="1100" b="1" dirty="0"/>
          </a:p>
        </p:txBody>
      </p:sp>
      <p:sp>
        <p:nvSpPr>
          <p:cNvPr id="33" name="Text 30"/>
          <p:cNvSpPr txBox="1"/>
          <p:nvPr/>
        </p:nvSpPr>
        <p:spPr>
          <a:xfrm>
            <a:off x="822960" y="441198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16:54:26</a:t>
            </a:r>
            <a:endParaRPr lang="en-US" sz="1100" b="1" dirty="0"/>
          </a:p>
        </p:txBody>
      </p:sp>
      <p:sp>
        <p:nvSpPr>
          <p:cNvPr id="34" name="Text 31"/>
          <p:cNvSpPr txBox="1"/>
          <p:nvPr/>
        </p:nvSpPr>
        <p:spPr>
          <a:xfrm>
            <a:off x="1783080" y="4411980"/>
            <a:ext cx="77724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warning</a:t>
            </a:r>
            <a:endParaRPr lang="en-US" sz="1100" b="1" dirty="0"/>
          </a:p>
        </p:txBody>
      </p:sp>
      <p:sp>
        <p:nvSpPr>
          <p:cNvPr id="35" name="Text 32"/>
          <p:cNvSpPr txBox="1"/>
          <p:nvPr/>
        </p:nvSpPr>
        <p:spPr>
          <a:xfrm>
            <a:off x="2651760" y="441198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vsphere        esx-04         Datastore DS-VOL-02 at 82 percent capacity</a:t>
            </a:r>
            <a:endParaRPr lang="en-US" sz="1100" b="1" dirty="0"/>
          </a:p>
        </p:txBody>
      </p:sp>
      <p:sp>
        <p:nvSpPr>
          <p:cNvPr id="36" name="Text 33"/>
          <p:cNvSpPr txBox="1"/>
          <p:nvPr/>
        </p:nvSpPr>
        <p:spPr>
          <a:xfrm>
            <a:off x="822960" y="470916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16:54:25</a:t>
            </a:r>
            <a:endParaRPr lang="en-US" sz="1100" b="1" dirty="0"/>
          </a:p>
        </p:txBody>
      </p:sp>
      <p:sp>
        <p:nvSpPr>
          <p:cNvPr id="37" name="Text 34"/>
          <p:cNvSpPr txBox="1"/>
          <p:nvPr/>
        </p:nvSpPr>
        <p:spPr>
          <a:xfrm>
            <a:off x="1783080" y="4709160"/>
            <a:ext cx="777240" cy="274320"/>
          </a:xfrm>
          <a:prstGeom prst="rect">
            <a:avLst/>
          </a:prstGeom>
          <a:noFill/>
          <a:ln/>
        </p:spPr>
        <p:txBody>
          <a:bodyPr wrap="square" lIns="0" tIns="0" rIns="0" bIns="0" rtlCol="0" anchor="ctr"/>
          <a:lstStyle/>
          <a:p>
            <a:pPr marL="0" indent="0">
              <a:buNone/>
            </a:pPr>
            <a:r>
              <a:rPr lang="en-US" sz="1100" b="1" dirty="0">
                <a:solidFill>
                  <a:srgbClr val="C42E28"/>
                </a:solidFill>
                <a:latin typeface="Courier New" pitchFamily="34" charset="0"/>
                <a:ea typeface="Courier New" pitchFamily="34" charset="-122"/>
                <a:cs typeface="Courier New" pitchFamily="34" charset="-120"/>
              </a:rPr>
              <a:t>critical</a:t>
            </a:r>
            <a:endParaRPr lang="en-US" sz="1100" b="1" dirty="0"/>
          </a:p>
        </p:txBody>
      </p:sp>
      <p:sp>
        <p:nvSpPr>
          <p:cNvPr id="38" name="Text 35"/>
          <p:cNvSpPr txBox="1"/>
          <p:nvPr/>
        </p:nvSpPr>
        <p:spPr>
          <a:xfrm>
            <a:off x="2651760" y="470916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synthetic      probe-dfw      Login journey failing from 3 of 4 regions</a:t>
            </a:r>
            <a:endParaRPr lang="en-US" sz="1100" b="1" dirty="0"/>
          </a:p>
        </p:txBody>
      </p:sp>
      <p:sp>
        <p:nvSpPr>
          <p:cNvPr id="39" name="Text 36"/>
          <p:cNvSpPr txBox="1"/>
          <p:nvPr/>
        </p:nvSpPr>
        <p:spPr>
          <a:xfrm>
            <a:off x="822960" y="500634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16:54:25</a:t>
            </a:r>
            <a:endParaRPr lang="en-US" sz="1100" b="1" dirty="0"/>
          </a:p>
        </p:txBody>
      </p:sp>
      <p:sp>
        <p:nvSpPr>
          <p:cNvPr id="40" name="Text 37"/>
          <p:cNvSpPr txBox="1"/>
          <p:nvPr/>
        </p:nvSpPr>
        <p:spPr>
          <a:xfrm>
            <a:off x="1783080" y="5006340"/>
            <a:ext cx="777240" cy="274320"/>
          </a:xfrm>
          <a:prstGeom prst="rect">
            <a:avLst/>
          </a:prstGeom>
          <a:noFill/>
          <a:ln/>
        </p:spPr>
        <p:txBody>
          <a:bodyPr wrap="square" lIns="0" tIns="0" rIns="0" bIns="0" rtlCol="0" anchor="ctr"/>
          <a:lstStyle/>
          <a:p>
            <a:pPr marL="0" indent="0">
              <a:buNone/>
            </a:pPr>
            <a:r>
              <a:rPr lang="en-US" sz="1100" b="1" dirty="0">
                <a:solidFill>
                  <a:srgbClr val="A86400"/>
                </a:solidFill>
                <a:latin typeface="Courier New" pitchFamily="34" charset="0"/>
                <a:ea typeface="Courier New" pitchFamily="34" charset="-122"/>
                <a:cs typeface="Courier New" pitchFamily="34" charset="-120"/>
              </a:rPr>
              <a:t>error</a:t>
            </a:r>
            <a:endParaRPr lang="en-US" sz="1100" b="1" dirty="0"/>
          </a:p>
        </p:txBody>
      </p:sp>
      <p:sp>
        <p:nvSpPr>
          <p:cNvPr id="41" name="Text 38"/>
          <p:cNvSpPr txBox="1"/>
          <p:nvPr/>
        </p:nvSpPr>
        <p:spPr>
          <a:xfrm>
            <a:off x="2651760" y="500634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apm            app-web-01     Payments database connection timeout after 1500 ms</a:t>
            </a:r>
            <a:endParaRPr lang="en-US" sz="1100" b="1" dirty="0"/>
          </a:p>
        </p:txBody>
      </p:sp>
      <p:sp>
        <p:nvSpPr>
          <p:cNvPr id="42" name="Text 39"/>
          <p:cNvSpPr txBox="1"/>
          <p:nvPr/>
        </p:nvSpPr>
        <p:spPr>
          <a:xfrm>
            <a:off x="822960" y="5303520"/>
            <a:ext cx="91440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16:54:24</a:t>
            </a:r>
            <a:endParaRPr lang="en-US" sz="1100" b="1" dirty="0"/>
          </a:p>
        </p:txBody>
      </p:sp>
      <p:sp>
        <p:nvSpPr>
          <p:cNvPr id="43" name="Text 40"/>
          <p:cNvSpPr txBox="1"/>
          <p:nvPr/>
        </p:nvSpPr>
        <p:spPr>
          <a:xfrm>
            <a:off x="1783080" y="5303520"/>
            <a:ext cx="777240" cy="274320"/>
          </a:xfrm>
          <a:prstGeom prst="rect">
            <a:avLst/>
          </a:prstGeom>
          <a:noFill/>
          <a:ln/>
        </p:spPr>
        <p:txBody>
          <a:bodyPr wrap="square" lIns="0" tIns="0" rIns="0" bIns="0" rtlCol="0" anchor="ctr"/>
          <a:lstStyle/>
          <a:p>
            <a:pPr marL="0" indent="0">
              <a:buNone/>
            </a:pPr>
            <a:r>
              <a:rPr lang="en-US" sz="1100" b="1" dirty="0">
                <a:solidFill>
                  <a:srgbClr val="5A6D81"/>
                </a:solidFill>
                <a:latin typeface="Courier New" pitchFamily="34" charset="0"/>
                <a:ea typeface="Courier New" pitchFamily="34" charset="-122"/>
                <a:cs typeface="Courier New" pitchFamily="34" charset="-120"/>
              </a:rPr>
              <a:t>warning</a:t>
            </a:r>
            <a:endParaRPr lang="en-US" sz="1100" b="1" dirty="0"/>
          </a:p>
        </p:txBody>
      </p:sp>
      <p:sp>
        <p:nvSpPr>
          <p:cNvPr id="44" name="Text 41"/>
          <p:cNvSpPr txBox="1"/>
          <p:nvPr/>
        </p:nvSpPr>
        <p:spPr>
          <a:xfrm>
            <a:off x="2651760" y="5303520"/>
            <a:ext cx="8686800" cy="274320"/>
          </a:xfrm>
          <a:prstGeom prst="rect">
            <a:avLst/>
          </a:prstGeom>
          <a:noFill/>
          <a:ln/>
        </p:spPr>
        <p:txBody>
          <a:bodyPr wrap="square" lIns="0" tIns="0" rIns="0" bIns="0" rtlCol="0" anchor="ctr"/>
          <a:lstStyle/>
          <a:p>
            <a:pPr marL="0" indent="0">
              <a:buNone/>
            </a:pPr>
            <a:r>
              <a:rPr lang="en-US" sz="1100" b="1" dirty="0">
                <a:latin typeface="Courier New" pitchFamily="34" charset="0"/>
                <a:ea typeface="Courier New" pitchFamily="34" charset="-122"/>
                <a:cs typeface="Courier New" pitchFamily="34" charset="-120"/>
              </a:rPr>
              <a:t>patch-agent    win-print-02   Reboot pending for 11 days</a:t>
            </a:r>
            <a:endParaRPr lang="en-US" sz="1100" b="1" dirty="0"/>
          </a:p>
        </p:txBody>
      </p:sp>
      <p:sp>
        <p:nvSpPr>
          <p:cNvPr id="45" name="Text 42"/>
          <p:cNvSpPr txBox="1"/>
          <p:nvPr/>
        </p:nvSpPr>
        <p:spPr>
          <a:xfrm>
            <a:off x="822960" y="5760720"/>
            <a:ext cx="3657600" cy="274320"/>
          </a:xfrm>
          <a:prstGeom prst="rect">
            <a:avLst/>
          </a:prstGeom>
          <a:noFill/>
          <a:ln/>
        </p:spPr>
        <p:txBody>
          <a:bodyPr wrap="square" lIns="0" tIns="0" rIns="0" bIns="0" rtlCol="0" anchor="ctr"/>
          <a:lstStyle/>
          <a:p>
            <a:pPr marL="0" indent="0">
              <a:buNone/>
            </a:pPr>
            <a:r>
              <a:rPr lang="en-US" sz="1200" b="1" i="1" u="sng" dirty="0">
                <a:solidFill>
                  <a:srgbClr val="5A6D81"/>
                </a:solidFill>
                <a:latin typeface="Courier New" pitchFamily="34" charset="0"/>
                <a:ea typeface="Courier New" pitchFamily="34" charset="-122"/>
                <a:cs typeface="Courier New" pitchFamily="34" charset="-120"/>
              </a:rPr>
              <a:t>...and 166 more.</a:t>
            </a:r>
            <a:endParaRPr lang="en-US" sz="1200" b="1" u="sng" dirty="0"/>
          </a:p>
        </p:txBody>
      </p:sp>
      <p:sp>
        <p:nvSpPr>
          <p:cNvPr id="46" name="Text 43"/>
          <p:cNvSpPr txBox="1"/>
          <p:nvPr/>
        </p:nvSpPr>
        <p:spPr>
          <a:xfrm>
            <a:off x="6949440" y="5742432"/>
            <a:ext cx="4663440" cy="365760"/>
          </a:xfrm>
          <a:prstGeom prst="rect">
            <a:avLst/>
          </a:prstGeom>
          <a:noFill/>
          <a:ln/>
        </p:spPr>
        <p:txBody>
          <a:bodyPr wrap="square" lIns="0" tIns="0" rIns="0" bIns="0" rtlCol="0" anchor="ctr"/>
          <a:lstStyle/>
          <a:p>
            <a:pPr marL="0" indent="0" algn="r">
              <a:buNone/>
            </a:pPr>
            <a:r>
              <a:rPr lang="en-US" sz="2000" b="1" dirty="0">
                <a:latin typeface="Calibri" pitchFamily="34" charset="0"/>
                <a:ea typeface="Calibri" pitchFamily="34" charset="-122"/>
                <a:cs typeface="Calibri" pitchFamily="34" charset="-120"/>
              </a:rPr>
              <a:t>Which one caused the rest?</a:t>
            </a:r>
            <a:endParaRPr lang="en-US" sz="2000" b="1"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42E28"/>
                </a:solidFill>
                <a:latin typeface="Calibri" pitchFamily="34" charset="0"/>
                <a:ea typeface="Calibri" pitchFamily="34" charset="-122"/>
                <a:cs typeface="Calibri" pitchFamily="34" charset="-120"/>
              </a:rPr>
              <a:t>MEANWHILE, IN THE ON-CALL CHANNEL</a:t>
            </a:r>
            <a:endParaRPr lang="en-US" sz="1200" dirty="0"/>
          </a:p>
        </p:txBody>
      </p:sp>
      <p:sp>
        <p:nvSpPr>
          <p:cNvPr id="8" name="Text 5"/>
          <p:cNvSpPr txBox="1"/>
          <p:nvPr/>
        </p:nvSpPr>
        <p:spPr>
          <a:xfrm>
            <a:off x="586740" y="5609191"/>
            <a:ext cx="11018520" cy="868680"/>
          </a:xfrm>
          <a:prstGeom prst="rect">
            <a:avLst/>
          </a:prstGeom>
          <a:noFill/>
          <a:ln/>
        </p:spPr>
        <p:txBody>
          <a:bodyPr wrap="square" lIns="0" tIns="0" rIns="0" bIns="0" rtlCol="0" anchor="t"/>
          <a:lstStyle/>
          <a:p>
            <a:pPr marL="0" indent="0" algn="ctr">
              <a:buNone/>
            </a:pPr>
            <a:r>
              <a:rPr lang="en-US" sz="2700" b="1" dirty="0">
                <a:solidFill>
                  <a:srgbClr val="16212C"/>
                </a:solidFill>
                <a:latin typeface="Calibri" pitchFamily="34" charset="0"/>
                <a:ea typeface="Calibri" pitchFamily="34" charset="-122"/>
                <a:cs typeface="Calibri" pitchFamily="34" charset="-120"/>
              </a:rPr>
              <a:t>Nobody finds it by reading faster.</a:t>
            </a:r>
            <a:endParaRPr lang="en-US" sz="2700" dirty="0"/>
          </a:p>
        </p:txBody>
      </p:sp>
      <p:pic>
        <p:nvPicPr>
          <p:cNvPr id="2" name="Picture 1" descr="Everything Is Fine GIFs - Download &amp; Share | GIFDB.com">
            <a:extLst>
              <a:ext uri="{FF2B5EF4-FFF2-40B4-BE49-F238E27FC236}">
                <a16:creationId xmlns:a16="http://schemas.microsoft.com/office/drawing/2014/main" id="{94B8AF11-65EE-144A-8994-B6E0EE4B09D5}"/>
              </a:ext>
            </a:extLst>
          </p:cNvPr>
          <p:cNvPicPr>
            <a:picLocks noChangeAspect="1"/>
          </p:cNvPicPr>
          <p:nvPr/>
        </p:nvPicPr>
        <p:blipFill>
          <a:blip r:embed="rId3"/>
          <a:stretch>
            <a:fillRect/>
          </a:stretch>
        </p:blipFill>
        <p:spPr>
          <a:xfrm>
            <a:off x="3605522" y="731520"/>
            <a:ext cx="4743450" cy="47434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THE WORD THAT DOES A LOT OF WORK</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Correlation - Three different things</a:t>
            </a:r>
            <a:endParaRPr lang="en-US" sz="3600" dirty="0"/>
          </a:p>
        </p:txBody>
      </p:sp>
      <p:sp>
        <p:nvSpPr>
          <p:cNvPr id="5" name="Shape 2"/>
          <p:cNvSpPr/>
          <p:nvPr/>
        </p:nvSpPr>
        <p:spPr>
          <a:xfrm>
            <a:off x="594360" y="1783080"/>
            <a:ext cx="3429000" cy="3703320"/>
          </a:xfrm>
          <a:prstGeom prst="roundRect">
            <a:avLst>
              <a:gd name="adj" fmla="val 1600"/>
            </a:avLst>
          </a:prstGeom>
          <a:solidFill>
            <a:srgbClr val="E7EDF3"/>
          </a:solidFill>
          <a:ln/>
        </p:spPr>
        <p:txBody>
          <a:bodyPr/>
          <a:lstStyle/>
          <a:p>
            <a:endParaRPr lang="en-US"/>
          </a:p>
        </p:txBody>
      </p:sp>
      <p:sp>
        <p:nvSpPr>
          <p:cNvPr id="6" name="Shape 3"/>
          <p:cNvSpPr/>
          <p:nvPr/>
        </p:nvSpPr>
        <p:spPr>
          <a:xfrm>
            <a:off x="914400" y="2103120"/>
            <a:ext cx="457200" cy="457200"/>
          </a:xfrm>
          <a:prstGeom prst="ellipse">
            <a:avLst/>
          </a:prstGeom>
          <a:solidFill>
            <a:srgbClr val="5B9BD5"/>
          </a:solidFill>
          <a:ln/>
        </p:spPr>
        <p:txBody>
          <a:bodyPr/>
          <a:lstStyle/>
          <a:p>
            <a:endParaRPr lang="en-US"/>
          </a:p>
        </p:txBody>
      </p:sp>
      <p:sp>
        <p:nvSpPr>
          <p:cNvPr id="7" name="Text 4"/>
          <p:cNvSpPr txBox="1"/>
          <p:nvPr/>
        </p:nvSpPr>
        <p:spPr>
          <a:xfrm>
            <a:off x="91440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914400" y="2743200"/>
            <a:ext cx="2788920" cy="365760"/>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Deduplication</a:t>
            </a:r>
            <a:endParaRPr lang="en-US" sz="2100" dirty="0"/>
          </a:p>
        </p:txBody>
      </p:sp>
      <p:sp>
        <p:nvSpPr>
          <p:cNvPr id="9" name="Text 6"/>
          <p:cNvSpPr txBox="1"/>
          <p:nvPr/>
        </p:nvSpPr>
        <p:spPr>
          <a:xfrm>
            <a:off x="914400" y="3200400"/>
            <a:ext cx="2788920" cy="548640"/>
          </a:xfrm>
          <a:prstGeom prst="rect">
            <a:avLst/>
          </a:prstGeom>
          <a:noFill/>
          <a:ln/>
        </p:spPr>
        <p:txBody>
          <a:bodyPr wrap="square" lIns="0" tIns="0" rIns="0" bIns="0" rtlCol="0" anchor="t"/>
          <a:lstStyle/>
          <a:p>
            <a:pPr marL="0" indent="0">
              <a:buNone/>
            </a:pPr>
            <a:r>
              <a:rPr lang="en-US" sz="1500" i="1" dirty="0">
                <a:solidFill>
                  <a:srgbClr val="2C68A8"/>
                </a:solidFill>
                <a:latin typeface="Calibri" pitchFamily="34" charset="0"/>
                <a:ea typeface="Calibri" pitchFamily="34" charset="-122"/>
                <a:cs typeface="Calibri" pitchFamily="34" charset="-120"/>
              </a:rPr>
              <a:t>Is this the same thing I already saw?</a:t>
            </a:r>
            <a:endParaRPr lang="en-US" sz="1500" dirty="0"/>
          </a:p>
        </p:txBody>
      </p:sp>
      <p:sp>
        <p:nvSpPr>
          <p:cNvPr id="10" name="Text 7"/>
          <p:cNvSpPr txBox="1"/>
          <p:nvPr/>
        </p:nvSpPr>
        <p:spPr>
          <a:xfrm>
            <a:off x="914400" y="3840480"/>
            <a:ext cx="2788920" cy="822960"/>
          </a:xfrm>
          <a:prstGeom prst="rect">
            <a:avLst/>
          </a:prstGeom>
          <a:noFill/>
          <a:ln/>
        </p:spPr>
        <p:txBody>
          <a:bodyPr wrap="square" lIns="0" tIns="0" rIns="0" bIns="0" rtlCol="0" anchor="t"/>
          <a:lstStyle/>
          <a:p>
            <a:pPr marL="0" indent="0">
              <a:buNone/>
            </a:pPr>
            <a:r>
              <a:rPr lang="en-US" sz="1400" dirty="0">
                <a:solidFill>
                  <a:srgbClr val="475A6D"/>
                </a:solidFill>
                <a:latin typeface="Calibri" pitchFamily="34" charset="0"/>
                <a:ea typeface="Calibri" pitchFamily="34" charset="-122"/>
                <a:cs typeface="Calibri" pitchFamily="34" charset="-120"/>
              </a:rPr>
              <a:t>Same failure, 300 times. One row, count 300.</a:t>
            </a:r>
            <a:endParaRPr lang="en-US" sz="1400" dirty="0"/>
          </a:p>
        </p:txBody>
      </p:sp>
      <p:sp>
        <p:nvSpPr>
          <p:cNvPr id="11" name="Text 8"/>
          <p:cNvSpPr txBox="1"/>
          <p:nvPr/>
        </p:nvSpPr>
        <p:spPr>
          <a:xfrm>
            <a:off x="914400" y="4892040"/>
            <a:ext cx="2788920" cy="320040"/>
          </a:xfrm>
          <a:prstGeom prst="rect">
            <a:avLst/>
          </a:prstGeom>
          <a:noFill/>
          <a:ln/>
        </p:spPr>
        <p:txBody>
          <a:bodyPr wrap="square" lIns="0" tIns="0" rIns="0" bIns="0" rtlCol="0" anchor="ctr"/>
          <a:lstStyle/>
          <a:p>
            <a:pPr marL="0" indent="0">
              <a:buNone/>
            </a:pPr>
            <a:r>
              <a:rPr lang="en-US" sz="1300" b="1" dirty="0">
                <a:solidFill>
                  <a:srgbClr val="5A6D81"/>
                </a:solidFill>
                <a:latin typeface="Calibri" pitchFamily="34" charset="0"/>
                <a:ea typeface="Calibri" pitchFamily="34" charset="-122"/>
                <a:cs typeface="Calibri" pitchFamily="34" charset="-120"/>
              </a:rPr>
              <a:t>Most tools do this.</a:t>
            </a:r>
            <a:endParaRPr lang="en-US" sz="1300" dirty="0"/>
          </a:p>
        </p:txBody>
      </p:sp>
      <p:sp>
        <p:nvSpPr>
          <p:cNvPr id="12" name="Shape 9"/>
          <p:cNvSpPr/>
          <p:nvPr/>
        </p:nvSpPr>
        <p:spPr>
          <a:xfrm>
            <a:off x="4389120" y="1783080"/>
            <a:ext cx="3429000" cy="3703320"/>
          </a:xfrm>
          <a:prstGeom prst="roundRect">
            <a:avLst>
              <a:gd name="adj" fmla="val 1600"/>
            </a:avLst>
          </a:prstGeom>
          <a:solidFill>
            <a:srgbClr val="E7EDF3"/>
          </a:solidFill>
          <a:ln/>
        </p:spPr>
        <p:txBody>
          <a:bodyPr/>
          <a:lstStyle/>
          <a:p>
            <a:endParaRPr lang="en-US"/>
          </a:p>
        </p:txBody>
      </p:sp>
      <p:sp>
        <p:nvSpPr>
          <p:cNvPr id="13" name="Shape 10"/>
          <p:cNvSpPr/>
          <p:nvPr/>
        </p:nvSpPr>
        <p:spPr>
          <a:xfrm>
            <a:off x="4709160" y="2103120"/>
            <a:ext cx="457200" cy="457200"/>
          </a:xfrm>
          <a:prstGeom prst="ellipse">
            <a:avLst/>
          </a:prstGeom>
          <a:solidFill>
            <a:srgbClr val="E8A33D"/>
          </a:solidFill>
          <a:ln/>
        </p:spPr>
        <p:txBody>
          <a:bodyPr/>
          <a:lstStyle/>
          <a:p>
            <a:endParaRPr lang="en-US"/>
          </a:p>
        </p:txBody>
      </p:sp>
      <p:sp>
        <p:nvSpPr>
          <p:cNvPr id="14" name="Text 11"/>
          <p:cNvSpPr txBox="1"/>
          <p:nvPr/>
        </p:nvSpPr>
        <p:spPr>
          <a:xfrm>
            <a:off x="470916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4709160" y="2743200"/>
            <a:ext cx="2788920" cy="365760"/>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Grouping</a:t>
            </a:r>
            <a:endParaRPr lang="en-US" sz="2100" dirty="0"/>
          </a:p>
        </p:txBody>
      </p:sp>
      <p:sp>
        <p:nvSpPr>
          <p:cNvPr id="16" name="Text 13"/>
          <p:cNvSpPr txBox="1"/>
          <p:nvPr/>
        </p:nvSpPr>
        <p:spPr>
          <a:xfrm>
            <a:off x="4709160" y="3200400"/>
            <a:ext cx="2788920" cy="548640"/>
          </a:xfrm>
          <a:prstGeom prst="rect">
            <a:avLst/>
          </a:prstGeom>
          <a:noFill/>
          <a:ln/>
        </p:spPr>
        <p:txBody>
          <a:bodyPr wrap="square" lIns="0" tIns="0" rIns="0" bIns="0" rtlCol="0" anchor="t"/>
          <a:lstStyle/>
          <a:p>
            <a:pPr marL="0" indent="0">
              <a:buNone/>
            </a:pPr>
            <a:r>
              <a:rPr lang="en-US" sz="1500" i="1" dirty="0">
                <a:solidFill>
                  <a:srgbClr val="A86400"/>
                </a:solidFill>
                <a:latin typeface="Calibri" pitchFamily="34" charset="0"/>
                <a:ea typeface="Calibri" pitchFamily="34" charset="-122"/>
                <a:cs typeface="Calibri" pitchFamily="34" charset="-120"/>
              </a:rPr>
              <a:t>Do these belong to the same incident?</a:t>
            </a:r>
            <a:endParaRPr lang="en-US" sz="1500" dirty="0"/>
          </a:p>
        </p:txBody>
      </p:sp>
      <p:sp>
        <p:nvSpPr>
          <p:cNvPr id="17" name="Text 14"/>
          <p:cNvSpPr txBox="1"/>
          <p:nvPr/>
        </p:nvSpPr>
        <p:spPr>
          <a:xfrm>
            <a:off x="4709160" y="3840480"/>
            <a:ext cx="2788920" cy="822960"/>
          </a:xfrm>
          <a:prstGeom prst="rect">
            <a:avLst/>
          </a:prstGeom>
          <a:noFill/>
          <a:ln/>
        </p:spPr>
        <p:txBody>
          <a:bodyPr wrap="square" lIns="0" tIns="0" rIns="0" bIns="0" rtlCol="0" anchor="t"/>
          <a:lstStyle/>
          <a:p>
            <a:pPr marL="0" indent="0">
              <a:buNone/>
            </a:pPr>
            <a:r>
              <a:rPr lang="en-US" sz="1400" dirty="0">
                <a:solidFill>
                  <a:srgbClr val="475A6D"/>
                </a:solidFill>
                <a:latin typeface="Calibri" pitchFamily="34" charset="0"/>
                <a:ea typeface="Calibri" pitchFamily="34" charset="-122"/>
                <a:cs typeface="Calibri" pitchFamily="34" charset="-120"/>
              </a:rPr>
              <a:t>Same host, same resource, same trace.</a:t>
            </a:r>
            <a:endParaRPr lang="en-US" sz="1400" dirty="0"/>
          </a:p>
        </p:txBody>
      </p:sp>
      <p:sp>
        <p:nvSpPr>
          <p:cNvPr id="18" name="Text 15"/>
          <p:cNvSpPr txBox="1"/>
          <p:nvPr/>
        </p:nvSpPr>
        <p:spPr>
          <a:xfrm>
            <a:off x="4709160" y="4892040"/>
            <a:ext cx="2788920" cy="320040"/>
          </a:xfrm>
          <a:prstGeom prst="rect">
            <a:avLst/>
          </a:prstGeom>
          <a:noFill/>
          <a:ln/>
        </p:spPr>
        <p:txBody>
          <a:bodyPr wrap="square" lIns="0" tIns="0" rIns="0" bIns="0" rtlCol="0" anchor="ctr"/>
          <a:lstStyle/>
          <a:p>
            <a:pPr marL="0" indent="0">
              <a:buNone/>
            </a:pPr>
            <a:r>
              <a:rPr lang="en-US" sz="1300" b="1" dirty="0">
                <a:solidFill>
                  <a:srgbClr val="5A6D81"/>
                </a:solidFill>
                <a:latin typeface="Calibri" pitchFamily="34" charset="0"/>
                <a:ea typeface="Calibri" pitchFamily="34" charset="-122"/>
                <a:cs typeface="Calibri" pitchFamily="34" charset="-120"/>
              </a:rPr>
              <a:t>Some tools do this.</a:t>
            </a:r>
            <a:endParaRPr lang="en-US" sz="1300" dirty="0"/>
          </a:p>
        </p:txBody>
      </p:sp>
      <p:sp>
        <p:nvSpPr>
          <p:cNvPr id="19" name="Shape 16"/>
          <p:cNvSpPr/>
          <p:nvPr/>
        </p:nvSpPr>
        <p:spPr>
          <a:xfrm>
            <a:off x="8183880" y="1783080"/>
            <a:ext cx="3429000" cy="3703320"/>
          </a:xfrm>
          <a:prstGeom prst="roundRect">
            <a:avLst>
              <a:gd name="adj" fmla="val 1600"/>
            </a:avLst>
          </a:prstGeom>
          <a:solidFill>
            <a:srgbClr val="E7EDF3"/>
          </a:solidFill>
          <a:ln/>
        </p:spPr>
        <p:txBody>
          <a:bodyPr/>
          <a:lstStyle/>
          <a:p>
            <a:endParaRPr lang="en-US"/>
          </a:p>
        </p:txBody>
      </p:sp>
      <p:sp>
        <p:nvSpPr>
          <p:cNvPr id="20" name="Shape 17"/>
          <p:cNvSpPr/>
          <p:nvPr/>
        </p:nvSpPr>
        <p:spPr>
          <a:xfrm>
            <a:off x="8503920" y="2103120"/>
            <a:ext cx="457200" cy="457200"/>
          </a:xfrm>
          <a:prstGeom prst="ellipse">
            <a:avLst/>
          </a:prstGeom>
          <a:solidFill>
            <a:srgbClr val="E0443E"/>
          </a:solidFill>
          <a:ln/>
        </p:spPr>
        <p:txBody>
          <a:bodyPr/>
          <a:lstStyle/>
          <a:p>
            <a:endParaRPr lang="en-US"/>
          </a:p>
        </p:txBody>
      </p:sp>
      <p:sp>
        <p:nvSpPr>
          <p:cNvPr id="21" name="Text 18"/>
          <p:cNvSpPr txBox="1"/>
          <p:nvPr/>
        </p:nvSpPr>
        <p:spPr>
          <a:xfrm>
            <a:off x="8503920" y="2103120"/>
            <a:ext cx="457200" cy="45720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8503920" y="2743200"/>
            <a:ext cx="2788920" cy="365760"/>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Causality</a:t>
            </a:r>
            <a:endParaRPr lang="en-US" sz="2100" dirty="0"/>
          </a:p>
        </p:txBody>
      </p:sp>
      <p:sp>
        <p:nvSpPr>
          <p:cNvPr id="23" name="Text 20"/>
          <p:cNvSpPr txBox="1"/>
          <p:nvPr/>
        </p:nvSpPr>
        <p:spPr>
          <a:xfrm>
            <a:off x="8503920" y="3200400"/>
            <a:ext cx="2788920" cy="548640"/>
          </a:xfrm>
          <a:prstGeom prst="rect">
            <a:avLst/>
          </a:prstGeom>
          <a:noFill/>
          <a:ln/>
        </p:spPr>
        <p:txBody>
          <a:bodyPr wrap="square" lIns="0" tIns="0" rIns="0" bIns="0" rtlCol="0" anchor="t"/>
          <a:lstStyle/>
          <a:p>
            <a:pPr marL="0" indent="0">
              <a:buNone/>
            </a:pPr>
            <a:r>
              <a:rPr lang="en-US" sz="1500" i="1" dirty="0">
                <a:solidFill>
                  <a:srgbClr val="C42E28"/>
                </a:solidFill>
                <a:latin typeface="Calibri" pitchFamily="34" charset="0"/>
                <a:ea typeface="Calibri" pitchFamily="34" charset="-122"/>
                <a:cs typeface="Calibri" pitchFamily="34" charset="-120"/>
              </a:rPr>
              <a:t>Did this one cause that one?</a:t>
            </a:r>
            <a:endParaRPr lang="en-US" sz="1500" dirty="0"/>
          </a:p>
        </p:txBody>
      </p:sp>
      <p:sp>
        <p:nvSpPr>
          <p:cNvPr id="24" name="Text 21"/>
          <p:cNvSpPr txBox="1"/>
          <p:nvPr/>
        </p:nvSpPr>
        <p:spPr>
          <a:xfrm>
            <a:off x="8503920" y="3840480"/>
            <a:ext cx="2788920" cy="822960"/>
          </a:xfrm>
          <a:prstGeom prst="rect">
            <a:avLst/>
          </a:prstGeom>
          <a:noFill/>
          <a:ln/>
        </p:spPr>
        <p:txBody>
          <a:bodyPr wrap="square" lIns="0" tIns="0" rIns="0" bIns="0" rtlCol="0" anchor="t"/>
          <a:lstStyle/>
          <a:p>
            <a:pPr marL="0" indent="0">
              <a:buNone/>
            </a:pPr>
            <a:r>
              <a:rPr lang="en-US" sz="1400" dirty="0">
                <a:solidFill>
                  <a:srgbClr val="475A6D"/>
                </a:solidFill>
                <a:latin typeface="Calibri" pitchFamily="34" charset="0"/>
                <a:ea typeface="Calibri" pitchFamily="34" charset="-122"/>
                <a:cs typeface="Calibri" pitchFamily="34" charset="-120"/>
              </a:rPr>
              <a:t>A backup job on one host starved a database on another.</a:t>
            </a:r>
            <a:endParaRPr lang="en-US" sz="1400" dirty="0"/>
          </a:p>
        </p:txBody>
      </p:sp>
      <p:sp>
        <p:nvSpPr>
          <p:cNvPr id="25" name="Text 22"/>
          <p:cNvSpPr txBox="1"/>
          <p:nvPr/>
        </p:nvSpPr>
        <p:spPr>
          <a:xfrm>
            <a:off x="8503920" y="4892040"/>
            <a:ext cx="2788920" cy="320040"/>
          </a:xfrm>
          <a:prstGeom prst="rect">
            <a:avLst/>
          </a:prstGeom>
          <a:noFill/>
          <a:ln/>
        </p:spPr>
        <p:txBody>
          <a:bodyPr wrap="square" lIns="0" tIns="0" rIns="0" bIns="0" rtlCol="0" anchor="ctr"/>
          <a:lstStyle/>
          <a:p>
            <a:pPr marL="0" indent="0">
              <a:buNone/>
            </a:pPr>
            <a:r>
              <a:rPr lang="en-US" sz="1300" b="1" dirty="0">
                <a:solidFill>
                  <a:srgbClr val="5A6D81"/>
                </a:solidFill>
                <a:latin typeface="Calibri" pitchFamily="34" charset="0"/>
                <a:ea typeface="Calibri" pitchFamily="34" charset="-122"/>
                <a:cs typeface="Calibri" pitchFamily="34" charset="-120"/>
              </a:rPr>
              <a:t>Almost nothing does this.</a:t>
            </a:r>
            <a:endParaRPr lang="en-US" sz="1300" dirty="0"/>
          </a:p>
        </p:txBody>
      </p:sp>
      <p:sp>
        <p:nvSpPr>
          <p:cNvPr id="26" name="Text 23"/>
          <p:cNvSpPr txBox="1"/>
          <p:nvPr/>
        </p:nvSpPr>
        <p:spPr>
          <a:xfrm>
            <a:off x="4042459" y="5760720"/>
            <a:ext cx="3162201" cy="365760"/>
          </a:xfrm>
          <a:prstGeom prst="rect">
            <a:avLst/>
          </a:prstGeom>
          <a:noFill/>
          <a:ln/>
        </p:spPr>
        <p:txBody>
          <a:bodyPr wrap="square" lIns="0" tIns="0" rIns="0" bIns="0" rtlCol="0" anchor="ctr"/>
          <a:lstStyle/>
          <a:p>
            <a:pPr marL="0" indent="0">
              <a:buNone/>
            </a:pPr>
            <a:r>
              <a:rPr lang="en-US" sz="1700" b="1" dirty="0">
                <a:solidFill>
                  <a:srgbClr val="16212C"/>
                </a:solidFill>
                <a:latin typeface="Calibri" pitchFamily="34" charset="0"/>
                <a:ea typeface="Calibri" pitchFamily="34" charset="-122"/>
                <a:cs typeface="Calibri" pitchFamily="34" charset="-120"/>
              </a:rPr>
              <a:t>Only the third one needs a model. </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2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2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2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EVERYTHING LANDS ON ONE HUB</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Where the events come from</a:t>
            </a:r>
            <a:endParaRPr lang="en-US" sz="3600" dirty="0"/>
          </a:p>
        </p:txBody>
      </p:sp>
      <p:sp>
        <p:nvSpPr>
          <p:cNvPr id="5" name="Shape 2"/>
          <p:cNvSpPr/>
          <p:nvPr/>
        </p:nvSpPr>
        <p:spPr>
          <a:xfrm>
            <a:off x="594360" y="1783080"/>
            <a:ext cx="11018520" cy="1207008"/>
          </a:xfrm>
          <a:prstGeom prst="roundRect">
            <a:avLst>
              <a:gd name="adj" fmla="val 4545"/>
            </a:avLst>
          </a:prstGeom>
          <a:solidFill>
            <a:srgbClr val="E7EDF3"/>
          </a:solidFill>
          <a:ln/>
        </p:spPr>
        <p:txBody>
          <a:bodyPr/>
          <a:lstStyle/>
          <a:p>
            <a:endParaRPr lang="en-US"/>
          </a:p>
        </p:txBody>
      </p:sp>
      <p:sp>
        <p:nvSpPr>
          <p:cNvPr id="6" name="Shape 3"/>
          <p:cNvSpPr/>
          <p:nvPr/>
        </p:nvSpPr>
        <p:spPr>
          <a:xfrm>
            <a:off x="886968" y="2148840"/>
            <a:ext cx="475488" cy="475488"/>
          </a:xfrm>
          <a:prstGeom prst="ellipse">
            <a:avLst/>
          </a:prstGeom>
          <a:solidFill>
            <a:srgbClr val="5B9BD5"/>
          </a:solidFill>
          <a:ln/>
        </p:spPr>
        <p:txBody>
          <a:bodyPr/>
          <a:lstStyle/>
          <a:p>
            <a:endParaRPr lang="en-US"/>
          </a:p>
        </p:txBody>
      </p:sp>
      <p:sp>
        <p:nvSpPr>
          <p:cNvPr id="7" name="Text 4"/>
          <p:cNvSpPr txBox="1"/>
          <p:nvPr/>
        </p:nvSpPr>
        <p:spPr>
          <a:xfrm>
            <a:off x="886968" y="21488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84248"/>
            <a:ext cx="2926080" cy="365760"/>
          </a:xfrm>
          <a:prstGeom prst="rect">
            <a:avLst/>
          </a:prstGeom>
          <a:noFill/>
          <a:ln/>
        </p:spPr>
        <p:txBody>
          <a:bodyPr wrap="square" lIns="0" tIns="0" rIns="0" bIns="0" rtlCol="0" anchor="ctr"/>
          <a:lstStyle/>
          <a:p>
            <a:pPr marL="0" indent="0">
              <a:buNone/>
            </a:pPr>
            <a:r>
              <a:rPr lang="en-US" sz="1900" b="1" dirty="0">
                <a:solidFill>
                  <a:srgbClr val="16212C"/>
                </a:solidFill>
                <a:latin typeface="Calibri" pitchFamily="34" charset="0"/>
                <a:ea typeface="Calibri" pitchFamily="34" charset="-122"/>
                <a:cs typeface="Calibri" pitchFamily="34" charset="-120"/>
              </a:rPr>
              <a:t>OpenTelemetry</a:t>
            </a:r>
            <a:endParaRPr lang="en-US" sz="1900" dirty="0"/>
          </a:p>
        </p:txBody>
      </p:sp>
      <p:sp>
        <p:nvSpPr>
          <p:cNvPr id="9" name="Text 6"/>
          <p:cNvSpPr txBox="1"/>
          <p:nvPr/>
        </p:nvSpPr>
        <p:spPr>
          <a:xfrm>
            <a:off x="1554480" y="2404872"/>
            <a:ext cx="2926080" cy="365760"/>
          </a:xfrm>
          <a:prstGeom prst="rect">
            <a:avLst/>
          </a:prstGeom>
          <a:noFill/>
          <a:ln/>
        </p:spPr>
        <p:txBody>
          <a:bodyPr wrap="square" lIns="0" tIns="0" rIns="0" bIns="0" rtlCol="0" anchor="ctr"/>
          <a:lstStyle/>
          <a:p>
            <a:pPr marL="0" indent="0">
              <a:buNone/>
            </a:pPr>
            <a:r>
              <a:rPr lang="en-US" sz="1300" i="1" dirty="0">
                <a:solidFill>
                  <a:srgbClr val="2C68A8"/>
                </a:solidFill>
                <a:latin typeface="Calibri" pitchFamily="34" charset="0"/>
                <a:ea typeface="Calibri" pitchFamily="34" charset="-122"/>
                <a:cs typeface="Calibri" pitchFamily="34" charset="-120"/>
              </a:rPr>
              <a:t>A real Flask app on this laptop</a:t>
            </a:r>
            <a:endParaRPr lang="en-US" sz="1300" dirty="0"/>
          </a:p>
        </p:txBody>
      </p:sp>
      <p:sp>
        <p:nvSpPr>
          <p:cNvPr id="10" name="Text 7"/>
          <p:cNvSpPr txBox="1"/>
          <p:nvPr/>
        </p:nvSpPr>
        <p:spPr>
          <a:xfrm>
            <a:off x="4709160" y="2057400"/>
            <a:ext cx="667512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Requests, dependencies and exceptions, one trace per checkout, exported through Application Insights.</a:t>
            </a:r>
            <a:endParaRPr lang="en-US" sz="1400" dirty="0"/>
          </a:p>
        </p:txBody>
      </p:sp>
      <p:sp>
        <p:nvSpPr>
          <p:cNvPr id="11" name="Shape 8"/>
          <p:cNvSpPr/>
          <p:nvPr/>
        </p:nvSpPr>
        <p:spPr>
          <a:xfrm>
            <a:off x="594360" y="3154680"/>
            <a:ext cx="11018520" cy="1207008"/>
          </a:xfrm>
          <a:prstGeom prst="roundRect">
            <a:avLst>
              <a:gd name="adj" fmla="val 4545"/>
            </a:avLst>
          </a:prstGeom>
          <a:solidFill>
            <a:srgbClr val="E7EDF3"/>
          </a:solidFill>
          <a:ln/>
        </p:spPr>
        <p:txBody>
          <a:bodyPr/>
          <a:lstStyle/>
          <a:p>
            <a:endParaRPr lang="en-US"/>
          </a:p>
        </p:txBody>
      </p:sp>
      <p:sp>
        <p:nvSpPr>
          <p:cNvPr id="12" name="Shape 9"/>
          <p:cNvSpPr/>
          <p:nvPr/>
        </p:nvSpPr>
        <p:spPr>
          <a:xfrm>
            <a:off x="886968" y="3520440"/>
            <a:ext cx="475488" cy="475488"/>
          </a:xfrm>
          <a:prstGeom prst="ellipse">
            <a:avLst/>
          </a:prstGeom>
          <a:solidFill>
            <a:srgbClr val="E8A33D"/>
          </a:solidFill>
          <a:ln/>
        </p:spPr>
        <p:txBody>
          <a:bodyPr/>
          <a:lstStyle/>
          <a:p>
            <a:endParaRPr lang="en-US"/>
          </a:p>
        </p:txBody>
      </p:sp>
      <p:sp>
        <p:nvSpPr>
          <p:cNvPr id="13" name="Text 10"/>
          <p:cNvSpPr txBox="1"/>
          <p:nvPr/>
        </p:nvSpPr>
        <p:spPr>
          <a:xfrm>
            <a:off x="886968" y="35204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4" name="Text 11"/>
          <p:cNvSpPr txBox="1"/>
          <p:nvPr/>
        </p:nvSpPr>
        <p:spPr>
          <a:xfrm>
            <a:off x="1554480" y="3355848"/>
            <a:ext cx="2926080" cy="365760"/>
          </a:xfrm>
          <a:prstGeom prst="rect">
            <a:avLst/>
          </a:prstGeom>
          <a:noFill/>
          <a:ln/>
        </p:spPr>
        <p:txBody>
          <a:bodyPr wrap="square" lIns="0" tIns="0" rIns="0" bIns="0" rtlCol="0" anchor="ctr"/>
          <a:lstStyle/>
          <a:p>
            <a:pPr marL="0" indent="0">
              <a:buNone/>
            </a:pPr>
            <a:r>
              <a:rPr lang="en-US" sz="1900" b="1" dirty="0">
                <a:solidFill>
                  <a:srgbClr val="16212C"/>
                </a:solidFill>
                <a:latin typeface="Calibri" pitchFamily="34" charset="0"/>
                <a:ea typeface="Calibri" pitchFamily="34" charset="-122"/>
                <a:cs typeface="Calibri" pitchFamily="34" charset="-120"/>
              </a:rPr>
              <a:t>Azure Monitor</a:t>
            </a:r>
            <a:endParaRPr lang="en-US" sz="1900" dirty="0"/>
          </a:p>
        </p:txBody>
      </p:sp>
      <p:sp>
        <p:nvSpPr>
          <p:cNvPr id="15" name="Text 12"/>
          <p:cNvSpPr txBox="1"/>
          <p:nvPr/>
        </p:nvSpPr>
        <p:spPr>
          <a:xfrm>
            <a:off x="1554480" y="3776472"/>
            <a:ext cx="2926080" cy="365760"/>
          </a:xfrm>
          <a:prstGeom prst="rect">
            <a:avLst/>
          </a:prstGeom>
          <a:noFill/>
          <a:ln/>
        </p:spPr>
        <p:txBody>
          <a:bodyPr wrap="square" lIns="0" tIns="0" rIns="0" bIns="0" rtlCol="0" anchor="ctr"/>
          <a:lstStyle/>
          <a:p>
            <a:pPr marL="0" indent="0">
              <a:buNone/>
            </a:pPr>
            <a:r>
              <a:rPr lang="en-US" sz="1300" i="1" dirty="0">
                <a:solidFill>
                  <a:srgbClr val="A86400"/>
                </a:solidFill>
                <a:latin typeface="Calibri" pitchFamily="34" charset="0"/>
                <a:ea typeface="Calibri" pitchFamily="34" charset="-122"/>
                <a:cs typeface="Calibri" pitchFamily="34" charset="-120"/>
              </a:rPr>
              <a:t>A metric alert on failed requests</a:t>
            </a:r>
            <a:endParaRPr lang="en-US" sz="1300" dirty="0"/>
          </a:p>
        </p:txBody>
      </p:sp>
      <p:sp>
        <p:nvSpPr>
          <p:cNvPr id="16" name="Text 13"/>
          <p:cNvSpPr txBox="1"/>
          <p:nvPr/>
        </p:nvSpPr>
        <p:spPr>
          <a:xfrm>
            <a:off x="4709160" y="3429000"/>
            <a:ext cx="667512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Common alert schema, straight to the hub via an action group. No glue code.</a:t>
            </a:r>
            <a:endParaRPr lang="en-US" sz="1400" dirty="0"/>
          </a:p>
        </p:txBody>
      </p:sp>
      <p:sp>
        <p:nvSpPr>
          <p:cNvPr id="17" name="Shape 14"/>
          <p:cNvSpPr/>
          <p:nvPr/>
        </p:nvSpPr>
        <p:spPr>
          <a:xfrm>
            <a:off x="594360" y="4526280"/>
            <a:ext cx="11018520" cy="1207008"/>
          </a:xfrm>
          <a:prstGeom prst="roundRect">
            <a:avLst>
              <a:gd name="adj" fmla="val 4545"/>
            </a:avLst>
          </a:prstGeom>
          <a:solidFill>
            <a:srgbClr val="E7EDF3"/>
          </a:solidFill>
          <a:ln/>
        </p:spPr>
        <p:txBody>
          <a:bodyPr/>
          <a:lstStyle/>
          <a:p>
            <a:endParaRPr lang="en-US"/>
          </a:p>
        </p:txBody>
      </p:sp>
      <p:sp>
        <p:nvSpPr>
          <p:cNvPr id="18" name="Shape 15"/>
          <p:cNvSpPr/>
          <p:nvPr/>
        </p:nvSpPr>
        <p:spPr>
          <a:xfrm>
            <a:off x="886968" y="4892040"/>
            <a:ext cx="475488" cy="475488"/>
          </a:xfrm>
          <a:prstGeom prst="ellipse">
            <a:avLst/>
          </a:prstGeom>
          <a:solidFill>
            <a:srgbClr val="46B98A"/>
          </a:solidFill>
          <a:ln/>
        </p:spPr>
        <p:txBody>
          <a:bodyPr/>
          <a:lstStyle/>
          <a:p>
            <a:endParaRPr lang="en-US"/>
          </a:p>
        </p:txBody>
      </p:sp>
      <p:sp>
        <p:nvSpPr>
          <p:cNvPr id="19" name="Text 16"/>
          <p:cNvSpPr txBox="1"/>
          <p:nvPr/>
        </p:nvSpPr>
        <p:spPr>
          <a:xfrm>
            <a:off x="886968" y="4892040"/>
            <a:ext cx="475488" cy="475488"/>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0" name="Text 17"/>
          <p:cNvSpPr txBox="1"/>
          <p:nvPr/>
        </p:nvSpPr>
        <p:spPr>
          <a:xfrm>
            <a:off x="1554480" y="4727448"/>
            <a:ext cx="2926080" cy="365760"/>
          </a:xfrm>
          <a:prstGeom prst="rect">
            <a:avLst/>
          </a:prstGeom>
          <a:noFill/>
          <a:ln/>
        </p:spPr>
        <p:txBody>
          <a:bodyPr wrap="square" lIns="0" tIns="0" rIns="0" bIns="0" rtlCol="0" anchor="ctr"/>
          <a:lstStyle/>
          <a:p>
            <a:pPr marL="0" indent="0">
              <a:buNone/>
            </a:pPr>
            <a:r>
              <a:rPr lang="en-US" sz="1900" b="1" dirty="0">
                <a:solidFill>
                  <a:srgbClr val="16212C"/>
                </a:solidFill>
                <a:latin typeface="Calibri" pitchFamily="34" charset="0"/>
                <a:ea typeface="Calibri" pitchFamily="34" charset="-122"/>
                <a:cs typeface="Calibri" pitchFamily="34" charset="-120"/>
              </a:rPr>
              <a:t>Third-party tools</a:t>
            </a:r>
            <a:endParaRPr lang="en-US" sz="1900" dirty="0"/>
          </a:p>
        </p:txBody>
      </p:sp>
      <p:sp>
        <p:nvSpPr>
          <p:cNvPr id="21" name="Text 18"/>
          <p:cNvSpPr txBox="1"/>
          <p:nvPr/>
        </p:nvSpPr>
        <p:spPr>
          <a:xfrm>
            <a:off x="1554480" y="5148072"/>
            <a:ext cx="2926080" cy="365760"/>
          </a:xfrm>
          <a:prstGeom prst="rect">
            <a:avLst/>
          </a:prstGeom>
          <a:noFill/>
          <a:ln/>
        </p:spPr>
        <p:txBody>
          <a:bodyPr wrap="square" lIns="0" tIns="0" rIns="0" bIns="0" rtlCol="0" anchor="ctr"/>
          <a:lstStyle/>
          <a:p>
            <a:pPr marL="0" indent="0">
              <a:buNone/>
            </a:pPr>
            <a:r>
              <a:rPr lang="en-US" sz="1300" i="1" dirty="0">
                <a:solidFill>
                  <a:srgbClr val="1D7F57"/>
                </a:solidFill>
                <a:latin typeface="Calibri" pitchFamily="34" charset="0"/>
                <a:ea typeface="Calibri" pitchFamily="34" charset="-122"/>
                <a:cs typeface="Calibri" pitchFamily="34" charset="-120"/>
              </a:rPr>
              <a:t>Twelve of them, all fictional</a:t>
            </a:r>
            <a:endParaRPr lang="en-US" sz="1300" dirty="0"/>
          </a:p>
        </p:txBody>
      </p:sp>
      <p:sp>
        <p:nvSpPr>
          <p:cNvPr id="22" name="Text 19"/>
          <p:cNvSpPr txBox="1"/>
          <p:nvPr/>
        </p:nvSpPr>
        <p:spPr>
          <a:xfrm>
            <a:off x="4709160" y="4800600"/>
            <a:ext cx="667512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sql-watch, storage-watch, backup-agent, cert-watch, net-monitor... a PowerShell script standing in for the estate.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THREE TRIGGERS, ONE SET OF TABLES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How the pieces fit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9857232" y="493776"/>
            <a:ext cx="1737360" cy="201168"/>
          </a:xfrm>
          <a:prstGeom prst="roundRect">
            <a:avLst>
              <a:gd name="adj" fmla="val 22727"/>
            </a:avLst>
          </a:prstGeom>
          <a:solidFill>
            <a:srgbClr val="F6F8FA"/>
          </a:solidFill>
          <a:ln w="12700">
            <a:solidFill>
              <a:srgbClr val="5A6D81"/>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857232" y="493776"/>
            <a:ext cx="173736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OPTION B · HUB</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4837176" y="1572768"/>
            <a:ext cx="2514600" cy="4206240"/>
          </a:xfrm>
          <a:prstGeom prst="roundRect">
            <a:avLst>
              <a:gd name="adj" fmla="val 2182"/>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5065776" y="1755648"/>
            <a:ext cx="20574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5A6D81"/>
                </a:solidFill>
                <a:effectLst/>
                <a:uLnTx/>
                <a:uFillTx/>
                <a:latin typeface="Calibri" pitchFamily="34" charset="0"/>
                <a:ea typeface="Calibri" pitchFamily="34" charset="-122"/>
                <a:cs typeface="Calibri" pitchFamily="34" charset="-120"/>
              </a:rPr>
              <a:t>TABLE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038344" y="2103120"/>
            <a:ext cx="2112264" cy="1060704"/>
          </a:xfrm>
          <a:prstGeom prst="roundRect">
            <a:avLst>
              <a:gd name="adj" fmla="val 5172"/>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5221224" y="2331720"/>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RawEvents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5221224" y="2660904"/>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 failure, as it arrived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Shape 9"/>
          <p:cNvSpPr/>
          <p:nvPr/>
        </p:nvSpPr>
        <p:spPr>
          <a:xfrm>
            <a:off x="5038344" y="3310128"/>
            <a:ext cx="2112264" cy="1060704"/>
          </a:xfrm>
          <a:prstGeom prst="roundRect">
            <a:avLst>
              <a:gd name="adj" fmla="val 5172"/>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5221224" y="3538728"/>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Events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5221224" y="3867912"/>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row per symptom</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038344" y="4517136"/>
            <a:ext cx="2112264" cy="1060704"/>
          </a:xfrm>
          <a:prstGeom prst="roundRect">
            <a:avLst>
              <a:gd name="adj" fmla="val 5172"/>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5221224" y="4745736"/>
            <a:ext cx="1783080" cy="31089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Incidents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5221224" y="5074920"/>
            <a:ext cx="178308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row per group + verdict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Shape 15"/>
          <p:cNvSpPr/>
          <p:nvPr/>
        </p:nvSpPr>
        <p:spPr>
          <a:xfrm>
            <a:off x="594360" y="3127248"/>
            <a:ext cx="1664208" cy="1097280"/>
          </a:xfrm>
          <a:prstGeom prst="roundRect">
            <a:avLst>
              <a:gd name="adj" fmla="val 5000"/>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795528" y="331012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2C68A8"/>
                </a:solidFill>
                <a:effectLst/>
                <a:uLnTx/>
                <a:uFillTx/>
                <a:latin typeface="Calibri" pitchFamily="34" charset="0"/>
                <a:ea typeface="Calibri" pitchFamily="34" charset="-122"/>
                <a:cs typeface="Calibri" pitchFamily="34" charset="-120"/>
              </a:rPr>
              <a:t>THREE 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795528" y="358444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Event Hubs</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 18"/>
          <p:cNvSpPr txBox="1"/>
          <p:nvPr/>
        </p:nvSpPr>
        <p:spPr>
          <a:xfrm>
            <a:off x="795528" y="396849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monitoring-events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Shape 19"/>
          <p:cNvSpPr/>
          <p:nvPr/>
        </p:nvSpPr>
        <p:spPr>
          <a:xfrm>
            <a:off x="2304288" y="365988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rot="5400000">
            <a:off x="2542032" y="360273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2715768" y="3127248"/>
            <a:ext cx="1664208" cy="1097280"/>
          </a:xfrm>
          <a:prstGeom prst="roundRect">
            <a:avLst>
              <a:gd name="adj" fmla="val 5000"/>
            </a:avLst>
          </a:prstGeom>
          <a:solidFill>
            <a:srgbClr val="D8E2EC"/>
          </a:solidFill>
          <a:ln w="15875">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txBox="1"/>
          <p:nvPr/>
        </p:nvSpPr>
        <p:spPr>
          <a:xfrm>
            <a:off x="2916936" y="331012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HUB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2916936" y="358444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IngestEvents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4425696" y="365988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Shape 25"/>
          <p:cNvSpPr/>
          <p:nvPr/>
        </p:nvSpPr>
        <p:spPr>
          <a:xfrm rot="5400000">
            <a:off x="4663440" y="360273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4151376" y="334670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writes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7808976" y="2121408"/>
            <a:ext cx="1664208" cy="1097280"/>
          </a:xfrm>
          <a:prstGeom prst="roundRect">
            <a:avLst>
              <a:gd name="adj" fmla="val 5000"/>
            </a:avLst>
          </a:prstGeom>
          <a:solidFill>
            <a:srgbClr val="D8E2EC"/>
          </a:solidFill>
          <a:ln w="15875">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8010144" y="230428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TIMER + HTTP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8010144" y="257860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Analyze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8010144" y="296265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 minute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Shape 31"/>
          <p:cNvSpPr/>
          <p:nvPr/>
        </p:nvSpPr>
        <p:spPr>
          <a:xfrm>
            <a:off x="7397496" y="247116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Shape 32"/>
          <p:cNvSpPr/>
          <p:nvPr/>
        </p:nvSpPr>
        <p:spPr>
          <a:xfrm rot="5400000">
            <a:off x="7635240" y="241401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7123176" y="215798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reads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7525512" y="28369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Shape 35"/>
          <p:cNvSpPr/>
          <p:nvPr/>
        </p:nvSpPr>
        <p:spPr>
          <a:xfrm rot="16200000">
            <a:off x="7397496" y="27797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9" name="Text 36"/>
          <p:cNvSpPr txBox="1"/>
          <p:nvPr/>
        </p:nvSpPr>
        <p:spPr>
          <a:xfrm>
            <a:off x="7123176" y="2907792"/>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verdict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Shape 37"/>
          <p:cNvSpPr/>
          <p:nvPr/>
        </p:nvSpPr>
        <p:spPr>
          <a:xfrm>
            <a:off x="9518904" y="265404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8"/>
          <p:cNvSpPr/>
          <p:nvPr/>
        </p:nvSpPr>
        <p:spPr>
          <a:xfrm rot="5400000">
            <a:off x="9756648" y="259689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Shape 39"/>
          <p:cNvSpPr/>
          <p:nvPr/>
        </p:nvSpPr>
        <p:spPr>
          <a:xfrm>
            <a:off x="9930384" y="2121408"/>
            <a:ext cx="1666951" cy="1097280"/>
          </a:xfrm>
          <a:prstGeom prst="roundRect">
            <a:avLst>
              <a:gd name="adj" fmla="val 5000"/>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10131552" y="2304288"/>
            <a:ext cx="1264615"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2C68A8"/>
                </a:solidFill>
                <a:effectLst/>
                <a:uLnTx/>
                <a:uFillTx/>
                <a:latin typeface="Calibri" pitchFamily="34" charset="0"/>
                <a:ea typeface="Calibri" pitchFamily="34" charset="-122"/>
                <a:cs typeface="Calibri" pitchFamily="34" charset="-120"/>
              </a:rPr>
              <a:t>MODEL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1"/>
          <p:cNvSpPr txBox="1"/>
          <p:nvPr/>
        </p:nvSpPr>
        <p:spPr>
          <a:xfrm>
            <a:off x="10131552" y="2578608"/>
            <a:ext cx="1264615"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Azure OpenAI</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Text 42"/>
          <p:cNvSpPr txBox="1"/>
          <p:nvPr/>
        </p:nvSpPr>
        <p:spPr>
          <a:xfrm>
            <a:off x="10131552" y="2962656"/>
            <a:ext cx="1264615"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gpt-4.1-mini</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Shape 43"/>
          <p:cNvSpPr/>
          <p:nvPr/>
        </p:nvSpPr>
        <p:spPr>
          <a:xfrm>
            <a:off x="7808976" y="4133088"/>
            <a:ext cx="1664208" cy="1097280"/>
          </a:xfrm>
          <a:prstGeom prst="roundRect">
            <a:avLst>
              <a:gd name="adj" fmla="val 5000"/>
            </a:avLst>
          </a:prstGeom>
          <a:solidFill>
            <a:srgbClr val="D8E2EC"/>
          </a:solidFill>
          <a:ln w="15875">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4"/>
          <p:cNvSpPr txBox="1"/>
          <p:nvPr/>
        </p:nvSpPr>
        <p:spPr>
          <a:xfrm>
            <a:off x="8010144" y="4315968"/>
            <a:ext cx="126187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HTTP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8010144" y="4590288"/>
            <a:ext cx="126187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GetIncidents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6"/>
          <p:cNvSpPr txBox="1"/>
          <p:nvPr/>
        </p:nvSpPr>
        <p:spPr>
          <a:xfrm>
            <a:off x="8010144" y="4974336"/>
            <a:ext cx="126187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read-only</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7"/>
          <p:cNvSpPr/>
          <p:nvPr/>
        </p:nvSpPr>
        <p:spPr>
          <a:xfrm>
            <a:off x="7397496" y="46657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rot="5400000">
            <a:off x="7635240" y="46085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txBox="1"/>
          <p:nvPr/>
        </p:nvSpPr>
        <p:spPr>
          <a:xfrm>
            <a:off x="7123176" y="4352544"/>
            <a:ext cx="914400"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reads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Shape 50"/>
          <p:cNvSpPr/>
          <p:nvPr/>
        </p:nvSpPr>
        <p:spPr>
          <a:xfrm>
            <a:off x="9518904" y="4665726"/>
            <a:ext cx="23774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Shape 51"/>
          <p:cNvSpPr/>
          <p:nvPr/>
        </p:nvSpPr>
        <p:spPr>
          <a:xfrm rot="5400000">
            <a:off x="9756648" y="4608576"/>
            <a:ext cx="128016" cy="146304"/>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Shape 52"/>
          <p:cNvSpPr/>
          <p:nvPr/>
        </p:nvSpPr>
        <p:spPr>
          <a:xfrm>
            <a:off x="9930384" y="4133088"/>
            <a:ext cx="1666951" cy="1097280"/>
          </a:xfrm>
          <a:prstGeom prst="roundRect">
            <a:avLst>
              <a:gd name="adj" fmla="val 5000"/>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10131552" y="4315968"/>
            <a:ext cx="1264615"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dirty="0">
                <a:ln>
                  <a:noFill/>
                </a:ln>
                <a:solidFill>
                  <a:srgbClr val="2C68A8"/>
                </a:solidFill>
                <a:effectLst/>
                <a:uLnTx/>
                <a:uFillTx/>
                <a:latin typeface="Calibri" pitchFamily="34" charset="0"/>
                <a:ea typeface="Calibri" pitchFamily="34" charset="-122"/>
                <a:cs typeface="Calibri" pitchFamily="34" charset="-120"/>
              </a:rPr>
              <a:t>DASHBOARD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4"/>
          <p:cNvSpPr txBox="1"/>
          <p:nvPr/>
        </p:nvSpPr>
        <p:spPr>
          <a:xfrm>
            <a:off x="10131552" y="4590288"/>
            <a:ext cx="1264615"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Workbook</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10131552" y="4974336"/>
            <a:ext cx="1264615"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Azure Monitor</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6"/>
          <p:cNvSpPr txBox="1"/>
          <p:nvPr/>
        </p:nvSpPr>
        <p:spPr>
          <a:xfrm>
            <a:off x="594360" y="6035040"/>
            <a:ext cx="11002975"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functions never call each other. The tables are the only thing they share.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SOURCES TO DASHBOARD</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The whole event flow</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444752"/>
            <a:ext cx="2240280" cy="2788920"/>
          </a:xfrm>
          <a:prstGeom prst="roundRect">
            <a:avLst>
              <a:gd name="adj" fmla="val 2449"/>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77240" y="1591056"/>
            <a:ext cx="187452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5A6D81"/>
                </a:solidFill>
                <a:effectLst/>
                <a:uLnTx/>
                <a:uFillTx/>
                <a:latin typeface="Calibri" pitchFamily="34" charset="0"/>
                <a:ea typeface="Calibri" pitchFamily="34" charset="-122"/>
                <a:cs typeface="Calibri" pitchFamily="34" charset="-120"/>
              </a:rPr>
              <a:t>SOURCES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777240" y="1965960"/>
            <a:ext cx="137160" cy="137160"/>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1005840" y="190195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OpenTelemetry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1005840" y="213055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store-api on this laptop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005840" y="232257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via Application Insights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77240" y="2743200"/>
            <a:ext cx="137160" cy="137160"/>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1005840" y="267919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Azure Monitor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005840" y="290779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metric alert on failures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1005840" y="309981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via an action group</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777240" y="3520440"/>
            <a:ext cx="137160" cy="137160"/>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1005840" y="3456432"/>
            <a:ext cx="173736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12 monitoring tools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1005840" y="3685032"/>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Send-Event.ps1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1005840" y="3877056"/>
            <a:ext cx="17373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REST + SAS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28346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rot="5400000">
            <a:off x="29900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a:off x="3108960" y="1444752"/>
            <a:ext cx="1325880" cy="2788920"/>
          </a:xfrm>
          <a:prstGeom prst="roundRect">
            <a:avLst>
              <a:gd name="adj" fmla="val 4138"/>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3246120" y="1591056"/>
            <a:ext cx="10515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50" normalizeH="0" baseline="0" noProof="0" dirty="0">
                <a:ln>
                  <a:noFill/>
                </a:ln>
                <a:solidFill>
                  <a:srgbClr val="5A6D81"/>
                </a:solidFill>
                <a:effectLst/>
                <a:uLnTx/>
                <a:uFillTx/>
                <a:latin typeface="Calibri" pitchFamily="34" charset="0"/>
                <a:ea typeface="Calibri" pitchFamily="34" charset="-122"/>
                <a:cs typeface="Calibri" pitchFamily="34" charset="-120"/>
              </a:rPr>
              <a:t>EVENT HUB</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3246120" y="2180844"/>
            <a:ext cx="1051560" cy="548640"/>
          </a:xfrm>
          <a:prstGeom prst="rect">
            <a:avLst/>
          </a:prstGeom>
          <a:noFill/>
          <a:ln/>
        </p:spPr>
        <p:txBody>
          <a:bodyPr wrap="square" lIns="0" tIns="0" rIns="0" bIns="0" rtlCol="0" anchor="ct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Everything flows 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3246120" y="2793492"/>
            <a:ext cx="1051560" cy="118872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monitoring-</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events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44348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Shape 23"/>
          <p:cNvSpPr/>
          <p:nvPr/>
        </p:nvSpPr>
        <p:spPr>
          <a:xfrm rot="5400000">
            <a:off x="45902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7" name="Shape 24"/>
          <p:cNvSpPr/>
          <p:nvPr/>
        </p:nvSpPr>
        <p:spPr>
          <a:xfrm>
            <a:off x="4709160" y="1444752"/>
            <a:ext cx="2926080" cy="2788920"/>
          </a:xfrm>
          <a:prstGeom prst="roundRect">
            <a:avLst>
              <a:gd name="adj" fmla="val 1967"/>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4892040" y="1591056"/>
            <a:ext cx="26517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INGESTEVENTS  ·  EVENT HUBS TRIGGER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4892040" y="1883664"/>
            <a:ext cx="256032" cy="256032"/>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4892040" y="1883664"/>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5230368" y="1865376"/>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5230368" y="2075688"/>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three shapes, one object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Shape 30"/>
          <p:cNvSpPr/>
          <p:nvPr/>
        </p:nvSpPr>
        <p:spPr>
          <a:xfrm>
            <a:off x="4892040" y="2395728"/>
            <a:ext cx="256032" cy="256032"/>
          </a:xfrm>
          <a:prstGeom prst="ellips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4892040" y="2395728"/>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230368" y="2377440"/>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Drop successes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5230368" y="2587752"/>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 success is not an event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892040" y="2907792"/>
            <a:ext cx="256032" cy="256032"/>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892040" y="2907792"/>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Text 36"/>
          <p:cNvSpPr txBox="1"/>
          <p:nvPr/>
        </p:nvSpPr>
        <p:spPr>
          <a:xfrm>
            <a:off x="5230368" y="2889504"/>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Archive the raw event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0" name="Text 37"/>
          <p:cNvSpPr txBox="1"/>
          <p:nvPr/>
        </p:nvSpPr>
        <p:spPr>
          <a:xfrm>
            <a:off x="5230368" y="3099816"/>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nothing merged yet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Shape 38"/>
          <p:cNvSpPr/>
          <p:nvPr/>
        </p:nvSpPr>
        <p:spPr>
          <a:xfrm>
            <a:off x="4892040" y="3419856"/>
            <a:ext cx="256032" cy="256032"/>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4892040" y="3419856"/>
            <a:ext cx="256032" cy="256032"/>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5230368" y="3401568"/>
            <a:ext cx="22860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Correlate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Text 41"/>
          <p:cNvSpPr txBox="1"/>
          <p:nvPr/>
        </p:nvSpPr>
        <p:spPr>
          <a:xfrm>
            <a:off x="5230368" y="3611880"/>
            <a:ext cx="22860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which incident, which symptom</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5" name="Shape 42"/>
          <p:cNvSpPr/>
          <p:nvPr/>
        </p:nvSpPr>
        <p:spPr>
          <a:xfrm>
            <a:off x="4892040" y="3895344"/>
            <a:ext cx="109728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Text 43"/>
          <p:cNvSpPr txBox="1"/>
          <p:nvPr/>
        </p:nvSpPr>
        <p:spPr>
          <a:xfrm>
            <a:off x="4892040" y="3895344"/>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7" name="Shape 44"/>
          <p:cNvSpPr/>
          <p:nvPr/>
        </p:nvSpPr>
        <p:spPr>
          <a:xfrm>
            <a:off x="6062472" y="3895344"/>
            <a:ext cx="114300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6062472" y="389534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Text 46"/>
          <p:cNvSpPr txBox="1"/>
          <p:nvPr/>
        </p:nvSpPr>
        <p:spPr>
          <a:xfrm>
            <a:off x="7242048" y="3895344"/>
            <a:ext cx="4114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no model</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0" name="Shape 47"/>
          <p:cNvSpPr/>
          <p:nvPr/>
        </p:nvSpPr>
        <p:spPr>
          <a:xfrm>
            <a:off x="76352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rot="5400000">
            <a:off x="77906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Shape 49"/>
          <p:cNvSpPr/>
          <p:nvPr/>
        </p:nvSpPr>
        <p:spPr>
          <a:xfrm>
            <a:off x="7909560" y="1444752"/>
            <a:ext cx="1554480" cy="2788920"/>
          </a:xfrm>
          <a:prstGeom prst="roundRect">
            <a:avLst>
              <a:gd name="adj" fmla="val 3529"/>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8065008" y="1591056"/>
            <a:ext cx="1280160" cy="2286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TABLE STORAGE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8065008" y="1901952"/>
            <a:ext cx="1243584" cy="621792"/>
          </a:xfrm>
          <a:prstGeom prst="roundRect">
            <a:avLst>
              <a:gd name="adj" fmla="val 8824"/>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8174736" y="1956816"/>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RawEvents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8174736" y="2157984"/>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 event,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as it arrived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Shape 54"/>
          <p:cNvSpPr/>
          <p:nvPr/>
        </p:nvSpPr>
        <p:spPr>
          <a:xfrm>
            <a:off x="8065008" y="2651760"/>
            <a:ext cx="1243584" cy="621792"/>
          </a:xfrm>
          <a:prstGeom prst="roundRect">
            <a:avLst>
              <a:gd name="adj" fmla="val 8824"/>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8174736" y="2706624"/>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Events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Text 56"/>
          <p:cNvSpPr txBox="1"/>
          <p:nvPr/>
        </p:nvSpPr>
        <p:spPr>
          <a:xfrm>
            <a:off x="8174736" y="2907792"/>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symptom + count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0" name="Shape 57"/>
          <p:cNvSpPr/>
          <p:nvPr/>
        </p:nvSpPr>
        <p:spPr>
          <a:xfrm>
            <a:off x="8065008" y="3401568"/>
            <a:ext cx="1243584" cy="621792"/>
          </a:xfrm>
          <a:prstGeom prst="roundRect">
            <a:avLst>
              <a:gd name="adj" fmla="val 8824"/>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8174736" y="3456432"/>
            <a:ext cx="10515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Incidents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Text 59"/>
          <p:cNvSpPr txBox="1"/>
          <p:nvPr/>
        </p:nvSpPr>
        <p:spPr>
          <a:xfrm>
            <a:off x="8174736" y="3657600"/>
            <a:ext cx="1051560" cy="320040"/>
          </a:xfrm>
          <a:prstGeom prst="rect">
            <a:avLst/>
          </a:prstGeom>
          <a:noFill/>
          <a:ln/>
        </p:spPr>
        <p:txBody>
          <a:bodyPr wrap="square" lIns="0" tIns="0" rIns="0" bIns="0" rtlCol="0" anchor="ctr"/>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row per</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group + verdict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3" name="Shape 60"/>
          <p:cNvSpPr/>
          <p:nvPr/>
        </p:nvSpPr>
        <p:spPr>
          <a:xfrm>
            <a:off x="9464040" y="2823210"/>
            <a:ext cx="155448"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rot="5400000">
            <a:off x="9619488" y="2770632"/>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Shape 62"/>
          <p:cNvSpPr/>
          <p:nvPr/>
        </p:nvSpPr>
        <p:spPr>
          <a:xfrm>
            <a:off x="9738360" y="1444752"/>
            <a:ext cx="1874520" cy="1298448"/>
          </a:xfrm>
          <a:prstGeom prst="roundRect">
            <a:avLst>
              <a:gd name="adj" fmla="val 4225"/>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9893808" y="157276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GETINCIDENTS  ·  HTTP</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Text 64"/>
          <p:cNvSpPr txBox="1"/>
          <p:nvPr/>
        </p:nvSpPr>
        <p:spPr>
          <a:xfrm>
            <a:off x="9893808" y="1828800"/>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Shapes the data</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for the screen</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8" name="Text 65"/>
          <p:cNvSpPr txBox="1"/>
          <p:nvPr/>
        </p:nvSpPr>
        <p:spPr>
          <a:xfrm>
            <a:off x="9893808" y="22860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?view= raw | summary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sources | tree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9" name="Shape 66"/>
          <p:cNvSpPr/>
          <p:nvPr/>
        </p:nvSpPr>
        <p:spPr>
          <a:xfrm>
            <a:off x="10664190" y="2743200"/>
            <a:ext cx="32004" cy="137160"/>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Shape 67"/>
          <p:cNvSpPr/>
          <p:nvPr/>
        </p:nvSpPr>
        <p:spPr>
          <a:xfrm rot="10800000">
            <a:off x="10611612" y="2880360"/>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1" name="Shape 68"/>
          <p:cNvSpPr/>
          <p:nvPr/>
        </p:nvSpPr>
        <p:spPr>
          <a:xfrm>
            <a:off x="9738360" y="2999232"/>
            <a:ext cx="1874520" cy="1234440"/>
          </a:xfrm>
          <a:prstGeom prst="roundRect">
            <a:avLst>
              <a:gd name="adj" fmla="val 4444"/>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2" name="Text 69"/>
          <p:cNvSpPr txBox="1"/>
          <p:nvPr/>
        </p:nvSpPr>
        <p:spPr>
          <a:xfrm>
            <a:off x="9893808" y="312724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AZURE WORKBOOK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3" name="Text 70"/>
          <p:cNvSpPr txBox="1"/>
          <p:nvPr/>
        </p:nvSpPr>
        <p:spPr>
          <a:xfrm>
            <a:off x="9893808" y="3364992"/>
            <a:ext cx="1600200"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The dashboard</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4" name="Text 71"/>
          <p:cNvSpPr txBox="1"/>
          <p:nvPr/>
        </p:nvSpPr>
        <p:spPr>
          <a:xfrm>
            <a:off x="9893808" y="3657600"/>
            <a:ext cx="160020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custom endpoint,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no Log Analytics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5" name="Shape 72"/>
          <p:cNvSpPr/>
          <p:nvPr/>
        </p:nvSpPr>
        <p:spPr>
          <a:xfrm>
            <a:off x="8670798" y="4233672"/>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6" name="Shape 73"/>
          <p:cNvSpPr/>
          <p:nvPr/>
        </p:nvSpPr>
        <p:spPr>
          <a:xfrm rot="10800000">
            <a:off x="8618220" y="4434840"/>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7" name="Shape 74"/>
          <p:cNvSpPr/>
          <p:nvPr/>
        </p:nvSpPr>
        <p:spPr>
          <a:xfrm>
            <a:off x="9082278" y="4352544"/>
            <a:ext cx="32004" cy="201168"/>
          </a:xfrm>
          <a:prstGeom prst="rect">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Shape 75"/>
          <p:cNvSpPr/>
          <p:nvPr/>
        </p:nvSpPr>
        <p:spPr>
          <a:xfrm>
            <a:off x="9029700" y="4233672"/>
            <a:ext cx="137160" cy="118872"/>
          </a:xfrm>
          <a:prstGeom prst="triangl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9" name="Text 76"/>
          <p:cNvSpPr txBox="1"/>
          <p:nvPr/>
        </p:nvSpPr>
        <p:spPr>
          <a:xfrm>
            <a:off x="8183880" y="4325112"/>
            <a:ext cx="457200" cy="182880"/>
          </a:xfrm>
          <a:prstGeom prst="rect">
            <a:avLst/>
          </a:prstGeom>
          <a:noFill/>
          <a:ln/>
        </p:spPr>
        <p:txBody>
          <a:bodyPr wrap="square" lIns="0" tIns="0" rIns="0" bIns="0"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reads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0" name="Text 77"/>
          <p:cNvSpPr txBox="1"/>
          <p:nvPr/>
        </p:nvSpPr>
        <p:spPr>
          <a:xfrm>
            <a:off x="9162288" y="4325112"/>
            <a:ext cx="822960"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writes back</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1" name="Shape 78"/>
          <p:cNvSpPr/>
          <p:nvPr/>
        </p:nvSpPr>
        <p:spPr>
          <a:xfrm>
            <a:off x="4709160" y="4553712"/>
            <a:ext cx="4754880" cy="1481328"/>
          </a:xfrm>
          <a:prstGeom prst="roundRect">
            <a:avLst>
              <a:gd name="adj" fmla="val 3704"/>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4892040" y="4681728"/>
            <a:ext cx="43891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50" normalizeH="0" baseline="0" noProof="0" dirty="0">
                <a:ln>
                  <a:noFill/>
                </a:ln>
                <a:solidFill>
                  <a:srgbClr val="5A6D81"/>
                </a:solidFill>
                <a:effectLst/>
                <a:uLnTx/>
                <a:uFillTx/>
                <a:latin typeface="Calibri" pitchFamily="34" charset="0"/>
                <a:ea typeface="Calibri" pitchFamily="34" charset="-122"/>
                <a:cs typeface="Calibri" pitchFamily="34" charset="-120"/>
              </a:rPr>
              <a:t>ANALYZETIMER  ·  EVERY MINUTE, ONLY WHEN SOMETHING CHANGED</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4892040" y="4937760"/>
            <a:ext cx="43891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Azure OpenAI  ·  gpt-4.1-mini</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Text 81"/>
          <p:cNvSpPr txBox="1"/>
          <p:nvPr/>
        </p:nvSpPr>
        <p:spPr>
          <a:xfrm>
            <a:off x="4892040" y="5230368"/>
            <a:ext cx="4389120" cy="402336"/>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Which incidents are one problem. Which one is the cause. What to do first.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verdict is written back onto the incident rows.</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5" name="Shape 82"/>
          <p:cNvSpPr/>
          <p:nvPr/>
        </p:nvSpPr>
        <p:spPr>
          <a:xfrm>
            <a:off x="4892040" y="5705856"/>
            <a:ext cx="1097280" cy="201168"/>
          </a:xfrm>
          <a:prstGeom prst="roundRect">
            <a:avLst>
              <a:gd name="adj" fmla="val 22727"/>
            </a:avLst>
          </a:prstGeom>
          <a:solidFill>
            <a:srgbClr val="F6F8FA"/>
          </a:solidFill>
          <a:ln w="12700">
            <a:solidFill>
              <a:srgbClr val="C42E2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4892040" y="5705856"/>
            <a:ext cx="109728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C42E28"/>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Text 84"/>
          <p:cNvSpPr txBox="1"/>
          <p:nvPr/>
        </p:nvSpPr>
        <p:spPr>
          <a:xfrm>
            <a:off x="6062472" y="5705856"/>
            <a:ext cx="292608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the only question that needs English</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8" name="Shape 85"/>
          <p:cNvSpPr/>
          <p:nvPr/>
        </p:nvSpPr>
        <p:spPr>
          <a:xfrm>
            <a:off x="594360" y="4553712"/>
            <a:ext cx="3840480" cy="1481328"/>
          </a:xfrm>
          <a:prstGeom prst="roundRect">
            <a:avLst>
              <a:gd name="adj" fmla="val 3704"/>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777240" y="4681728"/>
            <a:ext cx="34747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EVERY ARROW IN THIS DIAGRAM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Text 87"/>
          <p:cNvSpPr txBox="1"/>
          <p:nvPr/>
        </p:nvSpPr>
        <p:spPr>
          <a:xfrm>
            <a:off x="777240" y="4937760"/>
            <a:ext cx="34747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D7F57"/>
                </a:solidFill>
                <a:effectLst/>
                <a:uLnTx/>
                <a:uFillTx/>
                <a:latin typeface="Calibri" pitchFamily="34" charset="0"/>
                <a:ea typeface="Calibri" pitchFamily="34" charset="-122"/>
                <a:cs typeface="Calibri" pitchFamily="34" charset="-120"/>
              </a:rPr>
              <a:t>No keys anywhere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1" name="Text 88"/>
          <p:cNvSpPr txBox="1"/>
          <p:nvPr/>
        </p:nvSpPr>
        <p:spPr>
          <a:xfrm>
            <a:off x="777240" y="5248656"/>
            <a:ext cx="3474720" cy="640080"/>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Function App has a managed identity with three role assignments: read the hub, write the tables, call Azure OpenAI. Nothing in the pipeline holds a secret.</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2" name="Shape 89"/>
          <p:cNvSpPr/>
          <p:nvPr/>
        </p:nvSpPr>
        <p:spPr>
          <a:xfrm>
            <a:off x="9738360" y="4553712"/>
            <a:ext cx="1874520" cy="1481328"/>
          </a:xfrm>
          <a:prstGeom prst="roundRect">
            <a:avLst>
              <a:gd name="adj" fmla="val 3704"/>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9893808" y="4681728"/>
            <a:ext cx="160020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ALSO READS THE TABLES</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9893808" y="4965192"/>
            <a:ext cx="1600200" cy="457200"/>
          </a:xfrm>
          <a:prstGeom prst="rect">
            <a:avLst/>
          </a:prstGeom>
          <a:noFill/>
          <a:ln/>
        </p:spPr>
        <p:txBody>
          <a:bodyPr wrap="square" lIns="0" tIns="0" rIns="0" bIns="0" rtlCol="0" anchor="ctr"/>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Show-Incidents.ps1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Reset-Pipeline.ps1</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Text 92"/>
          <p:cNvSpPr txBox="1"/>
          <p:nvPr/>
        </p:nvSpPr>
        <p:spPr>
          <a:xfrm>
            <a:off x="9893808" y="5468112"/>
            <a:ext cx="1600200" cy="41148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 short-lived SAS,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from your terminal</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6" name="Text 93"/>
          <p:cNvSpPr txBox="1"/>
          <p:nvPr/>
        </p:nvSpPr>
        <p:spPr>
          <a:xfrm>
            <a:off x="594360" y="6199632"/>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179 events in. 13 incidents and 2 root causes out. About four seconds of model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INGESTEVENTS / RUN.PS1  ·  34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The whole trigger</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730752"/>
          </a:xfrm>
          <a:prstGeom prst="roundRect">
            <a:avLst>
              <a:gd name="adj" fmla="val 1471"/>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foreach ($message in @($eventHubMessages))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343607"/>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$payload = $message | ConvertFrom-Json -Depth 50</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675534"/>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3007462"/>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    foreach ($event in ConvertTo-PipelineEvent -Payload $payload)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339389"/>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        if ($event.Success) { $dropped++; continue }  # a success is not news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671316"/>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4003243"/>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D7F57"/>
                </a:solidFill>
                <a:effectLst/>
                <a:uLnTx/>
                <a:uFillTx/>
                <a:latin typeface="Courier New" pitchFamily="34" charset="0"/>
                <a:ea typeface="Courier New" pitchFamily="34" charset="-122"/>
                <a:cs typeface="Courier New" pitchFamily="34" charset="-120"/>
              </a:rPr>
              <a:t>        Write-RawEvent      -Event $event   # keep the firehose</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335170"/>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A86400"/>
                </a:solidFill>
                <a:effectLst/>
                <a:uLnTx/>
                <a:uFillTx/>
                <a:latin typeface="Courier New" pitchFamily="34" charset="0"/>
                <a:ea typeface="Courier New" pitchFamily="34" charset="-122"/>
                <a:cs typeface="Courier New" pitchFamily="34" charset="-120"/>
              </a:rPr>
              <a:t>        Add-EventToIncident -Event $event   # correlate it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667098"/>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    }</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999025"/>
            <a:ext cx="10362895" cy="331927"/>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Shape 13"/>
          <p:cNvSpPr/>
          <p:nvPr/>
        </p:nvSpPr>
        <p:spPr>
          <a:xfrm>
            <a:off x="594360" y="5833872"/>
            <a:ext cx="11002975" cy="868680"/>
          </a:xfrm>
          <a:prstGeom prst="roundRect">
            <a:avLst>
              <a:gd name="adj" fmla="val 631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868680" y="6035040"/>
            <a:ext cx="10454335"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Read the hub, normalise, throw away the successes, correlate. </a:t>
            </a:r>
            <a:r>
              <a:rPr kumimoji="0" lang="en-US" sz="17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Everything else in this session is one of those three verbs, opened up.</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bg>
      <p:bgPr>
        <a:solidFill>
          <a:srgbClr val="F6F8FA"/>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BF2E4"/>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A86400"/>
                </a:solidFill>
                <a:latin typeface="Calibri" pitchFamily="34" charset="0"/>
                <a:ea typeface="Calibri" pitchFamily="34" charset="-122"/>
                <a:cs typeface="Calibri" pitchFamily="34" charset="-120"/>
              </a:rPr>
              <a:t>DEMO 1</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16212C"/>
                </a:solidFill>
                <a:latin typeface="Calibri" pitchFamily="34" charset="0"/>
                <a:ea typeface="Calibri" pitchFamily="34" charset="-122"/>
                <a:cs typeface="Calibri" pitchFamily="34" charset="-120"/>
              </a:rPr>
              <a:t>Break everything</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./Break-Everything.ps1 - one command, one outage</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Live checkout traffic starts failing for real</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Twelve tools begin reporting, 68 events over about forty seconds</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Watch the raw stream arrive in the workbook</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THREE TRIGGERS, ONE TABLE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Which function runs when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71600"/>
            <a:ext cx="11002975" cy="2194560"/>
          </a:xfrm>
          <a:prstGeom prst="roundRect">
            <a:avLst>
              <a:gd name="adj" fmla="val 2500"/>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58952" y="1499616"/>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INGESTEVENTS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58952" y="1719072"/>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Event Hubs trigger</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758952" y="2157984"/>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runs per batch,</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 step per 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758952" y="2596896"/>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Normalize.psm1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2606040" y="1517904"/>
            <a:ext cx="2783738" cy="603504"/>
          </a:xfrm>
          <a:prstGeom prst="roundRect">
            <a:avLst>
              <a:gd name="adj" fmla="val 757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2697480"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ConvertTo-PipelineEvent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2697480"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Three payload shapes become one event object. Successes are dropped here - a success is not an event.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5170322" y="1609344"/>
            <a:ext cx="109728" cy="109728"/>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a:off x="5417210"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rot="5400000">
            <a:off x="5563514"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5709818" y="1517904"/>
            <a:ext cx="2783738" cy="603504"/>
          </a:xfrm>
          <a:prstGeom prst="roundRect">
            <a:avLst>
              <a:gd name="adj" fmla="val 757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5801258"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Write-RawEvent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5801258"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Archived exactly as it arrived, before anything is merged away. This is the RawEvents firehose.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Shape 16"/>
          <p:cNvSpPr/>
          <p:nvPr/>
        </p:nvSpPr>
        <p:spPr>
          <a:xfrm>
            <a:off x="8274101" y="1609344"/>
            <a:ext cx="109728" cy="10972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0" name="Shape 17"/>
          <p:cNvSpPr/>
          <p:nvPr/>
        </p:nvSpPr>
        <p:spPr>
          <a:xfrm>
            <a:off x="8520989" y="1803654"/>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1" name="Shape 18"/>
          <p:cNvSpPr/>
          <p:nvPr/>
        </p:nvSpPr>
        <p:spPr>
          <a:xfrm rot="5400000">
            <a:off x="8667293" y="1751076"/>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9"/>
          <p:cNvSpPr/>
          <p:nvPr/>
        </p:nvSpPr>
        <p:spPr>
          <a:xfrm>
            <a:off x="8813597" y="1517904"/>
            <a:ext cx="2783738" cy="603504"/>
          </a:xfrm>
          <a:prstGeom prst="roundRect">
            <a:avLst>
              <a:gd name="adj" fmla="val 7576"/>
            </a:avLst>
          </a:prstGeom>
          <a:solidFill>
            <a:srgbClr val="D8E2EC"/>
          </a:solidFill>
          <a:ln w="15875">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8905037" y="1581912"/>
            <a:ext cx="2600858"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Add-EventToIncident</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8905037" y="1801368"/>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correlator. Everything on the row below happens inside this one call, in this order.</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11377879" y="1609344"/>
            <a:ext cx="109728" cy="10972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2606040" y="2176272"/>
            <a:ext cx="8991295" cy="1828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dirty="0">
                <a:ln>
                  <a:noFill/>
                </a:ln>
                <a:solidFill>
                  <a:srgbClr val="A86400"/>
                </a:solidFill>
                <a:effectLst/>
                <a:uLnTx/>
                <a:uFillTx/>
                <a:latin typeface="Calibri" pitchFamily="34" charset="0"/>
                <a:ea typeface="Calibri" pitchFamily="34" charset="-122"/>
                <a:cs typeface="Calibri" pitchFamily="34" charset="-120"/>
              </a:rPr>
              <a:t>inside Add-EventToIncident, for each event, left to right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2606040" y="2359152"/>
            <a:ext cx="1637325" cy="1078992"/>
          </a:xfrm>
          <a:prstGeom prst="roundRect">
            <a:avLst>
              <a:gd name="adj" fmla="val 4237"/>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2697480" y="2423160"/>
            <a:ext cx="1454445" cy="31089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Get-PrimaryKey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 Get-IncidentId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2697480" y="2752344"/>
            <a:ext cx="1454445" cy="40233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Which incident: host &gt; resource &gt; service &gt; trace, then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Shape 27"/>
          <p:cNvSpPr/>
          <p:nvPr/>
        </p:nvSpPr>
        <p:spPr>
          <a:xfrm>
            <a:off x="2697480" y="3163824"/>
            <a:ext cx="114300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1" name="Text 28"/>
          <p:cNvSpPr txBox="1"/>
          <p:nvPr/>
        </p:nvSpPr>
        <p:spPr>
          <a:xfrm>
            <a:off x="2697480"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SAME INCIDENT?</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Shape 29"/>
          <p:cNvSpPr/>
          <p:nvPr/>
        </p:nvSpPr>
        <p:spPr>
          <a:xfrm>
            <a:off x="4270797"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3" name="Shape 30"/>
          <p:cNvSpPr/>
          <p:nvPr/>
        </p:nvSpPr>
        <p:spPr>
          <a:xfrm rot="5400000">
            <a:off x="4298229"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4" name="Shape 31"/>
          <p:cNvSpPr/>
          <p:nvPr/>
        </p:nvSpPr>
        <p:spPr>
          <a:xfrm>
            <a:off x="4444533" y="2359152"/>
            <a:ext cx="1637325" cy="1078992"/>
          </a:xfrm>
          <a:prstGeom prst="roundRect">
            <a:avLst>
              <a:gd name="adj" fmla="val 4237"/>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4535973"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Get-Fingerprint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Text 33"/>
          <p:cNvSpPr txBox="1"/>
          <p:nvPr/>
        </p:nvSpPr>
        <p:spPr>
          <a:xfrm>
            <a:off x="4535973" y="2642616"/>
            <a:ext cx="1454445" cy="51206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Which symptom. Digits → N, then source | kind | title | resource | host, hashed.</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Shape 34"/>
          <p:cNvSpPr/>
          <p:nvPr/>
        </p:nvSpPr>
        <p:spPr>
          <a:xfrm>
            <a:off x="4535973" y="3163824"/>
            <a:ext cx="114300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8" name="Text 35"/>
          <p:cNvSpPr txBox="1"/>
          <p:nvPr/>
        </p:nvSpPr>
        <p:spPr>
          <a:xfrm>
            <a:off x="4535973" y="3163824"/>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SAME SYMPTOM?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9" name="Shape 36"/>
          <p:cNvSpPr/>
          <p:nvPr/>
        </p:nvSpPr>
        <p:spPr>
          <a:xfrm>
            <a:off x="6109289"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0" name="Shape 37"/>
          <p:cNvSpPr/>
          <p:nvPr/>
        </p:nvSpPr>
        <p:spPr>
          <a:xfrm rot="5400000">
            <a:off x="6136721"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1" name="Shape 38"/>
          <p:cNvSpPr/>
          <p:nvPr/>
        </p:nvSpPr>
        <p:spPr>
          <a:xfrm>
            <a:off x="6283025" y="2359152"/>
            <a:ext cx="1637325" cy="1078992"/>
          </a:xfrm>
          <a:prstGeom prst="roundRect">
            <a:avLst>
              <a:gd name="adj" fmla="val 4237"/>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2" name="Text 39"/>
          <p:cNvSpPr txBox="1"/>
          <p:nvPr/>
        </p:nvSpPr>
        <p:spPr>
          <a:xfrm>
            <a:off x="6374465"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New-Incident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 40"/>
          <p:cNvSpPr txBox="1"/>
          <p:nvPr/>
        </p:nvSpPr>
        <p:spPr>
          <a:xfrm>
            <a:off x="6374465"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Create the incident row, or revive it if it went quiet longer than the window.</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Shape 41"/>
          <p:cNvSpPr/>
          <p:nvPr/>
        </p:nvSpPr>
        <p:spPr>
          <a:xfrm>
            <a:off x="7947782"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5" name="Shape 42"/>
          <p:cNvSpPr/>
          <p:nvPr/>
        </p:nvSpPr>
        <p:spPr>
          <a:xfrm rot="5400000">
            <a:off x="7975214"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6" name="Shape 43"/>
          <p:cNvSpPr/>
          <p:nvPr/>
        </p:nvSpPr>
        <p:spPr>
          <a:xfrm>
            <a:off x="8121518" y="2359152"/>
            <a:ext cx="1637325" cy="1078992"/>
          </a:xfrm>
          <a:prstGeom prst="roundRect">
            <a:avLst>
              <a:gd name="adj" fmla="val 4237"/>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7" name="Text 44"/>
          <p:cNvSpPr txBox="1"/>
          <p:nvPr/>
        </p:nvSpPr>
        <p:spPr>
          <a:xfrm>
            <a:off x="8212958" y="2423160"/>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Events(id, fp)</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seen in the window?</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8" name="Text 45"/>
          <p:cNvSpPr txBox="1"/>
          <p:nvPr/>
        </p:nvSpPr>
        <p:spPr>
          <a:xfrm>
            <a:off x="8212958" y="2660904"/>
            <a:ext cx="1454445" cy="7132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Yes: Count + 1, outcome deduped. No: POST a new symptom row, outcome new-symptom.</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9" name="Shape 46"/>
          <p:cNvSpPr/>
          <p:nvPr/>
        </p:nvSpPr>
        <p:spPr>
          <a:xfrm>
            <a:off x="9786275" y="2882646"/>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0" name="Shape 47"/>
          <p:cNvSpPr/>
          <p:nvPr/>
        </p:nvSpPr>
        <p:spPr>
          <a:xfrm rot="5400000">
            <a:off x="9813707" y="2830068"/>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1" name="Shape 48"/>
          <p:cNvSpPr/>
          <p:nvPr/>
        </p:nvSpPr>
        <p:spPr>
          <a:xfrm>
            <a:off x="9960011" y="2359152"/>
            <a:ext cx="1637325" cy="1078992"/>
          </a:xfrm>
          <a:prstGeom prst="roundRect">
            <a:avLst>
              <a:gd name="adj" fmla="val 4237"/>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2" name="Text 49"/>
          <p:cNvSpPr txBox="1"/>
          <p:nvPr/>
        </p:nvSpPr>
        <p:spPr>
          <a:xfrm>
            <a:off x="10051451" y="2423160"/>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ourier New" pitchFamily="34" charset="-122"/>
                <a:cs typeface="Courier New" pitchFamily="34" charset="-120"/>
              </a:rPr>
              <a:t>Touch the 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3" name="Text 50"/>
          <p:cNvSpPr txBox="1"/>
          <p:nvPr/>
        </p:nvSpPr>
        <p:spPr>
          <a:xfrm>
            <a:off x="10051451" y="2642616"/>
            <a:ext cx="1454445" cy="731520"/>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LastSeen and TouchedAt, unconditional. Nothing on the incident row is a counter, so nothing can race.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4" name="Shape 51"/>
          <p:cNvSpPr/>
          <p:nvPr/>
        </p:nvSpPr>
        <p:spPr>
          <a:xfrm>
            <a:off x="594360" y="3730752"/>
            <a:ext cx="11002975" cy="1335024"/>
          </a:xfrm>
          <a:prstGeom prst="roundRect">
            <a:avLst>
              <a:gd name="adj" fmla="val 4110"/>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Text 52"/>
          <p:cNvSpPr txBox="1"/>
          <p:nvPr/>
        </p:nvSpPr>
        <p:spPr>
          <a:xfrm>
            <a:off x="758952" y="3858768"/>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ANALYZETIMER  ·  ANALYZE</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6" name="Text 53"/>
          <p:cNvSpPr txBox="1"/>
          <p:nvPr/>
        </p:nvSpPr>
        <p:spPr>
          <a:xfrm>
            <a:off x="758952" y="4078224"/>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Every minute,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or on demand</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7" name="Text 54"/>
          <p:cNvSpPr txBox="1"/>
          <p:nvPr/>
        </p:nvSpPr>
        <p:spPr>
          <a:xfrm>
            <a:off x="758952" y="4517136"/>
            <a:ext cx="1691640" cy="365760"/>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call to</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950" b="0" i="1"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Invoke-IncidentAnalysis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8" name="Text 55"/>
          <p:cNvSpPr txBox="1"/>
          <p:nvPr/>
        </p:nvSpPr>
        <p:spPr>
          <a:xfrm>
            <a:off x="758952" y="4846320"/>
            <a:ext cx="1691640"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Ai.psm1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9" name="Shape 56"/>
          <p:cNvSpPr/>
          <p:nvPr/>
        </p:nvSpPr>
        <p:spPr>
          <a:xfrm>
            <a:off x="2606040" y="3877056"/>
            <a:ext cx="1637325" cy="1042416"/>
          </a:xfrm>
          <a:prstGeom prst="roundRect">
            <a:avLst>
              <a:gd name="adj" fmla="val 438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0" name="Text 57"/>
          <p:cNvSpPr txBox="1"/>
          <p:nvPr/>
        </p:nvSpPr>
        <p:spPr>
          <a:xfrm>
            <a:off x="2697480"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Get-OpenIncident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1" name="Text 58"/>
          <p:cNvSpPr txBox="1"/>
          <p:nvPr/>
        </p:nvSpPr>
        <p:spPr>
          <a:xfrm>
            <a:off x="2697480"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Every open incident seen in the last 60 minutes.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2" name="Shape 59"/>
          <p:cNvSpPr/>
          <p:nvPr/>
        </p:nvSpPr>
        <p:spPr>
          <a:xfrm>
            <a:off x="4270797"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3" name="Shape 60"/>
          <p:cNvSpPr/>
          <p:nvPr/>
        </p:nvSpPr>
        <p:spPr>
          <a:xfrm rot="5400000">
            <a:off x="4298229"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4" name="Shape 61"/>
          <p:cNvSpPr/>
          <p:nvPr/>
        </p:nvSpPr>
        <p:spPr>
          <a:xfrm>
            <a:off x="4444533" y="3877056"/>
            <a:ext cx="1637325" cy="1042416"/>
          </a:xfrm>
          <a:prstGeom prst="roundRect">
            <a:avLst>
              <a:gd name="adj" fmla="val 438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5" name="Text 62"/>
          <p:cNvSpPr txBox="1"/>
          <p:nvPr/>
        </p:nvSpPr>
        <p:spPr>
          <a:xfrm>
            <a:off x="4535973" y="3941064"/>
            <a:ext cx="1454445"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Anything touched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since the last pass?</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6" name="Text 63"/>
          <p:cNvSpPr txBox="1"/>
          <p:nvPr/>
        </p:nvSpPr>
        <p:spPr>
          <a:xfrm>
            <a:off x="4535973" y="4178808"/>
            <a:ext cx="1454445" cy="676656"/>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 meta row remembers LastRun. A quiet minute costs nothing. -Force skips the check for the demo.</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7" name="Shape 64"/>
          <p:cNvSpPr/>
          <p:nvPr/>
        </p:nvSpPr>
        <p:spPr>
          <a:xfrm>
            <a:off x="6109289"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8" name="Shape 65"/>
          <p:cNvSpPr/>
          <p:nvPr/>
        </p:nvSpPr>
        <p:spPr>
          <a:xfrm rot="5400000">
            <a:off x="6136721"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9" name="Shape 66"/>
          <p:cNvSpPr/>
          <p:nvPr/>
        </p:nvSpPr>
        <p:spPr>
          <a:xfrm>
            <a:off x="6283025" y="3877056"/>
            <a:ext cx="1637325" cy="1042416"/>
          </a:xfrm>
          <a:prstGeom prst="roundRect">
            <a:avLst>
              <a:gd name="adj" fmla="val 438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0" name="Text 67"/>
          <p:cNvSpPr txBox="1"/>
          <p:nvPr/>
        </p:nvSpPr>
        <p:spPr>
          <a:xfrm>
            <a:off x="6374465"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Get-IncidentBrief</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1" name="Text 68"/>
          <p:cNvSpPr txBox="1"/>
          <p:nvPr/>
        </p:nvSpPr>
        <p:spPr>
          <a:xfrm>
            <a:off x="6374465"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Top 6 symptoms per incident. Row keys and plumbing stripped - the model sees the outage, not the schema.</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2" name="Shape 69"/>
          <p:cNvSpPr/>
          <p:nvPr/>
        </p:nvSpPr>
        <p:spPr>
          <a:xfrm>
            <a:off x="7947782"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3" name="Shape 70"/>
          <p:cNvSpPr/>
          <p:nvPr/>
        </p:nvSpPr>
        <p:spPr>
          <a:xfrm rot="5400000">
            <a:off x="7975214"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4" name="Shape 71"/>
          <p:cNvSpPr/>
          <p:nvPr/>
        </p:nvSpPr>
        <p:spPr>
          <a:xfrm>
            <a:off x="8121518" y="3877056"/>
            <a:ext cx="1637325" cy="1042416"/>
          </a:xfrm>
          <a:prstGeom prst="roundRect">
            <a:avLst>
              <a:gd name="adj" fmla="val 438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5" name="Text 72"/>
          <p:cNvSpPr txBox="1"/>
          <p:nvPr/>
        </p:nvSpPr>
        <p:spPr>
          <a:xfrm>
            <a:off x="8212958"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Invoke-OpenAI</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6" name="Text 73"/>
          <p:cNvSpPr txBox="1"/>
          <p:nvPr/>
        </p:nvSpPr>
        <p:spPr>
          <a:xfrm>
            <a:off x="8212958" y="4160520"/>
            <a:ext cx="1454445" cy="475488"/>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One call. gpt-4.1-mini, temp 0, JSON out, parsed by ConvertFrom-ModelJson.</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7" name="Shape 74"/>
          <p:cNvSpPr/>
          <p:nvPr/>
        </p:nvSpPr>
        <p:spPr>
          <a:xfrm>
            <a:off x="8212958" y="4645152"/>
            <a:ext cx="1143000" cy="201168"/>
          </a:xfrm>
          <a:prstGeom prst="roundRect">
            <a:avLst>
              <a:gd name="adj" fmla="val 22727"/>
            </a:avLst>
          </a:prstGeom>
          <a:solidFill>
            <a:srgbClr val="F6F8FA"/>
          </a:solidFill>
          <a:ln w="12700">
            <a:solidFill>
              <a:srgbClr val="C42E2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8" name="Text 75"/>
          <p:cNvSpPr txBox="1"/>
          <p:nvPr/>
        </p:nvSpPr>
        <p:spPr>
          <a:xfrm>
            <a:off x="8212958" y="4645152"/>
            <a:ext cx="114300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C42E28"/>
                </a:solidFill>
                <a:effectLst/>
                <a:uLnTx/>
                <a:uFillTx/>
                <a:latin typeface="Calibri" pitchFamily="34" charset="0"/>
                <a:ea typeface="Calibri" pitchFamily="34" charset="-122"/>
                <a:cs typeface="Calibri" pitchFamily="34" charset="-120"/>
              </a:rPr>
              <a:t>SAME PROBLEM?</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9" name="Shape 76"/>
          <p:cNvSpPr/>
          <p:nvPr/>
        </p:nvSpPr>
        <p:spPr>
          <a:xfrm>
            <a:off x="9786275" y="4382262"/>
            <a:ext cx="27432"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0" name="Shape 77"/>
          <p:cNvSpPr/>
          <p:nvPr/>
        </p:nvSpPr>
        <p:spPr>
          <a:xfrm rot="5400000">
            <a:off x="9813707" y="432968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1" name="Shape 78"/>
          <p:cNvSpPr/>
          <p:nvPr/>
        </p:nvSpPr>
        <p:spPr>
          <a:xfrm>
            <a:off x="9960011" y="3877056"/>
            <a:ext cx="1637325" cy="1042416"/>
          </a:xfrm>
          <a:prstGeom prst="roundRect">
            <a:avLst>
              <a:gd name="adj" fmla="val 438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2" name="Text 79"/>
          <p:cNvSpPr txBox="1"/>
          <p:nvPr/>
        </p:nvSpPr>
        <p:spPr>
          <a:xfrm>
            <a:off x="10051451" y="3941064"/>
            <a:ext cx="1454445" cy="201168"/>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85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Write-IncidentVerdict</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3" name="Text 80"/>
          <p:cNvSpPr txBox="1"/>
          <p:nvPr/>
        </p:nvSpPr>
        <p:spPr>
          <a:xfrm>
            <a:off x="10051451" y="4160520"/>
            <a:ext cx="1454445" cy="694944"/>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Once per incident: cause, downstream, unrelated or forgotten. Clusters of one are demoted. Then LastRun moves.</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4" name="Shape 81"/>
          <p:cNvSpPr/>
          <p:nvPr/>
        </p:nvSpPr>
        <p:spPr>
          <a:xfrm>
            <a:off x="594360" y="5230368"/>
            <a:ext cx="11002975" cy="896112"/>
          </a:xfrm>
          <a:prstGeom prst="roundRect">
            <a:avLst>
              <a:gd name="adj" fmla="val 6122"/>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5" name="Text 82"/>
          <p:cNvSpPr txBox="1"/>
          <p:nvPr/>
        </p:nvSpPr>
        <p:spPr>
          <a:xfrm>
            <a:off x="758952" y="5358384"/>
            <a:ext cx="169164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100" normalizeH="0" baseline="0" noProof="0" dirty="0">
                <a:ln>
                  <a:noFill/>
                </a:ln>
                <a:solidFill>
                  <a:srgbClr val="5A6D81"/>
                </a:solidFill>
                <a:effectLst/>
                <a:uLnTx/>
                <a:uFillTx/>
                <a:latin typeface="Calibri" pitchFamily="34" charset="0"/>
                <a:ea typeface="Calibri" pitchFamily="34" charset="-122"/>
                <a:cs typeface="Calibri" pitchFamily="34" charset="-120"/>
              </a:rPr>
              <a:t>GETINCIDENTS</a:t>
            </a:r>
            <a:endParaRPr kumimoji="0" lang="en-US" sz="9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6" name="Text 83"/>
          <p:cNvSpPr txBox="1"/>
          <p:nvPr/>
        </p:nvSpPr>
        <p:spPr>
          <a:xfrm>
            <a:off x="758952" y="5577840"/>
            <a:ext cx="1691640" cy="420624"/>
          </a:xfrm>
          <a:prstGeom prst="rect">
            <a:avLst/>
          </a:prstGeom>
          <a:noFill/>
          <a:ln/>
        </p:spPr>
        <p:txBody>
          <a:bodyPr wrap="square" lIns="0" tIns="0" rIns="0" bIns="0" rtlCol="0" anchor="ctr"/>
          <a:lstStyle/>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HTTP, when the</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400"/>
              </a:lnSpc>
              <a:spcBef>
                <a:spcPts val="0"/>
              </a:spcBef>
              <a:spcAft>
                <a:spcPts val="0"/>
              </a:spcAft>
              <a:buClrTx/>
              <a:buSzTx/>
              <a:buFontTx/>
              <a:buNone/>
              <a:tabLst/>
              <a:defRPr/>
            </a:pPr>
            <a:r>
              <a:rPr kumimoji="0" lang="en-US" sz="12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workbook refreshes</a:t>
            </a:r>
            <a:endParaRPr kumimoji="0" lang="en-US" sz="12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7" name="Shape 84"/>
          <p:cNvSpPr/>
          <p:nvPr/>
        </p:nvSpPr>
        <p:spPr>
          <a:xfrm>
            <a:off x="2606040" y="5367528"/>
            <a:ext cx="2783738" cy="621792"/>
          </a:xfrm>
          <a:prstGeom prst="roundRect">
            <a:avLst>
              <a:gd name="adj" fmla="val 7353"/>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8" name="Text 85"/>
          <p:cNvSpPr txBox="1"/>
          <p:nvPr/>
        </p:nvSpPr>
        <p:spPr>
          <a:xfrm>
            <a:off x="2697480"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Read</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9" name="Text 86"/>
          <p:cNvSpPr txBox="1"/>
          <p:nvPr/>
        </p:nvSpPr>
        <p:spPr>
          <a:xfrm>
            <a:off x="2697480"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Incidents open in the last 2 hours, plus their Events rows. Imports Plumbing.psm1 and nothing else.</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0" name="Shape 87"/>
          <p:cNvSpPr/>
          <p:nvPr/>
        </p:nvSpPr>
        <p:spPr>
          <a:xfrm>
            <a:off x="5417210"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1" name="Shape 88"/>
          <p:cNvSpPr/>
          <p:nvPr/>
        </p:nvSpPr>
        <p:spPr>
          <a:xfrm rot="5400000">
            <a:off x="5563514"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2" name="Shape 89"/>
          <p:cNvSpPr/>
          <p:nvPr/>
        </p:nvSpPr>
        <p:spPr>
          <a:xfrm>
            <a:off x="5709818" y="5367528"/>
            <a:ext cx="2783738" cy="621792"/>
          </a:xfrm>
          <a:prstGeom prst="roundRect">
            <a:avLst>
              <a:gd name="adj" fmla="val 7353"/>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3" name="Text 90"/>
          <p:cNvSpPr txBox="1"/>
          <p:nvPr/>
        </p:nvSpPr>
        <p:spPr>
          <a:xfrm>
            <a:off x="5801258"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Shape</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4" name="Text 91"/>
          <p:cNvSpPr txBox="1"/>
          <p:nvPr/>
        </p:nvSpPr>
        <p:spPr>
          <a:xfrm>
            <a:off x="5801258"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?view= raw · summary · sources · tree · incidents · symptoms - one per visual on the workbook.</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5" name="Shape 92"/>
          <p:cNvSpPr/>
          <p:nvPr/>
        </p:nvSpPr>
        <p:spPr>
          <a:xfrm>
            <a:off x="8520989" y="5662422"/>
            <a:ext cx="146304" cy="32004"/>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6" name="Shape 93"/>
          <p:cNvSpPr/>
          <p:nvPr/>
        </p:nvSpPr>
        <p:spPr>
          <a:xfrm rot="5400000">
            <a:off x="8667293" y="5609844"/>
            <a:ext cx="118872" cy="137160"/>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7" name="Shape 94"/>
          <p:cNvSpPr/>
          <p:nvPr/>
        </p:nvSpPr>
        <p:spPr>
          <a:xfrm>
            <a:off x="8813597" y="5367528"/>
            <a:ext cx="2783738" cy="621792"/>
          </a:xfrm>
          <a:prstGeom prst="roundRect">
            <a:avLst>
              <a:gd name="adj" fmla="val 7353"/>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8" name="Text 95"/>
          <p:cNvSpPr txBox="1"/>
          <p:nvPr/>
        </p:nvSpPr>
        <p:spPr>
          <a:xfrm>
            <a:off x="8905037" y="5431536"/>
            <a:ext cx="2600858" cy="219456"/>
          </a:xfrm>
          <a:prstGeom prst="rect">
            <a:avLst/>
          </a:prstGeom>
          <a:noFill/>
          <a:ln/>
        </p:spPr>
        <p:txBody>
          <a:bodyPr wrap="square" lIns="0" tIns="0" rIns="0" bIns="0" rtlCol="0" anchor="ctr"/>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US" sz="105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Answer</a:t>
            </a:r>
            <a:endParaRPr kumimoji="0" lang="en-US" sz="10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9" name="Text 96"/>
          <p:cNvSpPr txBox="1"/>
          <p:nvPr/>
        </p:nvSpPr>
        <p:spPr>
          <a:xfrm>
            <a:off x="8905037" y="5669280"/>
            <a:ext cx="2600858" cy="256032"/>
          </a:xfrm>
          <a:prstGeom prst="rect">
            <a:avLst/>
          </a:prstGeom>
          <a:noFill/>
          <a:ln/>
        </p:spPr>
        <p:txBody>
          <a:bodyPr wrap="square" lIns="0" tIns="0" rIns="0" bIns="0" rtlCol="0" anchor="t"/>
          <a:lstStyle/>
          <a:p>
            <a:pPr marL="0" marR="0" lvl="0" indent="0" algn="l" defTabSz="914400" rtl="0" eaLnBrk="1" fontAlgn="auto" latinLnBrk="0" hangingPunct="1">
              <a:lnSpc>
                <a:spcPts val="11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JSON the workbook can colour. No correlation logic lives here; it is presentation only.</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0" name="Text 97"/>
          <p:cNvSpPr txBox="1"/>
          <p:nvPr/>
        </p:nvSpPr>
        <p:spPr>
          <a:xfrm>
            <a:off x="594360" y="6236208"/>
            <a:ext cx="11002975" cy="384048"/>
          </a:xfrm>
          <a:prstGeom prst="rect">
            <a:avLst/>
          </a:prstGeom>
          <a:noFill/>
          <a:ln/>
        </p:spPr>
        <p:txBody>
          <a:bodyPr wrap="square" lIns="0" tIns="0" rIns="0" bIns="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The first two questions are not two passes. </a:t>
            </a:r>
            <a:r>
              <a:rPr kumimoji="0" lang="en-US" sz="11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They are the two halves of one row address - </a:t>
            </a:r>
            <a:r>
              <a:rPr kumimoji="0" lang="en-US" sz="1100" b="0" i="0" u="none" strike="noStrike" kern="1200" cap="none" spc="0" normalizeH="0" baseline="0" noProof="0" dirty="0">
                <a:ln>
                  <a:noFill/>
                </a:ln>
                <a:solidFill>
                  <a:srgbClr val="A86400"/>
                </a:solidFill>
                <a:effectLst/>
                <a:uLnTx/>
                <a:uFillTx/>
                <a:latin typeface="Courier New" pitchFamily="34" charset="0"/>
                <a:ea typeface="Courier New" pitchFamily="34" charset="-122"/>
                <a:cs typeface="Courier New" pitchFamily="34" charset="-120"/>
              </a:rPr>
              <a:t>Events(PartitionKey = incident id, RowKey = fingerprint)</a:t>
            </a:r>
            <a:r>
              <a:rPr kumimoji="0" lang="en-US" sz="11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 and the code works out the incident before the symptom.</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2C68A8"/>
                </a:solidFill>
                <a:effectLst/>
                <a:uLnTx/>
                <a:uFillTx/>
                <a:latin typeface="Calibri" pitchFamily="34" charset="0"/>
                <a:ea typeface="Calibri" pitchFamily="34" charset="-122"/>
                <a:cs typeface="Calibri" pitchFamily="34" charset="-120"/>
              </a:rPr>
              <a:t>NORMALIZE.PSM1  ·  122 LINES</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Three shapes, one object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6949440" cy="1849831"/>
          </a:xfrm>
          <a:prstGeom prst="roundRect">
            <a:avLst>
              <a:gd name="adj" fmla="val 2966"/>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189293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function Get-PayloadShape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04352"/>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if ($Payload.records)         { 'appinsights' }  # diagnostic setting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if ($Payload.data.essentials) { 'alert' }        # common alert schema</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98156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if ($Payload.tool)            { 'script' }       # our own senders</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265277"/>
            <a:ext cx="6309360"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863840" y="1783080"/>
            <a:ext cx="3749040" cy="1849831"/>
          </a:xfrm>
          <a:prstGeom prst="roundRect">
            <a:avLst>
              <a:gd name="adj" fmla="val 296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8138160" y="1938528"/>
            <a:ext cx="3291840" cy="3200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Out the other side</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8138160" y="2304288"/>
            <a:ext cx="3291840" cy="1005840"/>
          </a:xfrm>
          <a:prstGeom prst="rect">
            <a:avLst/>
          </a:prstGeom>
          <a:noFill/>
          <a:ln/>
        </p:spPr>
        <p:txBody>
          <a:bodyPr wrap="square" lIns="0" tIns="0" rIns="0" bIns="0" rtlCol="0" anchor="ctr"/>
          <a:lstStyle/>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Source  	Kind     	Time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Severity 	Title   	Message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900"/>
              </a:lnSpc>
              <a:spcBef>
                <a:spcPts val="0"/>
              </a:spcBef>
              <a:spcAft>
                <a:spcPts val="0"/>
              </a:spcAft>
              <a:buClrTx/>
              <a:buSzTx/>
              <a:buFontTx/>
              <a:buNone/>
              <a:tabLst/>
              <a:defRPr/>
            </a:pPr>
            <a:r>
              <a:rPr kumimoji="0" lang="en-US" sz="1100" b="0" i="0" u="none" strike="noStrike" kern="1200" cap="none" spc="0" normalizeH="0" baseline="0" noProof="0" dirty="0" err="1">
                <a:ln>
                  <a:noFill/>
                </a:ln>
                <a:solidFill>
                  <a:srgbClr val="475A6D"/>
                </a:solidFill>
                <a:effectLst/>
                <a:uLnTx/>
                <a:uFillTx/>
                <a:latin typeface="Courier New" pitchFamily="34" charset="0"/>
                <a:ea typeface="Courier New" pitchFamily="34" charset="-122"/>
                <a:cs typeface="Courier New" pitchFamily="34" charset="-120"/>
              </a:rPr>
              <a:t>TraceId</a:t>
            </a:r>
            <a:r>
              <a:rPr kumimoji="0" lang="en-US" sz="11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Host     	Resource</a:t>
            </a:r>
            <a:endParaRPr kumimoji="0" lang="en-US" sz="11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Shape 11"/>
          <p:cNvSpPr/>
          <p:nvPr/>
        </p:nvSpPr>
        <p:spPr>
          <a:xfrm>
            <a:off x="594360" y="3998671"/>
            <a:ext cx="11002975" cy="1143000"/>
          </a:xfrm>
          <a:prstGeom prst="roundRect">
            <a:avLst>
              <a:gd name="adj" fmla="val 4800"/>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868680" y="4199839"/>
            <a:ext cx="10454335" cy="77724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Every source disagrees about field names. </a:t>
            </a:r>
            <a:r>
              <a:rPr kumimoji="0" lang="en-US" sz="15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OperationId or operation_Id. TimeGenerated or time or timestamp. Nothing downstream can be written until one object comes out of here - and this is the part everyone underestimates when they plan a pipeline like this.</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CORRELATION.PSM1  ·  IS THIS THE SAME SYMPTOM?</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Deduplication is three lines</a:t>
            </a:r>
            <a:endParaRPr lang="en-US" sz="3600" dirty="0"/>
          </a:p>
        </p:txBody>
      </p:sp>
      <p:sp>
        <p:nvSpPr>
          <p:cNvPr id="5" name="Shape 2"/>
          <p:cNvSpPr/>
          <p:nvPr/>
        </p:nvSpPr>
        <p:spPr>
          <a:xfrm>
            <a:off x="594360" y="1783080"/>
            <a:ext cx="11002975" cy="1340876"/>
          </a:xfrm>
          <a:prstGeom prst="roundRect">
            <a:avLst>
              <a:gd name="adj" fmla="val 4092"/>
            </a:avLst>
          </a:prstGeom>
          <a:solidFill>
            <a:srgbClr val="E7EDF3"/>
          </a:solidFill>
          <a:ln/>
        </p:spPr>
        <p:txBody>
          <a:bodyPr/>
          <a:lstStyle/>
          <a:p>
            <a:endParaRPr/>
          </a:p>
        </p:txBody>
      </p:sp>
      <p:sp>
        <p:nvSpPr>
          <p:cNvPr id="6" name="Text 3"/>
          <p:cNvSpPr txBox="1"/>
          <p:nvPr/>
        </p:nvSpPr>
        <p:spPr>
          <a:xfrm>
            <a:off x="914400" y="2011680"/>
            <a:ext cx="10362895" cy="309799"/>
          </a:xfrm>
          <a:prstGeom prst="rect">
            <a:avLst/>
          </a:prstGeom>
          <a:noFill/>
          <a:ln/>
        </p:spPr>
        <p:txBody>
          <a:bodyPr wrap="square" lIns="0" tIns="0" rIns="0" bIns="0" rtlCol="0" anchor="ctr"/>
          <a:lstStyle/>
          <a:p>
            <a:pPr marL="0" indent="0">
              <a:buNone/>
            </a:pPr>
            <a:r>
              <a:rPr lang="en-US" sz="1400" dirty="0">
                <a:solidFill>
                  <a:srgbClr val="A86400"/>
                </a:solidFill>
                <a:latin typeface="Courier New" pitchFamily="34" charset="0"/>
                <a:ea typeface="Courier New" pitchFamily="34" charset="-122"/>
                <a:cs typeface="Courier New" pitchFamily="34" charset="-120"/>
              </a:rPr>
              <a:t>$title = $Event.Title -replace '\d+', 'N'          # 480 ms and 8 ms are the same symptom</a:t>
            </a:r>
            <a:endParaRPr lang="en-US" sz="1400" dirty="0"/>
          </a:p>
        </p:txBody>
      </p:sp>
      <p:sp>
        <p:nvSpPr>
          <p:cNvPr id="7" name="Text 4"/>
          <p:cNvSpPr txBox="1"/>
          <p:nvPr/>
        </p:nvSpPr>
        <p:spPr>
          <a:xfrm>
            <a:off x="914400" y="2321479"/>
            <a:ext cx="10362895" cy="309799"/>
          </a:xfrm>
          <a:prstGeom prst="rect">
            <a:avLst/>
          </a:prstGeom>
          <a:noFill/>
          <a:ln/>
        </p:spPr>
        <p:txBody>
          <a:bodyPr wrap="square" lIns="0" tIns="0" rIns="0" bIns="0" rtlCol="0" anchor="ctr"/>
          <a:lstStyle/>
          <a:p>
            <a:pPr marL="0" indent="0">
              <a:buNone/>
            </a:pPr>
            <a:r>
              <a:rPr lang="en-US" sz="1400" dirty="0">
                <a:solidFill>
                  <a:srgbClr val="16212C"/>
                </a:solidFill>
                <a:latin typeface="Courier New" pitchFamily="34" charset="0"/>
                <a:ea typeface="Courier New" pitchFamily="34" charset="-122"/>
                <a:cs typeface="Courier New" pitchFamily="34" charset="-120"/>
              </a:rPr>
              <a:t>$seed  = "$Source|$Kind|$title|$ResourceId|$Host".ToLowerInvariant()</a:t>
            </a:r>
            <a:endParaRPr lang="en-US" sz="1400" dirty="0"/>
          </a:p>
        </p:txBody>
      </p:sp>
      <p:sp>
        <p:nvSpPr>
          <p:cNvPr id="8" name="Text 5"/>
          <p:cNvSpPr txBox="1"/>
          <p:nvPr/>
        </p:nvSpPr>
        <p:spPr>
          <a:xfrm>
            <a:off x="914400" y="2631277"/>
            <a:ext cx="10362895" cy="309799"/>
          </a:xfrm>
          <a:prstGeom prst="rect">
            <a:avLst/>
          </a:prstGeom>
          <a:noFill/>
          <a:ln/>
        </p:spPr>
        <p:txBody>
          <a:bodyPr wrap="square" lIns="0" tIns="0" rIns="0" bIns="0" rtlCol="0" anchor="ctr"/>
          <a:lstStyle/>
          <a:p>
            <a:pPr marL="0" indent="0">
              <a:buNone/>
            </a:pPr>
            <a:r>
              <a:rPr lang="en-US" sz="1400" dirty="0">
                <a:solidFill>
                  <a:srgbClr val="16212C"/>
                </a:solidFill>
                <a:latin typeface="Courier New" pitchFamily="34" charset="0"/>
                <a:ea typeface="Courier New" pitchFamily="34" charset="-122"/>
                <a:cs typeface="Courier New" pitchFamily="34" charset="-120"/>
              </a:rPr>
              <a:t>$hash  = [Security.Cryptography.SHA256]::HashData([Text.Encoding]::UTF8.GetBytes($seed))</a:t>
            </a:r>
            <a:endParaRPr lang="en-US" sz="1400" dirty="0"/>
          </a:p>
        </p:txBody>
      </p:sp>
      <p:sp>
        <p:nvSpPr>
          <p:cNvPr id="9" name="Shape 6"/>
          <p:cNvSpPr/>
          <p:nvPr/>
        </p:nvSpPr>
        <p:spPr>
          <a:xfrm>
            <a:off x="594360" y="3398276"/>
            <a:ext cx="5257800" cy="1783080"/>
          </a:xfrm>
          <a:prstGeom prst="roundRect">
            <a:avLst>
              <a:gd name="adj" fmla="val 3077"/>
            </a:avLst>
          </a:prstGeom>
          <a:solidFill>
            <a:srgbClr val="E7EDF3"/>
          </a:solidFill>
          <a:ln/>
        </p:spPr>
        <p:txBody>
          <a:bodyPr/>
          <a:lstStyle/>
          <a:p>
            <a:endParaRPr/>
          </a:p>
        </p:txBody>
      </p:sp>
      <p:sp>
        <p:nvSpPr>
          <p:cNvPr id="10" name="Text 7"/>
          <p:cNvSpPr txBox="1"/>
          <p:nvPr/>
        </p:nvSpPr>
        <p:spPr>
          <a:xfrm>
            <a:off x="914400" y="3535436"/>
            <a:ext cx="4617720" cy="292608"/>
          </a:xfrm>
          <a:prstGeom prst="rect">
            <a:avLst/>
          </a:prstGeom>
          <a:noFill/>
          <a:ln/>
        </p:spPr>
        <p:txBody>
          <a:bodyPr wrap="square" lIns="0" tIns="0" rIns="0" bIns="0" rtlCol="0" anchor="ctr"/>
          <a:lstStyle/>
          <a:p>
            <a:pPr marL="0" indent="0">
              <a:buNone/>
            </a:pPr>
            <a:r>
              <a:rPr lang="en-US" sz="1500" b="1" dirty="0">
                <a:solidFill>
                  <a:srgbClr val="475A6D"/>
                </a:solidFill>
                <a:latin typeface="Calibri" pitchFamily="34" charset="0"/>
                <a:ea typeface="Calibri" pitchFamily="34" charset="-122"/>
                <a:cs typeface="Calibri" pitchFamily="34" charset="-120"/>
              </a:rPr>
              <a:t>What goes in</a:t>
            </a:r>
            <a:endParaRPr lang="en-US" sz="1500" dirty="0"/>
          </a:p>
        </p:txBody>
      </p:sp>
      <p:sp>
        <p:nvSpPr>
          <p:cNvPr id="11" name="Text 8"/>
          <p:cNvSpPr txBox="1"/>
          <p:nvPr/>
        </p:nvSpPr>
        <p:spPr>
          <a:xfrm>
            <a:off x="914400" y="3855476"/>
            <a:ext cx="4617720" cy="1280160"/>
          </a:xfrm>
          <a:prstGeom prst="rect">
            <a:avLst/>
          </a:prstGeom>
          <a:noFill/>
          <a:ln/>
        </p:spPr>
        <p:txBody>
          <a:bodyPr wrap="square" lIns="0" tIns="0" rIns="0" bIns="0" rtlCol="0" anchor="ctr"/>
          <a:lstStyle/>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410 ms, sustained</a:t>
            </a:r>
            <a:endParaRPr lang="en-US" sz="1100" dirty="0"/>
          </a:p>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455 ms, sustained</a:t>
            </a:r>
            <a:endParaRPr lang="en-US" sz="1100" dirty="0"/>
          </a:p>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480 ms, sustained</a:t>
            </a:r>
            <a:endParaRPr lang="en-US" sz="1100" dirty="0"/>
          </a:p>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512 ms, sustained</a:t>
            </a:r>
            <a:endParaRPr lang="en-US" sz="1100" dirty="0"/>
          </a:p>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498 ms, sustained</a:t>
            </a:r>
            <a:endParaRPr lang="en-US" sz="1100" dirty="0"/>
          </a:p>
          <a:p>
            <a:pPr marL="0" indent="0">
              <a:lnSpc>
                <a:spcPts val="1600"/>
              </a:lnSpc>
              <a:buNone/>
            </a:pPr>
            <a:r>
              <a:rPr lang="en-US" sz="1100" dirty="0">
                <a:solidFill>
                  <a:srgbClr val="475A6D"/>
                </a:solidFill>
                <a:latin typeface="Courier New" pitchFamily="34" charset="0"/>
                <a:ea typeface="Courier New" pitchFamily="34" charset="-122"/>
                <a:cs typeface="Courier New" pitchFamily="34" charset="-120"/>
              </a:rPr>
              <a:t>Disk read latency 466 ms, sustained</a:t>
            </a:r>
            <a:endParaRPr lang="en-US" sz="1100" dirty="0"/>
          </a:p>
        </p:txBody>
      </p:sp>
      <p:sp>
        <p:nvSpPr>
          <p:cNvPr id="12" name="Text 9"/>
          <p:cNvSpPr txBox="1"/>
          <p:nvPr/>
        </p:nvSpPr>
        <p:spPr>
          <a:xfrm>
            <a:off x="5897880" y="4038356"/>
            <a:ext cx="457200" cy="457200"/>
          </a:xfrm>
          <a:prstGeom prst="rect">
            <a:avLst/>
          </a:prstGeom>
          <a:noFill/>
          <a:ln/>
        </p:spPr>
        <p:txBody>
          <a:bodyPr wrap="square" lIns="0" tIns="0" rIns="0" bIns="0" rtlCol="0" anchor="ctr"/>
          <a:lstStyle/>
          <a:p>
            <a:pPr marL="0" indent="0" algn="ctr">
              <a:buNone/>
            </a:pPr>
            <a:r>
              <a:rPr lang="en-US" sz="2600" b="1" dirty="0">
                <a:solidFill>
                  <a:srgbClr val="A86400"/>
                </a:solidFill>
                <a:latin typeface="Calibri" pitchFamily="34" charset="0"/>
                <a:ea typeface="Calibri" pitchFamily="34" charset="-122"/>
                <a:cs typeface="Calibri" pitchFamily="34" charset="-120"/>
              </a:rPr>
              <a:t>&gt;</a:t>
            </a:r>
            <a:endParaRPr lang="en-US" sz="2600" dirty="0"/>
          </a:p>
        </p:txBody>
      </p:sp>
      <p:sp>
        <p:nvSpPr>
          <p:cNvPr id="13" name="Shape 10"/>
          <p:cNvSpPr/>
          <p:nvPr/>
        </p:nvSpPr>
        <p:spPr>
          <a:xfrm>
            <a:off x="6355080" y="3398276"/>
            <a:ext cx="5257800" cy="1783080"/>
          </a:xfrm>
          <a:prstGeom prst="roundRect">
            <a:avLst>
              <a:gd name="adj" fmla="val 3077"/>
            </a:avLst>
          </a:prstGeom>
          <a:solidFill>
            <a:srgbClr val="D8E2EC"/>
          </a:solidFill>
          <a:ln/>
        </p:spPr>
        <p:txBody>
          <a:bodyPr/>
          <a:lstStyle/>
          <a:p>
            <a:endParaRPr/>
          </a:p>
        </p:txBody>
      </p:sp>
      <p:sp>
        <p:nvSpPr>
          <p:cNvPr id="14" name="Text 11"/>
          <p:cNvSpPr txBox="1"/>
          <p:nvPr/>
        </p:nvSpPr>
        <p:spPr>
          <a:xfrm>
            <a:off x="6675120" y="3535436"/>
            <a:ext cx="4617720" cy="292608"/>
          </a:xfrm>
          <a:prstGeom prst="rect">
            <a:avLst/>
          </a:prstGeom>
          <a:noFill/>
          <a:ln/>
        </p:spPr>
        <p:txBody>
          <a:bodyPr wrap="square" lIns="0" tIns="0" rIns="0" bIns="0" rtlCol="0" anchor="ctr"/>
          <a:lstStyle/>
          <a:p>
            <a:pPr marL="0" indent="0">
              <a:buNone/>
            </a:pPr>
            <a:r>
              <a:rPr lang="en-US" sz="1500" b="1" dirty="0">
                <a:solidFill>
                  <a:srgbClr val="1D7F57"/>
                </a:solidFill>
                <a:latin typeface="Calibri" pitchFamily="34" charset="0"/>
                <a:ea typeface="Calibri" pitchFamily="34" charset="-122"/>
                <a:cs typeface="Calibri" pitchFamily="34" charset="-120"/>
              </a:rPr>
              <a:t>What comes out</a:t>
            </a:r>
            <a:endParaRPr lang="en-US" sz="1500" dirty="0"/>
          </a:p>
        </p:txBody>
      </p:sp>
      <p:sp>
        <p:nvSpPr>
          <p:cNvPr id="15" name="Text 12"/>
          <p:cNvSpPr txBox="1"/>
          <p:nvPr/>
        </p:nvSpPr>
        <p:spPr>
          <a:xfrm>
            <a:off x="6675120" y="3965204"/>
            <a:ext cx="4617720" cy="320040"/>
          </a:xfrm>
          <a:prstGeom prst="rect">
            <a:avLst/>
          </a:prstGeom>
          <a:noFill/>
          <a:ln/>
        </p:spPr>
        <p:txBody>
          <a:bodyPr wrap="square" lIns="0" tIns="0" rIns="0" bIns="0" rtlCol="0" anchor="ctr"/>
          <a:lstStyle/>
          <a:p>
            <a:pPr marL="0" indent="0">
              <a:buNone/>
            </a:pPr>
            <a:r>
              <a:rPr lang="en-US" sz="1300" dirty="0">
                <a:solidFill>
                  <a:srgbClr val="16212C"/>
                </a:solidFill>
                <a:latin typeface="Courier New" pitchFamily="34" charset="0"/>
                <a:ea typeface="Courier New" pitchFamily="34" charset="-122"/>
                <a:cs typeface="Courier New" pitchFamily="34" charset="-120"/>
              </a:rPr>
              <a:t>Disk read latency N ms, sustained</a:t>
            </a:r>
            <a:endParaRPr lang="en-US" sz="1300" dirty="0"/>
          </a:p>
        </p:txBody>
      </p:sp>
      <p:sp>
        <p:nvSpPr>
          <p:cNvPr id="16" name="Text 13"/>
          <p:cNvSpPr txBox="1"/>
          <p:nvPr/>
        </p:nvSpPr>
        <p:spPr>
          <a:xfrm>
            <a:off x="6675120" y="4422404"/>
            <a:ext cx="4617720" cy="320040"/>
          </a:xfrm>
          <a:prstGeom prst="rect">
            <a:avLst/>
          </a:prstGeom>
          <a:noFill/>
          <a:ln/>
        </p:spPr>
        <p:txBody>
          <a:bodyPr wrap="square" lIns="0" tIns="0" rIns="0" bIns="0" rtlCol="0" anchor="ctr"/>
          <a:lstStyle/>
          <a:p>
            <a:pPr marL="0" indent="0">
              <a:buNone/>
            </a:pPr>
            <a:r>
              <a:rPr lang="en-US" sz="1600" b="1" dirty="0">
                <a:solidFill>
                  <a:srgbClr val="A86400"/>
                </a:solidFill>
                <a:latin typeface="Calibri" pitchFamily="34" charset="0"/>
                <a:ea typeface="Calibri" pitchFamily="34" charset="-122"/>
                <a:cs typeface="Calibri" pitchFamily="34" charset="-120"/>
              </a:rPr>
              <a:t>one row  ·  seen 6 times</a:t>
            </a:r>
            <a:endParaRPr lang="en-US" sz="1600" dirty="0"/>
          </a:p>
        </p:txBody>
      </p:sp>
      <p:sp>
        <p:nvSpPr>
          <p:cNvPr id="17" name="Shape 14"/>
          <p:cNvSpPr/>
          <p:nvPr/>
        </p:nvSpPr>
        <p:spPr>
          <a:xfrm>
            <a:off x="594360" y="5382524"/>
            <a:ext cx="11002975" cy="914400"/>
          </a:xfrm>
          <a:prstGeom prst="roundRect">
            <a:avLst>
              <a:gd name="adj" fmla="val 6000"/>
            </a:avLst>
          </a:prstGeom>
          <a:solidFill>
            <a:srgbClr val="D8E2EC"/>
          </a:solidFill>
          <a:ln/>
        </p:spPr>
        <p:txBody>
          <a:bodyPr/>
          <a:lstStyle/>
          <a:p>
            <a:endParaRPr/>
          </a:p>
        </p:txBody>
      </p:sp>
      <p:sp>
        <p:nvSpPr>
          <p:cNvPr id="18" name="Text 15"/>
          <p:cNvSpPr txBox="1"/>
          <p:nvPr/>
        </p:nvSpPr>
        <p:spPr>
          <a:xfrm>
            <a:off x="868680" y="5583692"/>
            <a:ext cx="10454335" cy="548640"/>
          </a:xfrm>
          <a:prstGeom prst="rect">
            <a:avLst/>
          </a:prstGeom>
          <a:noFill/>
          <a:ln/>
        </p:spPr>
        <p:txBody>
          <a:bodyPr wrap="square" lIns="0" tIns="0" rIns="0" bIns="0" rtlCol="0" anchor="t"/>
          <a:lstStyle/>
          <a:p>
            <a:pPr marL="0" indent="0">
              <a:buNone/>
            </a:pPr>
            <a:r>
              <a:rPr lang="en-US" sz="1400" b="1" dirty="0">
                <a:solidFill>
                  <a:srgbClr val="16212C"/>
                </a:solidFill>
                <a:latin typeface="Calibri" pitchFamily="34" charset="0"/>
                <a:ea typeface="Calibri" pitchFamily="34" charset="-122"/>
                <a:cs typeface="Calibri" pitchFamily="34" charset="-120"/>
              </a:rPr>
              <a:t>Every run of digits collapses.  </a:t>
            </a:r>
            <a:r>
              <a:rPr lang="en-US" sz="1400" dirty="0">
                <a:solidFill>
                  <a:srgbClr val="475A6D"/>
                </a:solidFill>
                <a:latin typeface="Calibri" pitchFamily="34" charset="0"/>
                <a:ea typeface="Calibri" pitchFamily="34" charset="-122"/>
                <a:cs typeface="Calibri" pitchFamily="34" charset="-120"/>
              </a:rPr>
              <a:t>Durations, counts, percentages and addresses are values, not identities - 300 identical checkout failures become one row with a count, not 300 rows.  </a:t>
            </a:r>
            <a:r>
              <a:rPr lang="en-US" sz="1400" b="1" dirty="0">
                <a:solidFill>
                  <a:srgbClr val="A86400"/>
                </a:solidFill>
                <a:latin typeface="Calibri" pitchFamily="34" charset="0"/>
                <a:ea typeface="Calibri" pitchFamily="34" charset="-122"/>
                <a:cs typeface="Calibri" pitchFamily="34" charset="-120"/>
              </a:rPr>
              <a:t>The honest cost: </a:t>
            </a:r>
            <a:r>
              <a:rPr lang="en-US" sz="1400" dirty="0">
                <a:solidFill>
                  <a:srgbClr val="475A6D"/>
                </a:solidFill>
                <a:latin typeface="Calibri" pitchFamily="34" charset="0"/>
                <a:ea typeface="Calibri" pitchFamily="34" charset="-122"/>
                <a:cs typeface="Calibri" pitchFamily="34" charset="-120"/>
              </a:rPr>
              <a:t>"Port 22 closed" and "Port 443 closed" collapse together too.</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Follow one alert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Shape 4"/>
          <p:cNvSpPr/>
          <p:nvPr/>
        </p:nvSpPr>
        <p:spPr>
          <a:xfrm>
            <a:off x="594360" y="1645920"/>
            <a:ext cx="11002975" cy="1024128"/>
          </a:xfrm>
          <a:prstGeom prst="roundRect">
            <a:avLst>
              <a:gd name="adj" fmla="val 5357"/>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Shape 5"/>
          <p:cNvSpPr/>
          <p:nvPr/>
        </p:nvSpPr>
        <p:spPr>
          <a:xfrm>
            <a:off x="886968" y="1920240"/>
            <a:ext cx="475488" cy="475488"/>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6"/>
          <p:cNvSpPr txBox="1"/>
          <p:nvPr/>
        </p:nvSpPr>
        <p:spPr>
          <a:xfrm>
            <a:off x="886968" y="192024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1554480" y="182880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An alert arrives</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1554480" y="221284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Tool, what went wrong, and which machine.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5715000" y="182880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sql-watch  ·  Lock wait 3100 ms  ·  sql-prod-03</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1108710" y="2688336"/>
            <a:ext cx="32004" cy="27432"/>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Shape 11"/>
          <p:cNvSpPr/>
          <p:nvPr/>
        </p:nvSpPr>
        <p:spPr>
          <a:xfrm rot="10800000">
            <a:off x="1056132" y="2715768"/>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Shape 12"/>
          <p:cNvSpPr/>
          <p:nvPr/>
        </p:nvSpPr>
        <p:spPr>
          <a:xfrm>
            <a:off x="594360" y="2834640"/>
            <a:ext cx="11002975" cy="1024128"/>
          </a:xfrm>
          <a:prstGeom prst="roundRect">
            <a:avLst>
              <a:gd name="adj" fmla="val 5357"/>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Shape 13"/>
          <p:cNvSpPr/>
          <p:nvPr/>
        </p:nvSpPr>
        <p:spPr>
          <a:xfrm>
            <a:off x="886968" y="3108960"/>
            <a:ext cx="475488" cy="47548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7" name="Text 14"/>
          <p:cNvSpPr txBox="1"/>
          <p:nvPr/>
        </p:nvSpPr>
        <p:spPr>
          <a:xfrm>
            <a:off x="886968" y="310896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1554480" y="301752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Pick the label to group on</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1554480" y="340156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machine name if it has one. Otherwise the Azure resource, then the app name.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5715000" y="301752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A86400"/>
                </a:solidFill>
                <a:effectLst/>
                <a:uLnTx/>
                <a:uFillTx/>
                <a:latin typeface="Courier New" pitchFamily="34" charset="0"/>
                <a:ea typeface="Courier New" pitchFamily="34" charset="-122"/>
                <a:cs typeface="Courier New" pitchFamily="34" charset="-120"/>
              </a:rPr>
              <a:t>host:sql-prod-03</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1108710" y="3877056"/>
            <a:ext cx="32004" cy="27432"/>
          </a:xfrm>
          <a:prstGeom prst="rect">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Shape 19"/>
          <p:cNvSpPr/>
          <p:nvPr/>
        </p:nvSpPr>
        <p:spPr>
          <a:xfrm rot="10800000">
            <a:off x="1056132" y="3904488"/>
            <a:ext cx="137160" cy="118872"/>
          </a:xfrm>
          <a:prstGeom prst="triangle">
            <a:avLst/>
          </a:prstGeom>
          <a:solidFill>
            <a:srgbClr val="7C90A6"/>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3" name="Shape 20"/>
          <p:cNvSpPr/>
          <p:nvPr/>
        </p:nvSpPr>
        <p:spPr>
          <a:xfrm>
            <a:off x="594360" y="4023360"/>
            <a:ext cx="11002975" cy="1024128"/>
          </a:xfrm>
          <a:prstGeom prst="roundRect">
            <a:avLst>
              <a:gd name="adj" fmla="val 5357"/>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Shape 21"/>
          <p:cNvSpPr/>
          <p:nvPr/>
        </p:nvSpPr>
        <p:spPr>
          <a:xfrm>
            <a:off x="886968" y="4297680"/>
            <a:ext cx="475488" cy="47548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5" name="Text 22"/>
          <p:cNvSpPr txBox="1"/>
          <p:nvPr/>
        </p:nvSpPr>
        <p:spPr>
          <a:xfrm>
            <a:off x="886968" y="4297680"/>
            <a:ext cx="475488" cy="47548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0E1621"/>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1554480" y="4206240"/>
            <a:ext cx="3840480"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Turn the label into an id</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Text 24"/>
          <p:cNvSpPr txBox="1"/>
          <p:nvPr/>
        </p:nvSpPr>
        <p:spPr>
          <a:xfrm>
            <a:off x="1554480" y="4590288"/>
            <a:ext cx="4023360" cy="38404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 hash of the label. Same label in, same id out - every time.</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5715000" y="4206240"/>
            <a:ext cx="5669280" cy="6583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D7F57"/>
                </a:solidFill>
                <a:effectLst/>
                <a:uLnTx/>
                <a:uFillTx/>
                <a:latin typeface="Courier New" pitchFamily="34" charset="0"/>
                <a:ea typeface="Courier New" pitchFamily="34" charset="-122"/>
                <a:cs typeface="Courier New" pitchFamily="34" charset="-120"/>
              </a:rPr>
              <a:t>inc-de92ae29a9bb</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Shape 26"/>
          <p:cNvSpPr/>
          <p:nvPr/>
        </p:nvSpPr>
        <p:spPr>
          <a:xfrm>
            <a:off x="594360" y="5303520"/>
            <a:ext cx="11002975" cy="868680"/>
          </a:xfrm>
          <a:prstGeom prst="roundRect">
            <a:avLst>
              <a:gd name="adj" fmla="val 631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868680" y="5504688"/>
            <a:ext cx="10454335" cy="5029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next alert about sql-prod-03 - from any tool - computes </a:t>
            </a:r>
            <a:r>
              <a:rPr kumimoji="0" lang="en-US" sz="1700" b="1" i="0" u="none" strike="noStrike" kern="1200" cap="none" spc="0" normalizeH="0" baseline="0" noProof="0" dirty="0">
                <a:ln>
                  <a:noFill/>
                </a:ln>
                <a:solidFill>
                  <a:srgbClr val="1D7F57"/>
                </a:solidFill>
                <a:effectLst/>
                <a:uLnTx/>
                <a:uFillTx/>
                <a:latin typeface="Courier New" pitchFamily="34" charset="0"/>
                <a:ea typeface="Courier New" pitchFamily="34" charset="-122"/>
                <a:cs typeface="Courier New" pitchFamily="34" charset="-120"/>
              </a:rPr>
              <a:t>inc-de92ae29a9bb</a:t>
            </a:r>
            <a:r>
              <a:rPr kumimoji="0" lang="en-US" sz="17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too.  </a:t>
            </a: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Same incident, and nobody had to look anything up.</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 0">
            <a:extLst>
              <a:ext uri="{FF2B5EF4-FFF2-40B4-BE49-F238E27FC236}">
                <a16:creationId xmlns:a16="http://schemas.microsoft.com/office/drawing/2014/main" id="{1B51632C-B042-2DED-92A8-E1E465AE31A3}"/>
              </a:ext>
            </a:extLst>
          </p:cNvPr>
          <p:cNvSpPr txBox="1"/>
          <p:nvPr/>
        </p:nvSpPr>
        <p:spPr>
          <a:xfrm>
            <a:off x="594360" y="324612"/>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CORRELATION.PSM1  ·  IS THIS THE SAME INCIDENT?</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CORRELATION.PSM1  ·  IS THIS THE SAME INCIDENT?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Identity is derived, not invented</a:t>
            </a:r>
            <a:endParaRPr lang="en-US" sz="3600" dirty="0"/>
          </a:p>
        </p:txBody>
      </p:sp>
      <p:sp>
        <p:nvSpPr>
          <p:cNvPr id="5" name="Shape 2"/>
          <p:cNvSpPr/>
          <p:nvPr/>
        </p:nvSpPr>
        <p:spPr>
          <a:xfrm>
            <a:off x="594360" y="1783080"/>
            <a:ext cx="11002975" cy="2712842"/>
          </a:xfrm>
          <a:prstGeom prst="roundRect">
            <a:avLst>
              <a:gd name="adj" fmla="val 2022"/>
            </a:avLst>
          </a:prstGeom>
          <a:solidFill>
            <a:srgbClr val="E7EDF3"/>
          </a:solidFill>
          <a:ln/>
        </p:spPr>
        <p:txBody>
          <a:bodyPr/>
          <a:lstStyle/>
          <a:p>
            <a:endParaRPr b="1"/>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function Get-PrimaryKey {</a:t>
            </a:r>
            <a:endParaRPr lang="en-US" sz="1300" b="1" dirty="0"/>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    if ($Event.Host)       { return "host:$($Event.Host)" }             # a machine name</a:t>
            </a:r>
            <a:endParaRPr lang="en-US" sz="1300" b="1" dirty="0"/>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    if ($Event.ResourceId) { return "resource:$($Event.ResourceId)" }   # an Azure resource</a:t>
            </a:r>
            <a:endParaRPr lang="en-US" sz="1300" b="1" dirty="0"/>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    if ($Event.Service)    { return "service:$($Event.Service)" }       # a role, when there is no host</a:t>
            </a:r>
            <a:endParaRPr lang="en-US" sz="1300" b="1" dirty="0"/>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    if ($Event.TraceId)    { return "trace:$($Event.TraceId)" }         # last: one per request</a:t>
            </a:r>
            <a:endParaRPr lang="en-US" sz="1300" b="1" dirty="0"/>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a:t>
            </a:r>
            <a:endParaRPr lang="en-US" sz="1300" b="1" dirty="0"/>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marL="0" indent="0">
              <a:buNone/>
            </a:pPr>
            <a:endParaRPr lang="en-US" sz="1300" b="1" dirty="0"/>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marL="0" indent="0">
              <a:buNone/>
            </a:pPr>
            <a:r>
              <a:rPr lang="en-US" sz="1300" b="1" dirty="0">
                <a:latin typeface="Courier New" pitchFamily="34" charset="0"/>
                <a:ea typeface="Courier New" pitchFamily="34" charset="-122"/>
                <a:cs typeface="Courier New" pitchFamily="34" charset="-120"/>
              </a:rPr>
              <a:t>$incidentId = 'inc-' + (Sha256 $primaryKey).Substring(0, 12)</a:t>
            </a:r>
            <a:endParaRPr lang="en-US" sz="1300" b="1" dirty="0"/>
          </a:p>
        </p:txBody>
      </p:sp>
      <p:sp>
        <p:nvSpPr>
          <p:cNvPr id="14" name="Shape 11"/>
          <p:cNvSpPr/>
          <p:nvPr/>
        </p:nvSpPr>
        <p:spPr>
          <a:xfrm>
            <a:off x="594360" y="4815962"/>
            <a:ext cx="11002975" cy="1188720"/>
          </a:xfrm>
          <a:prstGeom prst="roundRect">
            <a:avLst>
              <a:gd name="adj" fmla="val 4615"/>
            </a:avLst>
          </a:prstGeom>
          <a:solidFill>
            <a:srgbClr val="D8E2EC"/>
          </a:solidFill>
          <a:ln/>
        </p:spPr>
        <p:txBody>
          <a:bodyPr/>
          <a:lstStyle/>
          <a:p>
            <a:endParaRPr/>
          </a:p>
        </p:txBody>
      </p:sp>
      <p:sp>
        <p:nvSpPr>
          <p:cNvPr id="15" name="Text 12"/>
          <p:cNvSpPr txBox="1"/>
          <p:nvPr/>
        </p:nvSpPr>
        <p:spPr>
          <a:xfrm>
            <a:off x="868680" y="5017130"/>
            <a:ext cx="10454335" cy="822960"/>
          </a:xfrm>
          <a:prstGeom prst="rect">
            <a:avLst/>
          </a:prstGeom>
          <a:noFill/>
          <a:ln/>
        </p:spPr>
        <p:txBody>
          <a:bodyPr wrap="square" lIns="0" tIns="0" rIns="0" bIns="0" rtlCol="0" anchor="t"/>
          <a:lstStyle/>
          <a:p>
            <a:pPr marL="0" indent="0">
              <a:buNone/>
            </a:pPr>
            <a:r>
              <a:rPr lang="en-US" sz="1600" b="1" dirty="0">
                <a:solidFill>
                  <a:srgbClr val="1D7F57"/>
                </a:solidFill>
                <a:latin typeface="Calibri" pitchFamily="34" charset="0"/>
                <a:ea typeface="Calibri" pitchFamily="34" charset="-122"/>
                <a:cs typeface="Calibri" pitchFamily="34" charset="-120"/>
              </a:rPr>
              <a:t>First match wins, and the id is a hash of it. </a:t>
            </a:r>
            <a:r>
              <a:rPr lang="en-US" sz="1600" dirty="0">
                <a:solidFill>
                  <a:srgbClr val="16212C"/>
                </a:solidFill>
                <a:latin typeface="Calibri" pitchFamily="34" charset="0"/>
                <a:ea typeface="Calibri" pitchFamily="34" charset="-122"/>
                <a:cs typeface="Calibri" pitchFamily="34" charset="-120"/>
              </a:rPr>
              <a:t>Four tools reporting sql-prod-03 all produce the same key, so they all produce the same incident id - nothing is looked up, nothing is generated, nothing can drift. The same host always lands in the same incident.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2">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1D7F57"/>
                </a:solidFill>
                <a:latin typeface="Calibri" pitchFamily="34" charset="0"/>
                <a:ea typeface="Calibri" pitchFamily="34" charset="-122"/>
                <a:cs typeface="Calibri" pitchFamily="34" charset="-120"/>
              </a:rPr>
              <a:t>THE PART WORTH ARGUING ABOUT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Instrumentation earns the correlation</a:t>
            </a:r>
            <a:endParaRPr lang="en-US" sz="3600" dirty="0"/>
          </a:p>
        </p:txBody>
      </p:sp>
      <p:sp>
        <p:nvSpPr>
          <p:cNvPr id="5" name="Shape 2"/>
          <p:cNvSpPr/>
          <p:nvPr/>
        </p:nvSpPr>
        <p:spPr>
          <a:xfrm>
            <a:off x="594360" y="1783080"/>
            <a:ext cx="5943600" cy="2834640"/>
          </a:xfrm>
          <a:prstGeom prst="roundRect">
            <a:avLst>
              <a:gd name="adj" fmla="val 1935"/>
            </a:avLst>
          </a:prstGeom>
          <a:solidFill>
            <a:srgbClr val="E7EDF3"/>
          </a:solidFill>
          <a:ln/>
        </p:spPr>
        <p:txBody>
          <a:bodyPr/>
          <a:lstStyle/>
          <a:p>
            <a:endParaRPr lang="en-US" b="1"/>
          </a:p>
        </p:txBody>
      </p:sp>
      <p:sp>
        <p:nvSpPr>
          <p:cNvPr id="6" name="Text 3"/>
          <p:cNvSpPr txBox="1"/>
          <p:nvPr/>
        </p:nvSpPr>
        <p:spPr>
          <a:xfrm>
            <a:off x="868680" y="1920240"/>
            <a:ext cx="5394960" cy="274320"/>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store_api.py</a:t>
            </a:r>
            <a:endParaRPr lang="en-US" sz="1200" b="1" dirty="0"/>
          </a:p>
        </p:txBody>
      </p:sp>
      <p:sp>
        <p:nvSpPr>
          <p:cNvPr id="7" name="Text 4"/>
          <p:cNvSpPr txBox="1"/>
          <p:nvPr/>
        </p:nvSpPr>
        <p:spPr>
          <a:xfrm>
            <a:off x="868680" y="2240280"/>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with tracer.start_as_current_span(</a:t>
            </a:r>
            <a:endParaRPr lang="en-US" sz="1200" b="1" dirty="0"/>
          </a:p>
        </p:txBody>
      </p:sp>
      <p:sp>
        <p:nvSpPr>
          <p:cNvPr id="8" name="Text 5"/>
          <p:cNvSpPr txBox="1"/>
          <p:nvPr/>
        </p:nvSpPr>
        <p:spPr>
          <a:xfrm>
            <a:off x="868680" y="2505456"/>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"SELECT payments.pending",</a:t>
            </a:r>
            <a:endParaRPr lang="en-US" sz="1200" b="1" dirty="0"/>
          </a:p>
        </p:txBody>
      </p:sp>
      <p:sp>
        <p:nvSpPr>
          <p:cNvPr id="9" name="Text 6"/>
          <p:cNvSpPr txBox="1"/>
          <p:nvPr/>
        </p:nvSpPr>
        <p:spPr>
          <a:xfrm>
            <a:off x="868680" y="2770632"/>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kind=trace.SpanKind.CLIENT,</a:t>
            </a:r>
            <a:endParaRPr lang="en-US" sz="1200" b="1" dirty="0"/>
          </a:p>
        </p:txBody>
      </p:sp>
      <p:sp>
        <p:nvSpPr>
          <p:cNvPr id="10" name="Text 7"/>
          <p:cNvSpPr txBox="1"/>
          <p:nvPr/>
        </p:nvSpPr>
        <p:spPr>
          <a:xfrm>
            <a:off x="868680" y="3035808"/>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attributes={</a:t>
            </a:r>
            <a:endParaRPr lang="en-US" sz="1200" b="1" dirty="0"/>
          </a:p>
        </p:txBody>
      </p:sp>
      <p:sp>
        <p:nvSpPr>
          <p:cNvPr id="11" name="Text 8"/>
          <p:cNvSpPr txBox="1"/>
          <p:nvPr/>
        </p:nvSpPr>
        <p:spPr>
          <a:xfrm>
            <a:off x="868680" y="3300984"/>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"db.system": "mssql",</a:t>
            </a:r>
            <a:endParaRPr lang="en-US" sz="1200" b="1" dirty="0"/>
          </a:p>
        </p:txBody>
      </p:sp>
      <p:sp>
        <p:nvSpPr>
          <p:cNvPr id="12" name="Text 9"/>
          <p:cNvSpPr txBox="1"/>
          <p:nvPr/>
        </p:nvSpPr>
        <p:spPr>
          <a:xfrm>
            <a:off x="868680" y="3566160"/>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"server.address": "sql-prod-03",</a:t>
            </a:r>
            <a:endParaRPr lang="en-US" sz="1200" b="1" dirty="0"/>
          </a:p>
        </p:txBody>
      </p:sp>
      <p:sp>
        <p:nvSpPr>
          <p:cNvPr id="13" name="Text 10"/>
          <p:cNvSpPr txBox="1"/>
          <p:nvPr/>
        </p:nvSpPr>
        <p:spPr>
          <a:xfrm>
            <a:off x="868680" y="3831336"/>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    },</a:t>
            </a:r>
            <a:endParaRPr lang="en-US" sz="1200" b="1" dirty="0"/>
          </a:p>
        </p:txBody>
      </p:sp>
      <p:sp>
        <p:nvSpPr>
          <p:cNvPr id="14" name="Text 11"/>
          <p:cNvSpPr txBox="1"/>
          <p:nvPr/>
        </p:nvSpPr>
        <p:spPr>
          <a:xfrm>
            <a:off x="868680" y="4096512"/>
            <a:ext cx="5394960" cy="246888"/>
          </a:xfrm>
          <a:prstGeom prst="rect">
            <a:avLst/>
          </a:prstGeom>
          <a:noFill/>
          <a:ln/>
        </p:spPr>
        <p:txBody>
          <a:bodyPr wrap="square" lIns="0" tIns="0" rIns="0" bIns="0" rtlCol="0" anchor="ctr"/>
          <a:lstStyle/>
          <a:p>
            <a:pPr marL="0" indent="0">
              <a:buNone/>
            </a:pPr>
            <a:r>
              <a:rPr lang="en-US" sz="1200" b="1" dirty="0">
                <a:latin typeface="Courier New" pitchFamily="34" charset="0"/>
                <a:ea typeface="Courier New" pitchFamily="34" charset="-122"/>
                <a:cs typeface="Courier New" pitchFamily="34" charset="-120"/>
              </a:rPr>
              <a:t>):</a:t>
            </a:r>
            <a:endParaRPr lang="en-US" sz="1200" b="1" dirty="0"/>
          </a:p>
        </p:txBody>
      </p:sp>
      <p:sp>
        <p:nvSpPr>
          <p:cNvPr id="15" name="Shape 12"/>
          <p:cNvSpPr/>
          <p:nvPr/>
        </p:nvSpPr>
        <p:spPr>
          <a:xfrm>
            <a:off x="6903720" y="1783080"/>
            <a:ext cx="4709160" cy="2834640"/>
          </a:xfrm>
          <a:prstGeom prst="roundRect">
            <a:avLst>
              <a:gd name="adj" fmla="val 1935"/>
            </a:avLst>
          </a:prstGeom>
          <a:solidFill>
            <a:srgbClr val="D8E2EC"/>
          </a:solidFill>
          <a:ln/>
        </p:spPr>
        <p:txBody>
          <a:bodyPr/>
          <a:lstStyle/>
          <a:p>
            <a:endParaRPr lang="en-US"/>
          </a:p>
        </p:txBody>
      </p:sp>
      <p:sp>
        <p:nvSpPr>
          <p:cNvPr id="16" name="Text 13"/>
          <p:cNvSpPr txBox="1"/>
          <p:nvPr/>
        </p:nvSpPr>
        <p:spPr>
          <a:xfrm>
            <a:off x="7178040" y="1965960"/>
            <a:ext cx="4206240" cy="365760"/>
          </a:xfrm>
          <a:prstGeom prst="rect">
            <a:avLst/>
          </a:prstGeom>
          <a:noFill/>
          <a:ln/>
        </p:spPr>
        <p:txBody>
          <a:bodyPr wrap="square" lIns="0" tIns="0" rIns="0" bIns="0" rtlCol="0" anchor="ctr"/>
          <a:lstStyle/>
          <a:p>
            <a:pPr marL="0" indent="0">
              <a:buNone/>
            </a:pPr>
            <a:r>
              <a:rPr lang="en-US" sz="1900" b="1" dirty="0">
                <a:solidFill>
                  <a:srgbClr val="16212C"/>
                </a:solidFill>
                <a:latin typeface="Calibri" pitchFamily="34" charset="0"/>
                <a:ea typeface="Calibri" pitchFamily="34" charset="-122"/>
                <a:cs typeface="Calibri" pitchFamily="34" charset="-120"/>
              </a:rPr>
              <a:t>What that buys</a:t>
            </a:r>
            <a:endParaRPr lang="en-US" sz="1900" dirty="0"/>
          </a:p>
        </p:txBody>
      </p:sp>
      <p:sp>
        <p:nvSpPr>
          <p:cNvPr id="17" name="Text 14"/>
          <p:cNvSpPr txBox="1"/>
          <p:nvPr/>
        </p:nvSpPr>
        <p:spPr>
          <a:xfrm>
            <a:off x="7223760" y="2468880"/>
            <a:ext cx="4114800" cy="1920240"/>
          </a:xfrm>
          <a:prstGeom prst="rect">
            <a:avLst/>
          </a:prstGeom>
          <a:noFill/>
          <a:ln/>
        </p:spPr>
        <p:txBody>
          <a:bodyPr wrap="square" lIns="0" tIns="0" rIns="0" bIns="0" rtlCol="0" anchor="t"/>
          <a:lstStyle/>
          <a:p>
            <a:pPr marL="342900" indent="-342900">
              <a:spcAft>
                <a:spcPts val="900"/>
              </a:spcAft>
              <a:buSzPct val="100000"/>
              <a:buChar char="•"/>
            </a:pPr>
            <a:r>
              <a:rPr lang="en-US" sz="1400" dirty="0">
                <a:solidFill>
                  <a:srgbClr val="475A6D"/>
                </a:solidFill>
                <a:latin typeface="Calibri" pitchFamily="34" charset="0"/>
                <a:ea typeface="Calibri" pitchFamily="34" charset="-122"/>
                <a:cs typeface="Calibri" pitchFamily="34" charset="-120"/>
              </a:rPr>
              <a:t>App Insights exports the dependency with Target = sql-prod-03</a:t>
            </a:r>
            <a:endParaRPr lang="en-US" sz="1400" dirty="0"/>
          </a:p>
          <a:p>
            <a:pPr marL="342900" indent="-342900">
              <a:spcAft>
                <a:spcPts val="900"/>
              </a:spcAft>
              <a:buSzPct val="100000"/>
              <a:buChar char="•"/>
            </a:pPr>
            <a:r>
              <a:rPr lang="en-US" sz="1400" dirty="0">
                <a:solidFill>
                  <a:srgbClr val="475A6D"/>
                </a:solidFill>
                <a:latin typeface="Calibri" pitchFamily="34" charset="0"/>
                <a:ea typeface="Calibri" pitchFamily="34" charset="-122"/>
                <a:cs typeface="Calibri" pitchFamily="34" charset="-120"/>
              </a:rPr>
              <a:t>The pipeline reads that as a host</a:t>
            </a:r>
            <a:endParaRPr lang="en-US" sz="1400" dirty="0"/>
          </a:p>
          <a:p>
            <a:pPr marL="342900" indent="-342900">
              <a:spcAft>
                <a:spcPts val="900"/>
              </a:spcAft>
              <a:buSzPct val="100000"/>
              <a:buChar char="•"/>
            </a:pPr>
            <a:r>
              <a:rPr lang="en-US" sz="1400" dirty="0">
                <a:solidFill>
                  <a:srgbClr val="475A6D"/>
                </a:solidFill>
                <a:latin typeface="Calibri" pitchFamily="34" charset="0"/>
                <a:ea typeface="Calibri" pitchFamily="34" charset="-122"/>
                <a:cs typeface="Calibri" pitchFamily="34" charset="-120"/>
              </a:rPr>
              <a:t>The app's failure joins the database's incident</a:t>
            </a:r>
            <a:endParaRPr lang="en-US" sz="1400" dirty="0"/>
          </a:p>
          <a:p>
            <a:pPr marL="342900" indent="-342900">
              <a:spcAft>
                <a:spcPts val="900"/>
              </a:spcAft>
              <a:buSzPct val="100000"/>
              <a:buChar char="•"/>
            </a:pPr>
            <a:r>
              <a:rPr lang="en-US" sz="1400" b="1" dirty="0">
                <a:solidFill>
                  <a:srgbClr val="1D7F57"/>
                </a:solidFill>
                <a:latin typeface="Calibri" pitchFamily="34" charset="0"/>
                <a:ea typeface="Calibri" pitchFamily="34" charset="-122"/>
                <a:cs typeface="Calibri" pitchFamily="34" charset="-120"/>
              </a:rPr>
              <a:t>No model. No prompt. No tokens.</a:t>
            </a:r>
            <a:endParaRPr lang="en-US" sz="1400" dirty="0"/>
          </a:p>
        </p:txBody>
      </p:sp>
      <p:sp>
        <p:nvSpPr>
          <p:cNvPr id="18" name="Shape 15"/>
          <p:cNvSpPr/>
          <p:nvPr/>
        </p:nvSpPr>
        <p:spPr>
          <a:xfrm>
            <a:off x="594360" y="4846320"/>
            <a:ext cx="11018520" cy="914400"/>
          </a:xfrm>
          <a:prstGeom prst="roundRect">
            <a:avLst>
              <a:gd name="adj" fmla="val 6000"/>
            </a:avLst>
          </a:prstGeom>
          <a:solidFill>
            <a:srgbClr val="E7EDF3"/>
          </a:solidFill>
          <a:ln/>
        </p:spPr>
        <p:txBody>
          <a:bodyPr/>
          <a:lstStyle/>
          <a:p>
            <a:endParaRPr lang="en-US"/>
          </a:p>
        </p:txBody>
      </p:sp>
      <p:sp>
        <p:nvSpPr>
          <p:cNvPr id="19" name="Text 16"/>
          <p:cNvSpPr txBox="1"/>
          <p:nvPr/>
        </p:nvSpPr>
        <p:spPr>
          <a:xfrm>
            <a:off x="868680" y="5074920"/>
            <a:ext cx="10424160" cy="502920"/>
          </a:xfrm>
          <a:prstGeom prst="rect">
            <a:avLst/>
          </a:prstGeom>
          <a:noFill/>
          <a:ln/>
        </p:spPr>
        <p:txBody>
          <a:bodyPr wrap="square" lIns="0" tIns="0" rIns="0" bIns="0" rtlCol="0" anchor="ctr"/>
          <a:lstStyle/>
          <a:p>
            <a:pPr marL="0" indent="0">
              <a:buNone/>
            </a:pPr>
            <a:r>
              <a:rPr lang="en-US" sz="1700" b="1" dirty="0">
                <a:solidFill>
                  <a:srgbClr val="1D7F57"/>
                </a:solidFill>
                <a:latin typeface="Calibri" pitchFamily="34" charset="0"/>
                <a:ea typeface="Calibri" pitchFamily="34" charset="-122"/>
                <a:cs typeface="Calibri" pitchFamily="34" charset="-120"/>
              </a:rPr>
              <a:t>Instrument properly and you need less AI. </a:t>
            </a:r>
            <a:r>
              <a:rPr lang="en-US" sz="1700" dirty="0">
                <a:solidFill>
                  <a:srgbClr val="16212C"/>
                </a:solidFill>
                <a:latin typeface="Calibri" pitchFamily="34" charset="0"/>
                <a:ea typeface="Calibri" pitchFamily="34" charset="-122"/>
                <a:cs typeface="Calibri" pitchFamily="34" charset="-120"/>
              </a:rPr>
              <a:t>Shared keys are earned by good telemetry. The model is for the link nothing emitted.</a:t>
            </a:r>
            <a:endParaRPr lang="en-US" sz="17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3">
    <p:bg>
      <p:bgPr>
        <a:solidFill>
          <a:srgbClr val="F6F8FA"/>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BF2E4"/>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A86400"/>
                </a:solidFill>
                <a:latin typeface="Calibri" pitchFamily="34" charset="0"/>
                <a:ea typeface="Calibri" pitchFamily="34" charset="-122"/>
                <a:cs typeface="Calibri" pitchFamily="34" charset="-120"/>
              </a:rPr>
              <a:t>DEMO 2</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16212C"/>
                </a:solidFill>
                <a:latin typeface="Calibri" pitchFamily="34" charset="0"/>
                <a:ea typeface="Calibri" pitchFamily="34" charset="-122"/>
                <a:cs typeface="Calibri" pitchFamily="34" charset="-120"/>
              </a:rPr>
              <a:t>What arithmetic alone can do</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179 events collapse to 26 distinct symptoms, then 13 incidents</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Four tools reporting sql-prod-03 arrive as one incident</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The laptop app sits inside it, because its span named the host</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And the room still cannot see the cause</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4">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42E28"/>
                </a:solidFill>
                <a:latin typeface="Calibri" pitchFamily="34" charset="0"/>
                <a:ea typeface="Calibri" pitchFamily="34" charset="-122"/>
                <a:cs typeface="Calibri" pitchFamily="34" charset="-120"/>
              </a:rPr>
              <a:t>SAME PROBLEM?  ·  WHERE THE MODEL EARNS IT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Some links only exist in the words</a:t>
            </a:r>
            <a:endParaRPr lang="en-US" sz="3600" dirty="0"/>
          </a:p>
        </p:txBody>
      </p:sp>
      <p:sp>
        <p:nvSpPr>
          <p:cNvPr id="5" name="Shape 2"/>
          <p:cNvSpPr/>
          <p:nvPr/>
        </p:nvSpPr>
        <p:spPr>
          <a:xfrm>
            <a:off x="594360" y="1828800"/>
            <a:ext cx="5257800" cy="1417320"/>
          </a:xfrm>
          <a:prstGeom prst="roundRect">
            <a:avLst>
              <a:gd name="adj" fmla="val 3871"/>
            </a:avLst>
          </a:prstGeom>
          <a:solidFill>
            <a:srgbClr val="E7EDF3"/>
          </a:solidFill>
          <a:ln/>
        </p:spPr>
        <p:txBody>
          <a:bodyPr/>
          <a:lstStyle/>
          <a:p>
            <a:endParaRPr lang="en-US"/>
          </a:p>
        </p:txBody>
      </p:sp>
      <p:sp>
        <p:nvSpPr>
          <p:cNvPr id="6" name="Shape 3"/>
          <p:cNvSpPr/>
          <p:nvPr/>
        </p:nvSpPr>
        <p:spPr>
          <a:xfrm>
            <a:off x="868680" y="2084832"/>
            <a:ext cx="201168" cy="201168"/>
          </a:xfrm>
          <a:prstGeom prst="ellipse">
            <a:avLst/>
          </a:prstGeom>
          <a:solidFill>
            <a:srgbClr val="E8A33D"/>
          </a:solidFill>
          <a:ln/>
        </p:spPr>
        <p:txBody>
          <a:bodyPr/>
          <a:lstStyle/>
          <a:p>
            <a:endParaRPr lang="en-US"/>
          </a:p>
        </p:txBody>
      </p:sp>
      <p:sp>
        <p:nvSpPr>
          <p:cNvPr id="7" name="Text 4"/>
          <p:cNvSpPr txBox="1"/>
          <p:nvPr/>
        </p:nvSpPr>
        <p:spPr>
          <a:xfrm>
            <a:off x="1216152" y="1993392"/>
            <a:ext cx="4206240" cy="365760"/>
          </a:xfrm>
          <a:prstGeom prst="rect">
            <a:avLst/>
          </a:prstGeom>
          <a:noFill/>
          <a:ln/>
        </p:spPr>
        <p:txBody>
          <a:bodyPr wrap="square" lIns="0" tIns="0" rIns="0" bIns="0" rtlCol="0" anchor="ctr"/>
          <a:lstStyle/>
          <a:p>
            <a:pPr marL="0" indent="0">
              <a:buNone/>
            </a:pPr>
            <a:r>
              <a:rPr lang="en-US" sz="1500" b="1" dirty="0">
                <a:solidFill>
                  <a:srgbClr val="16212C"/>
                </a:solidFill>
                <a:latin typeface="Courier New" pitchFamily="34" charset="0"/>
                <a:ea typeface="Courier New" pitchFamily="34" charset="-122"/>
                <a:cs typeface="Courier New" pitchFamily="34" charset="-120"/>
              </a:rPr>
              <a:t>backup-01</a:t>
            </a:r>
            <a:endParaRPr lang="en-US" sz="1500" dirty="0"/>
          </a:p>
        </p:txBody>
      </p:sp>
      <p:sp>
        <p:nvSpPr>
          <p:cNvPr id="8" name="Text 5"/>
          <p:cNvSpPr txBox="1"/>
          <p:nvPr/>
        </p:nvSpPr>
        <p:spPr>
          <a:xfrm>
            <a:off x="86868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475A6D"/>
                </a:solidFill>
                <a:latin typeface="Courier New" pitchFamily="34" charset="0"/>
                <a:ea typeface="Courier New" pitchFamily="34" charset="-122"/>
                <a:cs typeface="Courier New" pitchFamily="34" charset="-120"/>
              </a:rPr>
              <a:t>"Nightly backup of sql-prod-03 still running,</a:t>
            </a:r>
            <a:endParaRPr lang="en-US" sz="1200" dirty="0"/>
          </a:p>
          <a:p>
            <a:pPr marL="0" indent="0">
              <a:lnSpc>
                <a:spcPts val="1800"/>
              </a:lnSpc>
              <a:buNone/>
            </a:pPr>
            <a:r>
              <a:rPr lang="en-US" sz="1200" dirty="0">
                <a:solidFill>
                  <a:srgbClr val="475A6D"/>
                </a:solidFill>
                <a:latin typeface="Courier New" pitchFamily="34" charset="0"/>
                <a:ea typeface="Courier New" pitchFamily="34" charset="-122"/>
                <a:cs typeface="Courier New" pitchFamily="34" charset="-120"/>
              </a:rPr>
              <a:t>4 hours over window"</a:t>
            </a:r>
            <a:endParaRPr lang="en-US" sz="1200" dirty="0"/>
          </a:p>
        </p:txBody>
      </p:sp>
      <p:sp>
        <p:nvSpPr>
          <p:cNvPr id="9" name="Shape 6"/>
          <p:cNvSpPr/>
          <p:nvPr/>
        </p:nvSpPr>
        <p:spPr>
          <a:xfrm>
            <a:off x="6355080" y="1828800"/>
            <a:ext cx="5257800" cy="1417320"/>
          </a:xfrm>
          <a:prstGeom prst="roundRect">
            <a:avLst>
              <a:gd name="adj" fmla="val 3871"/>
            </a:avLst>
          </a:prstGeom>
          <a:solidFill>
            <a:srgbClr val="E7EDF3"/>
          </a:solidFill>
          <a:ln/>
        </p:spPr>
        <p:txBody>
          <a:bodyPr/>
          <a:lstStyle/>
          <a:p>
            <a:endParaRPr lang="en-US"/>
          </a:p>
        </p:txBody>
      </p:sp>
      <p:sp>
        <p:nvSpPr>
          <p:cNvPr id="10" name="Shape 7"/>
          <p:cNvSpPr/>
          <p:nvPr/>
        </p:nvSpPr>
        <p:spPr>
          <a:xfrm>
            <a:off x="6629400" y="2084832"/>
            <a:ext cx="201168" cy="201168"/>
          </a:xfrm>
          <a:prstGeom prst="ellipse">
            <a:avLst/>
          </a:prstGeom>
          <a:solidFill>
            <a:srgbClr val="E0443E"/>
          </a:solidFill>
          <a:ln/>
        </p:spPr>
        <p:txBody>
          <a:bodyPr/>
          <a:lstStyle/>
          <a:p>
            <a:endParaRPr lang="en-US"/>
          </a:p>
        </p:txBody>
      </p:sp>
      <p:sp>
        <p:nvSpPr>
          <p:cNvPr id="11" name="Text 8"/>
          <p:cNvSpPr txBox="1"/>
          <p:nvPr/>
        </p:nvSpPr>
        <p:spPr>
          <a:xfrm>
            <a:off x="6976872" y="1993392"/>
            <a:ext cx="4206240" cy="365760"/>
          </a:xfrm>
          <a:prstGeom prst="rect">
            <a:avLst/>
          </a:prstGeom>
          <a:noFill/>
          <a:ln/>
        </p:spPr>
        <p:txBody>
          <a:bodyPr wrap="square" lIns="0" tIns="0" rIns="0" bIns="0" rtlCol="0" anchor="ctr"/>
          <a:lstStyle/>
          <a:p>
            <a:pPr marL="0" indent="0">
              <a:buNone/>
            </a:pPr>
            <a:r>
              <a:rPr lang="en-US" sz="1500" b="1" dirty="0">
                <a:solidFill>
                  <a:srgbClr val="16212C"/>
                </a:solidFill>
                <a:latin typeface="Courier New" pitchFamily="34" charset="0"/>
                <a:ea typeface="Courier New" pitchFamily="34" charset="-122"/>
                <a:cs typeface="Courier New" pitchFamily="34" charset="-120"/>
              </a:rPr>
              <a:t>sql-prod-03</a:t>
            </a:r>
            <a:endParaRPr lang="en-US" sz="1500" dirty="0"/>
          </a:p>
        </p:txBody>
      </p:sp>
      <p:sp>
        <p:nvSpPr>
          <p:cNvPr id="12" name="Text 9"/>
          <p:cNvSpPr txBox="1"/>
          <p:nvPr/>
        </p:nvSpPr>
        <p:spPr>
          <a:xfrm>
            <a:off x="6629400" y="2450592"/>
            <a:ext cx="4709160" cy="640080"/>
          </a:xfrm>
          <a:prstGeom prst="rect">
            <a:avLst/>
          </a:prstGeom>
          <a:noFill/>
          <a:ln/>
        </p:spPr>
        <p:txBody>
          <a:bodyPr wrap="square" lIns="0" tIns="0" rIns="0" bIns="0" rtlCol="0" anchor="ctr"/>
          <a:lstStyle/>
          <a:p>
            <a:pPr marL="0" indent="0">
              <a:lnSpc>
                <a:spcPts val="1800"/>
              </a:lnSpc>
              <a:buNone/>
            </a:pPr>
            <a:r>
              <a:rPr lang="en-US" sz="1200" dirty="0">
                <a:solidFill>
                  <a:srgbClr val="475A6D"/>
                </a:solidFill>
                <a:latin typeface="Courier New" pitchFamily="34" charset="0"/>
                <a:ea typeface="Courier New" pitchFamily="34" charset="-122"/>
                <a:cs typeface="Courier New" pitchFamily="34" charset="-120"/>
              </a:rPr>
              <a:t>"Disk read latency 480 ms, sustained"</a:t>
            </a:r>
            <a:endParaRPr lang="en-US" sz="1200" dirty="0"/>
          </a:p>
          <a:p>
            <a:pPr marL="0" indent="0">
              <a:lnSpc>
                <a:spcPts val="1800"/>
              </a:lnSpc>
              <a:buNone/>
            </a:pPr>
            <a:r>
              <a:rPr lang="en-US" sz="1200" dirty="0">
                <a:solidFill>
                  <a:srgbClr val="475A6D"/>
                </a:solidFill>
                <a:latin typeface="Courier New" pitchFamily="34" charset="0"/>
                <a:ea typeface="Courier New" pitchFamily="34" charset="-122"/>
                <a:cs typeface="Courier New" pitchFamily="34" charset="-120"/>
              </a:rPr>
              <a:t>"Lock wait 4400 ms - waiting on disk, not on a query"</a:t>
            </a:r>
            <a:endParaRPr lang="en-US" sz="1200" dirty="0"/>
          </a:p>
        </p:txBody>
      </p:sp>
      <p:sp>
        <p:nvSpPr>
          <p:cNvPr id="13" name="Text 10"/>
          <p:cNvSpPr txBox="1"/>
          <p:nvPr/>
        </p:nvSpPr>
        <p:spPr>
          <a:xfrm>
            <a:off x="594360" y="3474720"/>
            <a:ext cx="11018520" cy="365760"/>
          </a:xfrm>
          <a:prstGeom prst="rect">
            <a:avLst/>
          </a:prstGeom>
          <a:noFill/>
          <a:ln/>
        </p:spPr>
        <p:txBody>
          <a:bodyPr wrap="square" lIns="0" tIns="0" rIns="0" bIns="0" rtlCol="0" anchor="ctr"/>
          <a:lstStyle/>
          <a:p>
            <a:pPr marL="0" indent="0" algn="ctr">
              <a:buNone/>
            </a:pPr>
            <a:r>
              <a:rPr lang="en-US" sz="1700" b="1" dirty="0">
                <a:solidFill>
                  <a:srgbClr val="5A6D81"/>
                </a:solidFill>
                <a:latin typeface="Calibri" pitchFamily="34" charset="0"/>
                <a:ea typeface="Calibri" pitchFamily="34" charset="-122"/>
                <a:cs typeface="Calibri" pitchFamily="34" charset="-120"/>
              </a:rPr>
              <a:t>No shared host.  No shared resource.  No shared trace.  Nothing to match on.</a:t>
            </a:r>
            <a:endParaRPr lang="en-US" sz="1700" dirty="0"/>
          </a:p>
        </p:txBody>
      </p:sp>
      <p:sp>
        <p:nvSpPr>
          <p:cNvPr id="14" name="Shape 11"/>
          <p:cNvSpPr/>
          <p:nvPr/>
        </p:nvSpPr>
        <p:spPr>
          <a:xfrm>
            <a:off x="594360" y="4023360"/>
            <a:ext cx="11018520" cy="1737360"/>
          </a:xfrm>
          <a:prstGeom prst="roundRect">
            <a:avLst>
              <a:gd name="adj" fmla="val 3158"/>
            </a:avLst>
          </a:prstGeom>
          <a:solidFill>
            <a:srgbClr val="D8E2EC"/>
          </a:solidFill>
          <a:ln/>
        </p:spPr>
        <p:txBody>
          <a:bodyPr/>
          <a:lstStyle/>
          <a:p>
            <a:endParaRPr lang="en-US"/>
          </a:p>
        </p:txBody>
      </p:sp>
      <p:sp>
        <p:nvSpPr>
          <p:cNvPr id="15" name="Text 12"/>
          <p:cNvSpPr txBox="1"/>
          <p:nvPr/>
        </p:nvSpPr>
        <p:spPr>
          <a:xfrm>
            <a:off x="868680" y="4251960"/>
            <a:ext cx="10424160" cy="411480"/>
          </a:xfrm>
          <a:prstGeom prst="rect">
            <a:avLst/>
          </a:prstGeom>
          <a:noFill/>
          <a:ln/>
        </p:spPr>
        <p:txBody>
          <a:bodyPr wrap="square" lIns="0" tIns="0" rIns="0" bIns="0" rtlCol="0" anchor="ctr"/>
          <a:lstStyle/>
          <a:p>
            <a:pPr marL="0" indent="0">
              <a:buNone/>
            </a:pPr>
            <a:r>
              <a:rPr lang="en-US" sz="2000" b="1" dirty="0">
                <a:solidFill>
                  <a:srgbClr val="16212C"/>
                </a:solidFill>
                <a:latin typeface="Calibri" pitchFamily="34" charset="0"/>
                <a:ea typeface="Calibri" pitchFamily="34" charset="-122"/>
                <a:cs typeface="Calibri" pitchFamily="34" charset="-120"/>
              </a:rPr>
              <a:t>The only thing connecting them is that one of them says the other one's name.</a:t>
            </a:r>
            <a:endParaRPr lang="en-US" sz="2000" dirty="0"/>
          </a:p>
        </p:txBody>
      </p:sp>
      <p:sp>
        <p:nvSpPr>
          <p:cNvPr id="16" name="Text 13"/>
          <p:cNvSpPr txBox="1"/>
          <p:nvPr/>
        </p:nvSpPr>
        <p:spPr>
          <a:xfrm>
            <a:off x="868680" y="4754880"/>
            <a:ext cx="10424160" cy="82296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That is a reading comprehension problem, not a data problem. It is the one part of this pipeline that could not be written as a rule - and the cause is a warning, on a host nobody was paging about, underneath twelve criticals.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C42E28"/>
                </a:solidFill>
                <a:effectLst/>
                <a:uLnTx/>
                <a:uFillTx/>
                <a:latin typeface="Calibri" pitchFamily="34" charset="0"/>
                <a:ea typeface="Calibri" pitchFamily="34" charset="-122"/>
                <a:cs typeface="Calibri" pitchFamily="34" charset="-120"/>
              </a:rPr>
              <a:t>AI.PSM1  ·  THE MODEL CALL IS 29 LINES OF IT</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Asking the model is the easy part</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783080"/>
            <a:ext cx="11002975" cy="3575853"/>
          </a:xfrm>
          <a:prstGeom prst="roundRect">
            <a:avLst>
              <a:gd name="adj" fmla="val 1534"/>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914400" y="201168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$body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914400" y="229935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messages =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914400" y="2587020"/>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 role = 'system'; content = $SystemPrompt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914400" y="287469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 role = 'user';   content = ($incidents | ConvertTo-Json -Depth 8)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 7"/>
          <p:cNvSpPr txBox="1"/>
          <p:nvPr/>
        </p:nvSpPr>
        <p:spPr>
          <a:xfrm>
            <a:off x="914400" y="316236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475A6D"/>
                </a:solidFill>
                <a:effectLst/>
                <a:uLnTx/>
                <a:uFillTx/>
                <a:latin typeface="Courier New" pitchFamily="34" charset="0"/>
                <a:ea typeface="Courier New" pitchFamily="34" charset="-122"/>
                <a:cs typeface="Courier New" pitchFamily="34" charset="-120"/>
              </a:rPr>
              <a:t>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 8"/>
          <p:cNvSpPr txBox="1"/>
          <p:nvPr/>
        </p:nvSpPr>
        <p:spPr>
          <a:xfrm>
            <a:off x="914400" y="345003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86400"/>
                </a:solidFill>
                <a:effectLst/>
                <a:uLnTx/>
                <a:uFillTx/>
                <a:latin typeface="Courier New" pitchFamily="34" charset="0"/>
                <a:ea typeface="Courier New" pitchFamily="34" charset="-122"/>
                <a:cs typeface="Courier New" pitchFamily="34" charset="-120"/>
              </a:rPr>
              <a:t>    temperature     = 0                          # same events, same answer</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914400" y="3737701"/>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A86400"/>
                </a:solidFill>
                <a:effectLst/>
                <a:uLnTx/>
                <a:uFillTx/>
                <a:latin typeface="Courier New" pitchFamily="34" charset="0"/>
                <a:ea typeface="Courier New" pitchFamily="34" charset="-122"/>
                <a:cs typeface="Courier New" pitchFamily="34" charset="-120"/>
              </a:rPr>
              <a:t>    response_format = @{ type = 'json_object' }   # not prose, a contract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914400" y="402537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914400" y="431304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914400" y="460071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Invoke-RestMethod -Uri $uri -Method Post -Body ($body | ConvertTo-Json -Depth 10) `</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914400" y="4888382"/>
            <a:ext cx="10362895" cy="28767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0" i="0" u="none" strike="noStrike" kern="1200" cap="none" spc="0" normalizeH="0" baseline="0" noProof="0" dirty="0">
                <a:ln>
                  <a:noFill/>
                </a:ln>
                <a:solidFill>
                  <a:srgbClr val="1D7F57"/>
                </a:solidFill>
                <a:effectLst/>
                <a:uLnTx/>
                <a:uFillTx/>
                <a:latin typeface="Courier New" pitchFamily="34" charset="0"/>
                <a:ea typeface="Courier New" pitchFamily="34" charset="-122"/>
                <a:cs typeface="Courier New" pitchFamily="34" charset="-120"/>
              </a:rPr>
              <a:t>    -Headers @{ Authorization = "Bearer $(Get-ResourceToken ...)" }  # managed identity</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594360" y="5678973"/>
            <a:ext cx="11002975" cy="868680"/>
          </a:xfrm>
          <a:prstGeom prst="roundRect">
            <a:avLst>
              <a:gd name="adj" fmla="val 6316"/>
            </a:avLst>
          </a:prstGeom>
          <a:solidFill>
            <a:srgbClr val="D8E2EC"/>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868680" y="5880141"/>
            <a:ext cx="10454335"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7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The prompt is 698 words. The code that sends it is 29 lines. </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name="Slide 15">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42E28"/>
                </a:solidFill>
                <a:latin typeface="Calibri" pitchFamily="34" charset="0"/>
                <a:ea typeface="Calibri" pitchFamily="34" charset="-122"/>
                <a:cs typeface="Calibri" pitchFamily="34" charset="-120"/>
              </a:rPr>
              <a:t>THE EASY WAY TO LOOK CLEVER</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16212C"/>
                </a:solidFill>
                <a:latin typeface="Calibri" pitchFamily="34" charset="0"/>
                <a:ea typeface="Calibri" pitchFamily="34" charset="-122"/>
                <a:cs typeface="Calibri" pitchFamily="34" charset="-120"/>
              </a:rPr>
              <a:t>Connecting everything is not correlation.</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475A6D"/>
                </a:solidFill>
                <a:latin typeface="Calibri" pitchFamily="34" charset="0"/>
                <a:ea typeface="Calibri" pitchFamily="34" charset="-122"/>
                <a:cs typeface="Calibri" pitchFamily="34" charset="-120"/>
              </a:rPr>
              <a:t>It is the failure mode that looks most like success.</a:t>
            </a:r>
            <a:endParaRPr lang="en-US" sz="1500" dirty="0"/>
          </a:p>
        </p:txBody>
      </p:sp>
      <p:pic>
        <p:nvPicPr>
          <p:cNvPr id="2" name="Picture 1" descr="Charlie Day GIFs | Tenor">
            <a:extLst>
              <a:ext uri="{FF2B5EF4-FFF2-40B4-BE49-F238E27FC236}">
                <a16:creationId xmlns:a16="http://schemas.microsoft.com/office/drawing/2014/main" id="{FB6B8DF2-FBB1-8AAD-2CCF-20EBED8C761D}"/>
              </a:ext>
            </a:extLst>
          </p:cNvPr>
          <p:cNvPicPr>
            <a:picLocks noChangeAspect="1"/>
          </p:cNvPicPr>
          <p:nvPr/>
        </p:nvPicPr>
        <p:blipFill>
          <a:blip r:embed="rId3"/>
          <a:stretch>
            <a:fillRect/>
          </a:stretch>
        </p:blipFill>
        <p:spPr>
          <a:xfrm>
            <a:off x="3110717" y="847169"/>
            <a:ext cx="6001426" cy="3796083"/>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6">
    <p:bg>
      <p:bgPr>
        <a:solidFill>
          <a:srgbClr val="F6F8FA"/>
        </a:solidFill>
        <a:effectLst/>
      </p:bgPr>
    </p:bg>
    <p:spTree>
      <p:nvGrpSpPr>
        <p:cNvPr id="1" name=""/>
        <p:cNvGrpSpPr/>
        <p:nvPr/>
      </p:nvGrpSpPr>
      <p:grpSpPr>
        <a:xfrm>
          <a:off x="0" y="0"/>
          <a:ext cx="0" cy="0"/>
          <a:chOff x="0" y="0"/>
          <a:chExt cx="0" cy="0"/>
        </a:xfrm>
      </p:grpSpPr>
      <p:sp>
        <p:nvSpPr>
          <p:cNvPr id="3" name="Shape 0"/>
          <p:cNvSpPr/>
          <p:nvPr/>
        </p:nvSpPr>
        <p:spPr>
          <a:xfrm>
            <a:off x="0" y="0"/>
            <a:ext cx="12191695" cy="6858000"/>
          </a:xfrm>
          <a:prstGeom prst="rect">
            <a:avLst/>
          </a:prstGeom>
          <a:solidFill>
            <a:srgbClr val="FBF2E4"/>
          </a:solidFill>
          <a:ln/>
        </p:spPr>
        <p:txBody>
          <a:bodyPr/>
          <a:lstStyle/>
          <a:p>
            <a:endParaRPr lang="en-US"/>
          </a:p>
        </p:txBody>
      </p:sp>
      <p:sp>
        <p:nvSpPr>
          <p:cNvPr id="4" name="Text 1"/>
          <p:cNvSpPr txBox="1"/>
          <p:nvPr/>
        </p:nvSpPr>
        <p:spPr>
          <a:xfrm>
            <a:off x="594360" y="2057400"/>
            <a:ext cx="5486400" cy="411480"/>
          </a:xfrm>
          <a:prstGeom prst="rect">
            <a:avLst/>
          </a:prstGeom>
          <a:noFill/>
          <a:ln/>
        </p:spPr>
        <p:txBody>
          <a:bodyPr wrap="square" lIns="0" tIns="0" rIns="0" bIns="0" rtlCol="0" anchor="ctr"/>
          <a:lstStyle/>
          <a:p>
            <a:pPr marL="0" indent="0">
              <a:buNone/>
            </a:pPr>
            <a:r>
              <a:rPr lang="en-US" sz="1600" b="1" kern="0" spc="500" dirty="0">
                <a:solidFill>
                  <a:srgbClr val="A86400"/>
                </a:solidFill>
                <a:latin typeface="Calibri" pitchFamily="34" charset="0"/>
                <a:ea typeface="Calibri" pitchFamily="34" charset="-122"/>
                <a:cs typeface="Calibri" pitchFamily="34" charset="-120"/>
              </a:rPr>
              <a:t>DEMO 3</a:t>
            </a:r>
            <a:endParaRPr lang="en-US" sz="1600" dirty="0"/>
          </a:p>
        </p:txBody>
      </p:sp>
      <p:sp>
        <p:nvSpPr>
          <p:cNvPr id="5" name="Text 2"/>
          <p:cNvSpPr txBox="1"/>
          <p:nvPr/>
        </p:nvSpPr>
        <p:spPr>
          <a:xfrm>
            <a:off x="594360" y="2514600"/>
            <a:ext cx="10515600" cy="914400"/>
          </a:xfrm>
          <a:prstGeom prst="rect">
            <a:avLst/>
          </a:prstGeom>
          <a:noFill/>
          <a:ln/>
        </p:spPr>
        <p:txBody>
          <a:bodyPr wrap="square" lIns="0" tIns="0" rIns="0" bIns="0" rtlCol="0" anchor="ctr"/>
          <a:lstStyle/>
          <a:p>
            <a:pPr marL="0" indent="0">
              <a:buNone/>
            </a:pPr>
            <a:r>
              <a:rPr lang="en-US" sz="4200" b="1" dirty="0">
                <a:solidFill>
                  <a:srgbClr val="16212C"/>
                </a:solidFill>
                <a:latin typeface="Calibri" pitchFamily="34" charset="0"/>
                <a:ea typeface="Calibri" pitchFamily="34" charset="-122"/>
                <a:cs typeface="Calibri" pitchFamily="34" charset="-120"/>
              </a:rPr>
              <a:t>Ask the model</a:t>
            </a:r>
            <a:endParaRPr lang="en-US" sz="4200" dirty="0"/>
          </a:p>
        </p:txBody>
      </p:sp>
      <p:sp>
        <p:nvSpPr>
          <p:cNvPr id="6" name="Text 3"/>
          <p:cNvSpPr txBox="1"/>
          <p:nvPr/>
        </p:nvSpPr>
        <p:spPr>
          <a:xfrm>
            <a:off x="640080" y="3703320"/>
            <a:ext cx="9601200" cy="146304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One call, every open incident at once - grouping, cause, and the first action</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Two root causes found across thirteen incidents</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Five things it reviewed and deliberately left alone</a:t>
            </a:r>
            <a:endParaRPr lang="en-US" sz="1600" dirty="0"/>
          </a:p>
          <a:p>
            <a:pPr marL="342900" indent="-342900">
              <a:spcAft>
                <a:spcPts val="800"/>
              </a:spcAft>
              <a:buSzPct val="100000"/>
              <a:buChar char="•"/>
            </a:pPr>
            <a:r>
              <a:rPr lang="en-US" sz="1600" dirty="0">
                <a:solidFill>
                  <a:srgbClr val="475A6D"/>
                </a:solidFill>
                <a:latin typeface="Calibri" pitchFamily="34" charset="0"/>
                <a:ea typeface="Calibri" pitchFamily="34" charset="-122"/>
                <a:cs typeface="Calibri" pitchFamily="34" charset="-120"/>
              </a:rPr>
              <a:t>Roughly 3,500 tokens and about four seconds</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7">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THE CAUSE WAS A WARNING</a:t>
            </a:r>
            <a:endParaRPr lang="en-US" sz="1200" dirty="0"/>
          </a:p>
        </p:txBody>
      </p:sp>
      <p:sp>
        <p:nvSpPr>
          <p:cNvPr id="8" name="Text 5"/>
          <p:cNvSpPr txBox="1"/>
          <p:nvPr/>
        </p:nvSpPr>
        <p:spPr>
          <a:xfrm>
            <a:off x="594360" y="4956048"/>
            <a:ext cx="11018520" cy="868680"/>
          </a:xfrm>
          <a:prstGeom prst="rect">
            <a:avLst/>
          </a:prstGeom>
          <a:noFill/>
          <a:ln/>
        </p:spPr>
        <p:txBody>
          <a:bodyPr wrap="square" lIns="0" tIns="0" rIns="0" bIns="0" rtlCol="0" anchor="t"/>
          <a:lstStyle/>
          <a:p>
            <a:pPr marL="0" indent="0" algn="ctr">
              <a:buNone/>
            </a:pPr>
            <a:r>
              <a:rPr lang="en-US" sz="2700" b="1" dirty="0">
                <a:solidFill>
                  <a:srgbClr val="16212C"/>
                </a:solidFill>
                <a:latin typeface="Calibri" pitchFamily="34" charset="0"/>
                <a:ea typeface="Calibri" pitchFamily="34" charset="-122"/>
                <a:cs typeface="Calibri" pitchFamily="34" charset="-120"/>
              </a:rPr>
              <a:t>The loudest thing is almost never the cause.</a:t>
            </a:r>
            <a:endParaRPr lang="en-US" sz="2700" dirty="0"/>
          </a:p>
        </p:txBody>
      </p:sp>
      <p:sp>
        <p:nvSpPr>
          <p:cNvPr id="9" name="Text 6"/>
          <p:cNvSpPr txBox="1"/>
          <p:nvPr/>
        </p:nvSpPr>
        <p:spPr>
          <a:xfrm>
            <a:off x="594360" y="5806440"/>
            <a:ext cx="11018520" cy="365760"/>
          </a:xfrm>
          <a:prstGeom prst="rect">
            <a:avLst/>
          </a:prstGeom>
          <a:noFill/>
          <a:ln/>
        </p:spPr>
        <p:txBody>
          <a:bodyPr wrap="square" lIns="0" tIns="0" rIns="0" bIns="0" rtlCol="0" anchor="ctr"/>
          <a:lstStyle/>
          <a:p>
            <a:pPr marL="0" indent="0" algn="ctr">
              <a:buNone/>
            </a:pPr>
            <a:r>
              <a:rPr lang="en-US" sz="1500" i="1" dirty="0">
                <a:solidFill>
                  <a:srgbClr val="475A6D"/>
                </a:solidFill>
                <a:latin typeface="Calibri" pitchFamily="34" charset="0"/>
                <a:ea typeface="Calibri" pitchFamily="34" charset="-122"/>
                <a:cs typeface="Calibri" pitchFamily="34" charset="-120"/>
              </a:rPr>
              <a:t>Twelve criticals. The answer was an amber warning nobody was paged for.</a:t>
            </a:r>
            <a:endParaRPr lang="en-US" sz="1500" dirty="0"/>
          </a:p>
        </p:txBody>
      </p:sp>
      <p:pic>
        <p:nvPicPr>
          <p:cNvPr id="2" name="Picture 1" descr="Image of - It's always the quiet ones. - You hound.">
            <a:extLst>
              <a:ext uri="{FF2B5EF4-FFF2-40B4-BE49-F238E27FC236}">
                <a16:creationId xmlns:a16="http://schemas.microsoft.com/office/drawing/2014/main" id="{A055C6F1-9FCC-D51A-3DF4-C9886B4F2C36}"/>
              </a:ext>
            </a:extLst>
          </p:cNvPr>
          <p:cNvPicPr>
            <a:picLocks noChangeAspect="1"/>
          </p:cNvPicPr>
          <p:nvPr/>
        </p:nvPicPr>
        <p:blipFill>
          <a:blip r:embed="rId3"/>
          <a:stretch>
            <a:fillRect/>
          </a:stretch>
        </p:blipFill>
        <p:spPr>
          <a:xfrm>
            <a:off x="2692306" y="1516083"/>
            <a:ext cx="6626855" cy="2783279"/>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WHAT IT FOUND</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The chain, in the order it happened</a:t>
            </a:r>
            <a:endParaRPr lang="en-US" sz="3600" dirty="0"/>
          </a:p>
        </p:txBody>
      </p:sp>
      <p:sp>
        <p:nvSpPr>
          <p:cNvPr id="5" name="Shape 2"/>
          <p:cNvSpPr/>
          <p:nvPr/>
        </p:nvSpPr>
        <p:spPr>
          <a:xfrm>
            <a:off x="594360" y="1783080"/>
            <a:ext cx="11018520" cy="987552"/>
          </a:xfrm>
          <a:prstGeom prst="roundRect">
            <a:avLst>
              <a:gd name="adj" fmla="val 5556"/>
            </a:avLst>
          </a:prstGeom>
          <a:solidFill>
            <a:srgbClr val="E7EDF3"/>
          </a:solidFill>
          <a:ln/>
        </p:spPr>
        <p:txBody>
          <a:bodyPr/>
          <a:lstStyle/>
          <a:p>
            <a:endParaRPr lang="en-US"/>
          </a:p>
        </p:txBody>
      </p:sp>
      <p:sp>
        <p:nvSpPr>
          <p:cNvPr id="6" name="Shape 3"/>
          <p:cNvSpPr/>
          <p:nvPr/>
        </p:nvSpPr>
        <p:spPr>
          <a:xfrm>
            <a:off x="868680" y="2039112"/>
            <a:ext cx="502920" cy="502920"/>
          </a:xfrm>
          <a:prstGeom prst="ellipse">
            <a:avLst/>
          </a:prstGeom>
          <a:solidFill>
            <a:srgbClr val="E8A33D"/>
          </a:solidFill>
          <a:ln/>
        </p:spPr>
        <p:txBody>
          <a:bodyPr/>
          <a:lstStyle/>
          <a:p>
            <a:endParaRPr lang="en-US"/>
          </a:p>
        </p:txBody>
      </p:sp>
      <p:sp>
        <p:nvSpPr>
          <p:cNvPr id="7" name="Text 4"/>
          <p:cNvSpPr txBox="1"/>
          <p:nvPr/>
        </p:nvSpPr>
        <p:spPr>
          <a:xfrm>
            <a:off x="868680" y="2039112"/>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554480" y="1965960"/>
            <a:ext cx="2194560" cy="365760"/>
          </a:xfrm>
          <a:prstGeom prst="rect">
            <a:avLst/>
          </a:prstGeom>
          <a:noFill/>
          <a:ln/>
        </p:spPr>
        <p:txBody>
          <a:bodyPr wrap="square" lIns="0" tIns="0" rIns="0" bIns="0" rtlCol="0" anchor="ctr"/>
          <a:lstStyle/>
          <a:p>
            <a:pPr marL="0" indent="0">
              <a:buNone/>
            </a:pPr>
            <a:r>
              <a:rPr lang="en-US" sz="1600" b="1" dirty="0">
                <a:solidFill>
                  <a:srgbClr val="16212C"/>
                </a:solidFill>
                <a:latin typeface="Courier New" pitchFamily="34" charset="0"/>
                <a:ea typeface="Courier New" pitchFamily="34" charset="-122"/>
                <a:cs typeface="Courier New" pitchFamily="34" charset="-120"/>
              </a:rPr>
              <a:t>backup-01</a:t>
            </a:r>
            <a:endParaRPr lang="en-US" sz="1600" dirty="0"/>
          </a:p>
        </p:txBody>
      </p:sp>
      <p:sp>
        <p:nvSpPr>
          <p:cNvPr id="9" name="Text 6"/>
          <p:cNvSpPr txBox="1"/>
          <p:nvPr/>
        </p:nvSpPr>
        <p:spPr>
          <a:xfrm>
            <a:off x="1554480" y="2350008"/>
            <a:ext cx="2194560" cy="292608"/>
          </a:xfrm>
          <a:prstGeom prst="rect">
            <a:avLst/>
          </a:prstGeom>
          <a:noFill/>
          <a:ln/>
        </p:spPr>
        <p:txBody>
          <a:bodyPr wrap="square" lIns="0" tIns="0" rIns="0" bIns="0" rtlCol="0" anchor="ctr"/>
          <a:lstStyle/>
          <a:p>
            <a:pPr marL="0" indent="0">
              <a:buNone/>
            </a:pPr>
            <a:r>
              <a:rPr lang="en-US" sz="1300" b="1" dirty="0">
                <a:solidFill>
                  <a:srgbClr val="A86400"/>
                </a:solidFill>
                <a:latin typeface="Calibri" pitchFamily="34" charset="0"/>
                <a:ea typeface="Calibri" pitchFamily="34" charset="-122"/>
                <a:cs typeface="Calibri" pitchFamily="34" charset="-120"/>
              </a:rPr>
              <a:t>warning</a:t>
            </a:r>
            <a:endParaRPr lang="en-US" sz="1300" dirty="0"/>
          </a:p>
        </p:txBody>
      </p:sp>
      <p:sp>
        <p:nvSpPr>
          <p:cNvPr id="10" name="Text 7"/>
          <p:cNvSpPr txBox="1"/>
          <p:nvPr/>
        </p:nvSpPr>
        <p:spPr>
          <a:xfrm>
            <a:off x="3886200" y="2084832"/>
            <a:ext cx="7498080" cy="45720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Nightly backup overran its window and is still reading sql-prod-03 at 11 MB/s</a:t>
            </a:r>
            <a:endParaRPr lang="en-US" sz="1500" dirty="0"/>
          </a:p>
        </p:txBody>
      </p:sp>
      <p:sp>
        <p:nvSpPr>
          <p:cNvPr id="11" name="Shape 8"/>
          <p:cNvSpPr/>
          <p:nvPr/>
        </p:nvSpPr>
        <p:spPr>
          <a:xfrm rot="10800000">
            <a:off x="1042416" y="2825496"/>
            <a:ext cx="155448" cy="118872"/>
          </a:xfrm>
          <a:prstGeom prst="triangle">
            <a:avLst/>
          </a:prstGeom>
          <a:solidFill>
            <a:srgbClr val="7C90A6"/>
          </a:solidFill>
          <a:ln/>
        </p:spPr>
        <p:txBody>
          <a:bodyPr/>
          <a:lstStyle/>
          <a:p>
            <a:endParaRPr lang="en-US"/>
          </a:p>
        </p:txBody>
      </p:sp>
      <p:sp>
        <p:nvSpPr>
          <p:cNvPr id="12" name="Shape 9"/>
          <p:cNvSpPr/>
          <p:nvPr/>
        </p:nvSpPr>
        <p:spPr>
          <a:xfrm>
            <a:off x="594360" y="2990088"/>
            <a:ext cx="11018520" cy="987552"/>
          </a:xfrm>
          <a:prstGeom prst="roundRect">
            <a:avLst>
              <a:gd name="adj" fmla="val 5556"/>
            </a:avLst>
          </a:prstGeom>
          <a:solidFill>
            <a:srgbClr val="E7EDF3"/>
          </a:solidFill>
          <a:ln/>
        </p:spPr>
        <p:txBody>
          <a:bodyPr/>
          <a:lstStyle/>
          <a:p>
            <a:endParaRPr lang="en-US"/>
          </a:p>
        </p:txBody>
      </p:sp>
      <p:sp>
        <p:nvSpPr>
          <p:cNvPr id="13" name="Shape 10"/>
          <p:cNvSpPr/>
          <p:nvPr/>
        </p:nvSpPr>
        <p:spPr>
          <a:xfrm>
            <a:off x="868680" y="3246120"/>
            <a:ext cx="502920" cy="502920"/>
          </a:xfrm>
          <a:prstGeom prst="ellipse">
            <a:avLst/>
          </a:prstGeom>
          <a:solidFill>
            <a:srgbClr val="E0443E"/>
          </a:solidFill>
          <a:ln/>
        </p:spPr>
        <p:txBody>
          <a:bodyPr/>
          <a:lstStyle/>
          <a:p>
            <a:endParaRPr lang="en-US"/>
          </a:p>
        </p:txBody>
      </p:sp>
      <p:sp>
        <p:nvSpPr>
          <p:cNvPr id="14" name="Text 11"/>
          <p:cNvSpPr txBox="1"/>
          <p:nvPr/>
        </p:nvSpPr>
        <p:spPr>
          <a:xfrm>
            <a:off x="868680" y="324612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5" name="Text 12"/>
          <p:cNvSpPr txBox="1"/>
          <p:nvPr/>
        </p:nvSpPr>
        <p:spPr>
          <a:xfrm>
            <a:off x="1554480" y="3172968"/>
            <a:ext cx="2194560" cy="365760"/>
          </a:xfrm>
          <a:prstGeom prst="rect">
            <a:avLst/>
          </a:prstGeom>
          <a:noFill/>
          <a:ln/>
        </p:spPr>
        <p:txBody>
          <a:bodyPr wrap="square" lIns="0" tIns="0" rIns="0" bIns="0" rtlCol="0" anchor="ctr"/>
          <a:lstStyle/>
          <a:p>
            <a:pPr marL="0" indent="0">
              <a:buNone/>
            </a:pPr>
            <a:r>
              <a:rPr lang="en-US" sz="1600" b="1" dirty="0">
                <a:solidFill>
                  <a:srgbClr val="16212C"/>
                </a:solidFill>
                <a:latin typeface="Courier New" pitchFamily="34" charset="0"/>
                <a:ea typeface="Courier New" pitchFamily="34" charset="-122"/>
                <a:cs typeface="Courier New" pitchFamily="34" charset="-120"/>
              </a:rPr>
              <a:t>sql-prod-03</a:t>
            </a:r>
            <a:endParaRPr lang="en-US" sz="1600" dirty="0"/>
          </a:p>
        </p:txBody>
      </p:sp>
      <p:sp>
        <p:nvSpPr>
          <p:cNvPr id="16" name="Text 13"/>
          <p:cNvSpPr txBox="1"/>
          <p:nvPr/>
        </p:nvSpPr>
        <p:spPr>
          <a:xfrm>
            <a:off x="1554480" y="3557016"/>
            <a:ext cx="2194560" cy="292608"/>
          </a:xfrm>
          <a:prstGeom prst="rect">
            <a:avLst/>
          </a:prstGeom>
          <a:noFill/>
          <a:ln/>
        </p:spPr>
        <p:txBody>
          <a:bodyPr wrap="square" lIns="0" tIns="0" rIns="0" bIns="0" rtlCol="0" anchor="ctr"/>
          <a:lstStyle/>
          <a:p>
            <a:pPr marL="0" indent="0">
              <a:buNone/>
            </a:pPr>
            <a:r>
              <a:rPr lang="en-US" sz="1300" b="1" dirty="0">
                <a:solidFill>
                  <a:srgbClr val="C42E28"/>
                </a:solidFill>
                <a:latin typeface="Calibri" pitchFamily="34" charset="0"/>
                <a:ea typeface="Calibri" pitchFamily="34" charset="-122"/>
                <a:cs typeface="Calibri" pitchFamily="34" charset="-120"/>
              </a:rPr>
              <a:t>critical</a:t>
            </a:r>
            <a:endParaRPr lang="en-US" sz="1300" dirty="0"/>
          </a:p>
        </p:txBody>
      </p:sp>
      <p:sp>
        <p:nvSpPr>
          <p:cNvPr id="17" name="Text 14"/>
          <p:cNvSpPr txBox="1"/>
          <p:nvPr/>
        </p:nvSpPr>
        <p:spPr>
          <a:xfrm>
            <a:off x="3886200" y="3291840"/>
            <a:ext cx="7498080" cy="45720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Disk saturated, lock waits climbing, connection pool exhausted at 100 of 100</a:t>
            </a:r>
            <a:endParaRPr lang="en-US" sz="1500" dirty="0"/>
          </a:p>
        </p:txBody>
      </p:sp>
      <p:sp>
        <p:nvSpPr>
          <p:cNvPr id="18" name="Shape 15"/>
          <p:cNvSpPr/>
          <p:nvPr/>
        </p:nvSpPr>
        <p:spPr>
          <a:xfrm rot="10800000">
            <a:off x="1042416" y="4032504"/>
            <a:ext cx="155448" cy="118872"/>
          </a:xfrm>
          <a:prstGeom prst="triangle">
            <a:avLst/>
          </a:prstGeom>
          <a:solidFill>
            <a:srgbClr val="7C90A6"/>
          </a:solidFill>
          <a:ln/>
        </p:spPr>
        <p:txBody>
          <a:bodyPr/>
          <a:lstStyle/>
          <a:p>
            <a:endParaRPr lang="en-US"/>
          </a:p>
        </p:txBody>
      </p:sp>
      <p:sp>
        <p:nvSpPr>
          <p:cNvPr id="19" name="Shape 16"/>
          <p:cNvSpPr/>
          <p:nvPr/>
        </p:nvSpPr>
        <p:spPr>
          <a:xfrm>
            <a:off x="594360" y="4197096"/>
            <a:ext cx="11018520" cy="987552"/>
          </a:xfrm>
          <a:prstGeom prst="roundRect">
            <a:avLst>
              <a:gd name="adj" fmla="val 5556"/>
            </a:avLst>
          </a:prstGeom>
          <a:solidFill>
            <a:srgbClr val="E7EDF3"/>
          </a:solidFill>
          <a:ln/>
        </p:spPr>
        <p:txBody>
          <a:bodyPr/>
          <a:lstStyle/>
          <a:p>
            <a:endParaRPr lang="en-US"/>
          </a:p>
        </p:txBody>
      </p:sp>
      <p:sp>
        <p:nvSpPr>
          <p:cNvPr id="20" name="Shape 17"/>
          <p:cNvSpPr/>
          <p:nvPr/>
        </p:nvSpPr>
        <p:spPr>
          <a:xfrm>
            <a:off x="868680" y="4453128"/>
            <a:ext cx="502920" cy="502920"/>
          </a:xfrm>
          <a:prstGeom prst="ellipse">
            <a:avLst/>
          </a:prstGeom>
          <a:solidFill>
            <a:srgbClr val="E0443E"/>
          </a:solidFill>
          <a:ln/>
        </p:spPr>
        <p:txBody>
          <a:bodyPr/>
          <a:lstStyle/>
          <a:p>
            <a:endParaRPr lang="en-US"/>
          </a:p>
        </p:txBody>
      </p:sp>
      <p:sp>
        <p:nvSpPr>
          <p:cNvPr id="21" name="Text 18"/>
          <p:cNvSpPr txBox="1"/>
          <p:nvPr/>
        </p:nvSpPr>
        <p:spPr>
          <a:xfrm>
            <a:off x="868680" y="4453128"/>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22" name="Text 19"/>
          <p:cNvSpPr txBox="1"/>
          <p:nvPr/>
        </p:nvSpPr>
        <p:spPr>
          <a:xfrm>
            <a:off x="1554480" y="4379976"/>
            <a:ext cx="2194560" cy="365760"/>
          </a:xfrm>
          <a:prstGeom prst="rect">
            <a:avLst/>
          </a:prstGeom>
          <a:noFill/>
          <a:ln/>
        </p:spPr>
        <p:txBody>
          <a:bodyPr wrap="square" lIns="0" tIns="0" rIns="0" bIns="0" rtlCol="0" anchor="ctr"/>
          <a:lstStyle/>
          <a:p>
            <a:pPr marL="0" indent="0">
              <a:buNone/>
            </a:pPr>
            <a:r>
              <a:rPr lang="en-US" sz="1600" b="1" dirty="0">
                <a:solidFill>
                  <a:srgbClr val="16212C"/>
                </a:solidFill>
                <a:latin typeface="Courier New" pitchFamily="34" charset="0"/>
                <a:ea typeface="Courier New" pitchFamily="34" charset="-122"/>
                <a:cs typeface="Courier New" pitchFamily="34" charset="-120"/>
              </a:rPr>
              <a:t>app-web-01</a:t>
            </a:r>
            <a:endParaRPr lang="en-US" sz="1600" dirty="0"/>
          </a:p>
        </p:txBody>
      </p:sp>
      <p:sp>
        <p:nvSpPr>
          <p:cNvPr id="23" name="Text 20"/>
          <p:cNvSpPr txBox="1"/>
          <p:nvPr/>
        </p:nvSpPr>
        <p:spPr>
          <a:xfrm>
            <a:off x="1554480" y="4764024"/>
            <a:ext cx="2194560" cy="292608"/>
          </a:xfrm>
          <a:prstGeom prst="rect">
            <a:avLst/>
          </a:prstGeom>
          <a:noFill/>
          <a:ln/>
        </p:spPr>
        <p:txBody>
          <a:bodyPr wrap="square" lIns="0" tIns="0" rIns="0" bIns="0" rtlCol="0" anchor="ctr"/>
          <a:lstStyle/>
          <a:p>
            <a:pPr marL="0" indent="0">
              <a:buNone/>
            </a:pPr>
            <a:r>
              <a:rPr lang="en-US" sz="1300" b="1" dirty="0">
                <a:solidFill>
                  <a:srgbClr val="C42E28"/>
                </a:solidFill>
                <a:latin typeface="Calibri" pitchFamily="34" charset="0"/>
                <a:ea typeface="Calibri" pitchFamily="34" charset="-122"/>
                <a:cs typeface="Calibri" pitchFamily="34" charset="-120"/>
              </a:rPr>
              <a:t>critical</a:t>
            </a:r>
            <a:endParaRPr lang="en-US" sz="1300" dirty="0"/>
          </a:p>
        </p:txBody>
      </p:sp>
      <p:sp>
        <p:nvSpPr>
          <p:cNvPr id="24" name="Text 21"/>
          <p:cNvSpPr txBox="1"/>
          <p:nvPr/>
        </p:nvSpPr>
        <p:spPr>
          <a:xfrm>
            <a:off x="3886200" y="4498848"/>
            <a:ext cx="7498080" cy="457200"/>
          </a:xfrm>
          <a:prstGeom prst="rect">
            <a:avLst/>
          </a:prstGeom>
          <a:noFill/>
          <a:ln/>
        </p:spPr>
        <p:txBody>
          <a:bodyPr wrap="square" lIns="0" tIns="0" rIns="0" bIns="0" rtlCol="0" anchor="ctr"/>
          <a:lstStyle/>
          <a:p>
            <a:pPr marL="0" indent="0">
              <a:buNone/>
            </a:pPr>
            <a:r>
              <a:rPr lang="en-US" sz="1500" dirty="0">
                <a:solidFill>
                  <a:srgbClr val="475A6D"/>
                </a:solidFill>
                <a:latin typeface="Calibri" pitchFamily="34" charset="0"/>
                <a:ea typeface="Calibri" pitchFamily="34" charset="-122"/>
                <a:cs typeface="Calibri" pitchFamily="34" charset="-120"/>
              </a:rPr>
              <a:t>Checkout failing 27% of requests - timeouts, not application errors</a:t>
            </a:r>
            <a:endParaRPr lang="en-US" sz="1500" dirty="0"/>
          </a:p>
        </p:txBody>
      </p:sp>
      <p:sp>
        <p:nvSpPr>
          <p:cNvPr id="25" name="Shape 22"/>
          <p:cNvSpPr/>
          <p:nvPr/>
        </p:nvSpPr>
        <p:spPr>
          <a:xfrm>
            <a:off x="594360" y="5349240"/>
            <a:ext cx="11018520" cy="868680"/>
          </a:xfrm>
          <a:prstGeom prst="roundRect">
            <a:avLst>
              <a:gd name="adj" fmla="val 6316"/>
            </a:avLst>
          </a:prstGeom>
          <a:solidFill>
            <a:srgbClr val="D8E2EC"/>
          </a:solidFill>
          <a:ln/>
        </p:spPr>
        <p:txBody>
          <a:bodyPr/>
          <a:lstStyle/>
          <a:p>
            <a:endParaRPr lang="en-US"/>
          </a:p>
        </p:txBody>
      </p:sp>
      <p:sp>
        <p:nvSpPr>
          <p:cNvPr id="26" name="Text 23"/>
          <p:cNvSpPr txBox="1"/>
          <p:nvPr/>
        </p:nvSpPr>
        <p:spPr>
          <a:xfrm>
            <a:off x="868680" y="5559552"/>
            <a:ext cx="10424160" cy="457200"/>
          </a:xfrm>
          <a:prstGeom prst="rect">
            <a:avLst/>
          </a:prstGeom>
          <a:noFill/>
          <a:ln/>
        </p:spPr>
        <p:txBody>
          <a:bodyPr wrap="square" lIns="0" tIns="0" rIns="0" bIns="0" rtlCol="0" anchor="ctr"/>
          <a:lstStyle/>
          <a:p>
            <a:pPr marL="0" indent="0">
              <a:buNone/>
            </a:pPr>
            <a:r>
              <a:rPr lang="en-US" sz="1600" b="1" dirty="0">
                <a:solidFill>
                  <a:srgbClr val="1D7F57"/>
                </a:solidFill>
                <a:latin typeface="Calibri" pitchFamily="34" charset="0"/>
                <a:ea typeface="Calibri" pitchFamily="34" charset="-122"/>
                <a:cs typeface="Calibri" pitchFamily="34" charset="-120"/>
              </a:rPr>
              <a:t>DO NOW  </a:t>
            </a:r>
            <a:r>
              <a:rPr lang="en-US" sz="1600" dirty="0">
                <a:solidFill>
                  <a:srgbClr val="16212C"/>
                </a:solidFill>
                <a:latin typeface="Calibri" pitchFamily="34" charset="0"/>
                <a:ea typeface="Calibri" pitchFamily="34" charset="-122"/>
                <a:cs typeface="Calibri" pitchFamily="34" charset="-120"/>
              </a:rPr>
              <a:t>Kill job SQL-NIGHTLY-FULL on backup-01 to relieve I/O pressure on sql-prod-03, then recycle the application pool.</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C42E28"/>
                </a:solidFill>
                <a:latin typeface="Calibri" pitchFamily="34" charset="0"/>
                <a:ea typeface="Calibri" pitchFamily="34" charset="-122"/>
                <a:cs typeface="Calibri" pitchFamily="34" charset="-120"/>
              </a:rPr>
              <a:t>THE HONEST PART</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Where this falls over</a:t>
            </a:r>
            <a:endParaRPr lang="en-US" sz="3600" dirty="0"/>
          </a:p>
        </p:txBody>
      </p:sp>
      <p:sp>
        <p:nvSpPr>
          <p:cNvPr id="5" name="Shape 2"/>
          <p:cNvSpPr/>
          <p:nvPr/>
        </p:nvSpPr>
        <p:spPr>
          <a:xfrm>
            <a:off x="594360" y="1783080"/>
            <a:ext cx="5257800" cy="3977640"/>
          </a:xfrm>
          <a:prstGeom prst="roundRect">
            <a:avLst>
              <a:gd name="adj" fmla="val 1379"/>
            </a:avLst>
          </a:prstGeom>
          <a:solidFill>
            <a:srgbClr val="E7EDF3"/>
          </a:solidFill>
          <a:ln/>
        </p:spPr>
        <p:txBody>
          <a:bodyPr/>
          <a:lstStyle/>
          <a:p>
            <a:endParaRPr lang="en-US"/>
          </a:p>
        </p:txBody>
      </p:sp>
      <p:sp>
        <p:nvSpPr>
          <p:cNvPr id="6" name="Text 3"/>
          <p:cNvSpPr txBox="1"/>
          <p:nvPr/>
        </p:nvSpPr>
        <p:spPr>
          <a:xfrm>
            <a:off x="914400" y="2011680"/>
            <a:ext cx="4617720" cy="365760"/>
          </a:xfrm>
          <a:prstGeom prst="rect">
            <a:avLst/>
          </a:prstGeom>
          <a:noFill/>
          <a:ln/>
        </p:spPr>
        <p:txBody>
          <a:bodyPr wrap="square" lIns="0" tIns="0" rIns="0" bIns="0" rtlCol="0" anchor="ctr"/>
          <a:lstStyle/>
          <a:p>
            <a:pPr marL="0" indent="0">
              <a:buNone/>
            </a:pPr>
            <a:r>
              <a:rPr lang="en-US" sz="2100" b="1" dirty="0">
                <a:solidFill>
                  <a:srgbClr val="C42E28"/>
                </a:solidFill>
                <a:latin typeface="Calibri" pitchFamily="34" charset="0"/>
                <a:ea typeface="Calibri" pitchFamily="34" charset="-122"/>
                <a:cs typeface="Calibri" pitchFamily="34" charset="-120"/>
              </a:rPr>
              <a:t>What it does not do</a:t>
            </a:r>
            <a:endParaRPr lang="en-US" sz="2100" dirty="0"/>
          </a:p>
        </p:txBody>
      </p:sp>
      <p:sp>
        <p:nvSpPr>
          <p:cNvPr id="7" name="Text 4"/>
          <p:cNvSpPr txBox="1"/>
          <p:nvPr/>
        </p:nvSpPr>
        <p:spPr>
          <a:xfrm>
            <a:off x="960120" y="2395728"/>
            <a:ext cx="4572000" cy="301752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475A6D"/>
                </a:solidFill>
                <a:latin typeface="Calibri" pitchFamily="34" charset="0"/>
                <a:ea typeface="Calibri" pitchFamily="34" charset="-122"/>
                <a:cs typeface="Calibri" pitchFamily="34" charset="-120"/>
              </a:rPr>
              <a:t>No ticketing, no paging, no auto-remediation</a:t>
            </a:r>
            <a:endParaRPr lang="en-US" sz="1500" dirty="0"/>
          </a:p>
          <a:p>
            <a:pPr marL="342900" indent="-342900">
              <a:spcAft>
                <a:spcPts val="1000"/>
              </a:spcAft>
              <a:buSzPct val="100000"/>
              <a:buChar char="•"/>
            </a:pPr>
            <a:r>
              <a:rPr lang="en-US" sz="1500" dirty="0">
                <a:solidFill>
                  <a:srgbClr val="475A6D"/>
                </a:solidFill>
                <a:latin typeface="Calibri" pitchFamily="34" charset="0"/>
                <a:ea typeface="Calibri" pitchFamily="34" charset="-122"/>
                <a:cs typeface="Calibri" pitchFamily="34" charset="-120"/>
              </a:rPr>
              <a:t>One window at a time - no history, no trends</a:t>
            </a:r>
            <a:endParaRPr lang="en-US" sz="1500" dirty="0"/>
          </a:p>
          <a:p>
            <a:pPr marL="342900" indent="-342900">
              <a:spcAft>
                <a:spcPts val="1000"/>
              </a:spcAft>
              <a:buSzPct val="100000"/>
              <a:buChar char="•"/>
            </a:pPr>
            <a:r>
              <a:rPr lang="en-US" sz="1500" dirty="0">
                <a:solidFill>
                  <a:srgbClr val="475A6D"/>
                </a:solidFill>
                <a:latin typeface="Calibri" pitchFamily="34" charset="0"/>
                <a:ea typeface="Calibri" pitchFamily="34" charset="-122"/>
                <a:cs typeface="Calibri" pitchFamily="34" charset="-120"/>
              </a:rPr>
              <a:t>A model can be confidently wrong, and will be</a:t>
            </a:r>
            <a:endParaRPr lang="en-US" sz="1500" dirty="0"/>
          </a:p>
          <a:p>
            <a:pPr marL="342900" indent="-342900">
              <a:spcAft>
                <a:spcPts val="1000"/>
              </a:spcAft>
              <a:buSzPct val="100000"/>
              <a:buChar char="•"/>
            </a:pPr>
            <a:r>
              <a:rPr lang="en-US" sz="1500" dirty="0">
                <a:solidFill>
                  <a:srgbClr val="475A6D"/>
                </a:solidFill>
                <a:latin typeface="Calibri" pitchFamily="34" charset="0"/>
                <a:ea typeface="Calibri" pitchFamily="34" charset="-122"/>
                <a:cs typeface="Calibri" pitchFamily="34" charset="-120"/>
              </a:rPr>
              <a:t>Same events, same answer only because temperature is zero</a:t>
            </a:r>
            <a:endParaRPr lang="en-US" sz="1500" dirty="0"/>
          </a:p>
          <a:p>
            <a:pPr marL="342900" indent="-342900">
              <a:spcAft>
                <a:spcPts val="1000"/>
              </a:spcAft>
              <a:buSzPct val="100000"/>
              <a:buChar char="•"/>
            </a:pPr>
            <a:r>
              <a:rPr lang="en-US" sz="1500" dirty="0">
                <a:solidFill>
                  <a:srgbClr val="475A6D"/>
                </a:solidFill>
                <a:latin typeface="Calibri" pitchFamily="34" charset="0"/>
                <a:ea typeface="Calibri" pitchFamily="34" charset="-122"/>
                <a:cs typeface="Calibri" pitchFamily="34" charset="-120"/>
              </a:rPr>
              <a:t>Never creates or merges incidents - the model annotates. A model that can rewrite identity can lose your data</a:t>
            </a:r>
            <a:endParaRPr lang="en-US" sz="1500" dirty="0"/>
          </a:p>
        </p:txBody>
      </p:sp>
      <p:sp>
        <p:nvSpPr>
          <p:cNvPr id="8" name="Shape 5"/>
          <p:cNvSpPr/>
          <p:nvPr/>
        </p:nvSpPr>
        <p:spPr>
          <a:xfrm>
            <a:off x="6355080" y="1783080"/>
            <a:ext cx="5257800" cy="3977640"/>
          </a:xfrm>
          <a:prstGeom prst="roundRect">
            <a:avLst>
              <a:gd name="adj" fmla="val 1379"/>
            </a:avLst>
          </a:prstGeom>
          <a:solidFill>
            <a:srgbClr val="E7EDF3"/>
          </a:solidFill>
          <a:ln/>
        </p:spPr>
        <p:txBody>
          <a:bodyPr/>
          <a:lstStyle/>
          <a:p>
            <a:endParaRPr lang="en-US"/>
          </a:p>
        </p:txBody>
      </p:sp>
      <p:sp>
        <p:nvSpPr>
          <p:cNvPr id="9" name="Text 6"/>
          <p:cNvSpPr txBox="1"/>
          <p:nvPr/>
        </p:nvSpPr>
        <p:spPr>
          <a:xfrm>
            <a:off x="6675120" y="2011680"/>
            <a:ext cx="4663440" cy="365760"/>
          </a:xfrm>
          <a:prstGeom prst="rect">
            <a:avLst/>
          </a:prstGeom>
          <a:noFill/>
          <a:ln/>
        </p:spPr>
        <p:txBody>
          <a:bodyPr wrap="square" lIns="0" tIns="0" rIns="0" bIns="0" rtlCol="0" anchor="ctr"/>
          <a:lstStyle/>
          <a:p>
            <a:pPr marL="0" indent="0">
              <a:buNone/>
            </a:pPr>
            <a:r>
              <a:rPr lang="en-US" sz="2100" b="1" dirty="0">
                <a:solidFill>
                  <a:srgbClr val="1D7F57"/>
                </a:solidFill>
                <a:latin typeface="Calibri" pitchFamily="34" charset="0"/>
                <a:ea typeface="Calibri" pitchFamily="34" charset="-122"/>
                <a:cs typeface="Calibri" pitchFamily="34" charset="-120"/>
              </a:rPr>
              <a:t>What it costs</a:t>
            </a:r>
            <a:endParaRPr lang="en-US" sz="2100" dirty="0"/>
          </a:p>
        </p:txBody>
      </p:sp>
      <p:sp>
        <p:nvSpPr>
          <p:cNvPr id="10" name="Text 7"/>
          <p:cNvSpPr txBox="1"/>
          <p:nvPr/>
        </p:nvSpPr>
        <p:spPr>
          <a:xfrm>
            <a:off x="6675120" y="2560320"/>
            <a:ext cx="1417320" cy="502920"/>
          </a:xfrm>
          <a:prstGeom prst="rect">
            <a:avLst/>
          </a:prstGeom>
          <a:noFill/>
          <a:ln/>
        </p:spPr>
        <p:txBody>
          <a:bodyPr wrap="square" lIns="0" tIns="0" rIns="0" bIns="0" rtlCol="0" anchor="ctr"/>
          <a:lstStyle/>
          <a:p>
            <a:pPr marL="0" indent="0">
              <a:buNone/>
            </a:pPr>
            <a:r>
              <a:rPr lang="en-US" sz="2700" b="1" dirty="0">
                <a:solidFill>
                  <a:srgbClr val="16212C"/>
                </a:solidFill>
                <a:latin typeface="Calibri" pitchFamily="34" charset="0"/>
                <a:ea typeface="Calibri" pitchFamily="34" charset="-122"/>
                <a:cs typeface="Calibri" pitchFamily="34" charset="-120"/>
              </a:rPr>
              <a:t>~3.5k</a:t>
            </a:r>
            <a:endParaRPr lang="en-US" sz="2700" dirty="0"/>
          </a:p>
        </p:txBody>
      </p:sp>
      <p:sp>
        <p:nvSpPr>
          <p:cNvPr id="11" name="Text 8"/>
          <p:cNvSpPr txBox="1"/>
          <p:nvPr/>
        </p:nvSpPr>
        <p:spPr>
          <a:xfrm>
            <a:off x="8183880" y="2596896"/>
            <a:ext cx="320040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tokens per analysis pass, all thirteen incidents in one call</a:t>
            </a:r>
            <a:endParaRPr lang="en-US" sz="1400" dirty="0"/>
          </a:p>
        </p:txBody>
      </p:sp>
      <p:sp>
        <p:nvSpPr>
          <p:cNvPr id="12" name="Text 9"/>
          <p:cNvSpPr txBox="1"/>
          <p:nvPr/>
        </p:nvSpPr>
        <p:spPr>
          <a:xfrm>
            <a:off x="6675120" y="3611880"/>
            <a:ext cx="1417320" cy="502920"/>
          </a:xfrm>
          <a:prstGeom prst="rect">
            <a:avLst/>
          </a:prstGeom>
          <a:noFill/>
          <a:ln/>
        </p:spPr>
        <p:txBody>
          <a:bodyPr wrap="square" lIns="0" tIns="0" rIns="0" bIns="0" rtlCol="0" anchor="ctr"/>
          <a:lstStyle/>
          <a:p>
            <a:pPr marL="0" indent="0">
              <a:buNone/>
            </a:pPr>
            <a:r>
              <a:rPr lang="en-US" sz="2700" b="1" dirty="0">
                <a:solidFill>
                  <a:srgbClr val="16212C"/>
                </a:solidFill>
                <a:latin typeface="Calibri" pitchFamily="34" charset="0"/>
                <a:ea typeface="Calibri" pitchFamily="34" charset="-122"/>
                <a:cs typeface="Calibri" pitchFamily="34" charset="-120"/>
              </a:rPr>
              <a:t>1/min</a:t>
            </a:r>
            <a:endParaRPr lang="en-US" sz="2700" dirty="0"/>
          </a:p>
        </p:txBody>
      </p:sp>
      <p:sp>
        <p:nvSpPr>
          <p:cNvPr id="13" name="Text 10"/>
          <p:cNvSpPr txBox="1"/>
          <p:nvPr/>
        </p:nvSpPr>
        <p:spPr>
          <a:xfrm>
            <a:off x="8183880" y="3648456"/>
            <a:ext cx="320040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and it skips the call entirely when nothing changed</a:t>
            </a:r>
            <a:endParaRPr lang="en-US" sz="1400" dirty="0"/>
          </a:p>
        </p:txBody>
      </p:sp>
      <p:sp>
        <p:nvSpPr>
          <p:cNvPr id="14" name="Text 11"/>
          <p:cNvSpPr txBox="1"/>
          <p:nvPr/>
        </p:nvSpPr>
        <p:spPr>
          <a:xfrm>
            <a:off x="6675120" y="4663440"/>
            <a:ext cx="1417320" cy="502920"/>
          </a:xfrm>
          <a:prstGeom prst="rect">
            <a:avLst/>
          </a:prstGeom>
          <a:noFill/>
          <a:ln/>
        </p:spPr>
        <p:txBody>
          <a:bodyPr wrap="square" lIns="0" tIns="0" rIns="0" bIns="0" rtlCol="0" anchor="ctr"/>
          <a:lstStyle/>
          <a:p>
            <a:pPr marL="0" indent="0">
              <a:buNone/>
            </a:pPr>
            <a:r>
              <a:rPr lang="en-US" sz="2700" b="1" dirty="0">
                <a:solidFill>
                  <a:srgbClr val="16212C"/>
                </a:solidFill>
                <a:latin typeface="Calibri" pitchFamily="34" charset="0"/>
                <a:ea typeface="Calibri" pitchFamily="34" charset="-122"/>
                <a:cs typeface="Calibri" pitchFamily="34" charset="-120"/>
              </a:rPr>
              <a:t>0</a:t>
            </a:r>
            <a:endParaRPr lang="en-US" sz="2700" dirty="0"/>
          </a:p>
        </p:txBody>
      </p:sp>
      <p:sp>
        <p:nvSpPr>
          <p:cNvPr id="15" name="Text 12"/>
          <p:cNvSpPr txBox="1"/>
          <p:nvPr/>
        </p:nvSpPr>
        <p:spPr>
          <a:xfrm>
            <a:off x="8183880" y="4700016"/>
            <a:ext cx="3200400" cy="7315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keys anywhere - managed identity end to end</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indent="0">
              <a:buNone/>
            </a:pPr>
            <a:r>
              <a:rPr lang="en-US" sz="1200" b="1" kern="0" spc="200" dirty="0">
                <a:solidFill>
                  <a:srgbClr val="A86400"/>
                </a:solidFill>
                <a:latin typeface="Calibri" pitchFamily="34" charset="0"/>
                <a:ea typeface="Calibri" pitchFamily="34" charset="-122"/>
                <a:cs typeface="Calibri" pitchFamily="34" charset="-120"/>
              </a:rPr>
              <a:t>IF YOU REMEMBER THREE THINGS</a:t>
            </a:r>
            <a:endParaRPr lang="en-US" sz="1200" dirty="0"/>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indent="0">
              <a:buNone/>
            </a:pPr>
            <a:r>
              <a:rPr lang="en-US" sz="3600" b="1" dirty="0">
                <a:solidFill>
                  <a:srgbClr val="16212C"/>
                </a:solidFill>
                <a:latin typeface="Calibri" pitchFamily="34" charset="0"/>
                <a:ea typeface="Calibri" pitchFamily="34" charset="-122"/>
                <a:cs typeface="Calibri" pitchFamily="34" charset="-120"/>
              </a:rPr>
              <a:t>Takeaways</a:t>
            </a:r>
            <a:endParaRPr lang="en-US" sz="3600" dirty="0"/>
          </a:p>
        </p:txBody>
      </p:sp>
      <p:sp>
        <p:nvSpPr>
          <p:cNvPr id="5" name="Shape 2"/>
          <p:cNvSpPr/>
          <p:nvPr/>
        </p:nvSpPr>
        <p:spPr>
          <a:xfrm>
            <a:off x="594360" y="1783080"/>
            <a:ext cx="11018520" cy="1207008"/>
          </a:xfrm>
          <a:prstGeom prst="roundRect">
            <a:avLst>
              <a:gd name="adj" fmla="val 4545"/>
            </a:avLst>
          </a:prstGeom>
          <a:solidFill>
            <a:srgbClr val="E7EDF3"/>
          </a:solidFill>
          <a:ln/>
        </p:spPr>
        <p:txBody>
          <a:bodyPr/>
          <a:lstStyle/>
          <a:p>
            <a:endParaRPr lang="en-US"/>
          </a:p>
        </p:txBody>
      </p:sp>
      <p:sp>
        <p:nvSpPr>
          <p:cNvPr id="6" name="Shape 3"/>
          <p:cNvSpPr/>
          <p:nvPr/>
        </p:nvSpPr>
        <p:spPr>
          <a:xfrm>
            <a:off x="886968" y="2148840"/>
            <a:ext cx="502920" cy="502920"/>
          </a:xfrm>
          <a:prstGeom prst="ellipse">
            <a:avLst/>
          </a:prstGeom>
          <a:solidFill>
            <a:srgbClr val="5B9BD5"/>
          </a:solidFill>
          <a:ln/>
        </p:spPr>
        <p:txBody>
          <a:bodyPr/>
          <a:lstStyle/>
          <a:p>
            <a:endParaRPr lang="en-US"/>
          </a:p>
        </p:txBody>
      </p:sp>
      <p:sp>
        <p:nvSpPr>
          <p:cNvPr id="7" name="Text 4"/>
          <p:cNvSpPr txBox="1"/>
          <p:nvPr/>
        </p:nvSpPr>
        <p:spPr>
          <a:xfrm>
            <a:off x="886968" y="21488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1</a:t>
            </a:r>
            <a:endParaRPr lang="en-US" sz="1300" dirty="0"/>
          </a:p>
        </p:txBody>
      </p:sp>
      <p:sp>
        <p:nvSpPr>
          <p:cNvPr id="8" name="Text 5"/>
          <p:cNvSpPr txBox="1"/>
          <p:nvPr/>
        </p:nvSpPr>
        <p:spPr>
          <a:xfrm>
            <a:off x="1600200" y="1965960"/>
            <a:ext cx="9601200" cy="384048"/>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Do the arithmetic first</a:t>
            </a:r>
            <a:endParaRPr lang="en-US" sz="2100" dirty="0"/>
          </a:p>
        </p:txBody>
      </p:sp>
      <p:sp>
        <p:nvSpPr>
          <p:cNvPr id="9" name="Text 6"/>
          <p:cNvSpPr txBox="1"/>
          <p:nvPr/>
        </p:nvSpPr>
        <p:spPr>
          <a:xfrm>
            <a:off x="1600200" y="2386584"/>
            <a:ext cx="9601200" cy="5029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Fingerprinting and key matching removed 92% of the volume before anything read a word. Cheap, instant, and it never hallucinates.</a:t>
            </a:r>
            <a:endParaRPr lang="en-US" sz="1400" dirty="0"/>
          </a:p>
        </p:txBody>
      </p:sp>
      <p:sp>
        <p:nvSpPr>
          <p:cNvPr id="10" name="Shape 7"/>
          <p:cNvSpPr/>
          <p:nvPr/>
        </p:nvSpPr>
        <p:spPr>
          <a:xfrm>
            <a:off x="594360" y="3154680"/>
            <a:ext cx="11018520" cy="1207008"/>
          </a:xfrm>
          <a:prstGeom prst="roundRect">
            <a:avLst>
              <a:gd name="adj" fmla="val 4545"/>
            </a:avLst>
          </a:prstGeom>
          <a:solidFill>
            <a:srgbClr val="E7EDF3"/>
          </a:solidFill>
          <a:ln/>
        </p:spPr>
        <p:txBody>
          <a:bodyPr/>
          <a:lstStyle/>
          <a:p>
            <a:endParaRPr lang="en-US"/>
          </a:p>
        </p:txBody>
      </p:sp>
      <p:sp>
        <p:nvSpPr>
          <p:cNvPr id="11" name="Shape 8"/>
          <p:cNvSpPr/>
          <p:nvPr/>
        </p:nvSpPr>
        <p:spPr>
          <a:xfrm>
            <a:off x="886968" y="3520440"/>
            <a:ext cx="502920" cy="502920"/>
          </a:xfrm>
          <a:prstGeom prst="ellipse">
            <a:avLst/>
          </a:prstGeom>
          <a:solidFill>
            <a:srgbClr val="46B98A"/>
          </a:solidFill>
          <a:ln/>
        </p:spPr>
        <p:txBody>
          <a:bodyPr/>
          <a:lstStyle/>
          <a:p>
            <a:endParaRPr lang="en-US"/>
          </a:p>
        </p:txBody>
      </p:sp>
      <p:sp>
        <p:nvSpPr>
          <p:cNvPr id="12" name="Text 9"/>
          <p:cNvSpPr txBox="1"/>
          <p:nvPr/>
        </p:nvSpPr>
        <p:spPr>
          <a:xfrm>
            <a:off x="886968" y="35204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2</a:t>
            </a:r>
            <a:endParaRPr lang="en-US" sz="1300" dirty="0"/>
          </a:p>
        </p:txBody>
      </p:sp>
      <p:sp>
        <p:nvSpPr>
          <p:cNvPr id="13" name="Text 10"/>
          <p:cNvSpPr txBox="1"/>
          <p:nvPr/>
        </p:nvSpPr>
        <p:spPr>
          <a:xfrm>
            <a:off x="1600200" y="3337560"/>
            <a:ext cx="9601200" cy="384048"/>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Instrumentation earns the correlation</a:t>
            </a:r>
            <a:endParaRPr lang="en-US" sz="2100" dirty="0"/>
          </a:p>
        </p:txBody>
      </p:sp>
      <p:sp>
        <p:nvSpPr>
          <p:cNvPr id="14" name="Text 11"/>
          <p:cNvSpPr txBox="1"/>
          <p:nvPr/>
        </p:nvSpPr>
        <p:spPr>
          <a:xfrm>
            <a:off x="1600200" y="3758184"/>
            <a:ext cx="9601200" cy="5029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One OpenTelemetry span attribute did work a model would otherwise have to do. Good telemetry is cheaper than inference.</a:t>
            </a:r>
            <a:endParaRPr lang="en-US" sz="1400" dirty="0"/>
          </a:p>
        </p:txBody>
      </p:sp>
      <p:sp>
        <p:nvSpPr>
          <p:cNvPr id="15" name="Shape 12"/>
          <p:cNvSpPr/>
          <p:nvPr/>
        </p:nvSpPr>
        <p:spPr>
          <a:xfrm>
            <a:off x="594360" y="4526280"/>
            <a:ext cx="11018520" cy="1207008"/>
          </a:xfrm>
          <a:prstGeom prst="roundRect">
            <a:avLst>
              <a:gd name="adj" fmla="val 4545"/>
            </a:avLst>
          </a:prstGeom>
          <a:solidFill>
            <a:srgbClr val="E7EDF3"/>
          </a:solidFill>
          <a:ln/>
        </p:spPr>
        <p:txBody>
          <a:bodyPr/>
          <a:lstStyle/>
          <a:p>
            <a:endParaRPr lang="en-US"/>
          </a:p>
        </p:txBody>
      </p:sp>
      <p:sp>
        <p:nvSpPr>
          <p:cNvPr id="16" name="Shape 13"/>
          <p:cNvSpPr/>
          <p:nvPr/>
        </p:nvSpPr>
        <p:spPr>
          <a:xfrm>
            <a:off x="886968" y="4892040"/>
            <a:ext cx="502920" cy="502920"/>
          </a:xfrm>
          <a:prstGeom prst="ellipse">
            <a:avLst/>
          </a:prstGeom>
          <a:solidFill>
            <a:srgbClr val="E0443E"/>
          </a:solidFill>
          <a:ln/>
        </p:spPr>
        <p:txBody>
          <a:bodyPr/>
          <a:lstStyle/>
          <a:p>
            <a:endParaRPr lang="en-US"/>
          </a:p>
        </p:txBody>
      </p:sp>
      <p:sp>
        <p:nvSpPr>
          <p:cNvPr id="17" name="Text 14"/>
          <p:cNvSpPr txBox="1"/>
          <p:nvPr/>
        </p:nvSpPr>
        <p:spPr>
          <a:xfrm>
            <a:off x="886968" y="4892040"/>
            <a:ext cx="502920" cy="502920"/>
          </a:xfrm>
          <a:prstGeom prst="rect">
            <a:avLst/>
          </a:prstGeom>
          <a:noFill/>
          <a:ln/>
        </p:spPr>
        <p:txBody>
          <a:bodyPr wrap="square" lIns="0" tIns="0" rIns="0" bIns="0" rtlCol="0" anchor="ctr"/>
          <a:lstStyle/>
          <a:p>
            <a:pPr marL="0" indent="0" algn="ctr">
              <a:buNone/>
            </a:pPr>
            <a:r>
              <a:rPr lang="en-US" sz="1300" b="1" dirty="0">
                <a:solidFill>
                  <a:srgbClr val="0E1621"/>
                </a:solidFill>
                <a:latin typeface="Calibri" pitchFamily="34" charset="0"/>
                <a:ea typeface="Calibri" pitchFamily="34" charset="-122"/>
                <a:cs typeface="Calibri" pitchFamily="34" charset="-120"/>
              </a:rPr>
              <a:t>3</a:t>
            </a:r>
            <a:endParaRPr lang="en-US" sz="1300" dirty="0"/>
          </a:p>
        </p:txBody>
      </p:sp>
      <p:sp>
        <p:nvSpPr>
          <p:cNvPr id="18" name="Text 15"/>
          <p:cNvSpPr txBox="1"/>
          <p:nvPr/>
        </p:nvSpPr>
        <p:spPr>
          <a:xfrm>
            <a:off x="1600200" y="4709160"/>
            <a:ext cx="9601200" cy="384048"/>
          </a:xfrm>
          <a:prstGeom prst="rect">
            <a:avLst/>
          </a:prstGeom>
          <a:noFill/>
          <a:ln/>
        </p:spPr>
        <p:txBody>
          <a:bodyPr wrap="square" lIns="0" tIns="0" rIns="0" bIns="0" rtlCol="0" anchor="ctr"/>
          <a:lstStyle/>
          <a:p>
            <a:pPr marL="0" indent="0">
              <a:buNone/>
            </a:pPr>
            <a:r>
              <a:rPr lang="en-US" sz="2100" b="1" dirty="0">
                <a:solidFill>
                  <a:srgbClr val="16212C"/>
                </a:solidFill>
                <a:latin typeface="Calibri" pitchFamily="34" charset="0"/>
                <a:ea typeface="Calibri" pitchFamily="34" charset="-122"/>
                <a:cs typeface="Calibri" pitchFamily="34" charset="-120"/>
              </a:rPr>
              <a:t>Use the model for the reading problem</a:t>
            </a:r>
            <a:endParaRPr lang="en-US" sz="2100" dirty="0"/>
          </a:p>
        </p:txBody>
      </p:sp>
      <p:sp>
        <p:nvSpPr>
          <p:cNvPr id="19" name="Text 16"/>
          <p:cNvSpPr txBox="1"/>
          <p:nvPr/>
        </p:nvSpPr>
        <p:spPr>
          <a:xfrm>
            <a:off x="1600200" y="5129784"/>
            <a:ext cx="9601200" cy="502920"/>
          </a:xfrm>
          <a:prstGeom prst="rect">
            <a:avLst/>
          </a:prstGeom>
          <a:noFill/>
          <a:ln/>
        </p:spPr>
        <p:txBody>
          <a:bodyPr wrap="square" lIns="0" tIns="0" rIns="0" bIns="0" rtlCol="0" anchor="ctr"/>
          <a:lstStyle/>
          <a:p>
            <a:pPr marL="0" indent="0">
              <a:buNone/>
            </a:pPr>
            <a:r>
              <a:rPr lang="en-US" sz="1400" dirty="0">
                <a:solidFill>
                  <a:srgbClr val="475A6D"/>
                </a:solidFill>
                <a:latin typeface="Calibri" pitchFamily="34" charset="0"/>
                <a:ea typeface="Calibri" pitchFamily="34" charset="-122"/>
                <a:cs typeface="Calibri" pitchFamily="34" charset="-120"/>
              </a:rPr>
              <a:t>Ask it to connect what only prose connects, judge it on what it refuses to connect, and never let it own your data model.</a:t>
            </a:r>
            <a:endParaRPr lang="en-US" sz="1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457200"/>
            <a:ext cx="1005840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0" cap="none" spc="200" normalizeH="0" baseline="0" noProof="0" dirty="0">
                <a:ln>
                  <a:noFill/>
                </a:ln>
                <a:solidFill>
                  <a:srgbClr val="A86400"/>
                </a:solidFill>
                <a:effectLst/>
                <a:uLnTx/>
                <a:uFillTx/>
                <a:latin typeface="Calibri" pitchFamily="34" charset="0"/>
                <a:ea typeface="Calibri" pitchFamily="34" charset="-122"/>
                <a:cs typeface="Calibri" pitchFamily="34" charset="-120"/>
              </a:rPr>
              <a:t>EVERY FUNCTION, BY JOB</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749808"/>
            <a:ext cx="10789920" cy="6858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Which function answers which question</a:t>
            </a:r>
            <a:endParaRPr kumimoji="0" lang="en-US" sz="3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Shape 2"/>
          <p:cNvSpPr/>
          <p:nvPr/>
        </p:nvSpPr>
        <p:spPr>
          <a:xfrm>
            <a:off x="594360" y="1389888"/>
            <a:ext cx="11002975" cy="868680"/>
          </a:xfrm>
          <a:prstGeom prst="roundRect">
            <a:avLst>
              <a:gd name="adj" fmla="val 6316"/>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6" name="Text 3"/>
          <p:cNvSpPr txBox="1"/>
          <p:nvPr/>
        </p:nvSpPr>
        <p:spPr>
          <a:xfrm>
            <a:off x="795528" y="1490472"/>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Normalise</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 4"/>
          <p:cNvSpPr txBox="1"/>
          <p:nvPr/>
        </p:nvSpPr>
        <p:spPr>
          <a:xfrm>
            <a:off x="795528" y="1755648"/>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Normalize.psm1 (10)</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 5"/>
          <p:cNvSpPr txBox="1"/>
          <p:nvPr/>
        </p:nvSpPr>
        <p:spPr>
          <a:xfrm>
            <a:off x="2743200" y="1463040"/>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ConvertTo-PipelineEvent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entry point: sniffs the payload shape and hands off</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ConvertFrom-AppInsightsRecord · -AzureMonitorAlert · -ScriptEvent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one per shape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Get-HostFromTarget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a dependency’s Target becomes the host, so the app’s failed call joins the server’s incident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Get-Field · Get-ExceptionMessage · Format-Time · New-PipelineEvent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helpers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Shape 6"/>
          <p:cNvSpPr/>
          <p:nvPr/>
        </p:nvSpPr>
        <p:spPr>
          <a:xfrm>
            <a:off x="594360" y="2359152"/>
            <a:ext cx="11002975" cy="603504"/>
          </a:xfrm>
          <a:prstGeom prst="roundRect">
            <a:avLst>
              <a:gd name="adj" fmla="val 9091"/>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Text 7"/>
          <p:cNvSpPr txBox="1"/>
          <p:nvPr/>
        </p:nvSpPr>
        <p:spPr>
          <a:xfrm>
            <a:off x="795528" y="2459736"/>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Same symptom?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Shape 8"/>
          <p:cNvSpPr/>
          <p:nvPr/>
        </p:nvSpPr>
        <p:spPr>
          <a:xfrm>
            <a:off x="795528" y="2724912"/>
            <a:ext cx="77724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2" name="Text 9"/>
          <p:cNvSpPr txBox="1"/>
          <p:nvPr/>
        </p:nvSpPr>
        <p:spPr>
          <a:xfrm>
            <a:off x="795528" y="2724912"/>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QUESTION 1</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 10"/>
          <p:cNvSpPr txBox="1"/>
          <p:nvPr/>
        </p:nvSpPr>
        <p:spPr>
          <a:xfrm>
            <a:off x="1645920" y="2724912"/>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2743200" y="2432304"/>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Get-Fingerprint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SHA256 of source | kind | title with digits → N | resource | host.  Four lines. The whole answer.</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Shape 12"/>
          <p:cNvSpPr/>
          <p:nvPr/>
        </p:nvSpPr>
        <p:spPr>
          <a:xfrm>
            <a:off x="594360" y="3063240"/>
            <a:ext cx="11002975" cy="868680"/>
          </a:xfrm>
          <a:prstGeom prst="roundRect">
            <a:avLst>
              <a:gd name="adj" fmla="val 6316"/>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795528" y="316382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Same incident?</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795528" y="3429000"/>
            <a:ext cx="777240" cy="201168"/>
          </a:xfrm>
          <a:prstGeom prst="roundRect">
            <a:avLst>
              <a:gd name="adj" fmla="val 22727"/>
            </a:avLst>
          </a:prstGeom>
          <a:solidFill>
            <a:srgbClr val="F6F8FA"/>
          </a:solidFill>
          <a:ln w="12700">
            <a:solidFill>
              <a:srgbClr val="A864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 15"/>
          <p:cNvSpPr txBox="1"/>
          <p:nvPr/>
        </p:nvSpPr>
        <p:spPr>
          <a:xfrm>
            <a:off x="795528" y="342900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A86400"/>
                </a:solidFill>
                <a:effectLst/>
                <a:uLnTx/>
                <a:uFillTx/>
                <a:latin typeface="Calibri" pitchFamily="34" charset="0"/>
                <a:ea typeface="Calibri" pitchFamily="34" charset="-122"/>
                <a:cs typeface="Calibri" pitchFamily="34" charset="-120"/>
              </a:rPr>
              <a:t>QUESTION 2</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 16"/>
          <p:cNvSpPr txBox="1"/>
          <p:nvPr/>
        </p:nvSpPr>
        <p:spPr>
          <a:xfrm>
            <a:off x="1645920" y="342900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Correlation.psm1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 17"/>
          <p:cNvSpPr txBox="1"/>
          <p:nvPr/>
        </p:nvSpPr>
        <p:spPr>
          <a:xfrm>
            <a:off x="2743200" y="313639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Get-PrimaryKey · Get-IncidentId</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one key that decides the incident, and the id derived from it</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Get-EventKey</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every key the event carries, for the “correlated on” line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Add-EventToIncident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orchestrator - the only thing IngestEvents calls after archiving</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New-Incident · Write-RawEvent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writes; neither is conditional</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Shape 18"/>
          <p:cNvSpPr/>
          <p:nvPr/>
        </p:nvSpPr>
        <p:spPr>
          <a:xfrm>
            <a:off x="594360" y="4032504"/>
            <a:ext cx="11002975" cy="713232"/>
          </a:xfrm>
          <a:prstGeom prst="roundRect">
            <a:avLst>
              <a:gd name="adj" fmla="val 7692"/>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2" name="Text 19"/>
          <p:cNvSpPr txBox="1"/>
          <p:nvPr/>
        </p:nvSpPr>
        <p:spPr>
          <a:xfrm>
            <a:off x="795528" y="413308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Plumbing</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 20"/>
          <p:cNvSpPr txBox="1"/>
          <p:nvPr/>
        </p:nvSpPr>
        <p:spPr>
          <a:xfrm>
            <a:off x="795528" y="439826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Plumbing.psm1 (9)</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 21"/>
          <p:cNvSpPr txBox="1"/>
          <p:nvPr/>
        </p:nvSpPr>
        <p:spPr>
          <a:xfrm>
            <a:off x="2743200" y="4105656"/>
            <a:ext cx="8671255" cy="585216"/>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Invoke-Table · Get-TableRow · Get-OpenIncident · Measure-Incident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Table Storage over REST, and the totals the incident row does not store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Get-ResourceToken · Get-StorageToken</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managed identity, one token per resource, cached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Get-HttpStatus · ConvertTo-TableLiteral · ConvertTo-Utc</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small conversions everyone leans on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hape 22"/>
          <p:cNvSpPr/>
          <p:nvPr/>
        </p:nvSpPr>
        <p:spPr>
          <a:xfrm>
            <a:off x="594360" y="4846320"/>
            <a:ext cx="11002975" cy="868680"/>
          </a:xfrm>
          <a:prstGeom prst="roundRect">
            <a:avLst>
              <a:gd name="adj" fmla="val 6316"/>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Text 23"/>
          <p:cNvSpPr txBox="1"/>
          <p:nvPr/>
        </p:nvSpPr>
        <p:spPr>
          <a:xfrm>
            <a:off x="795528" y="4946904"/>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Same problem?</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7" name="Shape 24"/>
          <p:cNvSpPr/>
          <p:nvPr/>
        </p:nvSpPr>
        <p:spPr>
          <a:xfrm>
            <a:off x="795528" y="5212080"/>
            <a:ext cx="777240" cy="201168"/>
          </a:xfrm>
          <a:prstGeom prst="roundRect">
            <a:avLst>
              <a:gd name="adj" fmla="val 22727"/>
            </a:avLst>
          </a:prstGeom>
          <a:solidFill>
            <a:srgbClr val="F6F8FA"/>
          </a:solidFill>
          <a:ln w="12700">
            <a:solidFill>
              <a:srgbClr val="C42E2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 25"/>
          <p:cNvSpPr txBox="1"/>
          <p:nvPr/>
        </p:nvSpPr>
        <p:spPr>
          <a:xfrm>
            <a:off x="795528" y="5212080"/>
            <a:ext cx="777240"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0" cap="none" spc="100" normalizeH="0" baseline="0" noProof="0" dirty="0">
                <a:ln>
                  <a:noFill/>
                </a:ln>
                <a:solidFill>
                  <a:srgbClr val="C42E28"/>
                </a:solidFill>
                <a:effectLst/>
                <a:uLnTx/>
                <a:uFillTx/>
                <a:latin typeface="Calibri" pitchFamily="34" charset="0"/>
                <a:ea typeface="Calibri" pitchFamily="34" charset="-122"/>
                <a:cs typeface="Calibri" pitchFamily="34" charset="-120"/>
              </a:rPr>
              <a:t>QUESTION 3</a:t>
            </a:r>
            <a:endParaRPr kumimoji="0" lang="en-US" sz="9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 26"/>
          <p:cNvSpPr txBox="1"/>
          <p:nvPr/>
        </p:nvSpPr>
        <p:spPr>
          <a:xfrm>
            <a:off x="1645920" y="5212080"/>
            <a:ext cx="1024128"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Ai.psm1 (5)</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0" name="Text 27"/>
          <p:cNvSpPr txBox="1"/>
          <p:nvPr/>
        </p:nvSpPr>
        <p:spPr>
          <a:xfrm>
            <a:off x="2743200" y="4919472"/>
            <a:ext cx="8671255" cy="740664"/>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Invoke-IncidentAnalysis</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pass: fetch, skip if quiet, brief, ask, write back</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Get-IncidentBrief</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what the model is allowed to see</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Invoke-OpenAI · ConvertFrom-ModelJson</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the one call, and the JSON it must return</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Write-IncidentVerdict</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one incident’s verdict, a plain merge - it sends no counters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Shape 28"/>
          <p:cNvSpPr/>
          <p:nvPr/>
        </p:nvSpPr>
        <p:spPr>
          <a:xfrm>
            <a:off x="594360" y="5815584"/>
            <a:ext cx="11002975" cy="603504"/>
          </a:xfrm>
          <a:prstGeom prst="roundRect">
            <a:avLst>
              <a:gd name="adj" fmla="val 9091"/>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2" name="Text 29"/>
          <p:cNvSpPr txBox="1"/>
          <p:nvPr/>
        </p:nvSpPr>
        <p:spPr>
          <a:xfrm>
            <a:off x="795528" y="5916168"/>
            <a:ext cx="187452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dirty="0">
                <a:ln>
                  <a:noFill/>
                </a:ln>
                <a:solidFill>
                  <a:srgbClr val="2C68A8"/>
                </a:solidFill>
                <a:effectLst/>
                <a:uLnTx/>
                <a:uFillTx/>
                <a:latin typeface="Calibri" pitchFamily="34" charset="0"/>
                <a:ea typeface="Calibri" pitchFamily="34" charset="-122"/>
                <a:cs typeface="Calibri" pitchFamily="34" charset="-120"/>
              </a:rPr>
              <a:t>Presentation</a:t>
            </a:r>
            <a:endParaRPr kumimoji="0" lang="en-US" sz="13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 30"/>
          <p:cNvSpPr txBox="1"/>
          <p:nvPr/>
        </p:nvSpPr>
        <p:spPr>
          <a:xfrm>
            <a:off x="795528" y="6181344"/>
            <a:ext cx="187452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0" i="0" u="none" strike="noStrike" kern="1200" cap="none" spc="0" normalizeH="0" baseline="0" noProof="0" dirty="0">
                <a:ln>
                  <a:noFill/>
                </a:ln>
                <a:solidFill>
                  <a:srgbClr val="5A6D81"/>
                </a:solidFill>
                <a:effectLst/>
                <a:uLnTx/>
                <a:uFillTx/>
                <a:latin typeface="Courier New" pitchFamily="34" charset="0"/>
                <a:ea typeface="Courier New" pitchFamily="34" charset="-122"/>
                <a:cs typeface="Courier New" pitchFamily="34" charset="-120"/>
              </a:rPr>
              <a:t>GetIncidents/run.ps1</a:t>
            </a:r>
            <a:endParaRPr kumimoji="0" lang="en-US" sz="85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Text 31"/>
          <p:cNvSpPr txBox="1"/>
          <p:nvPr/>
        </p:nvSpPr>
        <p:spPr>
          <a:xfrm>
            <a:off x="2743200" y="5888736"/>
            <a:ext cx="8671255" cy="475488"/>
          </a:xfrm>
          <a:prstGeom prst="rect">
            <a:avLst/>
          </a:prstGeom>
          <a:noFill/>
          <a:ln/>
        </p:spPr>
        <p:txBody>
          <a:bodyPr wrap="square" lIns="0" tIns="0" rIns="0" bIns="0" rtlCol="0" anchor="t"/>
          <a:lstStyle/>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six ?view= shapes</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raw · summary · sources · tree · incidents · symptoms</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ts val="15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16212C"/>
                </a:solidFill>
                <a:effectLst/>
                <a:uLnTx/>
                <a:uFillTx/>
                <a:latin typeface="Courier New" pitchFamily="34" charset="0"/>
                <a:ea typeface="Courier New" pitchFamily="34" charset="-122"/>
                <a:cs typeface="Courier New" pitchFamily="34" charset="-120"/>
              </a:rPr>
              <a:t>Format-Count · Format-Age · Write-Json · Get-TableRow</a:t>
            </a:r>
            <a:r>
              <a:rPr kumimoji="0" lang="en-US" sz="10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   local helpers - that last one is a filter query, not the module’s point read</a:t>
            </a:r>
            <a:endParaRPr kumimoji="0" lang="en-US" sz="1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Text 32"/>
          <p:cNvSpPr txBox="1"/>
          <p:nvPr/>
        </p:nvSpPr>
        <p:spPr>
          <a:xfrm>
            <a:off x="594360" y="6537960"/>
            <a:ext cx="11002975"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35 functions. Three of them decide what belongs together. One of them talks to a model.</a:t>
            </a:r>
            <a:endParaRPr kumimoji="0" lang="en-US"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6F8FA"/>
        </a:solidFill>
        <a:effectLst/>
      </p:bgPr>
    </p:bg>
    <p:spTree>
      <p:nvGrpSpPr>
        <p:cNvPr id="1" name=""/>
        <p:cNvGrpSpPr/>
        <p:nvPr/>
      </p:nvGrpSpPr>
      <p:grpSpPr>
        <a:xfrm>
          <a:off x="0" y="0"/>
          <a:ext cx="0" cy="0"/>
          <a:chOff x="0" y="0"/>
          <a:chExt cx="0" cy="0"/>
        </a:xfrm>
      </p:grpSpPr>
      <p:sp>
        <p:nvSpPr>
          <p:cNvPr id="3" name="Text 0"/>
          <p:cNvSpPr txBox="1"/>
          <p:nvPr/>
        </p:nvSpPr>
        <p:spPr>
          <a:xfrm>
            <a:off x="594360" y="1234440"/>
            <a:ext cx="100584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0" cap="none" spc="400" normalizeH="0" baseline="0" noProof="0" dirty="0">
                <a:ln>
                  <a:noFill/>
                </a:ln>
                <a:solidFill>
                  <a:srgbClr val="A86400"/>
                </a:solidFill>
                <a:effectLst/>
                <a:uLnTx/>
                <a:uFillTx/>
                <a:latin typeface="Calibri" pitchFamily="34" charset="0"/>
                <a:ea typeface="Calibri" pitchFamily="34" charset="-122"/>
                <a:cs typeface="Calibri" pitchFamily="34" charset="-120"/>
              </a:rPr>
              <a:t>SMARTER MONITORING</a:t>
            </a:r>
            <a:endParaRPr kumimoji="0" lang="en-US" sz="15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 1"/>
          <p:cNvSpPr txBox="1"/>
          <p:nvPr/>
        </p:nvSpPr>
        <p:spPr>
          <a:xfrm>
            <a:off x="594360" y="1645920"/>
            <a:ext cx="10515600" cy="10058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6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Thank you</a:t>
            </a:r>
            <a:endParaRPr kumimoji="0" lang="en-US" sz="6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 2"/>
          <p:cNvSpPr txBox="1"/>
          <p:nvPr/>
        </p:nvSpPr>
        <p:spPr>
          <a:xfrm>
            <a:off x="594360" y="2743200"/>
            <a:ext cx="9144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7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Donnie Taylor   ·   The Cloud &amp; AI Summit 2026</a:t>
            </a:r>
            <a:endParaRPr kumimoji="0" lang="en-US" sz="17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Shape 3"/>
          <p:cNvSpPr/>
          <p:nvPr/>
        </p:nvSpPr>
        <p:spPr>
          <a:xfrm>
            <a:off x="594360" y="3383280"/>
            <a:ext cx="11002975" cy="2414016"/>
          </a:xfrm>
          <a:prstGeom prst="roundRect">
            <a:avLst>
              <a:gd name="adj" fmla="val 2273"/>
            </a:avLst>
          </a:prstGeom>
          <a:solidFill>
            <a:srgbClr val="E7EDF3"/>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Shape 4"/>
          <p:cNvSpPr/>
          <p:nvPr/>
        </p:nvSpPr>
        <p:spPr>
          <a:xfrm>
            <a:off x="914400" y="3721608"/>
            <a:ext cx="219456" cy="219456"/>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8" name="Text 5"/>
          <p:cNvSpPr txBox="1"/>
          <p:nvPr/>
        </p:nvSpPr>
        <p:spPr>
          <a:xfrm>
            <a:off x="1371600" y="3611880"/>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github.com/donnietaylor</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9" name="Text 6"/>
          <p:cNvSpPr txBox="1"/>
          <p:nvPr/>
        </p:nvSpPr>
        <p:spPr>
          <a:xfrm>
            <a:off x="5943600" y="3611880"/>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The code from today - Deploy-Azure.ps1 builds it in your tenant</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Shape 7"/>
          <p:cNvSpPr/>
          <p:nvPr/>
        </p:nvSpPr>
        <p:spPr>
          <a:xfrm>
            <a:off x="914400" y="4434840"/>
            <a:ext cx="219456" cy="219456"/>
          </a:xfrm>
          <a:prstGeom prst="ellipse">
            <a:avLst/>
          </a:prstGeom>
          <a:solidFill>
            <a:srgbClr val="5B9BD5"/>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1" name="Text 8"/>
          <p:cNvSpPr txBox="1"/>
          <p:nvPr/>
        </p:nvSpPr>
        <p:spPr>
          <a:xfrm>
            <a:off x="1371600" y="4325112"/>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draith.com</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 9"/>
          <p:cNvSpPr txBox="1"/>
          <p:nvPr/>
        </p:nvSpPr>
        <p:spPr>
          <a:xfrm>
            <a:off x="5943600" y="4325112"/>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Blog and write-ups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Shape 10"/>
          <p:cNvSpPr/>
          <p:nvPr/>
        </p:nvSpPr>
        <p:spPr>
          <a:xfrm>
            <a:off x="914400" y="5148072"/>
            <a:ext cx="219456" cy="219456"/>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4" name="Text 11"/>
          <p:cNvSpPr txBox="1"/>
          <p:nvPr/>
        </p:nvSpPr>
        <p:spPr>
          <a:xfrm>
            <a:off x="1371600" y="5038344"/>
            <a:ext cx="44805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16212C"/>
                </a:solidFill>
                <a:effectLst/>
                <a:uLnTx/>
                <a:uFillTx/>
                <a:latin typeface="Calibri" pitchFamily="34" charset="0"/>
                <a:ea typeface="Calibri" pitchFamily="34" charset="-122"/>
                <a:cs typeface="Calibri" pitchFamily="34" charset="-120"/>
              </a:rPr>
              <a:t>donnietaylor.bsky.social</a:t>
            </a:r>
            <a:endParaRPr kumimoji="0" lang="en-US" sz="20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 12"/>
          <p:cNvSpPr txBox="1"/>
          <p:nvPr/>
        </p:nvSpPr>
        <p:spPr>
          <a:xfrm>
            <a:off x="5943600" y="5038344"/>
            <a:ext cx="539496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475A6D"/>
                </a:solidFill>
                <a:effectLst/>
                <a:uLnTx/>
                <a:uFillTx/>
                <a:latin typeface="Calibri" pitchFamily="34" charset="0"/>
                <a:ea typeface="Calibri" pitchFamily="34" charset="-122"/>
                <a:cs typeface="Calibri" pitchFamily="34" charset="-120"/>
              </a:rPr>
              <a:t>Also on LinkedIn: linkedin.com/in/donnietaylor</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 13"/>
          <p:cNvSpPr txBox="1"/>
          <p:nvPr/>
        </p:nvSpPr>
        <p:spPr>
          <a:xfrm>
            <a:off x="594360" y="5852160"/>
            <a:ext cx="82296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1" u="none" strike="noStrike" kern="1200" cap="none" spc="0" normalizeH="0" baseline="0" noProof="0" dirty="0">
                <a:ln>
                  <a:noFill/>
                </a:ln>
                <a:solidFill>
                  <a:srgbClr val="5A6D81"/>
                </a:solidFill>
                <a:effectLst/>
                <a:uLnTx/>
                <a:uFillTx/>
                <a:latin typeface="Calibri" pitchFamily="34" charset="0"/>
                <a:ea typeface="Calibri" pitchFamily="34" charset="-122"/>
                <a:cs typeface="Calibri" pitchFamily="34" charset="-120"/>
              </a:rPr>
              <a:t>Questions - now, or find me afterwards.</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Shape 14"/>
          <p:cNvSpPr/>
          <p:nvPr/>
        </p:nvSpPr>
        <p:spPr>
          <a:xfrm>
            <a:off x="10643616" y="5934456"/>
            <a:ext cx="201168" cy="201168"/>
          </a:xfrm>
          <a:prstGeom prst="ellipse">
            <a:avLst/>
          </a:prstGeom>
          <a:solidFill>
            <a:srgbClr val="E0443E"/>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Shape 15"/>
          <p:cNvSpPr/>
          <p:nvPr/>
        </p:nvSpPr>
        <p:spPr>
          <a:xfrm>
            <a:off x="11027664" y="5934456"/>
            <a:ext cx="201168" cy="201168"/>
          </a:xfrm>
          <a:prstGeom prst="ellipse">
            <a:avLst/>
          </a:prstGeom>
          <a:solidFill>
            <a:srgbClr val="E8A33D"/>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9" name="Shape 16"/>
          <p:cNvSpPr/>
          <p:nvPr/>
        </p:nvSpPr>
        <p:spPr>
          <a:xfrm>
            <a:off x="11411712" y="5934456"/>
            <a:ext cx="201168" cy="201168"/>
          </a:xfrm>
          <a:prstGeom prst="ellipse">
            <a:avLst/>
          </a:prstGeom>
          <a:solidFill>
            <a:srgbClr val="46B98A"/>
          </a:solid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2" name="Picture 1" descr="QR code linking to the feedback form for Smarter Monitoring: Building an AI-Enhanced Event Pipeline">
            <a:extLst>
              <a:ext uri="{FF2B5EF4-FFF2-40B4-BE49-F238E27FC236}">
                <a16:creationId xmlns:a16="http://schemas.microsoft.com/office/drawing/2014/main" id="{40766BB3-4CDD-7E84-0342-74482A320CCF}"/>
              </a:ext>
            </a:extLst>
          </p:cNvPr>
          <p:cNvPicPr>
            <a:picLocks noChangeAspect="1"/>
          </p:cNvPicPr>
          <p:nvPr/>
        </p:nvPicPr>
        <p:blipFill>
          <a:blip r:embed="rId3"/>
          <a:stretch>
            <a:fillRect/>
          </a:stretch>
        </p:blipFill>
        <p:spPr>
          <a:xfrm>
            <a:off x="7395410" y="82517"/>
            <a:ext cx="3163603" cy="3163603"/>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5703BEA-C48D-4B47-BF6A-148B9BFB993E}">
  <we:reference id="wa200010001" version="1.0.0.1" store="en-US" storeType="OMEX"/>
  <we:alternateReferences>
    <we:reference id="WA200010001" version="1.0.0.1" store=""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2146</TotalTime>
  <Words>4619</Words>
  <Application>Microsoft Office PowerPoint</Application>
  <PresentationFormat>Widescreen</PresentationFormat>
  <Paragraphs>524</Paragraphs>
  <Slides>28</Slides>
  <Notes>27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Aptos</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Smarter Monitoring: Building an AI-Enhanced Event Pipeline</dc:title>
  <dc:subject>PptxGenJS Presentation</dc:subject>
  <dc:creator>Donnie Taylor</dc:creator>
  <cp:lastModifiedBy>Donnie Taylor</cp:lastModifiedBy>
  <cp:revision>11</cp:revision>
  <dcterms:created xsi:type="dcterms:W3CDTF">2026-09-13T00:17:19Z</dcterms:created>
  <dcterms:modified xsi:type="dcterms:W3CDTF">2026-10-02T19:31:48Z</dcterms:modified>
</cp:coreProperties>
</file>