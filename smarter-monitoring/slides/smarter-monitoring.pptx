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9" r:id="rId3"/>
    <p:sldId id="289" r:id="rId4"/>
    <p:sldId id="257" r:id="rId5"/>
    <p:sldId id="258" r:id="rId6"/>
    <p:sldId id="261" r:id="rId7"/>
    <p:sldId id="263" r:id="rId8"/>
    <p:sldId id="277" r:id="rId9"/>
    <p:sldId id="284" r:id="rId10"/>
    <p:sldId id="279" r:id="rId11"/>
    <p:sldId id="264" r:id="rId12"/>
    <p:sldId id="285" r:id="rId13"/>
    <p:sldId id="280" r:id="rId14"/>
    <p:sldId id="281" r:id="rId15"/>
    <p:sldId id="287" r:id="rId16"/>
    <p:sldId id="282" r:id="rId17"/>
    <p:sldId id="267" r:id="rId18"/>
    <p:sldId id="268" r:id="rId19"/>
    <p:sldId id="269" r:id="rId20"/>
    <p:sldId id="283" r:id="rId21"/>
    <p:sldId id="270" r:id="rId22"/>
    <p:sldId id="271" r:id="rId23"/>
    <p:sldId id="272" r:id="rId24"/>
    <p:sldId id="273" r:id="rId25"/>
    <p:sldId id="275" r:id="rId26"/>
    <p:sldId id="276" r:id="rId27"/>
    <p:sldId id="286" r:id="rId28"/>
    <p:sldId id="288"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6710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Do not introduce yourself yet - go straight to the firehose slide and let them try to find the cause. Come back to who you are after they have felt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sixty seconds. They came for the pipeline, not the resume.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cold open. Read two or three lines out loud, then stop talking and let the room look. Ask it straight: which one caused the others? Take a couple of guesses from the audience - people usually pick a critical. Nobody picks the backup job. That is the whole talk in thirty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it and move. The room has just failed to find the cause, so this is a release valve, not a bit. If it gets a laugh, ride it straight into the introduction.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makes the rest of the session legible. Most monitoring tools do the first. Some do the second. Almost nothing does the third, and the third is what the on-call engineer actually needs at 3am.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genuinely different shapes arriving on one hub. The point of the third is that it is fake infrastructure - I am not deploying a SQL box to prove a correlation engine works.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hub and spoke. Start in the middle: three tables in one storage account. Left side is the write path - the hub fires IngestEvents and it writes. Top right is the AI pass: reads the open incidents, asks the model, writes the verdict back onto the same rows. Bottom right is the dashboard, which only reads. Nothing talks to anything except through the middle.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slide. Walk it left to right once, then point at the two things that are not obvious: the dashed loop is the AI pass reading and writing the same table the ingest path writes, and the three question chips - same symptom, same incident, same problem - are the spine of the session. Roughly ninety seconds; do not narrate every box.</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before the first demo. The point is that the function that reads the hub is trivially small - all the interesting work is behind three verbs. Read the three lines in the inner loop out loud and move on; the next slides open each one up.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and talk over it. The checkouts going red in the terminal are real HTTP calls against the Flask app on this machine. Do not skip the raw view - that is the "can you find it" screen again, now live.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slide. Three swim lanes, one per trigger. The top lane is the one to spend time on: point at the row inside Add-EventToIncident and say that the incident is decided before the symptom - question two before question one - because they are the two halves of one row address. The other two lanes are a sentence each.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three completely different JSON shapes, and none of them agree on what a field is called. This is the unglamorous half of any pipeline like this and it is worth saying so - people underestimate it every time.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one, in full. Three lines. Say plainly that this is the entire deduplication engine and that it involves no intelligence of any kind - it is a hash of a string with the numbers taken out. Then be honest about the cost: "Port 22 closed" and "Port 443 closed" collapse together too. Worth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follow one alert. Step one is a real alert from the demo. Step two: we pick the one label to group on - the machine name if the alert has one, otherwise the Azure resource, otherwise the app name. Step three: that label is hashed into the incident id. inc-de92ae29a9bb is the real id for sql-prod-03. The punchline is the callout: every other alert about that machine computes the same id, so it lands in the same incident without anyone searching for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two. Read the four lines top to bottom: host if there is one, otherwise the Azure resource, otherwise the service. Trace is last on purpose - every request has its own, so it is the worst thing to group on. Then the last line: the incident id is just a hash of that key. Same host, same id, every time. No lookup.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advocacy slide and probably the most useful thing anyone takes home. Five lines of span attributes did work that would otherwise need a model. Say it plainly: good telemetry is cheaper than inference.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bullet hard. Thirteen incidents is a real improvement and it is still thirteen things to look at. The backup job is sitting there as a warning nobody would open.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earns its place. The link between backup-01 and sql-prod-03 exists only in English - no shared host, no shared resource, no trace. No amount of key matching finds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Deflate the AI stage deliberately. It is one HTTP call with temperature zero and a JSON contract. The interesting engineering is everywhere except here - and that is the honest shape of most production AI features.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best-fitting joke in the deck because the picture IS the point. Set up the next demo with it: the interesting question is not what the model connects, it is what it refuses to connect. Then go run the analysis.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at the red herrings as hard as at the root cause. A correlator that connects everything is as useless as one that connects nothing. The firewall packet loss during carrier maintenance is there to be left alone, and it was.</a:t>
            </a:r>
          </a:p>
          <a:p>
            <a:endParaRPr/>
          </a:p>
          <a:p>
            <a:r>
              <a:t>STAGING: the AnalyzeTimer must be OFF during the talk (app setting AzureWebJobs.AnalyzeTimer.Disabled = 1), or the dashboard shows root cause a minute after Demo 1 and this reveal is gone. This demo is the forced call: POST /api/analyze. Turn the timer back on afterwards.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top line out loud - it is the single most portable idea in the session and the thing people will repeat to their team on Monday. Then go to the chain slide and walk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back here if the room loses the thread during any demo. This is the scenario on one slide.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one. Saying where it breaks is what makes the rest credible, and this room can smell a sales pitch.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not seven. If they remember one, make it the middle 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Do not read it aloud; let it sit while you say the one sentence at the bottom. The thing to point at is the same-symptom row: one function, four lines, and the middle row - the plumbing - which is its own module now and knows nothing about correlation.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Thank-you slide. Leave it up through the last questions so people can grab the links. The repo line is the one to point at: Deploy-Azure.ps1 builds the whole thing in their own subscription.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ponsors">
    <p:bg>
      <p:bgPr>
        <a:blipFill dpi="0"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79975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1965960"/>
            <a:ext cx="10972800" cy="365760"/>
          </a:xfrm>
          <a:prstGeom prst="rect">
            <a:avLst/>
          </a:prstGeom>
          <a:noFill/>
          <a:ln/>
        </p:spPr>
        <p:txBody>
          <a:bodyPr wrap="square" lIns="0" tIns="0" rIns="0" bIns="0" rtlCol="0" anchor="ctr"/>
          <a:lstStyle/>
          <a:p>
            <a:pPr marL="0" indent="0">
              <a:buNone/>
            </a:pPr>
            <a:r>
              <a:rPr lang="en-US" sz="1500" b="1" kern="0" spc="400" dirty="0">
                <a:solidFill>
                  <a:srgbClr val="E8A33D"/>
                </a:solidFill>
                <a:latin typeface="Calibri" pitchFamily="34" charset="0"/>
                <a:ea typeface="Calibri" pitchFamily="34" charset="-122"/>
                <a:cs typeface="Calibri" pitchFamily="34" charset="-120"/>
              </a:rPr>
              <a:t>SMARTER MONITORING</a:t>
            </a:r>
            <a:endParaRPr lang="en-US" sz="1500" dirty="0"/>
          </a:p>
        </p:txBody>
      </p:sp>
      <p:sp>
        <p:nvSpPr>
          <p:cNvPr id="4" name="Text 1"/>
          <p:cNvSpPr txBox="1"/>
          <p:nvPr/>
        </p:nvSpPr>
        <p:spPr>
          <a:xfrm>
            <a:off x="594360" y="2377440"/>
            <a:ext cx="10515600" cy="1737360"/>
          </a:xfrm>
          <a:prstGeom prst="rect">
            <a:avLst/>
          </a:prstGeom>
          <a:noFill/>
          <a:ln/>
        </p:spPr>
        <p:txBody>
          <a:bodyPr wrap="square" lIns="0" tIns="0" rIns="0" bIns="0" rtlCol="0" anchor="ctr"/>
          <a:lstStyle/>
          <a:p>
            <a:pPr marL="0" indent="0">
              <a:lnSpc>
                <a:spcPts val="5200"/>
              </a:lnSpc>
              <a:buNone/>
            </a:pPr>
            <a:r>
              <a:rPr lang="en-US" sz="4600" b="1" dirty="0">
                <a:solidFill>
                  <a:srgbClr val="FFFFFF"/>
                </a:solidFill>
                <a:latin typeface="Calibri" pitchFamily="34" charset="0"/>
                <a:ea typeface="Calibri" pitchFamily="34" charset="-122"/>
                <a:cs typeface="Calibri" pitchFamily="34" charset="-120"/>
              </a:rPr>
              <a:t>Building an AI-Enhanced</a:t>
            </a:r>
            <a:endParaRPr lang="en-US" sz="4600" dirty="0"/>
          </a:p>
          <a:p>
            <a:pPr marL="0" indent="0">
              <a:lnSpc>
                <a:spcPts val="5200"/>
              </a:lnSpc>
              <a:buNone/>
            </a:pPr>
            <a:r>
              <a:rPr lang="en-US" sz="4600" b="1" dirty="0">
                <a:solidFill>
                  <a:srgbClr val="FFFFFF"/>
                </a:solidFill>
                <a:latin typeface="Calibri" pitchFamily="34" charset="0"/>
                <a:ea typeface="Calibri" pitchFamily="34" charset="-122"/>
                <a:cs typeface="Calibri" pitchFamily="34" charset="-120"/>
              </a:rPr>
              <a:t>Event Pipeline</a:t>
            </a:r>
            <a:endParaRPr lang="en-US" sz="4600" dirty="0"/>
          </a:p>
        </p:txBody>
      </p:sp>
      <p:sp>
        <p:nvSpPr>
          <p:cNvPr id="5" name="Text 2"/>
          <p:cNvSpPr txBox="1"/>
          <p:nvPr/>
        </p:nvSpPr>
        <p:spPr>
          <a:xfrm>
            <a:off x="594360" y="4160520"/>
            <a:ext cx="9144000" cy="365760"/>
          </a:xfrm>
          <a:prstGeom prst="rect">
            <a:avLst/>
          </a:prstGeom>
          <a:noFill/>
          <a:ln/>
        </p:spPr>
        <p:txBody>
          <a:bodyPr wrap="square" lIns="0" tIns="0" rIns="0" bIns="0" rtlCol="0" anchor="ctr"/>
          <a:lstStyle/>
          <a:p>
            <a:pPr marL="0" indent="0">
              <a:buNone/>
            </a:pPr>
            <a:r>
              <a:rPr lang="en-US" sz="1700" i="1" dirty="0">
                <a:solidFill>
                  <a:srgbClr val="8FA3B8"/>
                </a:solidFill>
                <a:latin typeface="Calibri" pitchFamily="34" charset="0"/>
                <a:ea typeface="Calibri" pitchFamily="34" charset="-122"/>
                <a:cs typeface="Calibri" pitchFamily="34" charset="-120"/>
              </a:rPr>
              <a:t>Correlating events from everywhere into the two that matter.</a:t>
            </a:r>
            <a:endParaRPr lang="en-US" sz="1700" dirty="0"/>
          </a:p>
        </p:txBody>
      </p:sp>
      <p:sp>
        <p:nvSpPr>
          <p:cNvPr id="6" name="Text 3"/>
          <p:cNvSpPr txBox="1"/>
          <p:nvPr/>
        </p:nvSpPr>
        <p:spPr>
          <a:xfrm>
            <a:off x="594360" y="5029200"/>
            <a:ext cx="9144000" cy="320040"/>
          </a:xfrm>
          <a:prstGeom prst="rect">
            <a:avLst/>
          </a:prstGeom>
          <a:noFill/>
          <a:ln/>
        </p:spPr>
        <p:txBody>
          <a:bodyPr wrap="square" lIns="0" tIns="0" rIns="0" bIns="0" rtlCol="0" anchor="ctr"/>
          <a:lstStyle/>
          <a:p>
            <a:pPr marL="0" indent="0">
              <a:buNone/>
            </a:pPr>
            <a:r>
              <a:rPr lang="en-US" sz="1500" dirty="0">
                <a:solidFill>
                  <a:srgbClr val="E9EFF6"/>
                </a:solidFill>
                <a:latin typeface="Calibri" pitchFamily="34" charset="0"/>
                <a:ea typeface="Calibri" pitchFamily="34" charset="-122"/>
                <a:cs typeface="Calibri" pitchFamily="34" charset="-120"/>
              </a:rPr>
              <a:t>Donnie Taylor   ·   The Cloud &amp; AI Summit 2026</a:t>
            </a:r>
            <a:endParaRPr lang="en-US" sz="1500" dirty="0"/>
          </a:p>
        </p:txBody>
      </p:sp>
      <p:sp>
        <p:nvSpPr>
          <p:cNvPr id="7" name="Shape 4"/>
          <p:cNvSpPr/>
          <p:nvPr/>
        </p:nvSpPr>
        <p:spPr>
          <a:xfrm>
            <a:off x="10643616" y="5806440"/>
            <a:ext cx="201168" cy="201168"/>
          </a:xfrm>
          <a:prstGeom prst="ellipse">
            <a:avLst/>
          </a:prstGeom>
          <a:solidFill>
            <a:srgbClr val="E0443E"/>
          </a:solidFill>
          <a:ln/>
        </p:spPr>
        <p:txBody>
          <a:bodyPr/>
          <a:lstStyle/>
          <a:p>
            <a:endParaRPr lang="en-US"/>
          </a:p>
        </p:txBody>
      </p:sp>
      <p:sp>
        <p:nvSpPr>
          <p:cNvPr id="8" name="Shape 5"/>
          <p:cNvSpPr/>
          <p:nvPr/>
        </p:nvSpPr>
        <p:spPr>
          <a:xfrm>
            <a:off x="11027664" y="5806440"/>
            <a:ext cx="201168" cy="201168"/>
          </a:xfrm>
          <a:prstGeom prst="ellipse">
            <a:avLst/>
          </a:prstGeom>
          <a:solidFill>
            <a:srgbClr val="E8A33D"/>
          </a:solidFill>
          <a:ln/>
        </p:spPr>
        <p:txBody>
          <a:bodyPr/>
          <a:lstStyle/>
          <a:p>
            <a:endParaRPr lang="en-US"/>
          </a:p>
        </p:txBody>
      </p:sp>
      <p:sp>
        <p:nvSpPr>
          <p:cNvPr id="9" name="Shape 6"/>
          <p:cNvSpPr/>
          <p:nvPr/>
        </p:nvSpPr>
        <p:spPr>
          <a:xfrm>
            <a:off x="11411712" y="5806440"/>
            <a:ext cx="201168" cy="201168"/>
          </a:xfrm>
          <a:prstGeom prst="ellipse">
            <a:avLst/>
          </a:prstGeom>
          <a:solidFill>
            <a:srgbClr val="46B98A"/>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BEFORE WE GO FURTHER</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Donnie Taylor</a:t>
            </a:r>
            <a:endParaRPr lang="en-US" sz="3600" dirty="0"/>
          </a:p>
        </p:txBody>
      </p:sp>
      <p:sp>
        <p:nvSpPr>
          <p:cNvPr id="5" name="Shape 2"/>
          <p:cNvSpPr/>
          <p:nvPr/>
        </p:nvSpPr>
        <p:spPr>
          <a:xfrm>
            <a:off x="594360" y="1783080"/>
            <a:ext cx="475488" cy="475488"/>
          </a:xfrm>
          <a:prstGeom prst="ellipse">
            <a:avLst/>
          </a:prstGeom>
          <a:solidFill>
            <a:srgbClr val="E8A33D"/>
          </a:solidFill>
          <a:ln/>
        </p:spPr>
        <p:txBody>
          <a:bodyPr/>
          <a:lstStyle/>
          <a:p>
            <a:endParaRPr lang="en-US"/>
          </a:p>
        </p:txBody>
      </p:sp>
      <p:sp>
        <p:nvSpPr>
          <p:cNvPr id="6" name="Text 3"/>
          <p:cNvSpPr txBox="1"/>
          <p:nvPr/>
        </p:nvSpPr>
        <p:spPr>
          <a:xfrm>
            <a:off x="594360" y="178308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1371600" y="1746504"/>
            <a:ext cx="9601200" cy="365760"/>
          </a:xfrm>
          <a:prstGeom prst="rect">
            <a:avLst/>
          </a:prstGeom>
          <a:noFill/>
          <a:ln/>
        </p:spPr>
        <p:txBody>
          <a:bodyPr wrap="square" lIns="0" tIns="0" rIns="0" bIns="0" rtlCol="0" anchor="ctr"/>
          <a:lstStyle/>
          <a:p>
            <a:pPr marL="0" indent="0">
              <a:buNone/>
            </a:pPr>
            <a:r>
              <a:rPr lang="en-US" sz="2000" b="1" dirty="0">
                <a:solidFill>
                  <a:srgbClr val="E9EFF6"/>
                </a:solidFill>
                <a:latin typeface="Calibri" pitchFamily="34" charset="0"/>
                <a:ea typeface="Calibri" pitchFamily="34" charset="-122"/>
                <a:cs typeface="Calibri" pitchFamily="34" charset="-120"/>
              </a:rPr>
              <a:t>Microsoft MVP, ninth consecutive year</a:t>
            </a:r>
            <a:endParaRPr lang="en-US" sz="2000" dirty="0"/>
          </a:p>
        </p:txBody>
      </p:sp>
      <p:sp>
        <p:nvSpPr>
          <p:cNvPr id="8" name="Text 5"/>
          <p:cNvSpPr txBox="1"/>
          <p:nvPr/>
        </p:nvSpPr>
        <p:spPr>
          <a:xfrm>
            <a:off x="1371600" y="2130552"/>
            <a:ext cx="9601200" cy="36576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Azure, PowerShell, and increasingly AI plumbing.</a:t>
            </a:r>
            <a:endParaRPr lang="en-US" sz="1500" dirty="0"/>
          </a:p>
        </p:txBody>
      </p:sp>
      <p:sp>
        <p:nvSpPr>
          <p:cNvPr id="9" name="Shape 6"/>
          <p:cNvSpPr/>
          <p:nvPr/>
        </p:nvSpPr>
        <p:spPr>
          <a:xfrm>
            <a:off x="594360" y="2926080"/>
            <a:ext cx="475488" cy="475488"/>
          </a:xfrm>
          <a:prstGeom prst="ellipse">
            <a:avLst/>
          </a:prstGeom>
          <a:solidFill>
            <a:srgbClr val="5B9BD5"/>
          </a:solidFill>
          <a:ln/>
        </p:spPr>
        <p:txBody>
          <a:bodyPr/>
          <a:lstStyle/>
          <a:p>
            <a:endParaRPr lang="en-US"/>
          </a:p>
        </p:txBody>
      </p:sp>
      <p:sp>
        <p:nvSpPr>
          <p:cNvPr id="10" name="Text 7"/>
          <p:cNvSpPr txBox="1"/>
          <p:nvPr/>
        </p:nvSpPr>
        <p:spPr>
          <a:xfrm>
            <a:off x="594360" y="292608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1371600" y="2889504"/>
            <a:ext cx="9601200" cy="365760"/>
          </a:xfrm>
          <a:prstGeom prst="rect">
            <a:avLst/>
          </a:prstGeom>
          <a:noFill/>
          <a:ln/>
        </p:spPr>
        <p:txBody>
          <a:bodyPr wrap="square" lIns="0" tIns="0" rIns="0" bIns="0" rtlCol="0" anchor="ctr"/>
          <a:lstStyle/>
          <a:p>
            <a:pPr marL="0" indent="0">
              <a:buNone/>
            </a:pPr>
            <a:r>
              <a:rPr lang="en-US" sz="2000" b="1" dirty="0">
                <a:solidFill>
                  <a:srgbClr val="E9EFF6"/>
                </a:solidFill>
                <a:latin typeface="Calibri" pitchFamily="34" charset="0"/>
                <a:ea typeface="Calibri" pitchFamily="34" charset="-122"/>
                <a:cs typeface="Calibri" pitchFamily="34" charset="-120"/>
              </a:rPr>
              <a:t>Woodworker, solar enthusiast, home automation</a:t>
            </a:r>
            <a:endParaRPr lang="en-US" sz="2000" dirty="0"/>
          </a:p>
        </p:txBody>
      </p:sp>
      <p:sp>
        <p:nvSpPr>
          <p:cNvPr id="12" name="Text 9"/>
          <p:cNvSpPr txBox="1"/>
          <p:nvPr/>
        </p:nvSpPr>
        <p:spPr>
          <a:xfrm>
            <a:off x="1371600" y="3273552"/>
            <a:ext cx="9601200" cy="36576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No good way to tie those together – or is there?</a:t>
            </a:r>
            <a:endParaRPr lang="en-US" sz="1500" dirty="0"/>
          </a:p>
        </p:txBody>
      </p:sp>
      <p:sp>
        <p:nvSpPr>
          <p:cNvPr id="13" name="Shape 10"/>
          <p:cNvSpPr/>
          <p:nvPr/>
        </p:nvSpPr>
        <p:spPr>
          <a:xfrm>
            <a:off x="594360" y="4069080"/>
            <a:ext cx="475488" cy="475488"/>
          </a:xfrm>
          <a:prstGeom prst="ellipse">
            <a:avLst/>
          </a:prstGeom>
          <a:solidFill>
            <a:srgbClr val="46B98A"/>
          </a:solidFill>
          <a:ln/>
        </p:spPr>
        <p:txBody>
          <a:bodyPr/>
          <a:lstStyle/>
          <a:p>
            <a:endParaRPr lang="en-US"/>
          </a:p>
        </p:txBody>
      </p:sp>
      <p:sp>
        <p:nvSpPr>
          <p:cNvPr id="14" name="Text 11"/>
          <p:cNvSpPr txBox="1"/>
          <p:nvPr/>
        </p:nvSpPr>
        <p:spPr>
          <a:xfrm>
            <a:off x="594360" y="406908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15" name="Text 12"/>
          <p:cNvSpPr txBox="1"/>
          <p:nvPr/>
        </p:nvSpPr>
        <p:spPr>
          <a:xfrm>
            <a:off x="1371600" y="4032504"/>
            <a:ext cx="9601200" cy="365760"/>
          </a:xfrm>
          <a:prstGeom prst="rect">
            <a:avLst/>
          </a:prstGeom>
          <a:noFill/>
          <a:ln/>
        </p:spPr>
        <p:txBody>
          <a:bodyPr wrap="square" lIns="0" tIns="0" rIns="0" bIns="0" rtlCol="0" anchor="ctr"/>
          <a:lstStyle/>
          <a:p>
            <a:pPr marL="0" indent="0">
              <a:buNone/>
            </a:pPr>
            <a:r>
              <a:rPr lang="en-US" sz="2000" b="1" dirty="0">
                <a:solidFill>
                  <a:srgbClr val="E9EFF6"/>
                </a:solidFill>
                <a:latin typeface="Calibri" pitchFamily="34" charset="0"/>
                <a:ea typeface="Calibri" pitchFamily="34" charset="-122"/>
                <a:cs typeface="Calibri" pitchFamily="34" charset="-120"/>
              </a:rPr>
              <a:t>Everything here is on GitHub</a:t>
            </a:r>
            <a:endParaRPr lang="en-US" sz="2000" dirty="0"/>
          </a:p>
        </p:txBody>
      </p:sp>
      <p:sp>
        <p:nvSpPr>
          <p:cNvPr id="16" name="Text 13"/>
          <p:cNvSpPr txBox="1"/>
          <p:nvPr/>
        </p:nvSpPr>
        <p:spPr>
          <a:xfrm>
            <a:off x="1371600" y="4416552"/>
            <a:ext cx="9601200" cy="36576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github.com/donnietaylor - deploy it in your own tenant in about ten minutes.</a:t>
            </a:r>
            <a:endParaRPr lang="en-US" sz="1500" dirty="0"/>
          </a:p>
        </p:txBody>
      </p:sp>
      <p:sp>
        <p:nvSpPr>
          <p:cNvPr id="17" name="Text 14"/>
          <p:cNvSpPr txBox="1"/>
          <p:nvPr/>
        </p:nvSpPr>
        <p:spPr>
          <a:xfrm>
            <a:off x="594360" y="5806440"/>
            <a:ext cx="10972800" cy="320040"/>
          </a:xfrm>
          <a:prstGeom prst="rect">
            <a:avLst/>
          </a:prstGeom>
          <a:noFill/>
          <a:ln/>
        </p:spPr>
        <p:txBody>
          <a:bodyPr wrap="square" lIns="0" tIns="0" rIns="0" bIns="0" rtlCol="0" anchor="ctr"/>
          <a:lstStyle/>
          <a:p>
            <a:pPr marL="0" indent="0">
              <a:buNone/>
            </a:pPr>
            <a:r>
              <a:rPr lang="en-US" sz="1400" dirty="0">
                <a:solidFill>
                  <a:srgbClr val="7C90A6"/>
                </a:solidFill>
                <a:latin typeface="Calibri" pitchFamily="34" charset="0"/>
                <a:ea typeface="Calibri" pitchFamily="34" charset="-122"/>
                <a:cs typeface="Calibri" pitchFamily="34" charset="-120"/>
              </a:rPr>
              <a:t>draith.com   ·   linkedin.com/in/donnietaylor   ·   @donnietaylor.bsky.social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THREE MINUTES OF PRODUCTION</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179 events. 12 tools. One cause.</a:t>
            </a:r>
            <a:endParaRPr lang="en-US" sz="3600" dirty="0"/>
          </a:p>
        </p:txBody>
      </p:sp>
      <p:sp>
        <p:nvSpPr>
          <p:cNvPr id="5" name="Shape 2"/>
          <p:cNvSpPr/>
          <p:nvPr/>
        </p:nvSpPr>
        <p:spPr>
          <a:xfrm>
            <a:off x="594360" y="1600200"/>
            <a:ext cx="11018520" cy="4114800"/>
          </a:xfrm>
          <a:prstGeom prst="roundRect">
            <a:avLst>
              <a:gd name="adj" fmla="val 1333"/>
            </a:avLst>
          </a:prstGeom>
          <a:solidFill>
            <a:srgbClr val="19242F"/>
          </a:solidFill>
          <a:ln/>
        </p:spPr>
        <p:txBody>
          <a:bodyPr/>
          <a:lstStyle/>
          <a:p>
            <a:endParaRPr lang="en-US"/>
          </a:p>
        </p:txBody>
      </p:sp>
      <p:sp>
        <p:nvSpPr>
          <p:cNvPr id="6" name="Text 3"/>
          <p:cNvSpPr txBox="1"/>
          <p:nvPr/>
        </p:nvSpPr>
        <p:spPr>
          <a:xfrm>
            <a:off x="822960" y="173736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16:54:31</a:t>
            </a:r>
            <a:endParaRPr lang="en-US" sz="1100" dirty="0"/>
          </a:p>
        </p:txBody>
      </p:sp>
      <p:sp>
        <p:nvSpPr>
          <p:cNvPr id="7" name="Text 4"/>
          <p:cNvSpPr txBox="1"/>
          <p:nvPr/>
        </p:nvSpPr>
        <p:spPr>
          <a:xfrm>
            <a:off x="1783080" y="173736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8" name="Text 5"/>
          <p:cNvSpPr txBox="1"/>
          <p:nvPr/>
        </p:nvSpPr>
        <p:spPr>
          <a:xfrm>
            <a:off x="2651760" y="173736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sql-watch      sql-prod-03    Connection pool exhausted, 97 of 100 in use</a:t>
            </a:r>
            <a:endParaRPr lang="en-US" sz="1100" dirty="0"/>
          </a:p>
        </p:txBody>
      </p:sp>
      <p:sp>
        <p:nvSpPr>
          <p:cNvPr id="9" name="Text 6"/>
          <p:cNvSpPr txBox="1"/>
          <p:nvPr/>
        </p:nvSpPr>
        <p:spPr>
          <a:xfrm>
            <a:off x="822960" y="203454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16:54:30</a:t>
            </a:r>
            <a:endParaRPr lang="en-US" sz="1100" dirty="0"/>
          </a:p>
        </p:txBody>
      </p:sp>
      <p:sp>
        <p:nvSpPr>
          <p:cNvPr id="10" name="Text 7"/>
          <p:cNvSpPr txBox="1"/>
          <p:nvPr/>
        </p:nvSpPr>
        <p:spPr>
          <a:xfrm>
            <a:off x="1783080" y="2034540"/>
            <a:ext cx="777240" cy="274320"/>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11" name="Text 8"/>
          <p:cNvSpPr txBox="1"/>
          <p:nvPr/>
        </p:nvSpPr>
        <p:spPr>
          <a:xfrm>
            <a:off x="2651760" y="203454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storage-watch  sql-prod-03    Disk read latency 480 ms, sustained</a:t>
            </a:r>
            <a:endParaRPr lang="en-US" sz="1100" dirty="0"/>
          </a:p>
        </p:txBody>
      </p:sp>
      <p:sp>
        <p:nvSpPr>
          <p:cNvPr id="12" name="Text 9"/>
          <p:cNvSpPr txBox="1"/>
          <p:nvPr/>
        </p:nvSpPr>
        <p:spPr>
          <a:xfrm>
            <a:off x="822960" y="233172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16:54:30</a:t>
            </a:r>
            <a:endParaRPr lang="en-US" sz="1100" dirty="0"/>
          </a:p>
        </p:txBody>
      </p:sp>
      <p:sp>
        <p:nvSpPr>
          <p:cNvPr id="13" name="Text 10"/>
          <p:cNvSpPr txBox="1"/>
          <p:nvPr/>
        </p:nvSpPr>
        <p:spPr>
          <a:xfrm>
            <a:off x="1783080" y="233172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14" name="Text 11"/>
          <p:cNvSpPr txBox="1"/>
          <p:nvPr/>
        </p:nvSpPr>
        <p:spPr>
          <a:xfrm>
            <a:off x="2651760" y="233172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apm            app-web-01     Checkout failures 27 percent of requests</a:t>
            </a:r>
            <a:endParaRPr lang="en-US" sz="1100" dirty="0"/>
          </a:p>
        </p:txBody>
      </p:sp>
      <p:sp>
        <p:nvSpPr>
          <p:cNvPr id="15" name="Text 12"/>
          <p:cNvSpPr txBox="1"/>
          <p:nvPr/>
        </p:nvSpPr>
        <p:spPr>
          <a:xfrm>
            <a:off x="822960" y="262890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16:54:29</a:t>
            </a:r>
            <a:endParaRPr lang="en-US" sz="1100" dirty="0"/>
          </a:p>
        </p:txBody>
      </p:sp>
      <p:sp>
        <p:nvSpPr>
          <p:cNvPr id="16" name="Text 13"/>
          <p:cNvSpPr txBox="1"/>
          <p:nvPr/>
        </p:nvSpPr>
        <p:spPr>
          <a:xfrm>
            <a:off x="1783080" y="2628900"/>
            <a:ext cx="777240" cy="274320"/>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17" name="Text 14"/>
          <p:cNvSpPr txBox="1"/>
          <p:nvPr/>
        </p:nvSpPr>
        <p:spPr>
          <a:xfrm>
            <a:off x="2651760" y="262890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auth-svc       app-api-03     Token validation failing, upstream returned 526</a:t>
            </a:r>
            <a:endParaRPr lang="en-US" sz="1100" dirty="0"/>
          </a:p>
        </p:txBody>
      </p:sp>
      <p:sp>
        <p:nvSpPr>
          <p:cNvPr id="18" name="Text 15"/>
          <p:cNvSpPr txBox="1"/>
          <p:nvPr/>
        </p:nvSpPr>
        <p:spPr>
          <a:xfrm>
            <a:off x="822960" y="292608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16:54:28</a:t>
            </a:r>
            <a:endParaRPr lang="en-US" sz="1100" dirty="0"/>
          </a:p>
        </p:txBody>
      </p:sp>
      <p:sp>
        <p:nvSpPr>
          <p:cNvPr id="19" name="Text 16"/>
          <p:cNvSpPr txBox="1"/>
          <p:nvPr/>
        </p:nvSpPr>
        <p:spPr>
          <a:xfrm>
            <a:off x="1783080" y="2926080"/>
            <a:ext cx="777240" cy="274320"/>
          </a:xfrm>
          <a:prstGeom prst="rect">
            <a:avLst/>
          </a:prstGeom>
          <a:noFill/>
          <a:ln/>
        </p:spPr>
        <p:txBody>
          <a:bodyPr wrap="square" lIns="0" tIns="0" rIns="0" bIns="0" rtlCol="0" anchor="ctr"/>
          <a:lstStyle/>
          <a:p>
            <a:pPr marL="0" indent="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20" name="Text 17"/>
          <p:cNvSpPr txBox="1"/>
          <p:nvPr/>
        </p:nvSpPr>
        <p:spPr>
          <a:xfrm>
            <a:off x="2651760" y="292608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net-monitor    fw-edge-01     Packet loss 2 percent on WAN interface</a:t>
            </a:r>
            <a:endParaRPr lang="en-US" sz="1100" dirty="0"/>
          </a:p>
        </p:txBody>
      </p:sp>
      <p:sp>
        <p:nvSpPr>
          <p:cNvPr id="21" name="Text 18"/>
          <p:cNvSpPr txBox="1"/>
          <p:nvPr/>
        </p:nvSpPr>
        <p:spPr>
          <a:xfrm>
            <a:off x="822960" y="322326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16:54:28</a:t>
            </a:r>
            <a:endParaRPr lang="en-US" sz="1100" dirty="0"/>
          </a:p>
        </p:txBody>
      </p:sp>
      <p:sp>
        <p:nvSpPr>
          <p:cNvPr id="22" name="Text 19"/>
          <p:cNvSpPr txBox="1"/>
          <p:nvPr/>
        </p:nvSpPr>
        <p:spPr>
          <a:xfrm>
            <a:off x="1783080" y="322326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23" name="Text 20"/>
          <p:cNvSpPr txBox="1"/>
          <p:nvPr/>
        </p:nvSpPr>
        <p:spPr>
          <a:xfrm>
            <a:off x="2651760" y="322326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store-api      sql-prod-03    Call to sql-prod-03 failed (500)</a:t>
            </a:r>
            <a:endParaRPr lang="en-US" sz="1100" dirty="0"/>
          </a:p>
        </p:txBody>
      </p:sp>
      <p:sp>
        <p:nvSpPr>
          <p:cNvPr id="24" name="Text 21"/>
          <p:cNvSpPr txBox="1"/>
          <p:nvPr/>
        </p:nvSpPr>
        <p:spPr>
          <a:xfrm>
            <a:off x="822960" y="352044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16:54:27</a:t>
            </a:r>
            <a:endParaRPr lang="en-US" sz="1100" dirty="0"/>
          </a:p>
        </p:txBody>
      </p:sp>
      <p:sp>
        <p:nvSpPr>
          <p:cNvPr id="25" name="Text 22"/>
          <p:cNvSpPr txBox="1"/>
          <p:nvPr/>
        </p:nvSpPr>
        <p:spPr>
          <a:xfrm>
            <a:off x="1783080" y="3520440"/>
            <a:ext cx="777240" cy="274320"/>
          </a:xfrm>
          <a:prstGeom prst="rect">
            <a:avLst/>
          </a:prstGeom>
          <a:noFill/>
          <a:ln/>
        </p:spPr>
        <p:txBody>
          <a:bodyPr wrap="square" lIns="0" tIns="0" rIns="0" bIns="0" rtlCol="0" anchor="ctr"/>
          <a:lstStyle/>
          <a:p>
            <a:pPr marL="0" indent="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26" name="Text 23"/>
          <p:cNvSpPr txBox="1"/>
          <p:nvPr/>
        </p:nvSpPr>
        <p:spPr>
          <a:xfrm>
            <a:off x="2651760" y="352044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backup-agent   backup-01      Nightly backup of sql-prod-03 still running, 4 hours over window</a:t>
            </a:r>
            <a:endParaRPr lang="en-US" sz="1100" dirty="0"/>
          </a:p>
        </p:txBody>
      </p:sp>
      <p:sp>
        <p:nvSpPr>
          <p:cNvPr id="27" name="Text 24"/>
          <p:cNvSpPr txBox="1"/>
          <p:nvPr/>
        </p:nvSpPr>
        <p:spPr>
          <a:xfrm>
            <a:off x="822960" y="381762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16:54:27</a:t>
            </a:r>
            <a:endParaRPr lang="en-US" sz="1100" dirty="0"/>
          </a:p>
        </p:txBody>
      </p:sp>
      <p:sp>
        <p:nvSpPr>
          <p:cNvPr id="28" name="Text 25"/>
          <p:cNvSpPr txBox="1"/>
          <p:nvPr/>
        </p:nvSpPr>
        <p:spPr>
          <a:xfrm>
            <a:off x="1783080" y="3817620"/>
            <a:ext cx="777240" cy="274320"/>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29" name="Text 26"/>
          <p:cNvSpPr txBox="1"/>
          <p:nvPr/>
        </p:nvSpPr>
        <p:spPr>
          <a:xfrm>
            <a:off x="2651760" y="381762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sql-watch      sql-prod-03    Lock wait time 4400 ms on OrderLines</a:t>
            </a:r>
            <a:endParaRPr lang="en-US" sz="1100" dirty="0"/>
          </a:p>
        </p:txBody>
      </p:sp>
      <p:sp>
        <p:nvSpPr>
          <p:cNvPr id="30" name="Text 27"/>
          <p:cNvSpPr txBox="1"/>
          <p:nvPr/>
        </p:nvSpPr>
        <p:spPr>
          <a:xfrm>
            <a:off x="822960" y="411480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16:54:26</a:t>
            </a:r>
            <a:endParaRPr lang="en-US" sz="1100" dirty="0"/>
          </a:p>
        </p:txBody>
      </p:sp>
      <p:sp>
        <p:nvSpPr>
          <p:cNvPr id="31" name="Text 28"/>
          <p:cNvSpPr txBox="1"/>
          <p:nvPr/>
        </p:nvSpPr>
        <p:spPr>
          <a:xfrm>
            <a:off x="1783080" y="411480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32" name="Text 29"/>
          <p:cNvSpPr txBox="1"/>
          <p:nvPr/>
        </p:nvSpPr>
        <p:spPr>
          <a:xfrm>
            <a:off x="2651760" y="411480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cert-watch     lb-edge-02     TLS certificate for api.contoso.com expired</a:t>
            </a:r>
            <a:endParaRPr lang="en-US" sz="1100" dirty="0"/>
          </a:p>
        </p:txBody>
      </p:sp>
      <p:sp>
        <p:nvSpPr>
          <p:cNvPr id="33" name="Text 30"/>
          <p:cNvSpPr txBox="1"/>
          <p:nvPr/>
        </p:nvSpPr>
        <p:spPr>
          <a:xfrm>
            <a:off x="822960" y="441198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16:54:26</a:t>
            </a:r>
            <a:endParaRPr lang="en-US" sz="1100" dirty="0"/>
          </a:p>
        </p:txBody>
      </p:sp>
      <p:sp>
        <p:nvSpPr>
          <p:cNvPr id="34" name="Text 31"/>
          <p:cNvSpPr txBox="1"/>
          <p:nvPr/>
        </p:nvSpPr>
        <p:spPr>
          <a:xfrm>
            <a:off x="1783080" y="4411980"/>
            <a:ext cx="777240" cy="274320"/>
          </a:xfrm>
          <a:prstGeom prst="rect">
            <a:avLst/>
          </a:prstGeom>
          <a:noFill/>
          <a:ln/>
        </p:spPr>
        <p:txBody>
          <a:bodyPr wrap="square" lIns="0" tIns="0" rIns="0" bIns="0" rtlCol="0" anchor="ctr"/>
          <a:lstStyle/>
          <a:p>
            <a:pPr marL="0" indent="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35" name="Text 32"/>
          <p:cNvSpPr txBox="1"/>
          <p:nvPr/>
        </p:nvSpPr>
        <p:spPr>
          <a:xfrm>
            <a:off x="2651760" y="441198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vsphere        esx-04         Datastore DS-VOL-02 at 82 percent capacity</a:t>
            </a:r>
            <a:endParaRPr lang="en-US" sz="1100" dirty="0"/>
          </a:p>
        </p:txBody>
      </p:sp>
      <p:sp>
        <p:nvSpPr>
          <p:cNvPr id="36" name="Text 33"/>
          <p:cNvSpPr txBox="1"/>
          <p:nvPr/>
        </p:nvSpPr>
        <p:spPr>
          <a:xfrm>
            <a:off x="822960" y="470916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16:54:25</a:t>
            </a:r>
            <a:endParaRPr lang="en-US" sz="1100" dirty="0"/>
          </a:p>
        </p:txBody>
      </p:sp>
      <p:sp>
        <p:nvSpPr>
          <p:cNvPr id="37" name="Text 34"/>
          <p:cNvSpPr txBox="1"/>
          <p:nvPr/>
        </p:nvSpPr>
        <p:spPr>
          <a:xfrm>
            <a:off x="1783080" y="4709160"/>
            <a:ext cx="777240" cy="274320"/>
          </a:xfrm>
          <a:prstGeom prst="rect">
            <a:avLst/>
          </a:prstGeom>
          <a:noFill/>
          <a:ln/>
        </p:spPr>
        <p:txBody>
          <a:bodyPr wrap="square" lIns="0" tIns="0" rIns="0" bIns="0" rtlCol="0" anchor="ctr"/>
          <a:lstStyle/>
          <a:p>
            <a:pPr marL="0" indent="0">
              <a:buNone/>
            </a:pPr>
            <a:r>
              <a:rPr lang="en-US" sz="1100" b="1" dirty="0">
                <a:solidFill>
                  <a:srgbClr val="E0443E"/>
                </a:solidFill>
                <a:latin typeface="Courier New" pitchFamily="34" charset="0"/>
                <a:ea typeface="Courier New" pitchFamily="34" charset="-122"/>
                <a:cs typeface="Courier New" pitchFamily="34" charset="-120"/>
              </a:rPr>
              <a:t>critical</a:t>
            </a:r>
            <a:endParaRPr lang="en-US" sz="1100" dirty="0"/>
          </a:p>
        </p:txBody>
      </p:sp>
      <p:sp>
        <p:nvSpPr>
          <p:cNvPr id="38" name="Text 35"/>
          <p:cNvSpPr txBox="1"/>
          <p:nvPr/>
        </p:nvSpPr>
        <p:spPr>
          <a:xfrm>
            <a:off x="2651760" y="470916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synthetic      probe-dfw      Login journey failing from 3 of 4 regions</a:t>
            </a:r>
            <a:endParaRPr lang="en-US" sz="1100" dirty="0"/>
          </a:p>
        </p:txBody>
      </p:sp>
      <p:sp>
        <p:nvSpPr>
          <p:cNvPr id="39" name="Text 36"/>
          <p:cNvSpPr txBox="1"/>
          <p:nvPr/>
        </p:nvSpPr>
        <p:spPr>
          <a:xfrm>
            <a:off x="822960" y="500634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16:54:25</a:t>
            </a:r>
            <a:endParaRPr lang="en-US" sz="1100" dirty="0"/>
          </a:p>
        </p:txBody>
      </p:sp>
      <p:sp>
        <p:nvSpPr>
          <p:cNvPr id="40" name="Text 37"/>
          <p:cNvSpPr txBox="1"/>
          <p:nvPr/>
        </p:nvSpPr>
        <p:spPr>
          <a:xfrm>
            <a:off x="1783080" y="5006340"/>
            <a:ext cx="777240" cy="274320"/>
          </a:xfrm>
          <a:prstGeom prst="rect">
            <a:avLst/>
          </a:prstGeom>
          <a:noFill/>
          <a:ln/>
        </p:spPr>
        <p:txBody>
          <a:bodyPr wrap="square" lIns="0" tIns="0" rIns="0" bIns="0" rtlCol="0" anchor="ctr"/>
          <a:lstStyle/>
          <a:p>
            <a:pPr marL="0" indent="0">
              <a:buNone/>
            </a:pPr>
            <a:r>
              <a:rPr lang="en-US" sz="1100" b="1" dirty="0">
                <a:solidFill>
                  <a:srgbClr val="E8A33D"/>
                </a:solidFill>
                <a:latin typeface="Courier New" pitchFamily="34" charset="0"/>
                <a:ea typeface="Courier New" pitchFamily="34" charset="-122"/>
                <a:cs typeface="Courier New" pitchFamily="34" charset="-120"/>
              </a:rPr>
              <a:t>error</a:t>
            </a:r>
            <a:endParaRPr lang="en-US" sz="1100" dirty="0"/>
          </a:p>
        </p:txBody>
      </p:sp>
      <p:sp>
        <p:nvSpPr>
          <p:cNvPr id="41" name="Text 38"/>
          <p:cNvSpPr txBox="1"/>
          <p:nvPr/>
        </p:nvSpPr>
        <p:spPr>
          <a:xfrm>
            <a:off x="2651760" y="500634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apm            app-web-01     Payments database connection timeout after 1500 ms</a:t>
            </a:r>
            <a:endParaRPr lang="en-US" sz="1100" dirty="0"/>
          </a:p>
        </p:txBody>
      </p:sp>
      <p:sp>
        <p:nvSpPr>
          <p:cNvPr id="42" name="Text 39"/>
          <p:cNvSpPr txBox="1"/>
          <p:nvPr/>
        </p:nvSpPr>
        <p:spPr>
          <a:xfrm>
            <a:off x="822960" y="5303520"/>
            <a:ext cx="914400" cy="274320"/>
          </a:xfrm>
          <a:prstGeom prst="rect">
            <a:avLst/>
          </a:prstGeom>
          <a:noFill/>
          <a:ln/>
        </p:spPr>
        <p:txBody>
          <a:bodyPr wrap="square" lIns="0" tIns="0" rIns="0" bIns="0" rtlCol="0" anchor="ctr"/>
          <a:lstStyle/>
          <a:p>
            <a:pPr marL="0" indent="0">
              <a:buNone/>
            </a:pPr>
            <a:r>
              <a:rPr lang="en-US" sz="1100" dirty="0">
                <a:solidFill>
                  <a:srgbClr val="7C90A6"/>
                </a:solidFill>
                <a:latin typeface="Courier New" pitchFamily="34" charset="0"/>
                <a:ea typeface="Courier New" pitchFamily="34" charset="-122"/>
                <a:cs typeface="Courier New" pitchFamily="34" charset="-120"/>
              </a:rPr>
              <a:t>16:54:24</a:t>
            </a:r>
            <a:endParaRPr lang="en-US" sz="1100" dirty="0"/>
          </a:p>
        </p:txBody>
      </p:sp>
      <p:sp>
        <p:nvSpPr>
          <p:cNvPr id="43" name="Text 40"/>
          <p:cNvSpPr txBox="1"/>
          <p:nvPr/>
        </p:nvSpPr>
        <p:spPr>
          <a:xfrm>
            <a:off x="1783080" y="5303520"/>
            <a:ext cx="777240" cy="274320"/>
          </a:xfrm>
          <a:prstGeom prst="rect">
            <a:avLst/>
          </a:prstGeom>
          <a:noFill/>
          <a:ln/>
        </p:spPr>
        <p:txBody>
          <a:bodyPr wrap="square" lIns="0" tIns="0" rIns="0" bIns="0" rtlCol="0" anchor="ctr"/>
          <a:lstStyle/>
          <a:p>
            <a:pPr marL="0" indent="0">
              <a:buNone/>
            </a:pPr>
            <a:r>
              <a:rPr lang="en-US" sz="1100" b="1" dirty="0">
                <a:solidFill>
                  <a:srgbClr val="7C90A6"/>
                </a:solidFill>
                <a:latin typeface="Courier New" pitchFamily="34" charset="0"/>
                <a:ea typeface="Courier New" pitchFamily="34" charset="-122"/>
                <a:cs typeface="Courier New" pitchFamily="34" charset="-120"/>
              </a:rPr>
              <a:t>warning</a:t>
            </a:r>
            <a:endParaRPr lang="en-US" sz="1100" dirty="0"/>
          </a:p>
        </p:txBody>
      </p:sp>
      <p:sp>
        <p:nvSpPr>
          <p:cNvPr id="44" name="Text 41"/>
          <p:cNvSpPr txBox="1"/>
          <p:nvPr/>
        </p:nvSpPr>
        <p:spPr>
          <a:xfrm>
            <a:off x="2651760" y="5303520"/>
            <a:ext cx="8686800" cy="274320"/>
          </a:xfrm>
          <a:prstGeom prst="rect">
            <a:avLst/>
          </a:prstGeom>
          <a:noFill/>
          <a:ln/>
        </p:spPr>
        <p:txBody>
          <a:bodyPr wrap="square" lIns="0" tIns="0" rIns="0" bIns="0" rtlCol="0" anchor="ctr"/>
          <a:lstStyle/>
          <a:p>
            <a:pPr marL="0" indent="0">
              <a:buNone/>
            </a:pPr>
            <a:r>
              <a:rPr lang="en-US" sz="1100" dirty="0">
                <a:solidFill>
                  <a:srgbClr val="8FA3B8"/>
                </a:solidFill>
                <a:latin typeface="Courier New" pitchFamily="34" charset="0"/>
                <a:ea typeface="Courier New" pitchFamily="34" charset="-122"/>
                <a:cs typeface="Courier New" pitchFamily="34" charset="-120"/>
              </a:rPr>
              <a:t>patch-agent    win-print-02   Reboot pending for 11 days</a:t>
            </a:r>
            <a:endParaRPr lang="en-US" sz="1100" dirty="0"/>
          </a:p>
        </p:txBody>
      </p:sp>
      <p:sp>
        <p:nvSpPr>
          <p:cNvPr id="45" name="Text 42"/>
          <p:cNvSpPr txBox="1"/>
          <p:nvPr/>
        </p:nvSpPr>
        <p:spPr>
          <a:xfrm>
            <a:off x="822960" y="5760720"/>
            <a:ext cx="3657600" cy="274320"/>
          </a:xfrm>
          <a:prstGeom prst="rect">
            <a:avLst/>
          </a:prstGeom>
          <a:noFill/>
          <a:ln/>
        </p:spPr>
        <p:txBody>
          <a:bodyPr wrap="square" lIns="0" tIns="0" rIns="0" bIns="0" rtlCol="0" anchor="ctr"/>
          <a:lstStyle/>
          <a:p>
            <a:pPr marL="0" indent="0">
              <a:buNone/>
            </a:pPr>
            <a:r>
              <a:rPr lang="en-US" sz="1200" i="1" dirty="0">
                <a:solidFill>
                  <a:srgbClr val="7C90A6"/>
                </a:solidFill>
                <a:latin typeface="Courier New" pitchFamily="34" charset="0"/>
                <a:ea typeface="Courier New" pitchFamily="34" charset="-122"/>
                <a:cs typeface="Courier New" pitchFamily="34" charset="-120"/>
              </a:rPr>
              <a:t>...and 166 more.</a:t>
            </a:r>
            <a:endParaRPr lang="en-US" sz="1200" dirty="0"/>
          </a:p>
        </p:txBody>
      </p:sp>
      <p:sp>
        <p:nvSpPr>
          <p:cNvPr id="46" name="Text 43"/>
          <p:cNvSpPr txBox="1"/>
          <p:nvPr/>
        </p:nvSpPr>
        <p:spPr>
          <a:xfrm>
            <a:off x="6949440" y="5742432"/>
            <a:ext cx="4663440" cy="365760"/>
          </a:xfrm>
          <a:prstGeom prst="rect">
            <a:avLst/>
          </a:prstGeom>
          <a:noFill/>
          <a:ln/>
        </p:spPr>
        <p:txBody>
          <a:bodyPr wrap="square" lIns="0" tIns="0" rIns="0" bIns="0"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Which one caused the rest?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MEANWHILE, IN THE ON-CALL CHANNEL</a:t>
            </a:r>
            <a:endParaRPr lang="en-US" sz="1200" dirty="0"/>
          </a:p>
        </p:txBody>
      </p:sp>
      <p:sp>
        <p:nvSpPr>
          <p:cNvPr id="8" name="Text 5"/>
          <p:cNvSpPr txBox="1"/>
          <p:nvPr/>
        </p:nvSpPr>
        <p:spPr>
          <a:xfrm>
            <a:off x="586740" y="5609191"/>
            <a:ext cx="11018520" cy="868680"/>
          </a:xfrm>
          <a:prstGeom prst="rect">
            <a:avLst/>
          </a:prstGeom>
          <a:noFill/>
          <a:ln/>
        </p:spPr>
        <p:txBody>
          <a:bodyPr wrap="square" lIns="0" tIns="0" rIns="0" bIns="0" rtlCol="0" anchor="t"/>
          <a:lstStyle/>
          <a:p>
            <a:pPr marL="0" indent="0" algn="ctr">
              <a:buNone/>
            </a:pPr>
            <a:r>
              <a:rPr lang="en-US" sz="2700" b="1" dirty="0">
                <a:solidFill>
                  <a:srgbClr val="FFFFFF"/>
                </a:solidFill>
                <a:latin typeface="Calibri" pitchFamily="34" charset="0"/>
                <a:ea typeface="Calibri" pitchFamily="34" charset="-122"/>
                <a:cs typeface="Calibri" pitchFamily="34" charset="-120"/>
              </a:rPr>
              <a:t>Nobody finds it by reading faster.</a:t>
            </a:r>
            <a:endParaRPr lang="en-US" sz="2700" dirty="0"/>
          </a:p>
        </p:txBody>
      </p:sp>
      <p:pic>
        <p:nvPicPr>
          <p:cNvPr id="2" name="Picture 1" descr="Everything Is Fine GIFs - Download &amp; Share | GIFDB.com">
            <a:extLst>
              <a:ext uri="{FF2B5EF4-FFF2-40B4-BE49-F238E27FC236}">
                <a16:creationId xmlns:a16="http://schemas.microsoft.com/office/drawing/2014/main" id="{94B8AF11-65EE-144A-8994-B6E0EE4B09D5}"/>
              </a:ext>
            </a:extLst>
          </p:cNvPr>
          <p:cNvPicPr>
            <a:picLocks noChangeAspect="1"/>
          </p:cNvPicPr>
          <p:nvPr/>
        </p:nvPicPr>
        <p:blipFill>
          <a:blip r:embed="rId3"/>
          <a:stretch>
            <a:fillRect/>
          </a:stretch>
        </p:blipFill>
        <p:spPr>
          <a:xfrm>
            <a:off x="3605522" y="731520"/>
            <a:ext cx="4743450" cy="47434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THE WORD THAT DOES A LOT OF WORK</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Correlation - Three different things</a:t>
            </a:r>
            <a:endParaRPr lang="en-US" sz="3600" dirty="0"/>
          </a:p>
        </p:txBody>
      </p:sp>
      <p:sp>
        <p:nvSpPr>
          <p:cNvPr id="5" name="Shape 2"/>
          <p:cNvSpPr/>
          <p:nvPr/>
        </p:nvSpPr>
        <p:spPr>
          <a:xfrm>
            <a:off x="594360" y="1783080"/>
            <a:ext cx="3429000" cy="3703320"/>
          </a:xfrm>
          <a:prstGeom prst="roundRect">
            <a:avLst>
              <a:gd name="adj" fmla="val 1600"/>
            </a:avLst>
          </a:prstGeom>
          <a:solidFill>
            <a:srgbClr val="19242F"/>
          </a:solidFill>
          <a:ln/>
        </p:spPr>
        <p:txBody>
          <a:bodyPr/>
          <a:lstStyle/>
          <a:p>
            <a:endParaRPr lang="en-US"/>
          </a:p>
        </p:txBody>
      </p:sp>
      <p:sp>
        <p:nvSpPr>
          <p:cNvPr id="6" name="Shape 3"/>
          <p:cNvSpPr/>
          <p:nvPr/>
        </p:nvSpPr>
        <p:spPr>
          <a:xfrm>
            <a:off x="914400" y="2103120"/>
            <a:ext cx="457200" cy="457200"/>
          </a:xfrm>
          <a:prstGeom prst="ellipse">
            <a:avLst/>
          </a:prstGeom>
          <a:solidFill>
            <a:srgbClr val="5B9BD5"/>
          </a:solidFill>
          <a:ln/>
        </p:spPr>
        <p:txBody>
          <a:bodyPr/>
          <a:lstStyle/>
          <a:p>
            <a:endParaRPr lang="en-US"/>
          </a:p>
        </p:txBody>
      </p:sp>
      <p:sp>
        <p:nvSpPr>
          <p:cNvPr id="7" name="Text 4"/>
          <p:cNvSpPr txBox="1"/>
          <p:nvPr/>
        </p:nvSpPr>
        <p:spPr>
          <a:xfrm>
            <a:off x="914400" y="2103120"/>
            <a:ext cx="457200" cy="45720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14400" y="2743200"/>
            <a:ext cx="2788920" cy="365760"/>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Deduplication</a:t>
            </a:r>
            <a:endParaRPr lang="en-US" sz="2100" dirty="0"/>
          </a:p>
        </p:txBody>
      </p:sp>
      <p:sp>
        <p:nvSpPr>
          <p:cNvPr id="9" name="Text 6"/>
          <p:cNvSpPr txBox="1"/>
          <p:nvPr/>
        </p:nvSpPr>
        <p:spPr>
          <a:xfrm>
            <a:off x="914400" y="3200400"/>
            <a:ext cx="2788920" cy="548640"/>
          </a:xfrm>
          <a:prstGeom prst="rect">
            <a:avLst/>
          </a:prstGeom>
          <a:noFill/>
          <a:ln/>
        </p:spPr>
        <p:txBody>
          <a:bodyPr wrap="square" lIns="0" tIns="0" rIns="0" bIns="0" rtlCol="0" anchor="t"/>
          <a:lstStyle/>
          <a:p>
            <a:pPr marL="0" indent="0">
              <a:buNone/>
            </a:pPr>
            <a:r>
              <a:rPr lang="en-US" sz="1500" i="1" dirty="0">
                <a:solidFill>
                  <a:srgbClr val="5B9BD5"/>
                </a:solidFill>
                <a:latin typeface="Calibri" pitchFamily="34" charset="0"/>
                <a:ea typeface="Calibri" pitchFamily="34" charset="-122"/>
                <a:cs typeface="Calibri" pitchFamily="34" charset="-120"/>
              </a:rPr>
              <a:t>Is this the same thing I already saw?</a:t>
            </a:r>
            <a:endParaRPr lang="en-US" sz="1500" dirty="0"/>
          </a:p>
        </p:txBody>
      </p:sp>
      <p:sp>
        <p:nvSpPr>
          <p:cNvPr id="10" name="Text 7"/>
          <p:cNvSpPr txBox="1"/>
          <p:nvPr/>
        </p:nvSpPr>
        <p:spPr>
          <a:xfrm>
            <a:off x="914400" y="3840480"/>
            <a:ext cx="2788920" cy="822960"/>
          </a:xfrm>
          <a:prstGeom prst="rect">
            <a:avLst/>
          </a:prstGeom>
          <a:noFill/>
          <a:ln/>
        </p:spPr>
        <p:txBody>
          <a:bodyPr wrap="square" lIns="0" tIns="0" rIns="0" bIns="0" rtlCol="0" anchor="t"/>
          <a:lstStyle/>
          <a:p>
            <a:pPr marL="0" indent="0">
              <a:buNone/>
            </a:pPr>
            <a:r>
              <a:rPr lang="en-US" sz="1400" dirty="0">
                <a:solidFill>
                  <a:srgbClr val="8FA3B8"/>
                </a:solidFill>
                <a:latin typeface="Calibri" pitchFamily="34" charset="0"/>
                <a:ea typeface="Calibri" pitchFamily="34" charset="-122"/>
                <a:cs typeface="Calibri" pitchFamily="34" charset="-120"/>
              </a:rPr>
              <a:t>Same failure, 300 times. One row, count 300.</a:t>
            </a:r>
            <a:endParaRPr lang="en-US" sz="1400" dirty="0"/>
          </a:p>
        </p:txBody>
      </p:sp>
      <p:sp>
        <p:nvSpPr>
          <p:cNvPr id="11" name="Text 8"/>
          <p:cNvSpPr txBox="1"/>
          <p:nvPr/>
        </p:nvSpPr>
        <p:spPr>
          <a:xfrm>
            <a:off x="914400" y="4892040"/>
            <a:ext cx="2788920" cy="320040"/>
          </a:xfrm>
          <a:prstGeom prst="rect">
            <a:avLst/>
          </a:prstGeom>
          <a:noFill/>
          <a:ln/>
        </p:spPr>
        <p:txBody>
          <a:bodyPr wrap="square" lIns="0" tIns="0" rIns="0" bIns="0" rtlCol="0" anchor="ctr"/>
          <a:lstStyle/>
          <a:p>
            <a:pPr marL="0" indent="0">
              <a:buNone/>
            </a:pPr>
            <a:r>
              <a:rPr lang="en-US" sz="1300" b="1" dirty="0">
                <a:solidFill>
                  <a:srgbClr val="7C90A6"/>
                </a:solidFill>
                <a:latin typeface="Calibri" pitchFamily="34" charset="0"/>
                <a:ea typeface="Calibri" pitchFamily="34" charset="-122"/>
                <a:cs typeface="Calibri" pitchFamily="34" charset="-120"/>
              </a:rPr>
              <a:t>Most tools do this.</a:t>
            </a:r>
            <a:endParaRPr lang="en-US" sz="1300" dirty="0"/>
          </a:p>
        </p:txBody>
      </p:sp>
      <p:sp>
        <p:nvSpPr>
          <p:cNvPr id="12" name="Shape 9"/>
          <p:cNvSpPr/>
          <p:nvPr/>
        </p:nvSpPr>
        <p:spPr>
          <a:xfrm>
            <a:off x="4389120" y="1783080"/>
            <a:ext cx="3429000" cy="3703320"/>
          </a:xfrm>
          <a:prstGeom prst="roundRect">
            <a:avLst>
              <a:gd name="adj" fmla="val 1600"/>
            </a:avLst>
          </a:prstGeom>
          <a:solidFill>
            <a:srgbClr val="19242F"/>
          </a:solidFill>
          <a:ln/>
        </p:spPr>
        <p:txBody>
          <a:bodyPr/>
          <a:lstStyle/>
          <a:p>
            <a:endParaRPr lang="en-US"/>
          </a:p>
        </p:txBody>
      </p:sp>
      <p:sp>
        <p:nvSpPr>
          <p:cNvPr id="13" name="Shape 10"/>
          <p:cNvSpPr/>
          <p:nvPr/>
        </p:nvSpPr>
        <p:spPr>
          <a:xfrm>
            <a:off x="4709160" y="2103120"/>
            <a:ext cx="457200" cy="457200"/>
          </a:xfrm>
          <a:prstGeom prst="ellipse">
            <a:avLst/>
          </a:prstGeom>
          <a:solidFill>
            <a:srgbClr val="E8A33D"/>
          </a:solidFill>
          <a:ln/>
        </p:spPr>
        <p:txBody>
          <a:bodyPr/>
          <a:lstStyle/>
          <a:p>
            <a:endParaRPr lang="en-US"/>
          </a:p>
        </p:txBody>
      </p:sp>
      <p:sp>
        <p:nvSpPr>
          <p:cNvPr id="14" name="Text 11"/>
          <p:cNvSpPr txBox="1"/>
          <p:nvPr/>
        </p:nvSpPr>
        <p:spPr>
          <a:xfrm>
            <a:off x="4709160" y="2103120"/>
            <a:ext cx="457200" cy="45720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4709160" y="2743200"/>
            <a:ext cx="2788920" cy="365760"/>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Grouping</a:t>
            </a:r>
            <a:endParaRPr lang="en-US" sz="2100" dirty="0"/>
          </a:p>
        </p:txBody>
      </p:sp>
      <p:sp>
        <p:nvSpPr>
          <p:cNvPr id="16" name="Text 13"/>
          <p:cNvSpPr txBox="1"/>
          <p:nvPr/>
        </p:nvSpPr>
        <p:spPr>
          <a:xfrm>
            <a:off x="4709160" y="3200400"/>
            <a:ext cx="2788920" cy="548640"/>
          </a:xfrm>
          <a:prstGeom prst="rect">
            <a:avLst/>
          </a:prstGeom>
          <a:noFill/>
          <a:ln/>
        </p:spPr>
        <p:txBody>
          <a:bodyPr wrap="square" lIns="0" tIns="0" rIns="0" bIns="0" rtlCol="0" anchor="t"/>
          <a:lstStyle/>
          <a:p>
            <a:pPr marL="0" indent="0">
              <a:buNone/>
            </a:pPr>
            <a:r>
              <a:rPr lang="en-US" sz="1500" i="1" dirty="0">
                <a:solidFill>
                  <a:srgbClr val="E8A33D"/>
                </a:solidFill>
                <a:latin typeface="Calibri" pitchFamily="34" charset="0"/>
                <a:ea typeface="Calibri" pitchFamily="34" charset="-122"/>
                <a:cs typeface="Calibri" pitchFamily="34" charset="-120"/>
              </a:rPr>
              <a:t>Do these belong to the same incident?</a:t>
            </a:r>
            <a:endParaRPr lang="en-US" sz="1500" dirty="0"/>
          </a:p>
        </p:txBody>
      </p:sp>
      <p:sp>
        <p:nvSpPr>
          <p:cNvPr id="17" name="Text 14"/>
          <p:cNvSpPr txBox="1"/>
          <p:nvPr/>
        </p:nvSpPr>
        <p:spPr>
          <a:xfrm>
            <a:off x="4709160" y="3840480"/>
            <a:ext cx="2788920" cy="822960"/>
          </a:xfrm>
          <a:prstGeom prst="rect">
            <a:avLst/>
          </a:prstGeom>
          <a:noFill/>
          <a:ln/>
        </p:spPr>
        <p:txBody>
          <a:bodyPr wrap="square" lIns="0" tIns="0" rIns="0" bIns="0" rtlCol="0" anchor="t"/>
          <a:lstStyle/>
          <a:p>
            <a:pPr marL="0" indent="0">
              <a:buNone/>
            </a:pPr>
            <a:r>
              <a:rPr lang="en-US" sz="1400" dirty="0">
                <a:solidFill>
                  <a:srgbClr val="8FA3B8"/>
                </a:solidFill>
                <a:latin typeface="Calibri" pitchFamily="34" charset="0"/>
                <a:ea typeface="Calibri" pitchFamily="34" charset="-122"/>
                <a:cs typeface="Calibri" pitchFamily="34" charset="-120"/>
              </a:rPr>
              <a:t>Same host, same resource, same trace.</a:t>
            </a:r>
            <a:endParaRPr lang="en-US" sz="1400" dirty="0"/>
          </a:p>
        </p:txBody>
      </p:sp>
      <p:sp>
        <p:nvSpPr>
          <p:cNvPr id="18" name="Text 15"/>
          <p:cNvSpPr txBox="1"/>
          <p:nvPr/>
        </p:nvSpPr>
        <p:spPr>
          <a:xfrm>
            <a:off x="4709160" y="4892040"/>
            <a:ext cx="2788920" cy="320040"/>
          </a:xfrm>
          <a:prstGeom prst="rect">
            <a:avLst/>
          </a:prstGeom>
          <a:noFill/>
          <a:ln/>
        </p:spPr>
        <p:txBody>
          <a:bodyPr wrap="square" lIns="0" tIns="0" rIns="0" bIns="0" rtlCol="0" anchor="ctr"/>
          <a:lstStyle/>
          <a:p>
            <a:pPr marL="0" indent="0">
              <a:buNone/>
            </a:pPr>
            <a:r>
              <a:rPr lang="en-US" sz="1300" b="1" dirty="0">
                <a:solidFill>
                  <a:srgbClr val="7C90A6"/>
                </a:solidFill>
                <a:latin typeface="Calibri" pitchFamily="34" charset="0"/>
                <a:ea typeface="Calibri" pitchFamily="34" charset="-122"/>
                <a:cs typeface="Calibri" pitchFamily="34" charset="-120"/>
              </a:rPr>
              <a:t>Some tools do this.</a:t>
            </a:r>
            <a:endParaRPr lang="en-US" sz="1300" dirty="0"/>
          </a:p>
        </p:txBody>
      </p:sp>
      <p:sp>
        <p:nvSpPr>
          <p:cNvPr id="19" name="Shape 16"/>
          <p:cNvSpPr/>
          <p:nvPr/>
        </p:nvSpPr>
        <p:spPr>
          <a:xfrm>
            <a:off x="8183880" y="1783080"/>
            <a:ext cx="3429000" cy="3703320"/>
          </a:xfrm>
          <a:prstGeom prst="roundRect">
            <a:avLst>
              <a:gd name="adj" fmla="val 1600"/>
            </a:avLst>
          </a:prstGeom>
          <a:solidFill>
            <a:srgbClr val="19242F"/>
          </a:solidFill>
          <a:ln/>
        </p:spPr>
        <p:txBody>
          <a:bodyPr/>
          <a:lstStyle/>
          <a:p>
            <a:endParaRPr lang="en-US"/>
          </a:p>
        </p:txBody>
      </p:sp>
      <p:sp>
        <p:nvSpPr>
          <p:cNvPr id="20" name="Shape 17"/>
          <p:cNvSpPr/>
          <p:nvPr/>
        </p:nvSpPr>
        <p:spPr>
          <a:xfrm>
            <a:off x="8503920" y="2103120"/>
            <a:ext cx="457200" cy="457200"/>
          </a:xfrm>
          <a:prstGeom prst="ellipse">
            <a:avLst/>
          </a:prstGeom>
          <a:solidFill>
            <a:srgbClr val="E0443E"/>
          </a:solidFill>
          <a:ln/>
        </p:spPr>
        <p:txBody>
          <a:bodyPr/>
          <a:lstStyle/>
          <a:p>
            <a:endParaRPr lang="en-US"/>
          </a:p>
        </p:txBody>
      </p:sp>
      <p:sp>
        <p:nvSpPr>
          <p:cNvPr id="21" name="Text 18"/>
          <p:cNvSpPr txBox="1"/>
          <p:nvPr/>
        </p:nvSpPr>
        <p:spPr>
          <a:xfrm>
            <a:off x="8503920" y="2103120"/>
            <a:ext cx="457200" cy="45720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8503920" y="2743200"/>
            <a:ext cx="2788920" cy="365760"/>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Causality</a:t>
            </a:r>
            <a:endParaRPr lang="en-US" sz="2100" dirty="0"/>
          </a:p>
        </p:txBody>
      </p:sp>
      <p:sp>
        <p:nvSpPr>
          <p:cNvPr id="23" name="Text 20"/>
          <p:cNvSpPr txBox="1"/>
          <p:nvPr/>
        </p:nvSpPr>
        <p:spPr>
          <a:xfrm>
            <a:off x="8503920" y="3200400"/>
            <a:ext cx="2788920" cy="548640"/>
          </a:xfrm>
          <a:prstGeom prst="rect">
            <a:avLst/>
          </a:prstGeom>
          <a:noFill/>
          <a:ln/>
        </p:spPr>
        <p:txBody>
          <a:bodyPr wrap="square" lIns="0" tIns="0" rIns="0" bIns="0" rtlCol="0" anchor="t"/>
          <a:lstStyle/>
          <a:p>
            <a:pPr marL="0" indent="0">
              <a:buNone/>
            </a:pPr>
            <a:r>
              <a:rPr lang="en-US" sz="1500" i="1" dirty="0">
                <a:solidFill>
                  <a:srgbClr val="E0443E"/>
                </a:solidFill>
                <a:latin typeface="Calibri" pitchFamily="34" charset="0"/>
                <a:ea typeface="Calibri" pitchFamily="34" charset="-122"/>
                <a:cs typeface="Calibri" pitchFamily="34" charset="-120"/>
              </a:rPr>
              <a:t>Did this one cause that one?</a:t>
            </a:r>
            <a:endParaRPr lang="en-US" sz="1500" dirty="0"/>
          </a:p>
        </p:txBody>
      </p:sp>
      <p:sp>
        <p:nvSpPr>
          <p:cNvPr id="24" name="Text 21"/>
          <p:cNvSpPr txBox="1"/>
          <p:nvPr/>
        </p:nvSpPr>
        <p:spPr>
          <a:xfrm>
            <a:off x="8503920" y="3840480"/>
            <a:ext cx="2788920" cy="822960"/>
          </a:xfrm>
          <a:prstGeom prst="rect">
            <a:avLst/>
          </a:prstGeom>
          <a:noFill/>
          <a:ln/>
        </p:spPr>
        <p:txBody>
          <a:bodyPr wrap="square" lIns="0" tIns="0" rIns="0" bIns="0" rtlCol="0" anchor="t"/>
          <a:lstStyle/>
          <a:p>
            <a:pPr marL="0" indent="0">
              <a:buNone/>
            </a:pPr>
            <a:r>
              <a:rPr lang="en-US" sz="1400" dirty="0">
                <a:solidFill>
                  <a:srgbClr val="8FA3B8"/>
                </a:solidFill>
                <a:latin typeface="Calibri" pitchFamily="34" charset="0"/>
                <a:ea typeface="Calibri" pitchFamily="34" charset="-122"/>
                <a:cs typeface="Calibri" pitchFamily="34" charset="-120"/>
              </a:rPr>
              <a:t>A backup job on one host starved a database on another.</a:t>
            </a:r>
            <a:endParaRPr lang="en-US" sz="1400" dirty="0"/>
          </a:p>
        </p:txBody>
      </p:sp>
      <p:sp>
        <p:nvSpPr>
          <p:cNvPr id="25" name="Text 22"/>
          <p:cNvSpPr txBox="1"/>
          <p:nvPr/>
        </p:nvSpPr>
        <p:spPr>
          <a:xfrm>
            <a:off x="8503920" y="4892040"/>
            <a:ext cx="2788920" cy="320040"/>
          </a:xfrm>
          <a:prstGeom prst="rect">
            <a:avLst/>
          </a:prstGeom>
          <a:noFill/>
          <a:ln/>
        </p:spPr>
        <p:txBody>
          <a:bodyPr wrap="square" lIns="0" tIns="0" rIns="0" bIns="0" rtlCol="0" anchor="ctr"/>
          <a:lstStyle/>
          <a:p>
            <a:pPr marL="0" indent="0">
              <a:buNone/>
            </a:pPr>
            <a:r>
              <a:rPr lang="en-US" sz="1300" b="1" dirty="0">
                <a:solidFill>
                  <a:srgbClr val="7C90A6"/>
                </a:solidFill>
                <a:latin typeface="Calibri" pitchFamily="34" charset="0"/>
                <a:ea typeface="Calibri" pitchFamily="34" charset="-122"/>
                <a:cs typeface="Calibri" pitchFamily="34" charset="-120"/>
              </a:rPr>
              <a:t>Almost nothing does this.</a:t>
            </a:r>
            <a:endParaRPr lang="en-US" sz="1300" dirty="0"/>
          </a:p>
        </p:txBody>
      </p:sp>
      <p:sp>
        <p:nvSpPr>
          <p:cNvPr id="26" name="Text 23"/>
          <p:cNvSpPr txBox="1"/>
          <p:nvPr/>
        </p:nvSpPr>
        <p:spPr>
          <a:xfrm>
            <a:off x="4042459" y="5760720"/>
            <a:ext cx="3162201"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Only the third one needs a model. </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EVERYTHING LANDS ON ONE HUB</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Where the events come from</a:t>
            </a:r>
            <a:endParaRPr lang="en-US" sz="3600" dirty="0"/>
          </a:p>
        </p:txBody>
      </p:sp>
      <p:sp>
        <p:nvSpPr>
          <p:cNvPr id="5" name="Shape 2"/>
          <p:cNvSpPr/>
          <p:nvPr/>
        </p:nvSpPr>
        <p:spPr>
          <a:xfrm>
            <a:off x="594360" y="1783080"/>
            <a:ext cx="11018520" cy="1207008"/>
          </a:xfrm>
          <a:prstGeom prst="roundRect">
            <a:avLst>
              <a:gd name="adj" fmla="val 4545"/>
            </a:avLst>
          </a:prstGeom>
          <a:solidFill>
            <a:srgbClr val="19242F"/>
          </a:solidFill>
          <a:ln/>
        </p:spPr>
        <p:txBody>
          <a:bodyPr/>
          <a:lstStyle/>
          <a:p>
            <a:endParaRPr lang="en-US"/>
          </a:p>
        </p:txBody>
      </p:sp>
      <p:sp>
        <p:nvSpPr>
          <p:cNvPr id="6" name="Shape 3"/>
          <p:cNvSpPr/>
          <p:nvPr/>
        </p:nvSpPr>
        <p:spPr>
          <a:xfrm>
            <a:off x="886968" y="2148840"/>
            <a:ext cx="475488" cy="475488"/>
          </a:xfrm>
          <a:prstGeom prst="ellipse">
            <a:avLst/>
          </a:prstGeom>
          <a:solidFill>
            <a:srgbClr val="5B9BD5"/>
          </a:solidFill>
          <a:ln/>
        </p:spPr>
        <p:txBody>
          <a:bodyPr/>
          <a:lstStyle/>
          <a:p>
            <a:endParaRPr lang="en-US"/>
          </a:p>
        </p:txBody>
      </p:sp>
      <p:sp>
        <p:nvSpPr>
          <p:cNvPr id="7" name="Text 4"/>
          <p:cNvSpPr txBox="1"/>
          <p:nvPr/>
        </p:nvSpPr>
        <p:spPr>
          <a:xfrm>
            <a:off x="886968" y="214884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84248"/>
            <a:ext cx="2926080" cy="365760"/>
          </a:xfrm>
          <a:prstGeom prst="rect">
            <a:avLst/>
          </a:prstGeom>
          <a:noFill/>
          <a:ln/>
        </p:spPr>
        <p:txBody>
          <a:bodyPr wrap="square" lIns="0" tIns="0" rIns="0" bIns="0" rtlCol="0" anchor="ctr"/>
          <a:lstStyle/>
          <a:p>
            <a:pPr marL="0" indent="0">
              <a:buNone/>
            </a:pPr>
            <a:r>
              <a:rPr lang="en-US" sz="1900" b="1" dirty="0">
                <a:solidFill>
                  <a:srgbClr val="E9EFF6"/>
                </a:solidFill>
                <a:latin typeface="Calibri" pitchFamily="34" charset="0"/>
                <a:ea typeface="Calibri" pitchFamily="34" charset="-122"/>
                <a:cs typeface="Calibri" pitchFamily="34" charset="-120"/>
              </a:rPr>
              <a:t>OpenTelemetry</a:t>
            </a:r>
            <a:endParaRPr lang="en-US" sz="1900" dirty="0"/>
          </a:p>
        </p:txBody>
      </p:sp>
      <p:sp>
        <p:nvSpPr>
          <p:cNvPr id="9" name="Text 6"/>
          <p:cNvSpPr txBox="1"/>
          <p:nvPr/>
        </p:nvSpPr>
        <p:spPr>
          <a:xfrm>
            <a:off x="1554480" y="2404872"/>
            <a:ext cx="2926080" cy="365760"/>
          </a:xfrm>
          <a:prstGeom prst="rect">
            <a:avLst/>
          </a:prstGeom>
          <a:noFill/>
          <a:ln/>
        </p:spPr>
        <p:txBody>
          <a:bodyPr wrap="square" lIns="0" tIns="0" rIns="0" bIns="0" rtlCol="0" anchor="ctr"/>
          <a:lstStyle/>
          <a:p>
            <a:pPr marL="0" indent="0">
              <a:buNone/>
            </a:pPr>
            <a:r>
              <a:rPr lang="en-US" sz="1300" i="1" dirty="0">
                <a:solidFill>
                  <a:srgbClr val="5B9BD5"/>
                </a:solidFill>
                <a:latin typeface="Calibri" pitchFamily="34" charset="0"/>
                <a:ea typeface="Calibri" pitchFamily="34" charset="-122"/>
                <a:cs typeface="Calibri" pitchFamily="34" charset="-120"/>
              </a:rPr>
              <a:t>A real Flask app on this laptop</a:t>
            </a:r>
            <a:endParaRPr lang="en-US" sz="1300" dirty="0"/>
          </a:p>
        </p:txBody>
      </p:sp>
      <p:sp>
        <p:nvSpPr>
          <p:cNvPr id="10" name="Text 7"/>
          <p:cNvSpPr txBox="1"/>
          <p:nvPr/>
        </p:nvSpPr>
        <p:spPr>
          <a:xfrm>
            <a:off x="4709160" y="2057400"/>
            <a:ext cx="667512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Requests, dependencies and exceptions, one trace per checkout, exported through Application Insights.</a:t>
            </a:r>
            <a:endParaRPr lang="en-US" sz="1400" dirty="0"/>
          </a:p>
        </p:txBody>
      </p:sp>
      <p:sp>
        <p:nvSpPr>
          <p:cNvPr id="11" name="Shape 8"/>
          <p:cNvSpPr/>
          <p:nvPr/>
        </p:nvSpPr>
        <p:spPr>
          <a:xfrm>
            <a:off x="594360" y="3154680"/>
            <a:ext cx="11018520" cy="1207008"/>
          </a:xfrm>
          <a:prstGeom prst="roundRect">
            <a:avLst>
              <a:gd name="adj" fmla="val 4545"/>
            </a:avLst>
          </a:prstGeom>
          <a:solidFill>
            <a:srgbClr val="19242F"/>
          </a:solidFill>
          <a:ln/>
        </p:spPr>
        <p:txBody>
          <a:bodyPr/>
          <a:lstStyle/>
          <a:p>
            <a:endParaRPr lang="en-US"/>
          </a:p>
        </p:txBody>
      </p:sp>
      <p:sp>
        <p:nvSpPr>
          <p:cNvPr id="12" name="Shape 9"/>
          <p:cNvSpPr/>
          <p:nvPr/>
        </p:nvSpPr>
        <p:spPr>
          <a:xfrm>
            <a:off x="886968" y="3520440"/>
            <a:ext cx="475488" cy="475488"/>
          </a:xfrm>
          <a:prstGeom prst="ellipse">
            <a:avLst/>
          </a:prstGeom>
          <a:solidFill>
            <a:srgbClr val="E8A33D"/>
          </a:solidFill>
          <a:ln/>
        </p:spPr>
        <p:txBody>
          <a:bodyPr/>
          <a:lstStyle/>
          <a:p>
            <a:endParaRPr lang="en-US"/>
          </a:p>
        </p:txBody>
      </p:sp>
      <p:sp>
        <p:nvSpPr>
          <p:cNvPr id="13" name="Text 10"/>
          <p:cNvSpPr txBox="1"/>
          <p:nvPr/>
        </p:nvSpPr>
        <p:spPr>
          <a:xfrm>
            <a:off x="886968" y="352044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1554480" y="3355848"/>
            <a:ext cx="2926080" cy="365760"/>
          </a:xfrm>
          <a:prstGeom prst="rect">
            <a:avLst/>
          </a:prstGeom>
          <a:noFill/>
          <a:ln/>
        </p:spPr>
        <p:txBody>
          <a:bodyPr wrap="square" lIns="0" tIns="0" rIns="0" bIns="0" rtlCol="0" anchor="ctr"/>
          <a:lstStyle/>
          <a:p>
            <a:pPr marL="0" indent="0">
              <a:buNone/>
            </a:pPr>
            <a:r>
              <a:rPr lang="en-US" sz="1900" b="1" dirty="0">
                <a:solidFill>
                  <a:srgbClr val="E9EFF6"/>
                </a:solidFill>
                <a:latin typeface="Calibri" pitchFamily="34" charset="0"/>
                <a:ea typeface="Calibri" pitchFamily="34" charset="-122"/>
                <a:cs typeface="Calibri" pitchFamily="34" charset="-120"/>
              </a:rPr>
              <a:t>Azure Monitor</a:t>
            </a:r>
            <a:endParaRPr lang="en-US" sz="1900" dirty="0"/>
          </a:p>
        </p:txBody>
      </p:sp>
      <p:sp>
        <p:nvSpPr>
          <p:cNvPr id="15" name="Text 12"/>
          <p:cNvSpPr txBox="1"/>
          <p:nvPr/>
        </p:nvSpPr>
        <p:spPr>
          <a:xfrm>
            <a:off x="1554480" y="3776472"/>
            <a:ext cx="2926080" cy="365760"/>
          </a:xfrm>
          <a:prstGeom prst="rect">
            <a:avLst/>
          </a:prstGeom>
          <a:noFill/>
          <a:ln/>
        </p:spPr>
        <p:txBody>
          <a:bodyPr wrap="square" lIns="0" tIns="0" rIns="0" bIns="0" rtlCol="0" anchor="ctr"/>
          <a:lstStyle/>
          <a:p>
            <a:pPr marL="0" indent="0">
              <a:buNone/>
            </a:pPr>
            <a:r>
              <a:rPr lang="en-US" sz="1300" i="1" dirty="0">
                <a:solidFill>
                  <a:srgbClr val="E8A33D"/>
                </a:solidFill>
                <a:latin typeface="Calibri" pitchFamily="34" charset="0"/>
                <a:ea typeface="Calibri" pitchFamily="34" charset="-122"/>
                <a:cs typeface="Calibri" pitchFamily="34" charset="-120"/>
              </a:rPr>
              <a:t>A metric alert on failed requests</a:t>
            </a:r>
            <a:endParaRPr lang="en-US" sz="1300" dirty="0"/>
          </a:p>
        </p:txBody>
      </p:sp>
      <p:sp>
        <p:nvSpPr>
          <p:cNvPr id="16" name="Text 13"/>
          <p:cNvSpPr txBox="1"/>
          <p:nvPr/>
        </p:nvSpPr>
        <p:spPr>
          <a:xfrm>
            <a:off x="4709160" y="3429000"/>
            <a:ext cx="667512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Common alert schema, straight to the hub via an action group. No glue code.</a:t>
            </a:r>
            <a:endParaRPr lang="en-US" sz="1400" dirty="0"/>
          </a:p>
        </p:txBody>
      </p:sp>
      <p:sp>
        <p:nvSpPr>
          <p:cNvPr id="17" name="Shape 14"/>
          <p:cNvSpPr/>
          <p:nvPr/>
        </p:nvSpPr>
        <p:spPr>
          <a:xfrm>
            <a:off x="594360" y="4526280"/>
            <a:ext cx="11018520" cy="1207008"/>
          </a:xfrm>
          <a:prstGeom prst="roundRect">
            <a:avLst>
              <a:gd name="adj" fmla="val 4545"/>
            </a:avLst>
          </a:prstGeom>
          <a:solidFill>
            <a:srgbClr val="19242F"/>
          </a:solidFill>
          <a:ln/>
        </p:spPr>
        <p:txBody>
          <a:bodyPr/>
          <a:lstStyle/>
          <a:p>
            <a:endParaRPr lang="en-US"/>
          </a:p>
        </p:txBody>
      </p:sp>
      <p:sp>
        <p:nvSpPr>
          <p:cNvPr id="18" name="Shape 15"/>
          <p:cNvSpPr/>
          <p:nvPr/>
        </p:nvSpPr>
        <p:spPr>
          <a:xfrm>
            <a:off x="886968" y="4892040"/>
            <a:ext cx="475488" cy="475488"/>
          </a:xfrm>
          <a:prstGeom prst="ellipse">
            <a:avLst/>
          </a:prstGeom>
          <a:solidFill>
            <a:srgbClr val="46B98A"/>
          </a:solidFill>
          <a:ln/>
        </p:spPr>
        <p:txBody>
          <a:bodyPr/>
          <a:lstStyle/>
          <a:p>
            <a:endParaRPr lang="en-US"/>
          </a:p>
        </p:txBody>
      </p:sp>
      <p:sp>
        <p:nvSpPr>
          <p:cNvPr id="19" name="Text 16"/>
          <p:cNvSpPr txBox="1"/>
          <p:nvPr/>
        </p:nvSpPr>
        <p:spPr>
          <a:xfrm>
            <a:off x="886968" y="489204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1554480" y="4727448"/>
            <a:ext cx="2926080" cy="365760"/>
          </a:xfrm>
          <a:prstGeom prst="rect">
            <a:avLst/>
          </a:prstGeom>
          <a:noFill/>
          <a:ln/>
        </p:spPr>
        <p:txBody>
          <a:bodyPr wrap="square" lIns="0" tIns="0" rIns="0" bIns="0" rtlCol="0" anchor="ctr"/>
          <a:lstStyle/>
          <a:p>
            <a:pPr marL="0" indent="0">
              <a:buNone/>
            </a:pPr>
            <a:r>
              <a:rPr lang="en-US" sz="1900" b="1" dirty="0">
                <a:solidFill>
                  <a:srgbClr val="E9EFF6"/>
                </a:solidFill>
                <a:latin typeface="Calibri" pitchFamily="34" charset="0"/>
                <a:ea typeface="Calibri" pitchFamily="34" charset="-122"/>
                <a:cs typeface="Calibri" pitchFamily="34" charset="-120"/>
              </a:rPr>
              <a:t>Third-party tools</a:t>
            </a:r>
            <a:endParaRPr lang="en-US" sz="1900" dirty="0"/>
          </a:p>
        </p:txBody>
      </p:sp>
      <p:sp>
        <p:nvSpPr>
          <p:cNvPr id="21" name="Text 18"/>
          <p:cNvSpPr txBox="1"/>
          <p:nvPr/>
        </p:nvSpPr>
        <p:spPr>
          <a:xfrm>
            <a:off x="1554480" y="5148072"/>
            <a:ext cx="2926080" cy="365760"/>
          </a:xfrm>
          <a:prstGeom prst="rect">
            <a:avLst/>
          </a:prstGeom>
          <a:noFill/>
          <a:ln/>
        </p:spPr>
        <p:txBody>
          <a:bodyPr wrap="square" lIns="0" tIns="0" rIns="0" bIns="0" rtlCol="0" anchor="ctr"/>
          <a:lstStyle/>
          <a:p>
            <a:pPr marL="0" indent="0">
              <a:buNone/>
            </a:pPr>
            <a:r>
              <a:rPr lang="en-US" sz="1300" i="1" dirty="0">
                <a:solidFill>
                  <a:srgbClr val="46B98A"/>
                </a:solidFill>
                <a:latin typeface="Calibri" pitchFamily="34" charset="0"/>
                <a:ea typeface="Calibri" pitchFamily="34" charset="-122"/>
                <a:cs typeface="Calibri" pitchFamily="34" charset="-120"/>
              </a:rPr>
              <a:t>Twelve of them, all fictional</a:t>
            </a:r>
            <a:endParaRPr lang="en-US" sz="1300" dirty="0"/>
          </a:p>
        </p:txBody>
      </p:sp>
      <p:sp>
        <p:nvSpPr>
          <p:cNvPr id="22" name="Text 19"/>
          <p:cNvSpPr txBox="1"/>
          <p:nvPr/>
        </p:nvSpPr>
        <p:spPr>
          <a:xfrm>
            <a:off x="4709160" y="4800600"/>
            <a:ext cx="667512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sql-watch, storage-watch, backup-agent, cert-watch, net-monitor... a PowerShell script standing in for the estate.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THREE TRIGGERS, ONE SET OF TABLES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How the pieces fit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9857232" y="493776"/>
            <a:ext cx="1737360" cy="201168"/>
          </a:xfrm>
          <a:prstGeom prst="roundRect">
            <a:avLst>
              <a:gd name="adj" fmla="val 22727"/>
            </a:avLst>
          </a:prstGeom>
          <a:solidFill>
            <a:srgbClr val="0E1621"/>
          </a:solidFill>
          <a:ln w="12700">
            <a:solidFill>
              <a:srgbClr val="7C90A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857232" y="493776"/>
            <a:ext cx="17373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OPTION B · HUB</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4837176" y="1572768"/>
            <a:ext cx="2514600" cy="4206240"/>
          </a:xfrm>
          <a:prstGeom prst="roundRect">
            <a:avLst>
              <a:gd name="adj" fmla="val 2182"/>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txBox="1"/>
          <p:nvPr/>
        </p:nvSpPr>
        <p:spPr>
          <a:xfrm>
            <a:off x="5065776" y="1755648"/>
            <a:ext cx="20574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7C90A6"/>
                </a:solidFill>
                <a:effectLst/>
                <a:uLnTx/>
                <a:uFillTx/>
                <a:latin typeface="Calibri" pitchFamily="34" charset="0"/>
                <a:ea typeface="Calibri" pitchFamily="34" charset="-122"/>
                <a:cs typeface="Calibri" pitchFamily="34" charset="-120"/>
              </a:rPr>
              <a:t>TABLE STORAGE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038344" y="2103120"/>
            <a:ext cx="2112264" cy="1060704"/>
          </a:xfrm>
          <a:prstGeom prst="roundRect">
            <a:avLst>
              <a:gd name="adj" fmla="val 5172"/>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txBox="1"/>
          <p:nvPr/>
        </p:nvSpPr>
        <p:spPr>
          <a:xfrm>
            <a:off x="5221224" y="2331720"/>
            <a:ext cx="17830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RawEvents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5221224" y="2660904"/>
            <a:ext cx="1783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 failure, as it arrived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5038344" y="3310128"/>
            <a:ext cx="2112264" cy="1060704"/>
          </a:xfrm>
          <a:prstGeom prst="roundRect">
            <a:avLst>
              <a:gd name="adj" fmla="val 5172"/>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5221224" y="3538728"/>
            <a:ext cx="17830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Events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5221224" y="3867912"/>
            <a:ext cx="1783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row per symptom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038344" y="4517136"/>
            <a:ext cx="2112264" cy="1060704"/>
          </a:xfrm>
          <a:prstGeom prst="roundRect">
            <a:avLst>
              <a:gd name="adj" fmla="val 5172"/>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5221224" y="4745736"/>
            <a:ext cx="17830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Incidents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5221224" y="5074920"/>
            <a:ext cx="1783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row per group + verdict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594360" y="3127248"/>
            <a:ext cx="1664208" cy="1097280"/>
          </a:xfrm>
          <a:prstGeom prst="roundRect">
            <a:avLst>
              <a:gd name="adj" fmla="val 5000"/>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txBox="1"/>
          <p:nvPr/>
        </p:nvSpPr>
        <p:spPr>
          <a:xfrm>
            <a:off x="795528" y="3310128"/>
            <a:ext cx="126187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5B9BD5"/>
                </a:solidFill>
                <a:effectLst/>
                <a:uLnTx/>
                <a:uFillTx/>
                <a:latin typeface="Calibri" pitchFamily="34" charset="0"/>
                <a:ea typeface="Calibri" pitchFamily="34" charset="-122"/>
                <a:cs typeface="Calibri" pitchFamily="34" charset="-120"/>
              </a:rPr>
              <a:t>THREE SOURCES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txBox="1"/>
          <p:nvPr/>
        </p:nvSpPr>
        <p:spPr>
          <a:xfrm>
            <a:off x="795528" y="3584448"/>
            <a:ext cx="12618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Event Hubs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txBox="1"/>
          <p:nvPr/>
        </p:nvSpPr>
        <p:spPr>
          <a:xfrm>
            <a:off x="795528" y="3968496"/>
            <a:ext cx="126187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monitoring-events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2304288" y="365988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rot="5400000">
            <a:off x="2542032" y="360273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1"/>
          <p:cNvSpPr/>
          <p:nvPr/>
        </p:nvSpPr>
        <p:spPr>
          <a:xfrm>
            <a:off x="2715768" y="3127248"/>
            <a:ext cx="1664208" cy="1097280"/>
          </a:xfrm>
          <a:prstGeom prst="roundRect">
            <a:avLst>
              <a:gd name="adj" fmla="val 5000"/>
            </a:avLst>
          </a:prstGeom>
          <a:solidFill>
            <a:srgbClr val="223140"/>
          </a:solidFill>
          <a:ln w="15875">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2"/>
          <p:cNvSpPr txBox="1"/>
          <p:nvPr/>
        </p:nvSpPr>
        <p:spPr>
          <a:xfrm>
            <a:off x="2916936" y="3310128"/>
            <a:ext cx="126187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HUB TRIGGER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2916936" y="3584448"/>
            <a:ext cx="12618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IngestEvents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4425696" y="365988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5"/>
          <p:cNvSpPr/>
          <p:nvPr/>
        </p:nvSpPr>
        <p:spPr>
          <a:xfrm rot="5400000">
            <a:off x="4663440" y="360273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4151376" y="3346704"/>
            <a:ext cx="914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writes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7808976" y="2121408"/>
            <a:ext cx="1664208" cy="1097280"/>
          </a:xfrm>
          <a:prstGeom prst="roundRect">
            <a:avLst>
              <a:gd name="adj" fmla="val 5000"/>
            </a:avLst>
          </a:prstGeom>
          <a:solidFill>
            <a:srgbClr val="223140"/>
          </a:solidFill>
          <a:ln w="15875">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8010144" y="2304288"/>
            <a:ext cx="126187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TIMER + HTTP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txBox="1"/>
          <p:nvPr/>
        </p:nvSpPr>
        <p:spPr>
          <a:xfrm>
            <a:off x="8010144" y="2578608"/>
            <a:ext cx="12618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Analyze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txBox="1"/>
          <p:nvPr/>
        </p:nvSpPr>
        <p:spPr>
          <a:xfrm>
            <a:off x="8010144" y="2962656"/>
            <a:ext cx="126187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 minute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1"/>
          <p:cNvSpPr/>
          <p:nvPr/>
        </p:nvSpPr>
        <p:spPr>
          <a:xfrm>
            <a:off x="7397496" y="247116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2"/>
          <p:cNvSpPr/>
          <p:nvPr/>
        </p:nvSpPr>
        <p:spPr>
          <a:xfrm rot="5400000">
            <a:off x="7635240" y="241401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3"/>
          <p:cNvSpPr txBox="1"/>
          <p:nvPr/>
        </p:nvSpPr>
        <p:spPr>
          <a:xfrm>
            <a:off x="7123176" y="2157984"/>
            <a:ext cx="914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reads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4"/>
          <p:cNvSpPr/>
          <p:nvPr/>
        </p:nvSpPr>
        <p:spPr>
          <a:xfrm>
            <a:off x="7525512" y="283692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5"/>
          <p:cNvSpPr/>
          <p:nvPr/>
        </p:nvSpPr>
        <p:spPr>
          <a:xfrm rot="16200000">
            <a:off x="7397496" y="277977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6"/>
          <p:cNvSpPr txBox="1"/>
          <p:nvPr/>
        </p:nvSpPr>
        <p:spPr>
          <a:xfrm>
            <a:off x="7123176" y="2907792"/>
            <a:ext cx="914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verdict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7"/>
          <p:cNvSpPr/>
          <p:nvPr/>
        </p:nvSpPr>
        <p:spPr>
          <a:xfrm>
            <a:off x="9518904" y="265404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8"/>
          <p:cNvSpPr/>
          <p:nvPr/>
        </p:nvSpPr>
        <p:spPr>
          <a:xfrm rot="5400000">
            <a:off x="9756648" y="259689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39"/>
          <p:cNvSpPr/>
          <p:nvPr/>
        </p:nvSpPr>
        <p:spPr>
          <a:xfrm>
            <a:off x="9930384" y="2121408"/>
            <a:ext cx="1666951" cy="1097280"/>
          </a:xfrm>
          <a:prstGeom prst="roundRect">
            <a:avLst>
              <a:gd name="adj" fmla="val 5000"/>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0"/>
          <p:cNvSpPr txBox="1"/>
          <p:nvPr/>
        </p:nvSpPr>
        <p:spPr>
          <a:xfrm>
            <a:off x="10131552" y="2304288"/>
            <a:ext cx="1264615"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5B9BD5"/>
                </a:solidFill>
                <a:effectLst/>
                <a:uLnTx/>
                <a:uFillTx/>
                <a:latin typeface="Calibri" pitchFamily="34" charset="0"/>
                <a:ea typeface="Calibri" pitchFamily="34" charset="-122"/>
                <a:cs typeface="Calibri" pitchFamily="34" charset="-120"/>
              </a:rPr>
              <a:t>MODEL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1"/>
          <p:cNvSpPr txBox="1"/>
          <p:nvPr/>
        </p:nvSpPr>
        <p:spPr>
          <a:xfrm>
            <a:off x="10131552" y="2578608"/>
            <a:ext cx="1264615"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Azure OpenAI</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2"/>
          <p:cNvSpPr txBox="1"/>
          <p:nvPr/>
        </p:nvSpPr>
        <p:spPr>
          <a:xfrm>
            <a:off x="10131552" y="2962656"/>
            <a:ext cx="1264615"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gpt-4.1-mini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3"/>
          <p:cNvSpPr/>
          <p:nvPr/>
        </p:nvSpPr>
        <p:spPr>
          <a:xfrm>
            <a:off x="7808976" y="4133088"/>
            <a:ext cx="1664208" cy="1097280"/>
          </a:xfrm>
          <a:prstGeom prst="roundRect">
            <a:avLst>
              <a:gd name="adj" fmla="val 5000"/>
            </a:avLst>
          </a:prstGeom>
          <a:solidFill>
            <a:srgbClr val="223140"/>
          </a:solidFill>
          <a:ln w="15875">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4"/>
          <p:cNvSpPr txBox="1"/>
          <p:nvPr/>
        </p:nvSpPr>
        <p:spPr>
          <a:xfrm>
            <a:off x="8010144" y="4315968"/>
            <a:ext cx="126187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HTTP TRIGGER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5"/>
          <p:cNvSpPr txBox="1"/>
          <p:nvPr/>
        </p:nvSpPr>
        <p:spPr>
          <a:xfrm>
            <a:off x="8010144" y="4590288"/>
            <a:ext cx="12618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GetIncidents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6"/>
          <p:cNvSpPr txBox="1"/>
          <p:nvPr/>
        </p:nvSpPr>
        <p:spPr>
          <a:xfrm>
            <a:off x="8010144" y="4974336"/>
            <a:ext cx="126187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read-only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7"/>
          <p:cNvSpPr/>
          <p:nvPr/>
        </p:nvSpPr>
        <p:spPr>
          <a:xfrm>
            <a:off x="7397496" y="466572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8"/>
          <p:cNvSpPr/>
          <p:nvPr/>
        </p:nvSpPr>
        <p:spPr>
          <a:xfrm rot="5400000">
            <a:off x="7635240" y="460857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49"/>
          <p:cNvSpPr txBox="1"/>
          <p:nvPr/>
        </p:nvSpPr>
        <p:spPr>
          <a:xfrm>
            <a:off x="7123176" y="4352544"/>
            <a:ext cx="914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reads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0"/>
          <p:cNvSpPr/>
          <p:nvPr/>
        </p:nvSpPr>
        <p:spPr>
          <a:xfrm>
            <a:off x="9518904" y="466572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1"/>
          <p:cNvSpPr/>
          <p:nvPr/>
        </p:nvSpPr>
        <p:spPr>
          <a:xfrm rot="5400000">
            <a:off x="9756648" y="460857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2"/>
          <p:cNvSpPr/>
          <p:nvPr/>
        </p:nvSpPr>
        <p:spPr>
          <a:xfrm>
            <a:off x="9930384" y="4133088"/>
            <a:ext cx="1666951" cy="1097280"/>
          </a:xfrm>
          <a:prstGeom prst="roundRect">
            <a:avLst>
              <a:gd name="adj" fmla="val 5000"/>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53"/>
          <p:cNvSpPr txBox="1"/>
          <p:nvPr/>
        </p:nvSpPr>
        <p:spPr>
          <a:xfrm>
            <a:off x="10131552" y="4315968"/>
            <a:ext cx="1264615"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5B9BD5"/>
                </a:solidFill>
                <a:effectLst/>
                <a:uLnTx/>
                <a:uFillTx/>
                <a:latin typeface="Calibri" pitchFamily="34" charset="0"/>
                <a:ea typeface="Calibri" pitchFamily="34" charset="-122"/>
                <a:cs typeface="Calibri" pitchFamily="34" charset="-120"/>
              </a:rPr>
              <a:t>DASHBOARD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4"/>
          <p:cNvSpPr txBox="1"/>
          <p:nvPr/>
        </p:nvSpPr>
        <p:spPr>
          <a:xfrm>
            <a:off x="10131552" y="4590288"/>
            <a:ext cx="1264615"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Workbook</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5"/>
          <p:cNvSpPr txBox="1"/>
          <p:nvPr/>
        </p:nvSpPr>
        <p:spPr>
          <a:xfrm>
            <a:off x="10131552" y="4974336"/>
            <a:ext cx="1264615"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Azure Monitor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6"/>
          <p:cNvSpPr txBox="1"/>
          <p:nvPr/>
        </p:nvSpPr>
        <p:spPr>
          <a:xfrm>
            <a:off x="594360" y="6035040"/>
            <a:ext cx="11002975"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functions never call each other. The tables are the only thing they share.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SOURCES TO DASHBOARD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The whole event flow</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444752"/>
            <a:ext cx="2240280" cy="2788920"/>
          </a:xfrm>
          <a:prstGeom prst="roundRect">
            <a:avLst>
              <a:gd name="adj" fmla="val 2449"/>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777240" y="1591056"/>
            <a:ext cx="18745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50" normalizeH="0" baseline="0" noProof="0" dirty="0">
                <a:ln>
                  <a:noFill/>
                </a:ln>
                <a:solidFill>
                  <a:srgbClr val="7C90A6"/>
                </a:solidFill>
                <a:effectLst/>
                <a:uLnTx/>
                <a:uFillTx/>
                <a:latin typeface="Calibri" pitchFamily="34" charset="0"/>
                <a:ea typeface="Calibri" pitchFamily="34" charset="-122"/>
                <a:cs typeface="Calibri" pitchFamily="34" charset="-120"/>
              </a:rPr>
              <a:t>SOURCES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777240" y="1965960"/>
            <a:ext cx="137160" cy="137160"/>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txBox="1"/>
          <p:nvPr/>
        </p:nvSpPr>
        <p:spPr>
          <a:xfrm>
            <a:off x="1005840" y="1901952"/>
            <a:ext cx="17373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OpenTelemetry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1005840" y="2130552"/>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store-api on this laptop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1005840" y="2322576"/>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via Application Insights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77240" y="2743200"/>
            <a:ext cx="137160" cy="137160"/>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txBox="1"/>
          <p:nvPr/>
        </p:nvSpPr>
        <p:spPr>
          <a:xfrm>
            <a:off x="1005840" y="2679192"/>
            <a:ext cx="17373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Azure Monitor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1005840" y="2907792"/>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metric alert on failures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1005840" y="3099816"/>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via an action group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777240" y="3520440"/>
            <a:ext cx="137160" cy="137160"/>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1005840" y="3456432"/>
            <a:ext cx="17373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12 monitoring tools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1005840" y="3685032"/>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Send-Event.ps1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1005840" y="3877056"/>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REST + SAS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28346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rot="5400000">
            <a:off x="29900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3108960" y="1444752"/>
            <a:ext cx="1325880" cy="2788920"/>
          </a:xfrm>
          <a:prstGeom prst="roundRect">
            <a:avLst>
              <a:gd name="adj" fmla="val 4138"/>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txBox="1"/>
          <p:nvPr/>
        </p:nvSpPr>
        <p:spPr>
          <a:xfrm>
            <a:off x="3246120" y="1591056"/>
            <a:ext cx="10515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50" normalizeH="0" baseline="0" noProof="0" dirty="0">
                <a:ln>
                  <a:noFill/>
                </a:ln>
                <a:solidFill>
                  <a:srgbClr val="7C90A6"/>
                </a:solidFill>
                <a:effectLst/>
                <a:uLnTx/>
                <a:uFillTx/>
                <a:latin typeface="Calibri" pitchFamily="34" charset="0"/>
                <a:ea typeface="Calibri" pitchFamily="34" charset="-122"/>
                <a:cs typeface="Calibri" pitchFamily="34" charset="-120"/>
              </a:rPr>
              <a:t>EVENT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3246120" y="2180844"/>
            <a:ext cx="1051560" cy="548640"/>
          </a:xfrm>
          <a:prstGeom prst="rect">
            <a:avLst/>
          </a:prstGeom>
          <a:noFill/>
          <a:ln/>
        </p:spPr>
        <p:txBody>
          <a:bodyPr wrap="square" lIns="0" tIns="0" rIns="0" bIns="0" rtlCol="0" anchor="ct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Everything flows here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txBox="1"/>
          <p:nvPr/>
        </p:nvSpPr>
        <p:spPr>
          <a:xfrm>
            <a:off x="3246120" y="2793492"/>
            <a:ext cx="1051560" cy="1188720"/>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monitoring-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events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44348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3"/>
          <p:cNvSpPr/>
          <p:nvPr/>
        </p:nvSpPr>
        <p:spPr>
          <a:xfrm rot="5400000">
            <a:off x="45902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4709160" y="1444752"/>
            <a:ext cx="2926080" cy="2788920"/>
          </a:xfrm>
          <a:prstGeom prst="roundRect">
            <a:avLst>
              <a:gd name="adj" fmla="val 1967"/>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4892040" y="1591056"/>
            <a:ext cx="26517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INGESTEVENTS  ·  EVENT HUBS TRIGGER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4892040" y="1883664"/>
            <a:ext cx="256032" cy="256032"/>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7"/>
          <p:cNvSpPr txBox="1"/>
          <p:nvPr/>
        </p:nvSpPr>
        <p:spPr>
          <a:xfrm>
            <a:off x="4892040" y="1883664"/>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5230368" y="1865376"/>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Normalise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txBox="1"/>
          <p:nvPr/>
        </p:nvSpPr>
        <p:spPr>
          <a:xfrm>
            <a:off x="5230368" y="2075688"/>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three shapes, one object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0"/>
          <p:cNvSpPr/>
          <p:nvPr/>
        </p:nvSpPr>
        <p:spPr>
          <a:xfrm>
            <a:off x="4892040" y="2395728"/>
            <a:ext cx="256032" cy="256032"/>
          </a:xfrm>
          <a:prstGeom prst="ellips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1"/>
          <p:cNvSpPr txBox="1"/>
          <p:nvPr/>
        </p:nvSpPr>
        <p:spPr>
          <a:xfrm>
            <a:off x="4892040" y="2395728"/>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5230368" y="2377440"/>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Drop successes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3"/>
          <p:cNvSpPr txBox="1"/>
          <p:nvPr/>
        </p:nvSpPr>
        <p:spPr>
          <a:xfrm>
            <a:off x="5230368" y="2587752"/>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 success is not an event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4"/>
          <p:cNvSpPr/>
          <p:nvPr/>
        </p:nvSpPr>
        <p:spPr>
          <a:xfrm>
            <a:off x="4892040" y="2907792"/>
            <a:ext cx="256032" cy="256032"/>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5"/>
          <p:cNvSpPr txBox="1"/>
          <p:nvPr/>
        </p:nvSpPr>
        <p:spPr>
          <a:xfrm>
            <a:off x="4892040" y="2907792"/>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6"/>
          <p:cNvSpPr txBox="1"/>
          <p:nvPr/>
        </p:nvSpPr>
        <p:spPr>
          <a:xfrm>
            <a:off x="5230368" y="2889504"/>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Archive the raw event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7"/>
          <p:cNvSpPr txBox="1"/>
          <p:nvPr/>
        </p:nvSpPr>
        <p:spPr>
          <a:xfrm>
            <a:off x="5230368" y="3099816"/>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nothing merged yet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8"/>
          <p:cNvSpPr/>
          <p:nvPr/>
        </p:nvSpPr>
        <p:spPr>
          <a:xfrm>
            <a:off x="4892040" y="3419856"/>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9"/>
          <p:cNvSpPr txBox="1"/>
          <p:nvPr/>
        </p:nvSpPr>
        <p:spPr>
          <a:xfrm>
            <a:off x="4892040" y="3419856"/>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0"/>
          <p:cNvSpPr txBox="1"/>
          <p:nvPr/>
        </p:nvSpPr>
        <p:spPr>
          <a:xfrm>
            <a:off x="5230368" y="3401568"/>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Correlate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1"/>
          <p:cNvSpPr txBox="1"/>
          <p:nvPr/>
        </p:nvSpPr>
        <p:spPr>
          <a:xfrm>
            <a:off x="5230368" y="3611880"/>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which incident, which symptom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2"/>
          <p:cNvSpPr/>
          <p:nvPr/>
        </p:nvSpPr>
        <p:spPr>
          <a:xfrm>
            <a:off x="4892040" y="3895344"/>
            <a:ext cx="109728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3"/>
          <p:cNvSpPr txBox="1"/>
          <p:nvPr/>
        </p:nvSpPr>
        <p:spPr>
          <a:xfrm>
            <a:off x="4892040" y="3895344"/>
            <a:ext cx="10972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SAME SYMPTOM?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4"/>
          <p:cNvSpPr/>
          <p:nvPr/>
        </p:nvSpPr>
        <p:spPr>
          <a:xfrm>
            <a:off x="6062472" y="3895344"/>
            <a:ext cx="114300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5"/>
          <p:cNvSpPr txBox="1"/>
          <p:nvPr/>
        </p:nvSpPr>
        <p:spPr>
          <a:xfrm>
            <a:off x="6062472" y="3895344"/>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SAME INCIDENT?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6"/>
          <p:cNvSpPr txBox="1"/>
          <p:nvPr/>
        </p:nvSpPr>
        <p:spPr>
          <a:xfrm>
            <a:off x="7242048" y="3895344"/>
            <a:ext cx="4114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no model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7"/>
          <p:cNvSpPr/>
          <p:nvPr/>
        </p:nvSpPr>
        <p:spPr>
          <a:xfrm>
            <a:off x="76352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8"/>
          <p:cNvSpPr/>
          <p:nvPr/>
        </p:nvSpPr>
        <p:spPr>
          <a:xfrm rot="5400000">
            <a:off x="77906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9"/>
          <p:cNvSpPr/>
          <p:nvPr/>
        </p:nvSpPr>
        <p:spPr>
          <a:xfrm>
            <a:off x="7909560" y="1444752"/>
            <a:ext cx="1554480" cy="2788920"/>
          </a:xfrm>
          <a:prstGeom prst="roundRect">
            <a:avLst>
              <a:gd name="adj" fmla="val 3529"/>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50"/>
          <p:cNvSpPr txBox="1"/>
          <p:nvPr/>
        </p:nvSpPr>
        <p:spPr>
          <a:xfrm>
            <a:off x="8065008" y="1591056"/>
            <a:ext cx="12801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TABLE STORAGE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1"/>
          <p:cNvSpPr/>
          <p:nvPr/>
        </p:nvSpPr>
        <p:spPr>
          <a:xfrm>
            <a:off x="8065008" y="1901952"/>
            <a:ext cx="1243584" cy="621792"/>
          </a:xfrm>
          <a:prstGeom prst="roundRect">
            <a:avLst>
              <a:gd name="adj" fmla="val 882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2"/>
          <p:cNvSpPr txBox="1"/>
          <p:nvPr/>
        </p:nvSpPr>
        <p:spPr>
          <a:xfrm>
            <a:off x="8174736" y="1956816"/>
            <a:ext cx="10515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RawEvents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3"/>
          <p:cNvSpPr txBox="1"/>
          <p:nvPr/>
        </p:nvSpPr>
        <p:spPr>
          <a:xfrm>
            <a:off x="8174736" y="2157984"/>
            <a:ext cx="1051560" cy="32004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 event,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as it arrived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4"/>
          <p:cNvSpPr/>
          <p:nvPr/>
        </p:nvSpPr>
        <p:spPr>
          <a:xfrm>
            <a:off x="8065008" y="2651760"/>
            <a:ext cx="1243584" cy="621792"/>
          </a:xfrm>
          <a:prstGeom prst="roundRect">
            <a:avLst>
              <a:gd name="adj" fmla="val 882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5"/>
          <p:cNvSpPr txBox="1"/>
          <p:nvPr/>
        </p:nvSpPr>
        <p:spPr>
          <a:xfrm>
            <a:off x="8174736" y="2706624"/>
            <a:ext cx="10515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Events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6"/>
          <p:cNvSpPr txBox="1"/>
          <p:nvPr/>
        </p:nvSpPr>
        <p:spPr>
          <a:xfrm>
            <a:off x="8174736" y="2907792"/>
            <a:ext cx="1051560" cy="32004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row per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symptom + count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Shape 57"/>
          <p:cNvSpPr/>
          <p:nvPr/>
        </p:nvSpPr>
        <p:spPr>
          <a:xfrm>
            <a:off x="8065008" y="3401568"/>
            <a:ext cx="1243584" cy="621792"/>
          </a:xfrm>
          <a:prstGeom prst="roundRect">
            <a:avLst>
              <a:gd name="adj" fmla="val 882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 58"/>
          <p:cNvSpPr txBox="1"/>
          <p:nvPr/>
        </p:nvSpPr>
        <p:spPr>
          <a:xfrm>
            <a:off x="8174736" y="3456432"/>
            <a:ext cx="10515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Incidents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59"/>
          <p:cNvSpPr txBox="1"/>
          <p:nvPr/>
        </p:nvSpPr>
        <p:spPr>
          <a:xfrm>
            <a:off x="8174736" y="3657600"/>
            <a:ext cx="1051560" cy="32004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row per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group + verdict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hape 60"/>
          <p:cNvSpPr/>
          <p:nvPr/>
        </p:nvSpPr>
        <p:spPr>
          <a:xfrm>
            <a:off x="94640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1"/>
          <p:cNvSpPr/>
          <p:nvPr/>
        </p:nvSpPr>
        <p:spPr>
          <a:xfrm rot="5400000">
            <a:off x="96194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2"/>
          <p:cNvSpPr/>
          <p:nvPr/>
        </p:nvSpPr>
        <p:spPr>
          <a:xfrm>
            <a:off x="9738360" y="1444752"/>
            <a:ext cx="1874520" cy="1298448"/>
          </a:xfrm>
          <a:prstGeom prst="roundRect">
            <a:avLst>
              <a:gd name="adj" fmla="val 4225"/>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 63"/>
          <p:cNvSpPr txBox="1"/>
          <p:nvPr/>
        </p:nvSpPr>
        <p:spPr>
          <a:xfrm>
            <a:off x="9893808" y="1572768"/>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GETINCIDENTS  ·  HTTP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64"/>
          <p:cNvSpPr txBox="1"/>
          <p:nvPr/>
        </p:nvSpPr>
        <p:spPr>
          <a:xfrm>
            <a:off x="9893808" y="1828800"/>
            <a:ext cx="1600200" cy="411480"/>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Shapes the data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for the screen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65"/>
          <p:cNvSpPr txBox="1"/>
          <p:nvPr/>
        </p:nvSpPr>
        <p:spPr>
          <a:xfrm>
            <a:off x="9893808" y="2286000"/>
            <a:ext cx="160020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?view= raw | summary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sources | tree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6"/>
          <p:cNvSpPr/>
          <p:nvPr/>
        </p:nvSpPr>
        <p:spPr>
          <a:xfrm>
            <a:off x="10664190" y="2743200"/>
            <a:ext cx="32004" cy="137160"/>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7"/>
          <p:cNvSpPr/>
          <p:nvPr/>
        </p:nvSpPr>
        <p:spPr>
          <a:xfrm rot="10800000">
            <a:off x="10611612" y="2880360"/>
            <a:ext cx="137160" cy="118872"/>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8"/>
          <p:cNvSpPr/>
          <p:nvPr/>
        </p:nvSpPr>
        <p:spPr>
          <a:xfrm>
            <a:off x="9738360" y="2999232"/>
            <a:ext cx="1874520" cy="1234440"/>
          </a:xfrm>
          <a:prstGeom prst="roundRect">
            <a:avLst>
              <a:gd name="adj" fmla="val 444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Text 69"/>
          <p:cNvSpPr txBox="1"/>
          <p:nvPr/>
        </p:nvSpPr>
        <p:spPr>
          <a:xfrm>
            <a:off x="9893808" y="3127248"/>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AZURE WORKBOOK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 70"/>
          <p:cNvSpPr txBox="1"/>
          <p:nvPr/>
        </p:nvSpPr>
        <p:spPr>
          <a:xfrm>
            <a:off x="9893808" y="3364992"/>
            <a:ext cx="1600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The dashboard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Text 71"/>
          <p:cNvSpPr txBox="1"/>
          <p:nvPr/>
        </p:nvSpPr>
        <p:spPr>
          <a:xfrm>
            <a:off x="9893808" y="3657600"/>
            <a:ext cx="160020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custom endpoint,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no Log Analytics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Shape 72"/>
          <p:cNvSpPr/>
          <p:nvPr/>
        </p:nvSpPr>
        <p:spPr>
          <a:xfrm>
            <a:off x="8670798" y="4233672"/>
            <a:ext cx="32004" cy="201168"/>
          </a:xfrm>
          <a:prstGeom prst="rect">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3"/>
          <p:cNvSpPr/>
          <p:nvPr/>
        </p:nvSpPr>
        <p:spPr>
          <a:xfrm rot="10800000">
            <a:off x="8618220" y="4434840"/>
            <a:ext cx="137160" cy="118872"/>
          </a:xfrm>
          <a:prstGeom prst="triangle">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4"/>
          <p:cNvSpPr/>
          <p:nvPr/>
        </p:nvSpPr>
        <p:spPr>
          <a:xfrm>
            <a:off x="9082278" y="4352544"/>
            <a:ext cx="32004" cy="201168"/>
          </a:xfrm>
          <a:prstGeom prst="rect">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5"/>
          <p:cNvSpPr/>
          <p:nvPr/>
        </p:nvSpPr>
        <p:spPr>
          <a:xfrm>
            <a:off x="9029700" y="4233672"/>
            <a:ext cx="137160" cy="118872"/>
          </a:xfrm>
          <a:prstGeom prst="triangle">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Text 76"/>
          <p:cNvSpPr txBox="1"/>
          <p:nvPr/>
        </p:nvSpPr>
        <p:spPr>
          <a:xfrm>
            <a:off x="8183880" y="4325112"/>
            <a:ext cx="45720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reads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Text 77"/>
          <p:cNvSpPr txBox="1"/>
          <p:nvPr/>
        </p:nvSpPr>
        <p:spPr>
          <a:xfrm>
            <a:off x="9162288" y="4325112"/>
            <a:ext cx="8229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writes back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Shape 78"/>
          <p:cNvSpPr/>
          <p:nvPr/>
        </p:nvSpPr>
        <p:spPr>
          <a:xfrm>
            <a:off x="4709160" y="4553712"/>
            <a:ext cx="4754880" cy="1481328"/>
          </a:xfrm>
          <a:prstGeom prst="roundRect">
            <a:avLst>
              <a:gd name="adj" fmla="val 3704"/>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79"/>
          <p:cNvSpPr txBox="1"/>
          <p:nvPr/>
        </p:nvSpPr>
        <p:spPr>
          <a:xfrm>
            <a:off x="4892040" y="4681728"/>
            <a:ext cx="43891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7C90A6"/>
                </a:solidFill>
                <a:effectLst/>
                <a:uLnTx/>
                <a:uFillTx/>
                <a:latin typeface="Calibri" pitchFamily="34" charset="0"/>
                <a:ea typeface="Calibri" pitchFamily="34" charset="-122"/>
                <a:cs typeface="Calibri" pitchFamily="34" charset="-120"/>
              </a:rPr>
              <a:t>ANALYZETIMER  ·  EVERY MINUTE, ONLY WHEN SOMETHING CHANGED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Text 80"/>
          <p:cNvSpPr txBox="1"/>
          <p:nvPr/>
        </p:nvSpPr>
        <p:spPr>
          <a:xfrm>
            <a:off x="4892040" y="4937760"/>
            <a:ext cx="43891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Azure OpenAI  ·  gpt-4.1-mini</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Text 81"/>
          <p:cNvSpPr txBox="1"/>
          <p:nvPr/>
        </p:nvSpPr>
        <p:spPr>
          <a:xfrm>
            <a:off x="4892040" y="5230368"/>
            <a:ext cx="4389120" cy="402336"/>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Which incidents are one problem. Which one is the cause. What to do first.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verdict is written back onto the incident rows.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Shape 82"/>
          <p:cNvSpPr/>
          <p:nvPr/>
        </p:nvSpPr>
        <p:spPr>
          <a:xfrm>
            <a:off x="4892040" y="5705856"/>
            <a:ext cx="1097280" cy="201168"/>
          </a:xfrm>
          <a:prstGeom prst="roundRect">
            <a:avLst>
              <a:gd name="adj" fmla="val 22727"/>
            </a:avLst>
          </a:prstGeom>
          <a:solidFill>
            <a:srgbClr val="0E1621"/>
          </a:solidFill>
          <a:ln w="12700">
            <a:solidFill>
              <a:srgbClr val="E044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Text 83"/>
          <p:cNvSpPr txBox="1"/>
          <p:nvPr/>
        </p:nvSpPr>
        <p:spPr>
          <a:xfrm>
            <a:off x="4892040" y="5705856"/>
            <a:ext cx="10972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0443E"/>
                </a:solidFill>
                <a:effectLst/>
                <a:uLnTx/>
                <a:uFillTx/>
                <a:latin typeface="Calibri" pitchFamily="34" charset="0"/>
                <a:ea typeface="Calibri" pitchFamily="34" charset="-122"/>
                <a:cs typeface="Calibri" pitchFamily="34" charset="-120"/>
              </a:rPr>
              <a:t>SAME PROBLEM?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Text 84"/>
          <p:cNvSpPr txBox="1"/>
          <p:nvPr/>
        </p:nvSpPr>
        <p:spPr>
          <a:xfrm>
            <a:off x="6062472" y="5705856"/>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the only question that needs English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Shape 85"/>
          <p:cNvSpPr/>
          <p:nvPr/>
        </p:nvSpPr>
        <p:spPr>
          <a:xfrm>
            <a:off x="594360" y="4553712"/>
            <a:ext cx="3840480" cy="1481328"/>
          </a:xfrm>
          <a:prstGeom prst="roundRect">
            <a:avLst>
              <a:gd name="adj" fmla="val 3704"/>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Text 86"/>
          <p:cNvSpPr txBox="1"/>
          <p:nvPr/>
        </p:nvSpPr>
        <p:spPr>
          <a:xfrm>
            <a:off x="777240" y="4681728"/>
            <a:ext cx="3474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EVERY ARROW IN THIS DIAGRAM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Text 87"/>
          <p:cNvSpPr txBox="1"/>
          <p:nvPr/>
        </p:nvSpPr>
        <p:spPr>
          <a:xfrm>
            <a:off x="777240" y="4937760"/>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46B98A"/>
                </a:solidFill>
                <a:effectLst/>
                <a:uLnTx/>
                <a:uFillTx/>
                <a:latin typeface="Calibri" pitchFamily="34" charset="0"/>
                <a:ea typeface="Calibri" pitchFamily="34" charset="-122"/>
                <a:cs typeface="Calibri" pitchFamily="34" charset="-120"/>
              </a:rPr>
              <a:t>No keys anywhere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Text 88"/>
          <p:cNvSpPr txBox="1"/>
          <p:nvPr/>
        </p:nvSpPr>
        <p:spPr>
          <a:xfrm>
            <a:off x="777240" y="5248656"/>
            <a:ext cx="3474720" cy="640080"/>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Function App has a managed identity with three role assignments: read the hub, write the tables, call Azure OpenAI. Nothing in the pipeline holds a secret.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Shape 89"/>
          <p:cNvSpPr/>
          <p:nvPr/>
        </p:nvSpPr>
        <p:spPr>
          <a:xfrm>
            <a:off x="9738360" y="4553712"/>
            <a:ext cx="1874520" cy="1481328"/>
          </a:xfrm>
          <a:prstGeom prst="roundRect">
            <a:avLst>
              <a:gd name="adj" fmla="val 3704"/>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Text 90"/>
          <p:cNvSpPr txBox="1"/>
          <p:nvPr/>
        </p:nvSpPr>
        <p:spPr>
          <a:xfrm>
            <a:off x="9893808" y="4681728"/>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ALSO READS THE TABLES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Text 91"/>
          <p:cNvSpPr txBox="1"/>
          <p:nvPr/>
        </p:nvSpPr>
        <p:spPr>
          <a:xfrm>
            <a:off x="9893808" y="4965192"/>
            <a:ext cx="1600200" cy="457200"/>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Show-Incidents.ps1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Reset-Pipeline.ps1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Text 92"/>
          <p:cNvSpPr txBox="1"/>
          <p:nvPr/>
        </p:nvSpPr>
        <p:spPr>
          <a:xfrm>
            <a:off x="9893808" y="5468112"/>
            <a:ext cx="1600200" cy="41148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 short-lived SAS,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from your terminal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Text 93"/>
          <p:cNvSpPr txBox="1"/>
          <p:nvPr/>
        </p:nvSpPr>
        <p:spPr>
          <a:xfrm>
            <a:off x="594360" y="6199632"/>
            <a:ext cx="11002975"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179 events in. 13 incidents and 2 root causes out. About four seconds of model time.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INGESTEVENTS / RUN.PS1  ·  34 LINES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The whole trigger</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783080"/>
            <a:ext cx="11002975" cy="3730752"/>
          </a:xfrm>
          <a:prstGeom prst="roundRect">
            <a:avLst>
              <a:gd name="adj" fmla="val 1471"/>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14400" y="2011680"/>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foreach ($message in @($eventHubMessages)) {</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914400" y="2343607"/>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$payload = $message | ConvertFrom-Json -Depth 50</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914400" y="2675534"/>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914400" y="3007462"/>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    foreach ($event in ConvertTo-PipelineEvent -Payload $payload) {</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914400" y="3339389"/>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        if ($event.Success) { $dropped++; continue }  # a success is not news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914400" y="3671316"/>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914400" y="4003243"/>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6B98A"/>
                </a:solidFill>
                <a:effectLst/>
                <a:uLnTx/>
                <a:uFillTx/>
                <a:latin typeface="Courier New" pitchFamily="34" charset="0"/>
                <a:ea typeface="Courier New" pitchFamily="34" charset="-122"/>
                <a:cs typeface="Courier New" pitchFamily="34" charset="-120"/>
              </a:rPr>
              <a:t>        Write-RawEvent      -Event $event   # keep the firehose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914400" y="4335170"/>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8A33D"/>
                </a:solidFill>
                <a:effectLst/>
                <a:uLnTx/>
                <a:uFillTx/>
                <a:latin typeface="Courier New" pitchFamily="34" charset="0"/>
                <a:ea typeface="Courier New" pitchFamily="34" charset="-122"/>
                <a:cs typeface="Courier New" pitchFamily="34" charset="-120"/>
              </a:rPr>
              <a:t>        Add-EventToIncident -Event $event   # correlate it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914400" y="4667098"/>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    }</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914400" y="4999025"/>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594360" y="5833872"/>
            <a:ext cx="11002975" cy="868680"/>
          </a:xfrm>
          <a:prstGeom prst="roundRect">
            <a:avLst>
              <a:gd name="adj" fmla="val 631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868680" y="6035040"/>
            <a:ext cx="10454335"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Read the hub, normalise, throw away the successes, correlate. </a:t>
            </a:r>
            <a:r>
              <a:rPr kumimoji="0" lang="en-US" sz="17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Everything else in this session is one of those three verbs, opened up.</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E1621"/>
        </a:solidFill>
        <a:effectLst/>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5100C"/>
          </a:solidFill>
          <a:ln/>
        </p:spPr>
        <p:txBody>
          <a:bodyPr/>
          <a:lstStyle/>
          <a:p>
            <a:endParaRPr lang="en-US"/>
          </a:p>
        </p:txBody>
      </p:sp>
      <p:sp>
        <p:nvSpPr>
          <p:cNvPr id="4" name="Text 1"/>
          <p:cNvSpPr txBox="1"/>
          <p:nvPr/>
        </p:nvSpPr>
        <p:spPr>
          <a:xfrm>
            <a:off x="594360" y="2057400"/>
            <a:ext cx="5486400" cy="411480"/>
          </a:xfrm>
          <a:prstGeom prst="rect">
            <a:avLst/>
          </a:prstGeom>
          <a:noFill/>
          <a:ln/>
        </p:spPr>
        <p:txBody>
          <a:bodyPr wrap="square" lIns="0" tIns="0" rIns="0" bIns="0" rtlCol="0" anchor="ctr"/>
          <a:lstStyle/>
          <a:p>
            <a:pPr marL="0" indent="0">
              <a:buNone/>
            </a:pPr>
            <a:r>
              <a:rPr lang="en-US" sz="1600" b="1" kern="0" spc="500" dirty="0">
                <a:solidFill>
                  <a:srgbClr val="E8A33D"/>
                </a:solidFill>
                <a:latin typeface="Calibri" pitchFamily="34" charset="0"/>
                <a:ea typeface="Calibri" pitchFamily="34" charset="-122"/>
                <a:cs typeface="Calibri" pitchFamily="34" charset="-120"/>
              </a:rPr>
              <a:t>DEMO 1</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Break everything</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./Break-Everything.ps1 - one command, one outage</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Live checkout traffic starts failing for real</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Twelve tools begin reporting, 68 events over about forty seconds</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Watch the raw stream arrive in the workbook</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THREE TRIGGERS, ONE TABLE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Which function runs when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371600"/>
            <a:ext cx="11002975" cy="2194560"/>
          </a:xfrm>
          <a:prstGeom prst="roundRect">
            <a:avLst>
              <a:gd name="adj" fmla="val 2500"/>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758952" y="1499616"/>
            <a:ext cx="1691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INGESTEVENTS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758952" y="1719072"/>
            <a:ext cx="1691640" cy="420624"/>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Event Hubs trigger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758952" y="2157984"/>
            <a:ext cx="169164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runs per batch,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 step per event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758952" y="2596896"/>
            <a:ext cx="1691640"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Normalize.psm1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Correlation.psm1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2606040" y="1517904"/>
            <a:ext cx="2783738" cy="603504"/>
          </a:xfrm>
          <a:prstGeom prst="roundRect">
            <a:avLst>
              <a:gd name="adj" fmla="val 757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txBox="1"/>
          <p:nvPr/>
        </p:nvSpPr>
        <p:spPr>
          <a:xfrm>
            <a:off x="2697480" y="1581912"/>
            <a:ext cx="2600858"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ConvertTo-PipelineEvent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2697480" y="1801368"/>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Three payload shapes become one event object. Successes are dropped here - a success is not an event.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5170322" y="1609344"/>
            <a:ext cx="109728" cy="109728"/>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5417210" y="1803654"/>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rot="5400000">
            <a:off x="5563514" y="1751076"/>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5709818" y="1517904"/>
            <a:ext cx="2783738" cy="603504"/>
          </a:xfrm>
          <a:prstGeom prst="roundRect">
            <a:avLst>
              <a:gd name="adj" fmla="val 757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5801258" y="1581912"/>
            <a:ext cx="2600858"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Write-RawEvent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5801258" y="1801368"/>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Archived exactly as it arrived, before anything is merged away. This is the RawEvents firehose.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8274101" y="1609344"/>
            <a:ext cx="109728" cy="109728"/>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a:off x="8520989" y="1803654"/>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rot="5400000">
            <a:off x="8667293" y="1751076"/>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9"/>
          <p:cNvSpPr/>
          <p:nvPr/>
        </p:nvSpPr>
        <p:spPr>
          <a:xfrm>
            <a:off x="8813597" y="1517904"/>
            <a:ext cx="2783738" cy="603504"/>
          </a:xfrm>
          <a:prstGeom prst="roundRect">
            <a:avLst>
              <a:gd name="adj" fmla="val 7576"/>
            </a:avLst>
          </a:prstGeom>
          <a:solidFill>
            <a:srgbClr val="223140"/>
          </a:solidFill>
          <a:ln w="15875">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8905037" y="1581912"/>
            <a:ext cx="2600858"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Add-EventToIncident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txBox="1"/>
          <p:nvPr/>
        </p:nvSpPr>
        <p:spPr>
          <a:xfrm>
            <a:off x="8905037" y="1801368"/>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correlator. Everything on the row below happens inside this one call, in this order.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11377879" y="1609344"/>
            <a:ext cx="109728" cy="109728"/>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2606040" y="2176272"/>
            <a:ext cx="8991295"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E8A33D"/>
                </a:solidFill>
                <a:effectLst/>
                <a:uLnTx/>
                <a:uFillTx/>
                <a:latin typeface="Calibri" pitchFamily="34" charset="0"/>
                <a:ea typeface="Calibri" pitchFamily="34" charset="-122"/>
                <a:cs typeface="Calibri" pitchFamily="34" charset="-120"/>
              </a:rPr>
              <a:t>inside Add-EventToIncident, for each event, left to right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2606040"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2697480" y="2423160"/>
            <a:ext cx="1454445" cy="31089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Get-PrimaryKey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 Get-IncidentId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2697480" y="2752344"/>
            <a:ext cx="1454445" cy="402336"/>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Which incident: host &gt; resource &gt; service &gt; trace, then hashed.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2697480" y="3163824"/>
            <a:ext cx="114300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2697480" y="3163824"/>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SAME INCIDENT?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9"/>
          <p:cNvSpPr/>
          <p:nvPr/>
        </p:nvSpPr>
        <p:spPr>
          <a:xfrm>
            <a:off x="4270797"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0"/>
          <p:cNvSpPr/>
          <p:nvPr/>
        </p:nvSpPr>
        <p:spPr>
          <a:xfrm rot="5400000">
            <a:off x="4298229"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1"/>
          <p:cNvSpPr/>
          <p:nvPr/>
        </p:nvSpPr>
        <p:spPr>
          <a:xfrm>
            <a:off x="4444533"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4535973" y="2423160"/>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Get-Fingerprint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3"/>
          <p:cNvSpPr txBox="1"/>
          <p:nvPr/>
        </p:nvSpPr>
        <p:spPr>
          <a:xfrm>
            <a:off x="4535973" y="2642616"/>
            <a:ext cx="1454445" cy="51206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Which symptom. Digits → N, then source | kind | title | resource | host, hashed.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4"/>
          <p:cNvSpPr/>
          <p:nvPr/>
        </p:nvSpPr>
        <p:spPr>
          <a:xfrm>
            <a:off x="4535973" y="3163824"/>
            <a:ext cx="114300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5"/>
          <p:cNvSpPr txBox="1"/>
          <p:nvPr/>
        </p:nvSpPr>
        <p:spPr>
          <a:xfrm>
            <a:off x="4535973" y="3163824"/>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SAME SYMPTOM?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6"/>
          <p:cNvSpPr/>
          <p:nvPr/>
        </p:nvSpPr>
        <p:spPr>
          <a:xfrm>
            <a:off x="6109289"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7"/>
          <p:cNvSpPr/>
          <p:nvPr/>
        </p:nvSpPr>
        <p:spPr>
          <a:xfrm rot="5400000">
            <a:off x="6136721"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8"/>
          <p:cNvSpPr/>
          <p:nvPr/>
        </p:nvSpPr>
        <p:spPr>
          <a:xfrm>
            <a:off x="6283025"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9"/>
          <p:cNvSpPr txBox="1"/>
          <p:nvPr/>
        </p:nvSpPr>
        <p:spPr>
          <a:xfrm>
            <a:off x="6374465" y="2423160"/>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New-Incident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0"/>
          <p:cNvSpPr txBox="1"/>
          <p:nvPr/>
        </p:nvSpPr>
        <p:spPr>
          <a:xfrm>
            <a:off x="6374465" y="2642616"/>
            <a:ext cx="1454445" cy="731520"/>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Create the incident row, or revive it if it went quiet longer than the window.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1"/>
          <p:cNvSpPr/>
          <p:nvPr/>
        </p:nvSpPr>
        <p:spPr>
          <a:xfrm>
            <a:off x="7947782"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2"/>
          <p:cNvSpPr/>
          <p:nvPr/>
        </p:nvSpPr>
        <p:spPr>
          <a:xfrm rot="5400000">
            <a:off x="7975214"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3"/>
          <p:cNvSpPr/>
          <p:nvPr/>
        </p:nvSpPr>
        <p:spPr>
          <a:xfrm>
            <a:off x="8121518"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4"/>
          <p:cNvSpPr txBox="1"/>
          <p:nvPr/>
        </p:nvSpPr>
        <p:spPr>
          <a:xfrm>
            <a:off x="8212958" y="2423160"/>
            <a:ext cx="1454445"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Events(id, fp)</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seen in the window?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5"/>
          <p:cNvSpPr txBox="1"/>
          <p:nvPr/>
        </p:nvSpPr>
        <p:spPr>
          <a:xfrm>
            <a:off x="8212958" y="2660904"/>
            <a:ext cx="1454445" cy="7132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Yes: Count + 1, outcome deduped. No: POST a new symptom row, outcome new-symptom.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6"/>
          <p:cNvSpPr/>
          <p:nvPr/>
        </p:nvSpPr>
        <p:spPr>
          <a:xfrm>
            <a:off x="9786275"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7"/>
          <p:cNvSpPr/>
          <p:nvPr/>
        </p:nvSpPr>
        <p:spPr>
          <a:xfrm rot="5400000">
            <a:off x="9813707"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8"/>
          <p:cNvSpPr/>
          <p:nvPr/>
        </p:nvSpPr>
        <p:spPr>
          <a:xfrm>
            <a:off x="9960011" y="2359152"/>
            <a:ext cx="1637325" cy="1078992"/>
          </a:xfrm>
          <a:prstGeom prst="roundRect">
            <a:avLst>
              <a:gd name="adj" fmla="val 4237"/>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49"/>
          <p:cNvSpPr txBox="1"/>
          <p:nvPr/>
        </p:nvSpPr>
        <p:spPr>
          <a:xfrm>
            <a:off x="10051451" y="2423160"/>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ourier New" pitchFamily="34" charset="-122"/>
                <a:cs typeface="Courier New" pitchFamily="34" charset="-120"/>
              </a:rPr>
              <a:t>Touch the incident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50"/>
          <p:cNvSpPr txBox="1"/>
          <p:nvPr/>
        </p:nvSpPr>
        <p:spPr>
          <a:xfrm>
            <a:off x="10051451" y="2642616"/>
            <a:ext cx="1454445" cy="731520"/>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LastSeen and TouchedAt, unconditional. Nothing on the incident row is a counter, so nothing can race.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1"/>
          <p:cNvSpPr/>
          <p:nvPr/>
        </p:nvSpPr>
        <p:spPr>
          <a:xfrm>
            <a:off x="594360" y="3730752"/>
            <a:ext cx="11002975" cy="1335024"/>
          </a:xfrm>
          <a:prstGeom prst="roundRect">
            <a:avLst>
              <a:gd name="adj" fmla="val 4110"/>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2"/>
          <p:cNvSpPr txBox="1"/>
          <p:nvPr/>
        </p:nvSpPr>
        <p:spPr>
          <a:xfrm>
            <a:off x="758952" y="3858768"/>
            <a:ext cx="1691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ANALYZETIMER  ·  ANALYZE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3"/>
          <p:cNvSpPr txBox="1"/>
          <p:nvPr/>
        </p:nvSpPr>
        <p:spPr>
          <a:xfrm>
            <a:off x="758952" y="4078224"/>
            <a:ext cx="1691640" cy="420624"/>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Every minute,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or on demand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4"/>
          <p:cNvSpPr txBox="1"/>
          <p:nvPr/>
        </p:nvSpPr>
        <p:spPr>
          <a:xfrm>
            <a:off x="758952" y="4517136"/>
            <a:ext cx="169164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call to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Invoke-IncidentAnalysis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5"/>
          <p:cNvSpPr txBox="1"/>
          <p:nvPr/>
        </p:nvSpPr>
        <p:spPr>
          <a:xfrm>
            <a:off x="758952" y="4846320"/>
            <a:ext cx="1691640"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Ai.psm1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Shape 56"/>
          <p:cNvSpPr/>
          <p:nvPr/>
        </p:nvSpPr>
        <p:spPr>
          <a:xfrm>
            <a:off x="2606040"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57"/>
          <p:cNvSpPr txBox="1"/>
          <p:nvPr/>
        </p:nvSpPr>
        <p:spPr>
          <a:xfrm>
            <a:off x="2697480"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Get-OpenIncident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8"/>
          <p:cNvSpPr txBox="1"/>
          <p:nvPr/>
        </p:nvSpPr>
        <p:spPr>
          <a:xfrm>
            <a:off x="2697480" y="4160520"/>
            <a:ext cx="1454445" cy="69494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Every open incident seen in the last 60 minutes.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Shape 59"/>
          <p:cNvSpPr/>
          <p:nvPr/>
        </p:nvSpPr>
        <p:spPr>
          <a:xfrm>
            <a:off x="4270797"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0"/>
          <p:cNvSpPr/>
          <p:nvPr/>
        </p:nvSpPr>
        <p:spPr>
          <a:xfrm rot="5400000">
            <a:off x="4298229"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1"/>
          <p:cNvSpPr/>
          <p:nvPr/>
        </p:nvSpPr>
        <p:spPr>
          <a:xfrm>
            <a:off x="4444533"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62"/>
          <p:cNvSpPr txBox="1"/>
          <p:nvPr/>
        </p:nvSpPr>
        <p:spPr>
          <a:xfrm>
            <a:off x="4535973" y="3941064"/>
            <a:ext cx="1454445"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Anything touched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since the last pass?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3"/>
          <p:cNvSpPr txBox="1"/>
          <p:nvPr/>
        </p:nvSpPr>
        <p:spPr>
          <a:xfrm>
            <a:off x="4535973" y="4178808"/>
            <a:ext cx="1454445" cy="676656"/>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 meta row remembers LastRun. A quiet minute costs nothing. -Force skips the check for the demo.</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Shape 64"/>
          <p:cNvSpPr/>
          <p:nvPr/>
        </p:nvSpPr>
        <p:spPr>
          <a:xfrm>
            <a:off x="6109289"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5"/>
          <p:cNvSpPr/>
          <p:nvPr/>
        </p:nvSpPr>
        <p:spPr>
          <a:xfrm rot="5400000">
            <a:off x="6136721"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6"/>
          <p:cNvSpPr/>
          <p:nvPr/>
        </p:nvSpPr>
        <p:spPr>
          <a:xfrm>
            <a:off x="6283025"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67"/>
          <p:cNvSpPr txBox="1"/>
          <p:nvPr/>
        </p:nvSpPr>
        <p:spPr>
          <a:xfrm>
            <a:off x="6374465"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Get-IncidentBrief</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Text 68"/>
          <p:cNvSpPr txBox="1"/>
          <p:nvPr/>
        </p:nvSpPr>
        <p:spPr>
          <a:xfrm>
            <a:off x="6374465" y="4160520"/>
            <a:ext cx="1454445" cy="69494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Top 6 symptoms per incident. Row keys and plumbing stripped - the model sees the outage, not the schema.</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Shape 69"/>
          <p:cNvSpPr/>
          <p:nvPr/>
        </p:nvSpPr>
        <p:spPr>
          <a:xfrm>
            <a:off x="7947782"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0"/>
          <p:cNvSpPr/>
          <p:nvPr/>
        </p:nvSpPr>
        <p:spPr>
          <a:xfrm rot="5400000">
            <a:off x="7975214"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1"/>
          <p:cNvSpPr/>
          <p:nvPr/>
        </p:nvSpPr>
        <p:spPr>
          <a:xfrm>
            <a:off x="8121518"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Text 72"/>
          <p:cNvSpPr txBox="1"/>
          <p:nvPr/>
        </p:nvSpPr>
        <p:spPr>
          <a:xfrm>
            <a:off x="8212958"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Invoke-OpenAI</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Text 73"/>
          <p:cNvSpPr txBox="1"/>
          <p:nvPr/>
        </p:nvSpPr>
        <p:spPr>
          <a:xfrm>
            <a:off x="8212958" y="4160520"/>
            <a:ext cx="1454445" cy="475488"/>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One call. gpt-4.1-mini, temp 0, JSON out, parsed by ConvertFrom-ModelJson.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Shape 74"/>
          <p:cNvSpPr/>
          <p:nvPr/>
        </p:nvSpPr>
        <p:spPr>
          <a:xfrm>
            <a:off x="8212958" y="4645152"/>
            <a:ext cx="1143000" cy="201168"/>
          </a:xfrm>
          <a:prstGeom prst="roundRect">
            <a:avLst>
              <a:gd name="adj" fmla="val 22727"/>
            </a:avLst>
          </a:prstGeom>
          <a:solidFill>
            <a:srgbClr val="0E1621"/>
          </a:solidFill>
          <a:ln w="12700">
            <a:solidFill>
              <a:srgbClr val="E044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Text 75"/>
          <p:cNvSpPr txBox="1"/>
          <p:nvPr/>
        </p:nvSpPr>
        <p:spPr>
          <a:xfrm>
            <a:off x="8212958" y="4645152"/>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0443E"/>
                </a:solidFill>
                <a:effectLst/>
                <a:uLnTx/>
                <a:uFillTx/>
                <a:latin typeface="Calibri" pitchFamily="34" charset="0"/>
                <a:ea typeface="Calibri" pitchFamily="34" charset="-122"/>
                <a:cs typeface="Calibri" pitchFamily="34" charset="-120"/>
              </a:rPr>
              <a:t>SAME PROBLEM?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Shape 76"/>
          <p:cNvSpPr/>
          <p:nvPr/>
        </p:nvSpPr>
        <p:spPr>
          <a:xfrm>
            <a:off x="9786275"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7"/>
          <p:cNvSpPr/>
          <p:nvPr/>
        </p:nvSpPr>
        <p:spPr>
          <a:xfrm rot="5400000">
            <a:off x="9813707"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8"/>
          <p:cNvSpPr/>
          <p:nvPr/>
        </p:nvSpPr>
        <p:spPr>
          <a:xfrm>
            <a:off x="9960011" y="3877056"/>
            <a:ext cx="1637325" cy="1042416"/>
          </a:xfrm>
          <a:prstGeom prst="roundRect">
            <a:avLst>
              <a:gd name="adj" fmla="val 438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79"/>
          <p:cNvSpPr txBox="1"/>
          <p:nvPr/>
        </p:nvSpPr>
        <p:spPr>
          <a:xfrm>
            <a:off x="10051451"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Write-IncidentVerdict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Text 80"/>
          <p:cNvSpPr txBox="1"/>
          <p:nvPr/>
        </p:nvSpPr>
        <p:spPr>
          <a:xfrm>
            <a:off x="10051451" y="4160520"/>
            <a:ext cx="1454445" cy="69494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Once per incident: cause, downstream, unrelated or forgotten. Clusters of one are demoted. Then LastRun moves.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Shape 81"/>
          <p:cNvSpPr/>
          <p:nvPr/>
        </p:nvSpPr>
        <p:spPr>
          <a:xfrm>
            <a:off x="594360" y="5230368"/>
            <a:ext cx="11002975" cy="896112"/>
          </a:xfrm>
          <a:prstGeom prst="roundRect">
            <a:avLst>
              <a:gd name="adj" fmla="val 6122"/>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Text 82"/>
          <p:cNvSpPr txBox="1"/>
          <p:nvPr/>
        </p:nvSpPr>
        <p:spPr>
          <a:xfrm>
            <a:off x="758952" y="5358384"/>
            <a:ext cx="1691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7C90A6"/>
                </a:solidFill>
                <a:effectLst/>
                <a:uLnTx/>
                <a:uFillTx/>
                <a:latin typeface="Calibri" pitchFamily="34" charset="0"/>
                <a:ea typeface="Calibri" pitchFamily="34" charset="-122"/>
                <a:cs typeface="Calibri" pitchFamily="34" charset="-120"/>
              </a:rPr>
              <a:t>GETINCIDENTS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6" name="Text 83"/>
          <p:cNvSpPr txBox="1"/>
          <p:nvPr/>
        </p:nvSpPr>
        <p:spPr>
          <a:xfrm>
            <a:off x="758952" y="5577840"/>
            <a:ext cx="1691640" cy="420624"/>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HTTP, when the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workbook refreshes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Shape 84"/>
          <p:cNvSpPr/>
          <p:nvPr/>
        </p:nvSpPr>
        <p:spPr>
          <a:xfrm>
            <a:off x="2606040" y="5367528"/>
            <a:ext cx="2783738" cy="621792"/>
          </a:xfrm>
          <a:prstGeom prst="roundRect">
            <a:avLst>
              <a:gd name="adj" fmla="val 7353"/>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 85"/>
          <p:cNvSpPr txBox="1"/>
          <p:nvPr/>
        </p:nvSpPr>
        <p:spPr>
          <a:xfrm>
            <a:off x="2697480" y="5431536"/>
            <a:ext cx="2600858"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Read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Text 86"/>
          <p:cNvSpPr txBox="1"/>
          <p:nvPr/>
        </p:nvSpPr>
        <p:spPr>
          <a:xfrm>
            <a:off x="2697480" y="5669280"/>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Incidents open in the last 2 hours, plus their Events rows. Imports Plumbing.psm1 and nothing else.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Shape 87"/>
          <p:cNvSpPr/>
          <p:nvPr/>
        </p:nvSpPr>
        <p:spPr>
          <a:xfrm>
            <a:off x="5417210" y="5662422"/>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8"/>
          <p:cNvSpPr/>
          <p:nvPr/>
        </p:nvSpPr>
        <p:spPr>
          <a:xfrm rot="5400000">
            <a:off x="5563514" y="560984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89"/>
          <p:cNvSpPr/>
          <p:nvPr/>
        </p:nvSpPr>
        <p:spPr>
          <a:xfrm>
            <a:off x="5709818" y="5367528"/>
            <a:ext cx="2783738" cy="621792"/>
          </a:xfrm>
          <a:prstGeom prst="roundRect">
            <a:avLst>
              <a:gd name="adj" fmla="val 7353"/>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Text 90"/>
          <p:cNvSpPr txBox="1"/>
          <p:nvPr/>
        </p:nvSpPr>
        <p:spPr>
          <a:xfrm>
            <a:off x="5801258" y="5431536"/>
            <a:ext cx="2600858"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Shape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Text 91"/>
          <p:cNvSpPr txBox="1"/>
          <p:nvPr/>
        </p:nvSpPr>
        <p:spPr>
          <a:xfrm>
            <a:off x="5801258" y="5669280"/>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?view= raw · summary · sources · tree · incidents · symptoms - one per visual on the workbook.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Shape 92"/>
          <p:cNvSpPr/>
          <p:nvPr/>
        </p:nvSpPr>
        <p:spPr>
          <a:xfrm>
            <a:off x="8520989" y="5662422"/>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3"/>
          <p:cNvSpPr/>
          <p:nvPr/>
        </p:nvSpPr>
        <p:spPr>
          <a:xfrm rot="5400000">
            <a:off x="8667293" y="560984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4"/>
          <p:cNvSpPr/>
          <p:nvPr/>
        </p:nvSpPr>
        <p:spPr>
          <a:xfrm>
            <a:off x="8813597" y="5367528"/>
            <a:ext cx="2783738" cy="621792"/>
          </a:xfrm>
          <a:prstGeom prst="roundRect">
            <a:avLst>
              <a:gd name="adj" fmla="val 7353"/>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Text 95"/>
          <p:cNvSpPr txBox="1"/>
          <p:nvPr/>
        </p:nvSpPr>
        <p:spPr>
          <a:xfrm>
            <a:off x="8905037" y="5431536"/>
            <a:ext cx="2600858"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Answer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Text 96"/>
          <p:cNvSpPr txBox="1"/>
          <p:nvPr/>
        </p:nvSpPr>
        <p:spPr>
          <a:xfrm>
            <a:off x="8905037" y="5669280"/>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JSON the workbook can colour. No correlation logic lives here; it is presentation only.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Text 97"/>
          <p:cNvSpPr txBox="1"/>
          <p:nvPr/>
        </p:nvSpPr>
        <p:spPr>
          <a:xfrm>
            <a:off x="594360" y="6236208"/>
            <a:ext cx="11002975" cy="384048"/>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The first two questions are not two passes. </a:t>
            </a: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They are the two halves of one row address - </a:t>
            </a:r>
            <a:r>
              <a:rPr kumimoji="0" lang="en-US" sz="1100" b="0" i="0" u="none" strike="noStrike" kern="1200" cap="none" spc="0" normalizeH="0" baseline="0" noProof="0" dirty="0">
                <a:ln>
                  <a:noFill/>
                </a:ln>
                <a:solidFill>
                  <a:srgbClr val="E8A33D"/>
                </a:solidFill>
                <a:effectLst/>
                <a:uLnTx/>
                <a:uFillTx/>
                <a:latin typeface="Courier New" pitchFamily="34" charset="0"/>
                <a:ea typeface="Courier New" pitchFamily="34" charset="-122"/>
                <a:cs typeface="Courier New" pitchFamily="34" charset="-120"/>
              </a:rPr>
              <a:t>Events(PartitionKey = incident id, RowKey = fingerprint)</a:t>
            </a:r>
            <a:r>
              <a:rPr kumimoji="0" lang="en-US" sz="11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 and the code works out the incident before the symptom.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5B9BD5"/>
                </a:solidFill>
                <a:effectLst/>
                <a:uLnTx/>
                <a:uFillTx/>
                <a:latin typeface="Calibri" pitchFamily="34" charset="0"/>
                <a:ea typeface="Calibri" pitchFamily="34" charset="-122"/>
                <a:cs typeface="Calibri" pitchFamily="34" charset="-120"/>
              </a:rPr>
              <a:t>NORMALIZE.PSM1  ·  122 LINES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Three shapes, one object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783080"/>
            <a:ext cx="6949440" cy="1849831"/>
          </a:xfrm>
          <a:prstGeom prst="roundRect">
            <a:avLst>
              <a:gd name="adj" fmla="val 2966"/>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14400" y="1892930"/>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function Get-PayloadShape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914400" y="2204352"/>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if ($Payload.records)         { 'appinsights' }  # diagnostic setting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914400" y="2587020"/>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if ($Payload.data.essentials) { 'alert' }        # common alert schema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914400" y="2981567"/>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if ($Payload.tool)            { 'script' }       # our own senders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914400" y="3265277"/>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863840" y="1783080"/>
            <a:ext cx="3749040" cy="1849831"/>
          </a:xfrm>
          <a:prstGeom prst="roundRect">
            <a:avLst>
              <a:gd name="adj" fmla="val 296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txBox="1"/>
          <p:nvPr/>
        </p:nvSpPr>
        <p:spPr>
          <a:xfrm>
            <a:off x="8138160" y="1938528"/>
            <a:ext cx="32918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Out the other side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8138160" y="2304288"/>
            <a:ext cx="3291840" cy="1005840"/>
          </a:xfrm>
          <a:prstGeom prst="rect">
            <a:avLst/>
          </a:prstGeom>
          <a:noFill/>
          <a:ln/>
        </p:spPr>
        <p:txBody>
          <a:bodyPr wrap="square" lIns="0" tIns="0" rIns="0" bIns="0" rtlCol="0" anchor="ct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Source  	Kind     	Time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Severity 	Title   	Message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8FA3B8"/>
                </a:solidFill>
                <a:effectLst/>
                <a:uLnTx/>
                <a:uFillTx/>
                <a:latin typeface="Courier New" pitchFamily="34" charset="0"/>
                <a:ea typeface="Courier New" pitchFamily="34" charset="-122"/>
                <a:cs typeface="Courier New" pitchFamily="34" charset="-120"/>
              </a:rPr>
              <a:t>TraceId</a:t>
            </a:r>
            <a:r>
              <a:rPr kumimoji="0" lang="en-US" sz="11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Host     	Resource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594360" y="3998671"/>
            <a:ext cx="11002975" cy="1143000"/>
          </a:xfrm>
          <a:prstGeom prst="roundRect">
            <a:avLst>
              <a:gd name="adj" fmla="val 4800"/>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868680" y="4199839"/>
            <a:ext cx="10454335"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Every source disagrees about field names. </a:t>
            </a:r>
            <a:r>
              <a:rPr kumimoji="0" lang="en-US" sz="15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OperationId or operation_Id. TimeGenerated or time or timestamp. Nothing downstream can be written until one object comes out of here - and this is the part everyone underestimates when they plan a pipeline like this.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CORRELATION.PSM1  ·  IS THIS THE SAME SYMPTOM?</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Deduplication is three lines</a:t>
            </a:r>
            <a:endParaRPr lang="en-US" sz="3600" dirty="0"/>
          </a:p>
        </p:txBody>
      </p:sp>
      <p:sp>
        <p:nvSpPr>
          <p:cNvPr id="5" name="Shape 2"/>
          <p:cNvSpPr/>
          <p:nvPr/>
        </p:nvSpPr>
        <p:spPr>
          <a:xfrm>
            <a:off x="594360" y="1783080"/>
            <a:ext cx="11002975" cy="1340876"/>
          </a:xfrm>
          <a:prstGeom prst="roundRect">
            <a:avLst>
              <a:gd name="adj" fmla="val 4092"/>
            </a:avLst>
          </a:prstGeom>
          <a:solidFill>
            <a:srgbClr val="19242F"/>
          </a:solidFill>
          <a:ln/>
        </p:spPr>
        <p:txBody>
          <a:bodyPr/>
          <a:lstStyle/>
          <a:p>
            <a:endParaRPr/>
          </a:p>
        </p:txBody>
      </p:sp>
      <p:sp>
        <p:nvSpPr>
          <p:cNvPr id="6" name="Text 3"/>
          <p:cNvSpPr txBox="1"/>
          <p:nvPr/>
        </p:nvSpPr>
        <p:spPr>
          <a:xfrm>
            <a:off x="914400" y="2011680"/>
            <a:ext cx="10362895" cy="309799"/>
          </a:xfrm>
          <a:prstGeom prst="rect">
            <a:avLst/>
          </a:prstGeom>
          <a:noFill/>
          <a:ln/>
        </p:spPr>
        <p:txBody>
          <a:bodyPr wrap="square" lIns="0" tIns="0" rIns="0" bIns="0" rtlCol="0" anchor="ctr"/>
          <a:lstStyle/>
          <a:p>
            <a:pPr marL="0" indent="0">
              <a:buNone/>
            </a:pPr>
            <a:r>
              <a:rPr lang="en-US" sz="1400" dirty="0">
                <a:solidFill>
                  <a:srgbClr val="E8A33D"/>
                </a:solidFill>
                <a:latin typeface="Courier New" pitchFamily="34" charset="0"/>
                <a:ea typeface="Courier New" pitchFamily="34" charset="-122"/>
                <a:cs typeface="Courier New" pitchFamily="34" charset="-120"/>
              </a:rPr>
              <a:t>$title = $Event.Title -replace '\d+', 'N'          # 480 ms and 8 ms are the same symptom</a:t>
            </a:r>
            <a:endParaRPr lang="en-US" sz="1400" dirty="0"/>
          </a:p>
        </p:txBody>
      </p:sp>
      <p:sp>
        <p:nvSpPr>
          <p:cNvPr id="7" name="Text 4"/>
          <p:cNvSpPr txBox="1"/>
          <p:nvPr/>
        </p:nvSpPr>
        <p:spPr>
          <a:xfrm>
            <a:off x="914400" y="2321479"/>
            <a:ext cx="10362895" cy="309799"/>
          </a:xfrm>
          <a:prstGeom prst="rect">
            <a:avLst/>
          </a:prstGeom>
          <a:noFill/>
          <a:ln/>
        </p:spPr>
        <p:txBody>
          <a:bodyPr wrap="square" lIns="0" tIns="0" rIns="0" bIns="0" rtlCol="0" anchor="ctr"/>
          <a:lstStyle/>
          <a:p>
            <a:pPr marL="0" indent="0">
              <a:buNone/>
            </a:pPr>
            <a:r>
              <a:rPr lang="en-US" sz="1400" dirty="0">
                <a:solidFill>
                  <a:srgbClr val="E9EFF6"/>
                </a:solidFill>
                <a:latin typeface="Courier New" pitchFamily="34" charset="0"/>
                <a:ea typeface="Courier New" pitchFamily="34" charset="-122"/>
                <a:cs typeface="Courier New" pitchFamily="34" charset="-120"/>
              </a:rPr>
              <a:t>$seed  = "$Source|$Kind|$title|$ResourceId|$Host".ToLowerInvariant()</a:t>
            </a:r>
            <a:endParaRPr lang="en-US" sz="1400" dirty="0"/>
          </a:p>
        </p:txBody>
      </p:sp>
      <p:sp>
        <p:nvSpPr>
          <p:cNvPr id="8" name="Text 5"/>
          <p:cNvSpPr txBox="1"/>
          <p:nvPr/>
        </p:nvSpPr>
        <p:spPr>
          <a:xfrm>
            <a:off x="914400" y="2631277"/>
            <a:ext cx="10362895" cy="309799"/>
          </a:xfrm>
          <a:prstGeom prst="rect">
            <a:avLst/>
          </a:prstGeom>
          <a:noFill/>
          <a:ln/>
        </p:spPr>
        <p:txBody>
          <a:bodyPr wrap="square" lIns="0" tIns="0" rIns="0" bIns="0" rtlCol="0" anchor="ctr"/>
          <a:lstStyle/>
          <a:p>
            <a:pPr marL="0" indent="0">
              <a:buNone/>
            </a:pPr>
            <a:r>
              <a:rPr lang="en-US" sz="1400" dirty="0">
                <a:solidFill>
                  <a:srgbClr val="E9EFF6"/>
                </a:solidFill>
                <a:latin typeface="Courier New" pitchFamily="34" charset="0"/>
                <a:ea typeface="Courier New" pitchFamily="34" charset="-122"/>
                <a:cs typeface="Courier New" pitchFamily="34" charset="-120"/>
              </a:rPr>
              <a:t>$hash  = [Security.Cryptography.SHA256]::HashData([Text.Encoding]::UTF8.GetBytes($seed))</a:t>
            </a:r>
            <a:endParaRPr lang="en-US" sz="1400" dirty="0"/>
          </a:p>
        </p:txBody>
      </p:sp>
      <p:sp>
        <p:nvSpPr>
          <p:cNvPr id="9" name="Shape 6"/>
          <p:cNvSpPr/>
          <p:nvPr/>
        </p:nvSpPr>
        <p:spPr>
          <a:xfrm>
            <a:off x="594360" y="3398276"/>
            <a:ext cx="5257800" cy="1783080"/>
          </a:xfrm>
          <a:prstGeom prst="roundRect">
            <a:avLst>
              <a:gd name="adj" fmla="val 3077"/>
            </a:avLst>
          </a:prstGeom>
          <a:solidFill>
            <a:srgbClr val="19242F"/>
          </a:solidFill>
          <a:ln/>
        </p:spPr>
        <p:txBody>
          <a:bodyPr/>
          <a:lstStyle/>
          <a:p>
            <a:endParaRPr/>
          </a:p>
        </p:txBody>
      </p:sp>
      <p:sp>
        <p:nvSpPr>
          <p:cNvPr id="10" name="Text 7"/>
          <p:cNvSpPr txBox="1"/>
          <p:nvPr/>
        </p:nvSpPr>
        <p:spPr>
          <a:xfrm>
            <a:off x="914400" y="3535436"/>
            <a:ext cx="4617720" cy="292608"/>
          </a:xfrm>
          <a:prstGeom prst="rect">
            <a:avLst/>
          </a:prstGeom>
          <a:noFill/>
          <a:ln/>
        </p:spPr>
        <p:txBody>
          <a:bodyPr wrap="square" lIns="0" tIns="0" rIns="0" bIns="0" rtlCol="0" anchor="ctr"/>
          <a:lstStyle/>
          <a:p>
            <a:pPr marL="0" indent="0">
              <a:buNone/>
            </a:pPr>
            <a:r>
              <a:rPr lang="en-US" sz="1500" b="1" dirty="0">
                <a:solidFill>
                  <a:srgbClr val="8FA3B8"/>
                </a:solidFill>
                <a:latin typeface="Calibri" pitchFamily="34" charset="0"/>
                <a:ea typeface="Calibri" pitchFamily="34" charset="-122"/>
                <a:cs typeface="Calibri" pitchFamily="34" charset="-120"/>
              </a:rPr>
              <a:t>What goes in</a:t>
            </a:r>
            <a:endParaRPr lang="en-US" sz="1500" dirty="0"/>
          </a:p>
        </p:txBody>
      </p:sp>
      <p:sp>
        <p:nvSpPr>
          <p:cNvPr id="11" name="Text 8"/>
          <p:cNvSpPr txBox="1"/>
          <p:nvPr/>
        </p:nvSpPr>
        <p:spPr>
          <a:xfrm>
            <a:off x="914400" y="3855476"/>
            <a:ext cx="4617720" cy="1280160"/>
          </a:xfrm>
          <a:prstGeom prst="rect">
            <a:avLst/>
          </a:prstGeom>
          <a:noFill/>
          <a:ln/>
        </p:spPr>
        <p:txBody>
          <a:bodyPr wrap="square" lIns="0" tIns="0" rIns="0" bIns="0" rtlCol="0" anchor="ctr"/>
          <a:lstStyle/>
          <a:p>
            <a:pPr marL="0" indent="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410 ms, sustained</a:t>
            </a:r>
            <a:endParaRPr lang="en-US" sz="1100" dirty="0"/>
          </a:p>
          <a:p>
            <a:pPr marL="0" indent="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455 ms, sustained</a:t>
            </a:r>
            <a:endParaRPr lang="en-US" sz="1100" dirty="0"/>
          </a:p>
          <a:p>
            <a:pPr marL="0" indent="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480 ms, sustained</a:t>
            </a:r>
            <a:endParaRPr lang="en-US" sz="1100" dirty="0"/>
          </a:p>
          <a:p>
            <a:pPr marL="0" indent="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512 ms, sustained</a:t>
            </a:r>
            <a:endParaRPr lang="en-US" sz="1100" dirty="0"/>
          </a:p>
          <a:p>
            <a:pPr marL="0" indent="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498 ms, sustained</a:t>
            </a:r>
            <a:endParaRPr lang="en-US" sz="1100" dirty="0"/>
          </a:p>
          <a:p>
            <a:pPr marL="0" indent="0">
              <a:lnSpc>
                <a:spcPts val="1600"/>
              </a:lnSpc>
              <a:buNone/>
            </a:pPr>
            <a:r>
              <a:rPr lang="en-US" sz="1100" dirty="0">
                <a:solidFill>
                  <a:srgbClr val="8FA3B8"/>
                </a:solidFill>
                <a:latin typeface="Courier New" pitchFamily="34" charset="0"/>
                <a:ea typeface="Courier New" pitchFamily="34" charset="-122"/>
                <a:cs typeface="Courier New" pitchFamily="34" charset="-120"/>
              </a:rPr>
              <a:t>Disk read latency 466 ms, sustained</a:t>
            </a:r>
            <a:endParaRPr lang="en-US" sz="1100" dirty="0"/>
          </a:p>
        </p:txBody>
      </p:sp>
      <p:sp>
        <p:nvSpPr>
          <p:cNvPr id="12" name="Text 9"/>
          <p:cNvSpPr txBox="1"/>
          <p:nvPr/>
        </p:nvSpPr>
        <p:spPr>
          <a:xfrm>
            <a:off x="5897880" y="4038356"/>
            <a:ext cx="457200" cy="457200"/>
          </a:xfrm>
          <a:prstGeom prst="rect">
            <a:avLst/>
          </a:prstGeom>
          <a:noFill/>
          <a:ln/>
        </p:spPr>
        <p:txBody>
          <a:bodyPr wrap="square" lIns="0" tIns="0" rIns="0" bIns="0" rtlCol="0" anchor="ctr"/>
          <a:lstStyle/>
          <a:p>
            <a:pPr marL="0" indent="0" algn="ctr">
              <a:buNone/>
            </a:pPr>
            <a:r>
              <a:rPr lang="en-US" sz="2600" b="1" dirty="0">
                <a:solidFill>
                  <a:srgbClr val="E8A33D"/>
                </a:solidFill>
                <a:latin typeface="Calibri" pitchFamily="34" charset="0"/>
                <a:ea typeface="Calibri" pitchFamily="34" charset="-122"/>
                <a:cs typeface="Calibri" pitchFamily="34" charset="-120"/>
              </a:rPr>
              <a:t>&gt;</a:t>
            </a:r>
            <a:endParaRPr lang="en-US" sz="2600" dirty="0"/>
          </a:p>
        </p:txBody>
      </p:sp>
      <p:sp>
        <p:nvSpPr>
          <p:cNvPr id="13" name="Shape 10"/>
          <p:cNvSpPr/>
          <p:nvPr/>
        </p:nvSpPr>
        <p:spPr>
          <a:xfrm>
            <a:off x="6355080" y="3398276"/>
            <a:ext cx="5257800" cy="1783080"/>
          </a:xfrm>
          <a:prstGeom prst="roundRect">
            <a:avLst>
              <a:gd name="adj" fmla="val 3077"/>
            </a:avLst>
          </a:prstGeom>
          <a:solidFill>
            <a:srgbClr val="223140"/>
          </a:solidFill>
          <a:ln/>
        </p:spPr>
        <p:txBody>
          <a:bodyPr/>
          <a:lstStyle/>
          <a:p>
            <a:endParaRPr/>
          </a:p>
        </p:txBody>
      </p:sp>
      <p:sp>
        <p:nvSpPr>
          <p:cNvPr id="14" name="Text 11"/>
          <p:cNvSpPr txBox="1"/>
          <p:nvPr/>
        </p:nvSpPr>
        <p:spPr>
          <a:xfrm>
            <a:off x="6675120" y="3535436"/>
            <a:ext cx="4617720" cy="292608"/>
          </a:xfrm>
          <a:prstGeom prst="rect">
            <a:avLst/>
          </a:prstGeom>
          <a:noFill/>
          <a:ln/>
        </p:spPr>
        <p:txBody>
          <a:bodyPr wrap="square" lIns="0" tIns="0" rIns="0" bIns="0" rtlCol="0" anchor="ctr"/>
          <a:lstStyle/>
          <a:p>
            <a:pPr marL="0" indent="0">
              <a:buNone/>
            </a:pPr>
            <a:r>
              <a:rPr lang="en-US" sz="1500" b="1" dirty="0">
                <a:solidFill>
                  <a:srgbClr val="46B98A"/>
                </a:solidFill>
                <a:latin typeface="Calibri" pitchFamily="34" charset="0"/>
                <a:ea typeface="Calibri" pitchFamily="34" charset="-122"/>
                <a:cs typeface="Calibri" pitchFamily="34" charset="-120"/>
              </a:rPr>
              <a:t>What comes out</a:t>
            </a:r>
            <a:endParaRPr lang="en-US" sz="1500" dirty="0"/>
          </a:p>
        </p:txBody>
      </p:sp>
      <p:sp>
        <p:nvSpPr>
          <p:cNvPr id="15" name="Text 12"/>
          <p:cNvSpPr txBox="1"/>
          <p:nvPr/>
        </p:nvSpPr>
        <p:spPr>
          <a:xfrm>
            <a:off x="6675120" y="3965204"/>
            <a:ext cx="4617720" cy="320040"/>
          </a:xfrm>
          <a:prstGeom prst="rect">
            <a:avLst/>
          </a:prstGeom>
          <a:noFill/>
          <a:ln/>
        </p:spPr>
        <p:txBody>
          <a:bodyPr wrap="square" lIns="0" tIns="0" rIns="0" bIns="0" rtlCol="0" anchor="ctr"/>
          <a:lstStyle/>
          <a:p>
            <a:pPr marL="0" indent="0">
              <a:buNone/>
            </a:pPr>
            <a:r>
              <a:rPr lang="en-US" sz="1300" dirty="0">
                <a:solidFill>
                  <a:srgbClr val="E9EFF6"/>
                </a:solidFill>
                <a:latin typeface="Courier New" pitchFamily="34" charset="0"/>
                <a:ea typeface="Courier New" pitchFamily="34" charset="-122"/>
                <a:cs typeface="Courier New" pitchFamily="34" charset="-120"/>
              </a:rPr>
              <a:t>Disk read latency N ms, sustained</a:t>
            </a:r>
            <a:endParaRPr lang="en-US" sz="1300" dirty="0"/>
          </a:p>
        </p:txBody>
      </p:sp>
      <p:sp>
        <p:nvSpPr>
          <p:cNvPr id="16" name="Text 13"/>
          <p:cNvSpPr txBox="1"/>
          <p:nvPr/>
        </p:nvSpPr>
        <p:spPr>
          <a:xfrm>
            <a:off x="6675120" y="4422404"/>
            <a:ext cx="4617720" cy="320040"/>
          </a:xfrm>
          <a:prstGeom prst="rect">
            <a:avLst/>
          </a:prstGeom>
          <a:noFill/>
          <a:ln/>
        </p:spPr>
        <p:txBody>
          <a:bodyPr wrap="square" lIns="0" tIns="0" rIns="0" bIns="0"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one row  ·  seen 6 times</a:t>
            </a:r>
            <a:endParaRPr lang="en-US" sz="1600" dirty="0"/>
          </a:p>
        </p:txBody>
      </p:sp>
      <p:sp>
        <p:nvSpPr>
          <p:cNvPr id="17" name="Shape 14"/>
          <p:cNvSpPr/>
          <p:nvPr/>
        </p:nvSpPr>
        <p:spPr>
          <a:xfrm>
            <a:off x="594360" y="5382524"/>
            <a:ext cx="11002975" cy="914400"/>
          </a:xfrm>
          <a:prstGeom prst="roundRect">
            <a:avLst>
              <a:gd name="adj" fmla="val 6000"/>
            </a:avLst>
          </a:prstGeom>
          <a:solidFill>
            <a:srgbClr val="223140"/>
          </a:solidFill>
          <a:ln/>
        </p:spPr>
        <p:txBody>
          <a:bodyPr/>
          <a:lstStyle/>
          <a:p>
            <a:endParaRPr/>
          </a:p>
        </p:txBody>
      </p:sp>
      <p:sp>
        <p:nvSpPr>
          <p:cNvPr id="18" name="Text 15"/>
          <p:cNvSpPr txBox="1"/>
          <p:nvPr/>
        </p:nvSpPr>
        <p:spPr>
          <a:xfrm>
            <a:off x="868680" y="5583692"/>
            <a:ext cx="10454335" cy="5486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Every run of digits collapses.  </a:t>
            </a:r>
            <a:r>
              <a:rPr lang="en-US" sz="1400" dirty="0">
                <a:solidFill>
                  <a:srgbClr val="8FA3B8"/>
                </a:solidFill>
                <a:latin typeface="Calibri" pitchFamily="34" charset="0"/>
                <a:ea typeface="Calibri" pitchFamily="34" charset="-122"/>
                <a:cs typeface="Calibri" pitchFamily="34" charset="-120"/>
              </a:rPr>
              <a:t>Durations, counts, percentages and addresses are values, not identities - 300 identical checkout failures become one row with a count, not 300 rows.  </a:t>
            </a:r>
            <a:r>
              <a:rPr lang="en-US" sz="1400" b="1" dirty="0">
                <a:solidFill>
                  <a:srgbClr val="E8A33D"/>
                </a:solidFill>
                <a:latin typeface="Calibri" pitchFamily="34" charset="0"/>
                <a:ea typeface="Calibri" pitchFamily="34" charset="-122"/>
                <a:cs typeface="Calibri" pitchFamily="34" charset="-120"/>
              </a:rPr>
              <a:t>The honest cost: </a:t>
            </a:r>
            <a:r>
              <a:rPr lang="en-US" sz="1400" dirty="0">
                <a:solidFill>
                  <a:srgbClr val="8FA3B8"/>
                </a:solidFill>
                <a:latin typeface="Calibri" pitchFamily="34" charset="0"/>
                <a:ea typeface="Calibri" pitchFamily="34" charset="-122"/>
                <a:cs typeface="Calibri" pitchFamily="34" charset="-120"/>
              </a:rPr>
              <a:t>"Port 22 closed" and "Port 443 closed" collapse together too.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Follow one alert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594360" y="1645920"/>
            <a:ext cx="11002975" cy="1024128"/>
          </a:xfrm>
          <a:prstGeom prst="roundRect">
            <a:avLst>
              <a:gd name="adj" fmla="val 5357"/>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886968" y="1920240"/>
            <a:ext cx="475488" cy="475488"/>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txBox="1"/>
          <p:nvPr/>
        </p:nvSpPr>
        <p:spPr>
          <a:xfrm>
            <a:off x="886968" y="1920240"/>
            <a:ext cx="475488"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1554480" y="1828800"/>
            <a:ext cx="38404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An alert arrives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1554480" y="2212848"/>
            <a:ext cx="4023360"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Tool, what went wrong, and which machine.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5715000" y="1828800"/>
            <a:ext cx="566928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sql-watch  ·  Lock wait 3100 ms  ·  sql-prod-03</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1108710" y="2688336"/>
            <a:ext cx="32004" cy="27432"/>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rot="10800000">
            <a:off x="1056132" y="2715768"/>
            <a:ext cx="137160" cy="118872"/>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594360" y="2834640"/>
            <a:ext cx="11002975" cy="1024128"/>
          </a:xfrm>
          <a:prstGeom prst="roundRect">
            <a:avLst>
              <a:gd name="adj" fmla="val 5357"/>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886968" y="3108960"/>
            <a:ext cx="475488" cy="475488"/>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886968" y="3108960"/>
            <a:ext cx="475488"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1554480" y="3017520"/>
            <a:ext cx="38404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Pick the label to group 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txBox="1"/>
          <p:nvPr/>
        </p:nvSpPr>
        <p:spPr>
          <a:xfrm>
            <a:off x="1554480" y="3401568"/>
            <a:ext cx="4023360"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machine name if it has one. Otherwise the Azure resource, then the app name.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txBox="1"/>
          <p:nvPr/>
        </p:nvSpPr>
        <p:spPr>
          <a:xfrm>
            <a:off x="5715000" y="3017520"/>
            <a:ext cx="566928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A33D"/>
                </a:solidFill>
                <a:effectLst/>
                <a:uLnTx/>
                <a:uFillTx/>
                <a:latin typeface="Courier New" pitchFamily="34" charset="0"/>
                <a:ea typeface="Courier New" pitchFamily="34" charset="-122"/>
                <a:cs typeface="Courier New" pitchFamily="34" charset="-120"/>
              </a:rPr>
              <a:t>host:sql-prod-03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1108710" y="3877056"/>
            <a:ext cx="32004" cy="27432"/>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9"/>
          <p:cNvSpPr/>
          <p:nvPr/>
        </p:nvSpPr>
        <p:spPr>
          <a:xfrm rot="10800000">
            <a:off x="1056132" y="3904488"/>
            <a:ext cx="137160" cy="118872"/>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594360" y="4023360"/>
            <a:ext cx="11002975" cy="1024128"/>
          </a:xfrm>
          <a:prstGeom prst="roundRect">
            <a:avLst>
              <a:gd name="adj" fmla="val 5357"/>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1"/>
          <p:cNvSpPr/>
          <p:nvPr/>
        </p:nvSpPr>
        <p:spPr>
          <a:xfrm>
            <a:off x="886968" y="4297680"/>
            <a:ext cx="475488" cy="475488"/>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2"/>
          <p:cNvSpPr txBox="1"/>
          <p:nvPr/>
        </p:nvSpPr>
        <p:spPr>
          <a:xfrm>
            <a:off x="886968" y="4297680"/>
            <a:ext cx="475488"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1554480" y="4206240"/>
            <a:ext cx="38404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Turn the label into an id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txBox="1"/>
          <p:nvPr/>
        </p:nvSpPr>
        <p:spPr>
          <a:xfrm>
            <a:off x="1554480" y="4590288"/>
            <a:ext cx="4023360"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 hash of the label. Same label in, same id out - every time.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5715000" y="4206240"/>
            <a:ext cx="566928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6B98A"/>
                </a:solidFill>
                <a:effectLst/>
                <a:uLnTx/>
                <a:uFillTx/>
                <a:latin typeface="Courier New" pitchFamily="34" charset="0"/>
                <a:ea typeface="Courier New" pitchFamily="34" charset="-122"/>
                <a:cs typeface="Courier New" pitchFamily="34" charset="-120"/>
              </a:rPr>
              <a:t>inc-de92ae29a9bb</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594360" y="5303520"/>
            <a:ext cx="11002975" cy="868680"/>
          </a:xfrm>
          <a:prstGeom prst="roundRect">
            <a:avLst>
              <a:gd name="adj" fmla="val 631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7"/>
          <p:cNvSpPr txBox="1"/>
          <p:nvPr/>
        </p:nvSpPr>
        <p:spPr>
          <a:xfrm>
            <a:off x="868680" y="5504688"/>
            <a:ext cx="10454335"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next alert about sql-prod-03 - from any tool - computes </a:t>
            </a:r>
            <a:r>
              <a:rPr kumimoji="0" lang="en-US" sz="1700" b="1" i="0" u="none" strike="noStrike" kern="1200" cap="none" spc="0" normalizeH="0" baseline="0" noProof="0" dirty="0">
                <a:ln>
                  <a:noFill/>
                </a:ln>
                <a:solidFill>
                  <a:srgbClr val="46B98A"/>
                </a:solidFill>
                <a:effectLst/>
                <a:uLnTx/>
                <a:uFillTx/>
                <a:latin typeface="Courier New" pitchFamily="34" charset="0"/>
                <a:ea typeface="Courier New" pitchFamily="34" charset="-122"/>
                <a:cs typeface="Courier New" pitchFamily="34" charset="-120"/>
              </a:rPr>
              <a:t>inc-de92ae29a9bb</a:t>
            </a:r>
            <a:r>
              <a:rPr kumimoji="0" lang="en-US" sz="17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too.  </a:t>
            </a: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Same incident, and nobody had to look anything up.</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0">
            <a:extLst>
              <a:ext uri="{FF2B5EF4-FFF2-40B4-BE49-F238E27FC236}">
                <a16:creationId xmlns:a16="http://schemas.microsoft.com/office/drawing/2014/main" id="{1B51632C-B042-2DED-92A8-E1E465AE31A3}"/>
              </a:ext>
            </a:extLst>
          </p:cNvPr>
          <p:cNvSpPr txBox="1"/>
          <p:nvPr/>
        </p:nvSpPr>
        <p:spPr>
          <a:xfrm>
            <a:off x="594360" y="324612"/>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CORRELATION.PSM1  ·  IS THIS THE SAME INCIDENT?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CORRELATION.PSM1  ·  IS THIS THE SAME INCIDENT?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Identity is derived, not invented</a:t>
            </a:r>
            <a:endParaRPr lang="en-US" sz="3600" dirty="0"/>
          </a:p>
        </p:txBody>
      </p:sp>
      <p:sp>
        <p:nvSpPr>
          <p:cNvPr id="5" name="Shape 2"/>
          <p:cNvSpPr/>
          <p:nvPr/>
        </p:nvSpPr>
        <p:spPr>
          <a:xfrm>
            <a:off x="594360" y="1783080"/>
            <a:ext cx="11002975" cy="2712842"/>
          </a:xfrm>
          <a:prstGeom prst="roundRect">
            <a:avLst>
              <a:gd name="adj" fmla="val 2022"/>
            </a:avLst>
          </a:prstGeom>
          <a:solidFill>
            <a:srgbClr val="19242F"/>
          </a:solidFill>
          <a:ln/>
        </p:spPr>
        <p:txBody>
          <a:bodyPr/>
          <a:lstStyle/>
          <a:p>
            <a:endParaRPr/>
          </a:p>
        </p:txBody>
      </p:sp>
      <p:sp>
        <p:nvSpPr>
          <p:cNvPr id="6" name="Text 3"/>
          <p:cNvSpPr txBox="1"/>
          <p:nvPr/>
        </p:nvSpPr>
        <p:spPr>
          <a:xfrm>
            <a:off x="914400" y="2011680"/>
            <a:ext cx="10362895" cy="287670"/>
          </a:xfrm>
          <a:prstGeom prst="rect">
            <a:avLst/>
          </a:prstGeom>
          <a:noFill/>
          <a:ln/>
        </p:spPr>
        <p:txBody>
          <a:bodyPr wrap="square" lIns="0" tIns="0" rIns="0" bIns="0" rtlCol="0" anchor="ctr"/>
          <a:lstStyle/>
          <a:p>
            <a:pPr marL="0" indent="0">
              <a:buNone/>
            </a:pPr>
            <a:r>
              <a:rPr lang="en-US" sz="1300" dirty="0">
                <a:solidFill>
                  <a:srgbClr val="E9EFF6"/>
                </a:solidFill>
                <a:latin typeface="Courier New" pitchFamily="34" charset="0"/>
                <a:ea typeface="Courier New" pitchFamily="34" charset="-122"/>
                <a:cs typeface="Courier New" pitchFamily="34" charset="-120"/>
              </a:rPr>
              <a:t>function Get-PrimaryKey {</a:t>
            </a:r>
            <a:endParaRPr lang="en-US" sz="1300" dirty="0"/>
          </a:p>
        </p:txBody>
      </p:sp>
      <p:sp>
        <p:nvSpPr>
          <p:cNvPr id="7" name="Text 4"/>
          <p:cNvSpPr txBox="1"/>
          <p:nvPr/>
        </p:nvSpPr>
        <p:spPr>
          <a:xfrm>
            <a:off x="914400" y="2299350"/>
            <a:ext cx="10362895" cy="287670"/>
          </a:xfrm>
          <a:prstGeom prst="rect">
            <a:avLst/>
          </a:prstGeom>
          <a:noFill/>
          <a:ln/>
        </p:spPr>
        <p:txBody>
          <a:bodyPr wrap="square" lIns="0" tIns="0" rIns="0" bIns="0" rtlCol="0" anchor="ctr"/>
          <a:lstStyle/>
          <a:p>
            <a:pPr marL="0" indent="0">
              <a:buNone/>
            </a:pPr>
            <a:r>
              <a:rPr lang="en-US" sz="1300" dirty="0">
                <a:solidFill>
                  <a:srgbClr val="E8A33D"/>
                </a:solidFill>
                <a:latin typeface="Courier New" pitchFamily="34" charset="0"/>
                <a:ea typeface="Courier New" pitchFamily="34" charset="-122"/>
                <a:cs typeface="Courier New" pitchFamily="34" charset="-120"/>
              </a:rPr>
              <a:t>    if ($Event.Host)       { return "host:$($Event.Host)" }             # a machine name</a:t>
            </a:r>
            <a:endParaRPr lang="en-US" sz="1300" dirty="0"/>
          </a:p>
        </p:txBody>
      </p:sp>
      <p:sp>
        <p:nvSpPr>
          <p:cNvPr id="8" name="Text 5"/>
          <p:cNvSpPr txBox="1"/>
          <p:nvPr/>
        </p:nvSpPr>
        <p:spPr>
          <a:xfrm>
            <a:off x="914400" y="2587020"/>
            <a:ext cx="10362895" cy="287670"/>
          </a:xfrm>
          <a:prstGeom prst="rect">
            <a:avLst/>
          </a:prstGeom>
          <a:noFill/>
          <a:ln/>
        </p:spPr>
        <p:txBody>
          <a:bodyPr wrap="square" lIns="0" tIns="0" rIns="0" bIns="0" rtlCol="0" anchor="ctr"/>
          <a:lstStyle/>
          <a:p>
            <a:pPr marL="0" indent="0">
              <a:buNone/>
            </a:pPr>
            <a:r>
              <a:rPr lang="en-US" sz="1300" dirty="0">
                <a:solidFill>
                  <a:srgbClr val="8FA3B8"/>
                </a:solidFill>
                <a:latin typeface="Courier New" pitchFamily="34" charset="0"/>
                <a:ea typeface="Courier New" pitchFamily="34" charset="-122"/>
                <a:cs typeface="Courier New" pitchFamily="34" charset="-120"/>
              </a:rPr>
              <a:t>    if ($Event.ResourceId) { return "resource:$($Event.ResourceId)" }   # an Azure resource</a:t>
            </a:r>
            <a:endParaRPr lang="en-US" sz="1300" dirty="0"/>
          </a:p>
        </p:txBody>
      </p:sp>
      <p:sp>
        <p:nvSpPr>
          <p:cNvPr id="9" name="Text 6"/>
          <p:cNvSpPr txBox="1"/>
          <p:nvPr/>
        </p:nvSpPr>
        <p:spPr>
          <a:xfrm>
            <a:off x="914400" y="2874691"/>
            <a:ext cx="10362895" cy="287670"/>
          </a:xfrm>
          <a:prstGeom prst="rect">
            <a:avLst/>
          </a:prstGeom>
          <a:noFill/>
          <a:ln/>
        </p:spPr>
        <p:txBody>
          <a:bodyPr wrap="square" lIns="0" tIns="0" rIns="0" bIns="0" rtlCol="0" anchor="ctr"/>
          <a:lstStyle/>
          <a:p>
            <a:pPr marL="0" indent="0">
              <a:buNone/>
            </a:pPr>
            <a:r>
              <a:rPr lang="en-US" sz="1300" dirty="0">
                <a:solidFill>
                  <a:srgbClr val="8FA3B8"/>
                </a:solidFill>
                <a:latin typeface="Courier New" pitchFamily="34" charset="0"/>
                <a:ea typeface="Courier New" pitchFamily="34" charset="-122"/>
                <a:cs typeface="Courier New" pitchFamily="34" charset="-120"/>
              </a:rPr>
              <a:t>    if ($Event.Service)    { return "service:$($Event.Service)" }       # a role, when there is no host</a:t>
            </a:r>
            <a:endParaRPr lang="en-US" sz="1300" dirty="0"/>
          </a:p>
        </p:txBody>
      </p:sp>
      <p:sp>
        <p:nvSpPr>
          <p:cNvPr id="10" name="Text 7"/>
          <p:cNvSpPr txBox="1"/>
          <p:nvPr/>
        </p:nvSpPr>
        <p:spPr>
          <a:xfrm>
            <a:off x="914400" y="3162361"/>
            <a:ext cx="10362895" cy="287670"/>
          </a:xfrm>
          <a:prstGeom prst="rect">
            <a:avLst/>
          </a:prstGeom>
          <a:noFill/>
          <a:ln/>
        </p:spPr>
        <p:txBody>
          <a:bodyPr wrap="square" lIns="0" tIns="0" rIns="0" bIns="0" rtlCol="0" anchor="ctr"/>
          <a:lstStyle/>
          <a:p>
            <a:pPr marL="0" indent="0">
              <a:buNone/>
            </a:pPr>
            <a:r>
              <a:rPr lang="en-US" sz="1300" dirty="0">
                <a:solidFill>
                  <a:srgbClr val="7C90A6"/>
                </a:solidFill>
                <a:latin typeface="Courier New" pitchFamily="34" charset="0"/>
                <a:ea typeface="Courier New" pitchFamily="34" charset="-122"/>
                <a:cs typeface="Courier New" pitchFamily="34" charset="-120"/>
              </a:rPr>
              <a:t>    if ($Event.TraceId)    { return "trace:$($Event.TraceId)" }         # last: one per request</a:t>
            </a:r>
            <a:endParaRPr lang="en-US" sz="1300" dirty="0"/>
          </a:p>
        </p:txBody>
      </p:sp>
      <p:sp>
        <p:nvSpPr>
          <p:cNvPr id="11" name="Text 8"/>
          <p:cNvSpPr txBox="1"/>
          <p:nvPr/>
        </p:nvSpPr>
        <p:spPr>
          <a:xfrm>
            <a:off x="914400" y="3450031"/>
            <a:ext cx="10362895" cy="287670"/>
          </a:xfrm>
          <a:prstGeom prst="rect">
            <a:avLst/>
          </a:prstGeom>
          <a:noFill/>
          <a:ln/>
        </p:spPr>
        <p:txBody>
          <a:bodyPr wrap="square" lIns="0" tIns="0" rIns="0" bIns="0" rtlCol="0" anchor="ctr"/>
          <a:lstStyle/>
          <a:p>
            <a:pPr marL="0" indent="0">
              <a:buNone/>
            </a:pPr>
            <a:r>
              <a:rPr lang="en-US" sz="1300" dirty="0">
                <a:solidFill>
                  <a:srgbClr val="E9EFF6"/>
                </a:solidFill>
                <a:latin typeface="Courier New" pitchFamily="34" charset="0"/>
                <a:ea typeface="Courier New" pitchFamily="34" charset="-122"/>
                <a:cs typeface="Courier New" pitchFamily="34" charset="-120"/>
              </a:rPr>
              <a:t>}</a:t>
            </a:r>
            <a:endParaRPr lang="en-US" sz="1300" dirty="0"/>
          </a:p>
        </p:txBody>
      </p:sp>
      <p:sp>
        <p:nvSpPr>
          <p:cNvPr id="12" name="Text 9"/>
          <p:cNvSpPr txBox="1"/>
          <p:nvPr/>
        </p:nvSpPr>
        <p:spPr>
          <a:xfrm>
            <a:off x="914400" y="3737701"/>
            <a:ext cx="10362895" cy="287670"/>
          </a:xfrm>
          <a:prstGeom prst="rect">
            <a:avLst/>
          </a:prstGeom>
          <a:noFill/>
          <a:ln/>
        </p:spPr>
        <p:txBody>
          <a:bodyPr wrap="square" lIns="0" tIns="0" rIns="0" bIns="0" rtlCol="0" anchor="ctr"/>
          <a:lstStyle/>
          <a:p>
            <a:pPr marL="0" indent="0">
              <a:buNone/>
            </a:pPr>
            <a:endParaRPr lang="en-US" sz="1300" dirty="0"/>
          </a:p>
        </p:txBody>
      </p:sp>
      <p:sp>
        <p:nvSpPr>
          <p:cNvPr id="13" name="Text 10"/>
          <p:cNvSpPr txBox="1"/>
          <p:nvPr/>
        </p:nvSpPr>
        <p:spPr>
          <a:xfrm>
            <a:off x="914400" y="4025372"/>
            <a:ext cx="10362895" cy="287670"/>
          </a:xfrm>
          <a:prstGeom prst="rect">
            <a:avLst/>
          </a:prstGeom>
          <a:noFill/>
          <a:ln/>
        </p:spPr>
        <p:txBody>
          <a:bodyPr wrap="square" lIns="0" tIns="0" rIns="0" bIns="0" rtlCol="0" anchor="ctr"/>
          <a:lstStyle/>
          <a:p>
            <a:pPr marL="0" indent="0">
              <a:buNone/>
            </a:pPr>
            <a:r>
              <a:rPr lang="en-US" sz="1300" dirty="0">
                <a:solidFill>
                  <a:srgbClr val="46B98A"/>
                </a:solidFill>
                <a:latin typeface="Courier New" pitchFamily="34" charset="0"/>
                <a:ea typeface="Courier New" pitchFamily="34" charset="-122"/>
                <a:cs typeface="Courier New" pitchFamily="34" charset="-120"/>
              </a:rPr>
              <a:t>$incidentId = 'inc-' + (Sha256 $primaryKey).Substring(0, 12)</a:t>
            </a:r>
            <a:endParaRPr lang="en-US" sz="1300" dirty="0"/>
          </a:p>
        </p:txBody>
      </p:sp>
      <p:sp>
        <p:nvSpPr>
          <p:cNvPr id="14" name="Shape 11"/>
          <p:cNvSpPr/>
          <p:nvPr/>
        </p:nvSpPr>
        <p:spPr>
          <a:xfrm>
            <a:off x="594360" y="4815962"/>
            <a:ext cx="11002975" cy="1188720"/>
          </a:xfrm>
          <a:prstGeom prst="roundRect">
            <a:avLst>
              <a:gd name="adj" fmla="val 4615"/>
            </a:avLst>
          </a:prstGeom>
          <a:solidFill>
            <a:srgbClr val="223140"/>
          </a:solidFill>
          <a:ln/>
        </p:spPr>
        <p:txBody>
          <a:bodyPr/>
          <a:lstStyle/>
          <a:p>
            <a:endParaRPr/>
          </a:p>
        </p:txBody>
      </p:sp>
      <p:sp>
        <p:nvSpPr>
          <p:cNvPr id="15" name="Text 12"/>
          <p:cNvSpPr txBox="1"/>
          <p:nvPr/>
        </p:nvSpPr>
        <p:spPr>
          <a:xfrm>
            <a:off x="868680" y="5017130"/>
            <a:ext cx="10454335" cy="822960"/>
          </a:xfrm>
          <a:prstGeom prst="rect">
            <a:avLst/>
          </a:prstGeom>
          <a:noFill/>
          <a:ln/>
        </p:spPr>
        <p:txBody>
          <a:bodyPr wrap="square" lIns="0" tIns="0" rIns="0" bIns="0" rtlCol="0" anchor="t"/>
          <a:lstStyle/>
          <a:p>
            <a:pPr marL="0" indent="0">
              <a:buNone/>
            </a:pPr>
            <a:r>
              <a:rPr lang="en-US" sz="1600" b="1" dirty="0">
                <a:solidFill>
                  <a:srgbClr val="46B98A"/>
                </a:solidFill>
                <a:latin typeface="Calibri" pitchFamily="34" charset="0"/>
                <a:ea typeface="Calibri" pitchFamily="34" charset="-122"/>
                <a:cs typeface="Calibri" pitchFamily="34" charset="-120"/>
              </a:rPr>
              <a:t>First match wins, and the id is a hash of it. </a:t>
            </a:r>
            <a:r>
              <a:rPr lang="en-US" sz="1600" dirty="0">
                <a:solidFill>
                  <a:srgbClr val="E9EFF6"/>
                </a:solidFill>
                <a:latin typeface="Calibri" pitchFamily="34" charset="0"/>
                <a:ea typeface="Calibri" pitchFamily="34" charset="-122"/>
                <a:cs typeface="Calibri" pitchFamily="34" charset="-120"/>
              </a:rPr>
              <a:t>Four tools reporting sql-prod-03 all produce the same key, so they all produce the same incident id - nothing is looked up, nothing is generated, nothing can drift. The same host always lands in the same incident.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46B98A"/>
                </a:solidFill>
                <a:latin typeface="Calibri" pitchFamily="34" charset="0"/>
                <a:ea typeface="Calibri" pitchFamily="34" charset="-122"/>
                <a:cs typeface="Calibri" pitchFamily="34" charset="-120"/>
              </a:rPr>
              <a:t>THE PART WORTH ARGUING ABOUT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Instrumentation earns the correlation</a:t>
            </a:r>
            <a:endParaRPr lang="en-US" sz="3600" dirty="0"/>
          </a:p>
        </p:txBody>
      </p:sp>
      <p:sp>
        <p:nvSpPr>
          <p:cNvPr id="5" name="Shape 2"/>
          <p:cNvSpPr/>
          <p:nvPr/>
        </p:nvSpPr>
        <p:spPr>
          <a:xfrm>
            <a:off x="594360" y="1783080"/>
            <a:ext cx="5943600" cy="2834640"/>
          </a:xfrm>
          <a:prstGeom prst="roundRect">
            <a:avLst>
              <a:gd name="adj" fmla="val 1935"/>
            </a:avLst>
          </a:prstGeom>
          <a:solidFill>
            <a:srgbClr val="19242F"/>
          </a:solidFill>
          <a:ln/>
        </p:spPr>
        <p:txBody>
          <a:bodyPr/>
          <a:lstStyle/>
          <a:p>
            <a:endParaRPr lang="en-US"/>
          </a:p>
        </p:txBody>
      </p:sp>
      <p:sp>
        <p:nvSpPr>
          <p:cNvPr id="6" name="Text 3"/>
          <p:cNvSpPr txBox="1"/>
          <p:nvPr/>
        </p:nvSpPr>
        <p:spPr>
          <a:xfrm>
            <a:off x="868680" y="1920240"/>
            <a:ext cx="5394960" cy="274320"/>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store_api.py</a:t>
            </a:r>
            <a:endParaRPr lang="en-US" sz="1200" dirty="0"/>
          </a:p>
        </p:txBody>
      </p:sp>
      <p:sp>
        <p:nvSpPr>
          <p:cNvPr id="7" name="Text 4"/>
          <p:cNvSpPr txBox="1"/>
          <p:nvPr/>
        </p:nvSpPr>
        <p:spPr>
          <a:xfrm>
            <a:off x="868680" y="2240280"/>
            <a:ext cx="5394960" cy="246888"/>
          </a:xfrm>
          <a:prstGeom prst="rect">
            <a:avLst/>
          </a:prstGeom>
          <a:noFill/>
          <a:ln/>
        </p:spPr>
        <p:txBody>
          <a:bodyPr wrap="square" lIns="0" tIns="0" rIns="0" bIns="0" rtlCol="0" anchor="ctr"/>
          <a:lstStyle/>
          <a:p>
            <a:pPr marL="0" indent="0">
              <a:buNone/>
            </a:pPr>
            <a:r>
              <a:rPr lang="en-US" sz="1200" dirty="0">
                <a:solidFill>
                  <a:srgbClr val="E9EFF6"/>
                </a:solidFill>
                <a:latin typeface="Courier New" pitchFamily="34" charset="0"/>
                <a:ea typeface="Courier New" pitchFamily="34" charset="-122"/>
                <a:cs typeface="Courier New" pitchFamily="34" charset="-120"/>
              </a:rPr>
              <a:t>with tracer.start_as_current_span(</a:t>
            </a:r>
            <a:endParaRPr lang="en-US" sz="1200" dirty="0"/>
          </a:p>
        </p:txBody>
      </p:sp>
      <p:sp>
        <p:nvSpPr>
          <p:cNvPr id="8" name="Text 5"/>
          <p:cNvSpPr txBox="1"/>
          <p:nvPr/>
        </p:nvSpPr>
        <p:spPr>
          <a:xfrm>
            <a:off x="868680" y="2505456"/>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"SELECT payments.pending",</a:t>
            </a:r>
            <a:endParaRPr lang="en-US" sz="1200" dirty="0"/>
          </a:p>
        </p:txBody>
      </p:sp>
      <p:sp>
        <p:nvSpPr>
          <p:cNvPr id="9" name="Text 6"/>
          <p:cNvSpPr txBox="1"/>
          <p:nvPr/>
        </p:nvSpPr>
        <p:spPr>
          <a:xfrm>
            <a:off x="868680" y="2770632"/>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kind=trace.SpanKind.CLIENT,</a:t>
            </a:r>
            <a:endParaRPr lang="en-US" sz="1200" dirty="0"/>
          </a:p>
        </p:txBody>
      </p:sp>
      <p:sp>
        <p:nvSpPr>
          <p:cNvPr id="10" name="Text 7"/>
          <p:cNvSpPr txBox="1"/>
          <p:nvPr/>
        </p:nvSpPr>
        <p:spPr>
          <a:xfrm>
            <a:off x="868680" y="3035808"/>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attributes={</a:t>
            </a:r>
            <a:endParaRPr lang="en-US" sz="1200" dirty="0"/>
          </a:p>
        </p:txBody>
      </p:sp>
      <p:sp>
        <p:nvSpPr>
          <p:cNvPr id="11" name="Text 8"/>
          <p:cNvSpPr txBox="1"/>
          <p:nvPr/>
        </p:nvSpPr>
        <p:spPr>
          <a:xfrm>
            <a:off x="868680" y="3300984"/>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"db.system": "mssql",</a:t>
            </a:r>
            <a:endParaRPr lang="en-US" sz="1200" dirty="0"/>
          </a:p>
        </p:txBody>
      </p:sp>
      <p:sp>
        <p:nvSpPr>
          <p:cNvPr id="12" name="Text 9"/>
          <p:cNvSpPr txBox="1"/>
          <p:nvPr/>
        </p:nvSpPr>
        <p:spPr>
          <a:xfrm>
            <a:off x="868680" y="3566160"/>
            <a:ext cx="5394960" cy="246888"/>
          </a:xfrm>
          <a:prstGeom prst="rect">
            <a:avLst/>
          </a:prstGeom>
          <a:noFill/>
          <a:ln/>
        </p:spPr>
        <p:txBody>
          <a:bodyPr wrap="square" lIns="0" tIns="0" rIns="0" bIns="0" rtlCol="0" anchor="ctr"/>
          <a:lstStyle/>
          <a:p>
            <a:pPr marL="0" indent="0">
              <a:buNone/>
            </a:pPr>
            <a:r>
              <a:rPr lang="en-US" sz="1200" dirty="0">
                <a:solidFill>
                  <a:srgbClr val="46B98A"/>
                </a:solidFill>
                <a:latin typeface="Courier New" pitchFamily="34" charset="0"/>
                <a:ea typeface="Courier New" pitchFamily="34" charset="-122"/>
                <a:cs typeface="Courier New" pitchFamily="34" charset="-120"/>
              </a:rPr>
              <a:t>        "server.address": "sql-prod-03",</a:t>
            </a:r>
            <a:endParaRPr lang="en-US" sz="1200" dirty="0"/>
          </a:p>
        </p:txBody>
      </p:sp>
      <p:sp>
        <p:nvSpPr>
          <p:cNvPr id="13" name="Text 10"/>
          <p:cNvSpPr txBox="1"/>
          <p:nvPr/>
        </p:nvSpPr>
        <p:spPr>
          <a:xfrm>
            <a:off x="868680" y="3831336"/>
            <a:ext cx="5394960" cy="246888"/>
          </a:xfrm>
          <a:prstGeom prst="rect">
            <a:avLst/>
          </a:prstGeom>
          <a:noFill/>
          <a:ln/>
        </p:spPr>
        <p:txBody>
          <a:bodyPr wrap="square" lIns="0" tIns="0" rIns="0" bIns="0" rtlCol="0" anchor="ctr"/>
          <a:lstStyle/>
          <a:p>
            <a:pPr marL="0" indent="0">
              <a:buNone/>
            </a:pPr>
            <a:r>
              <a:rPr lang="en-US" sz="1200" dirty="0">
                <a:solidFill>
                  <a:srgbClr val="8FA3B8"/>
                </a:solidFill>
                <a:latin typeface="Courier New" pitchFamily="34" charset="0"/>
                <a:ea typeface="Courier New" pitchFamily="34" charset="-122"/>
                <a:cs typeface="Courier New" pitchFamily="34" charset="-120"/>
              </a:rPr>
              <a:t>    },</a:t>
            </a:r>
            <a:endParaRPr lang="en-US" sz="1200" dirty="0"/>
          </a:p>
        </p:txBody>
      </p:sp>
      <p:sp>
        <p:nvSpPr>
          <p:cNvPr id="14" name="Text 11"/>
          <p:cNvSpPr txBox="1"/>
          <p:nvPr/>
        </p:nvSpPr>
        <p:spPr>
          <a:xfrm>
            <a:off x="868680" y="4096512"/>
            <a:ext cx="5394960" cy="246888"/>
          </a:xfrm>
          <a:prstGeom prst="rect">
            <a:avLst/>
          </a:prstGeom>
          <a:noFill/>
          <a:ln/>
        </p:spPr>
        <p:txBody>
          <a:bodyPr wrap="square" lIns="0" tIns="0" rIns="0" bIns="0" rtlCol="0" anchor="ctr"/>
          <a:lstStyle/>
          <a:p>
            <a:pPr marL="0" indent="0">
              <a:buNone/>
            </a:pPr>
            <a:r>
              <a:rPr lang="en-US" sz="1200" dirty="0">
                <a:solidFill>
                  <a:srgbClr val="E9EFF6"/>
                </a:solidFill>
                <a:latin typeface="Courier New" pitchFamily="34" charset="0"/>
                <a:ea typeface="Courier New" pitchFamily="34" charset="-122"/>
                <a:cs typeface="Courier New" pitchFamily="34" charset="-120"/>
              </a:rPr>
              <a:t>):</a:t>
            </a:r>
            <a:endParaRPr lang="en-US" sz="1200" dirty="0"/>
          </a:p>
        </p:txBody>
      </p:sp>
      <p:sp>
        <p:nvSpPr>
          <p:cNvPr id="15" name="Shape 12"/>
          <p:cNvSpPr/>
          <p:nvPr/>
        </p:nvSpPr>
        <p:spPr>
          <a:xfrm>
            <a:off x="6903720" y="1783080"/>
            <a:ext cx="4709160" cy="2834640"/>
          </a:xfrm>
          <a:prstGeom prst="roundRect">
            <a:avLst>
              <a:gd name="adj" fmla="val 1935"/>
            </a:avLst>
          </a:prstGeom>
          <a:solidFill>
            <a:srgbClr val="223140"/>
          </a:solidFill>
          <a:ln/>
        </p:spPr>
        <p:txBody>
          <a:bodyPr/>
          <a:lstStyle/>
          <a:p>
            <a:endParaRPr lang="en-US"/>
          </a:p>
        </p:txBody>
      </p:sp>
      <p:sp>
        <p:nvSpPr>
          <p:cNvPr id="16" name="Text 13"/>
          <p:cNvSpPr txBox="1"/>
          <p:nvPr/>
        </p:nvSpPr>
        <p:spPr>
          <a:xfrm>
            <a:off x="7178040" y="1965960"/>
            <a:ext cx="4206240" cy="365760"/>
          </a:xfrm>
          <a:prstGeom prst="rect">
            <a:avLst/>
          </a:prstGeom>
          <a:noFill/>
          <a:ln/>
        </p:spPr>
        <p:txBody>
          <a:bodyPr wrap="square" lIns="0" tIns="0" rIns="0" bIns="0" rtlCol="0" anchor="ctr"/>
          <a:lstStyle/>
          <a:p>
            <a:pPr marL="0" indent="0">
              <a:buNone/>
            </a:pPr>
            <a:r>
              <a:rPr lang="en-US" sz="1900" b="1" dirty="0">
                <a:solidFill>
                  <a:srgbClr val="E9EFF6"/>
                </a:solidFill>
                <a:latin typeface="Calibri" pitchFamily="34" charset="0"/>
                <a:ea typeface="Calibri" pitchFamily="34" charset="-122"/>
                <a:cs typeface="Calibri" pitchFamily="34" charset="-120"/>
              </a:rPr>
              <a:t>What that buys</a:t>
            </a:r>
            <a:endParaRPr lang="en-US" sz="1900" dirty="0"/>
          </a:p>
        </p:txBody>
      </p:sp>
      <p:sp>
        <p:nvSpPr>
          <p:cNvPr id="17" name="Text 14"/>
          <p:cNvSpPr txBox="1"/>
          <p:nvPr/>
        </p:nvSpPr>
        <p:spPr>
          <a:xfrm>
            <a:off x="7223760" y="2468880"/>
            <a:ext cx="4114800" cy="19202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8FA3B8"/>
                </a:solidFill>
                <a:latin typeface="Calibri" pitchFamily="34" charset="0"/>
                <a:ea typeface="Calibri" pitchFamily="34" charset="-122"/>
                <a:cs typeface="Calibri" pitchFamily="34" charset="-120"/>
              </a:rPr>
              <a:t>App Insights exports the dependency with Target = sql-prod-03</a:t>
            </a:r>
            <a:endParaRPr lang="en-US" sz="1400" dirty="0"/>
          </a:p>
          <a:p>
            <a:pPr marL="342900" indent="-342900">
              <a:spcAft>
                <a:spcPts val="900"/>
              </a:spcAft>
              <a:buSzPct val="100000"/>
              <a:buChar char="•"/>
            </a:pPr>
            <a:r>
              <a:rPr lang="en-US" sz="1400" dirty="0">
                <a:solidFill>
                  <a:srgbClr val="8FA3B8"/>
                </a:solidFill>
                <a:latin typeface="Calibri" pitchFamily="34" charset="0"/>
                <a:ea typeface="Calibri" pitchFamily="34" charset="-122"/>
                <a:cs typeface="Calibri" pitchFamily="34" charset="-120"/>
              </a:rPr>
              <a:t>The pipeline reads that as a host</a:t>
            </a:r>
            <a:endParaRPr lang="en-US" sz="1400" dirty="0"/>
          </a:p>
          <a:p>
            <a:pPr marL="342900" indent="-342900">
              <a:spcAft>
                <a:spcPts val="900"/>
              </a:spcAft>
              <a:buSzPct val="100000"/>
              <a:buChar char="•"/>
            </a:pPr>
            <a:r>
              <a:rPr lang="en-US" sz="1400" dirty="0">
                <a:solidFill>
                  <a:srgbClr val="8FA3B8"/>
                </a:solidFill>
                <a:latin typeface="Calibri" pitchFamily="34" charset="0"/>
                <a:ea typeface="Calibri" pitchFamily="34" charset="-122"/>
                <a:cs typeface="Calibri" pitchFamily="34" charset="-120"/>
              </a:rPr>
              <a:t>The app's failure joins the database's incident</a:t>
            </a:r>
            <a:endParaRPr lang="en-US" sz="1400" dirty="0"/>
          </a:p>
          <a:p>
            <a:pPr marL="342900" indent="-342900">
              <a:spcAft>
                <a:spcPts val="900"/>
              </a:spcAft>
              <a:buSzPct val="100000"/>
              <a:buChar char="•"/>
            </a:pPr>
            <a:r>
              <a:rPr lang="en-US" sz="1400" b="1" dirty="0">
                <a:solidFill>
                  <a:srgbClr val="46B98A"/>
                </a:solidFill>
                <a:latin typeface="Calibri" pitchFamily="34" charset="0"/>
                <a:ea typeface="Calibri" pitchFamily="34" charset="-122"/>
                <a:cs typeface="Calibri" pitchFamily="34" charset="-120"/>
              </a:rPr>
              <a:t>No model. No prompt. No tokens.</a:t>
            </a:r>
            <a:endParaRPr lang="en-US" sz="1400" dirty="0"/>
          </a:p>
        </p:txBody>
      </p:sp>
      <p:sp>
        <p:nvSpPr>
          <p:cNvPr id="18" name="Shape 15"/>
          <p:cNvSpPr/>
          <p:nvPr/>
        </p:nvSpPr>
        <p:spPr>
          <a:xfrm>
            <a:off x="594360" y="4846320"/>
            <a:ext cx="11018520" cy="914400"/>
          </a:xfrm>
          <a:prstGeom prst="roundRect">
            <a:avLst>
              <a:gd name="adj" fmla="val 6000"/>
            </a:avLst>
          </a:prstGeom>
          <a:solidFill>
            <a:srgbClr val="19242F"/>
          </a:solidFill>
          <a:ln/>
        </p:spPr>
        <p:txBody>
          <a:bodyPr/>
          <a:lstStyle/>
          <a:p>
            <a:endParaRPr lang="en-US"/>
          </a:p>
        </p:txBody>
      </p:sp>
      <p:sp>
        <p:nvSpPr>
          <p:cNvPr id="19" name="Text 16"/>
          <p:cNvSpPr txBox="1"/>
          <p:nvPr/>
        </p:nvSpPr>
        <p:spPr>
          <a:xfrm>
            <a:off x="868680" y="5074920"/>
            <a:ext cx="10424160" cy="502920"/>
          </a:xfrm>
          <a:prstGeom prst="rect">
            <a:avLst/>
          </a:prstGeom>
          <a:noFill/>
          <a:ln/>
        </p:spPr>
        <p:txBody>
          <a:bodyPr wrap="square" lIns="0" tIns="0" rIns="0" bIns="0" rtlCol="0" anchor="ctr"/>
          <a:lstStyle/>
          <a:p>
            <a:pPr marL="0" indent="0">
              <a:buNone/>
            </a:pPr>
            <a:r>
              <a:rPr lang="en-US" sz="1700" b="1" dirty="0">
                <a:solidFill>
                  <a:srgbClr val="46B98A"/>
                </a:solidFill>
                <a:latin typeface="Calibri" pitchFamily="34" charset="0"/>
                <a:ea typeface="Calibri" pitchFamily="34" charset="-122"/>
                <a:cs typeface="Calibri" pitchFamily="34" charset="-120"/>
              </a:rPr>
              <a:t>Instrument properly and you need less AI. </a:t>
            </a:r>
            <a:r>
              <a:rPr lang="en-US" sz="1700" dirty="0">
                <a:solidFill>
                  <a:srgbClr val="E9EFF6"/>
                </a:solidFill>
                <a:latin typeface="Calibri" pitchFamily="34" charset="0"/>
                <a:ea typeface="Calibri" pitchFamily="34" charset="-122"/>
                <a:cs typeface="Calibri" pitchFamily="34" charset="-120"/>
              </a:rPr>
              <a:t>Shared keys are earned by good telemetry. The model is for the link nothing emitted.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0E1621"/>
        </a:solidFill>
        <a:effectLst/>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5100C"/>
          </a:solidFill>
          <a:ln/>
        </p:spPr>
        <p:txBody>
          <a:bodyPr/>
          <a:lstStyle/>
          <a:p>
            <a:endParaRPr lang="en-US"/>
          </a:p>
        </p:txBody>
      </p:sp>
      <p:sp>
        <p:nvSpPr>
          <p:cNvPr id="4" name="Text 1"/>
          <p:cNvSpPr txBox="1"/>
          <p:nvPr/>
        </p:nvSpPr>
        <p:spPr>
          <a:xfrm>
            <a:off x="594360" y="2057400"/>
            <a:ext cx="5486400" cy="411480"/>
          </a:xfrm>
          <a:prstGeom prst="rect">
            <a:avLst/>
          </a:prstGeom>
          <a:noFill/>
          <a:ln/>
        </p:spPr>
        <p:txBody>
          <a:bodyPr wrap="square" lIns="0" tIns="0" rIns="0" bIns="0" rtlCol="0" anchor="ctr"/>
          <a:lstStyle/>
          <a:p>
            <a:pPr marL="0" indent="0">
              <a:buNone/>
            </a:pPr>
            <a:r>
              <a:rPr lang="en-US" sz="1600" b="1" kern="0" spc="500" dirty="0">
                <a:solidFill>
                  <a:srgbClr val="E8A33D"/>
                </a:solidFill>
                <a:latin typeface="Calibri" pitchFamily="34" charset="0"/>
                <a:ea typeface="Calibri" pitchFamily="34" charset="-122"/>
                <a:cs typeface="Calibri" pitchFamily="34" charset="-120"/>
              </a:rPr>
              <a:t>DEMO 2</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What arithmetic alone can do</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179 events collapse to 26 distinct symptoms, then 13 incidents</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Four tools reporting sql-prod-03 arrive as one incident</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The laptop app sits inside it, because its span named the host</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And the room still cannot see the cause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SAME PROBLEM?  ·  WHERE THE MODEL EARNS IT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Some links only exist in the words</a:t>
            </a:r>
            <a:endParaRPr lang="en-US" sz="3600" dirty="0"/>
          </a:p>
        </p:txBody>
      </p:sp>
      <p:sp>
        <p:nvSpPr>
          <p:cNvPr id="5" name="Shape 2"/>
          <p:cNvSpPr/>
          <p:nvPr/>
        </p:nvSpPr>
        <p:spPr>
          <a:xfrm>
            <a:off x="594360" y="1828800"/>
            <a:ext cx="5257800" cy="1417320"/>
          </a:xfrm>
          <a:prstGeom prst="roundRect">
            <a:avLst>
              <a:gd name="adj" fmla="val 3871"/>
            </a:avLst>
          </a:prstGeom>
          <a:solidFill>
            <a:srgbClr val="19242F"/>
          </a:solidFill>
          <a:ln/>
        </p:spPr>
        <p:txBody>
          <a:bodyPr/>
          <a:lstStyle/>
          <a:p>
            <a:endParaRPr lang="en-US"/>
          </a:p>
        </p:txBody>
      </p:sp>
      <p:sp>
        <p:nvSpPr>
          <p:cNvPr id="6" name="Shape 3"/>
          <p:cNvSpPr/>
          <p:nvPr/>
        </p:nvSpPr>
        <p:spPr>
          <a:xfrm>
            <a:off x="868680" y="2084832"/>
            <a:ext cx="201168" cy="201168"/>
          </a:xfrm>
          <a:prstGeom prst="ellipse">
            <a:avLst/>
          </a:prstGeom>
          <a:solidFill>
            <a:srgbClr val="E8A33D"/>
          </a:solidFill>
          <a:ln/>
        </p:spPr>
        <p:txBody>
          <a:bodyPr/>
          <a:lstStyle/>
          <a:p>
            <a:endParaRPr lang="en-US"/>
          </a:p>
        </p:txBody>
      </p:sp>
      <p:sp>
        <p:nvSpPr>
          <p:cNvPr id="7" name="Text 4"/>
          <p:cNvSpPr txBox="1"/>
          <p:nvPr/>
        </p:nvSpPr>
        <p:spPr>
          <a:xfrm>
            <a:off x="1216152" y="1993392"/>
            <a:ext cx="4206240" cy="365760"/>
          </a:xfrm>
          <a:prstGeom prst="rect">
            <a:avLst/>
          </a:prstGeom>
          <a:noFill/>
          <a:ln/>
        </p:spPr>
        <p:txBody>
          <a:bodyPr wrap="square" lIns="0" tIns="0" rIns="0" bIns="0" rtlCol="0" anchor="ctr"/>
          <a:lstStyle/>
          <a:p>
            <a:pPr marL="0" indent="0">
              <a:buNone/>
            </a:pPr>
            <a:r>
              <a:rPr lang="en-US" sz="1500" b="1" dirty="0">
                <a:solidFill>
                  <a:srgbClr val="E9EFF6"/>
                </a:solidFill>
                <a:latin typeface="Courier New" pitchFamily="34" charset="0"/>
                <a:ea typeface="Courier New" pitchFamily="34" charset="-122"/>
                <a:cs typeface="Courier New" pitchFamily="34" charset="-120"/>
              </a:rPr>
              <a:t>backup-01</a:t>
            </a:r>
            <a:endParaRPr lang="en-US" sz="1500" dirty="0"/>
          </a:p>
        </p:txBody>
      </p:sp>
      <p:sp>
        <p:nvSpPr>
          <p:cNvPr id="8" name="Text 5"/>
          <p:cNvSpPr txBox="1"/>
          <p:nvPr/>
        </p:nvSpPr>
        <p:spPr>
          <a:xfrm>
            <a:off x="868680" y="2450592"/>
            <a:ext cx="4709160" cy="640080"/>
          </a:xfrm>
          <a:prstGeom prst="rect">
            <a:avLst/>
          </a:prstGeom>
          <a:noFill/>
          <a:ln/>
        </p:spPr>
        <p:txBody>
          <a:bodyPr wrap="square" lIns="0" tIns="0" rIns="0" bIns="0" rtlCol="0" anchor="ctr"/>
          <a:lstStyle/>
          <a:p>
            <a:pPr marL="0" indent="0">
              <a:lnSpc>
                <a:spcPts val="1800"/>
              </a:lnSpc>
              <a:buNone/>
            </a:pPr>
            <a:r>
              <a:rPr lang="en-US" sz="1200" dirty="0">
                <a:solidFill>
                  <a:srgbClr val="8FA3B8"/>
                </a:solidFill>
                <a:latin typeface="Courier New" pitchFamily="34" charset="0"/>
                <a:ea typeface="Courier New" pitchFamily="34" charset="-122"/>
                <a:cs typeface="Courier New" pitchFamily="34" charset="-120"/>
              </a:rPr>
              <a:t>"Nightly backup of sql-prod-03 still running,</a:t>
            </a:r>
            <a:endParaRPr lang="en-US" sz="1200" dirty="0"/>
          </a:p>
          <a:p>
            <a:pPr marL="0" indent="0">
              <a:lnSpc>
                <a:spcPts val="1800"/>
              </a:lnSpc>
              <a:buNone/>
            </a:pPr>
            <a:r>
              <a:rPr lang="en-US" sz="1200" dirty="0">
                <a:solidFill>
                  <a:srgbClr val="8FA3B8"/>
                </a:solidFill>
                <a:latin typeface="Courier New" pitchFamily="34" charset="0"/>
                <a:ea typeface="Courier New" pitchFamily="34" charset="-122"/>
                <a:cs typeface="Courier New" pitchFamily="34" charset="-120"/>
              </a:rPr>
              <a:t>4 hours over window"</a:t>
            </a:r>
            <a:endParaRPr lang="en-US" sz="1200" dirty="0"/>
          </a:p>
        </p:txBody>
      </p:sp>
      <p:sp>
        <p:nvSpPr>
          <p:cNvPr id="9" name="Shape 6"/>
          <p:cNvSpPr/>
          <p:nvPr/>
        </p:nvSpPr>
        <p:spPr>
          <a:xfrm>
            <a:off x="6355080" y="1828800"/>
            <a:ext cx="5257800" cy="1417320"/>
          </a:xfrm>
          <a:prstGeom prst="roundRect">
            <a:avLst>
              <a:gd name="adj" fmla="val 3871"/>
            </a:avLst>
          </a:prstGeom>
          <a:solidFill>
            <a:srgbClr val="19242F"/>
          </a:solidFill>
          <a:ln/>
        </p:spPr>
        <p:txBody>
          <a:bodyPr/>
          <a:lstStyle/>
          <a:p>
            <a:endParaRPr lang="en-US"/>
          </a:p>
        </p:txBody>
      </p:sp>
      <p:sp>
        <p:nvSpPr>
          <p:cNvPr id="10" name="Shape 7"/>
          <p:cNvSpPr/>
          <p:nvPr/>
        </p:nvSpPr>
        <p:spPr>
          <a:xfrm>
            <a:off x="6629400" y="2084832"/>
            <a:ext cx="201168" cy="201168"/>
          </a:xfrm>
          <a:prstGeom prst="ellipse">
            <a:avLst/>
          </a:prstGeom>
          <a:solidFill>
            <a:srgbClr val="E0443E"/>
          </a:solidFill>
          <a:ln/>
        </p:spPr>
        <p:txBody>
          <a:bodyPr/>
          <a:lstStyle/>
          <a:p>
            <a:endParaRPr lang="en-US"/>
          </a:p>
        </p:txBody>
      </p:sp>
      <p:sp>
        <p:nvSpPr>
          <p:cNvPr id="11" name="Text 8"/>
          <p:cNvSpPr txBox="1"/>
          <p:nvPr/>
        </p:nvSpPr>
        <p:spPr>
          <a:xfrm>
            <a:off x="6976872" y="1993392"/>
            <a:ext cx="4206240" cy="365760"/>
          </a:xfrm>
          <a:prstGeom prst="rect">
            <a:avLst/>
          </a:prstGeom>
          <a:noFill/>
          <a:ln/>
        </p:spPr>
        <p:txBody>
          <a:bodyPr wrap="square" lIns="0" tIns="0" rIns="0" bIns="0" rtlCol="0" anchor="ctr"/>
          <a:lstStyle/>
          <a:p>
            <a:pPr marL="0" indent="0">
              <a:buNone/>
            </a:pPr>
            <a:r>
              <a:rPr lang="en-US" sz="1500" b="1" dirty="0">
                <a:solidFill>
                  <a:srgbClr val="E9EFF6"/>
                </a:solidFill>
                <a:latin typeface="Courier New" pitchFamily="34" charset="0"/>
                <a:ea typeface="Courier New" pitchFamily="34" charset="-122"/>
                <a:cs typeface="Courier New" pitchFamily="34" charset="-120"/>
              </a:rPr>
              <a:t>sql-prod-03</a:t>
            </a:r>
            <a:endParaRPr lang="en-US" sz="1500" dirty="0"/>
          </a:p>
        </p:txBody>
      </p:sp>
      <p:sp>
        <p:nvSpPr>
          <p:cNvPr id="12" name="Text 9"/>
          <p:cNvSpPr txBox="1"/>
          <p:nvPr/>
        </p:nvSpPr>
        <p:spPr>
          <a:xfrm>
            <a:off x="6629400" y="2450592"/>
            <a:ext cx="4709160" cy="640080"/>
          </a:xfrm>
          <a:prstGeom prst="rect">
            <a:avLst/>
          </a:prstGeom>
          <a:noFill/>
          <a:ln/>
        </p:spPr>
        <p:txBody>
          <a:bodyPr wrap="square" lIns="0" tIns="0" rIns="0" bIns="0" rtlCol="0" anchor="ctr"/>
          <a:lstStyle/>
          <a:p>
            <a:pPr marL="0" indent="0">
              <a:lnSpc>
                <a:spcPts val="1800"/>
              </a:lnSpc>
              <a:buNone/>
            </a:pPr>
            <a:r>
              <a:rPr lang="en-US" sz="1200" dirty="0">
                <a:solidFill>
                  <a:srgbClr val="8FA3B8"/>
                </a:solidFill>
                <a:latin typeface="Courier New" pitchFamily="34" charset="0"/>
                <a:ea typeface="Courier New" pitchFamily="34" charset="-122"/>
                <a:cs typeface="Courier New" pitchFamily="34" charset="-120"/>
              </a:rPr>
              <a:t>"Disk read latency 480 ms, sustained"</a:t>
            </a:r>
            <a:endParaRPr lang="en-US" sz="1200" dirty="0"/>
          </a:p>
          <a:p>
            <a:pPr marL="0" indent="0">
              <a:lnSpc>
                <a:spcPts val="1800"/>
              </a:lnSpc>
              <a:buNone/>
            </a:pPr>
            <a:r>
              <a:rPr lang="en-US" sz="1200" dirty="0">
                <a:solidFill>
                  <a:srgbClr val="8FA3B8"/>
                </a:solidFill>
                <a:latin typeface="Courier New" pitchFamily="34" charset="0"/>
                <a:ea typeface="Courier New" pitchFamily="34" charset="-122"/>
                <a:cs typeface="Courier New" pitchFamily="34" charset="-120"/>
              </a:rPr>
              <a:t>"Lock wait 4400 ms - waiting on disk, not on a query"</a:t>
            </a:r>
            <a:endParaRPr lang="en-US" sz="1200" dirty="0"/>
          </a:p>
        </p:txBody>
      </p:sp>
      <p:sp>
        <p:nvSpPr>
          <p:cNvPr id="13" name="Text 10"/>
          <p:cNvSpPr txBox="1"/>
          <p:nvPr/>
        </p:nvSpPr>
        <p:spPr>
          <a:xfrm>
            <a:off x="594360" y="3474720"/>
            <a:ext cx="11018520" cy="365760"/>
          </a:xfrm>
          <a:prstGeom prst="rect">
            <a:avLst/>
          </a:prstGeom>
          <a:noFill/>
          <a:ln/>
        </p:spPr>
        <p:txBody>
          <a:bodyPr wrap="square" lIns="0" tIns="0" rIns="0" bIns="0" rtlCol="0" anchor="ctr"/>
          <a:lstStyle/>
          <a:p>
            <a:pPr marL="0" indent="0" algn="ctr">
              <a:buNone/>
            </a:pPr>
            <a:r>
              <a:rPr lang="en-US" sz="1700" b="1" dirty="0">
                <a:solidFill>
                  <a:srgbClr val="7C90A6"/>
                </a:solidFill>
                <a:latin typeface="Calibri" pitchFamily="34" charset="0"/>
                <a:ea typeface="Calibri" pitchFamily="34" charset="-122"/>
                <a:cs typeface="Calibri" pitchFamily="34" charset="-120"/>
              </a:rPr>
              <a:t>No shared host.  No shared resource.  No shared trace.  Nothing to match on.</a:t>
            </a:r>
            <a:endParaRPr lang="en-US" sz="1700" dirty="0"/>
          </a:p>
        </p:txBody>
      </p:sp>
      <p:sp>
        <p:nvSpPr>
          <p:cNvPr id="14" name="Shape 11"/>
          <p:cNvSpPr/>
          <p:nvPr/>
        </p:nvSpPr>
        <p:spPr>
          <a:xfrm>
            <a:off x="594360" y="4023360"/>
            <a:ext cx="11018520" cy="1737360"/>
          </a:xfrm>
          <a:prstGeom prst="roundRect">
            <a:avLst>
              <a:gd name="adj" fmla="val 3158"/>
            </a:avLst>
          </a:prstGeom>
          <a:solidFill>
            <a:srgbClr val="223140"/>
          </a:solidFill>
          <a:ln/>
        </p:spPr>
        <p:txBody>
          <a:bodyPr/>
          <a:lstStyle/>
          <a:p>
            <a:endParaRPr lang="en-US"/>
          </a:p>
        </p:txBody>
      </p:sp>
      <p:sp>
        <p:nvSpPr>
          <p:cNvPr id="15" name="Text 12"/>
          <p:cNvSpPr txBox="1"/>
          <p:nvPr/>
        </p:nvSpPr>
        <p:spPr>
          <a:xfrm>
            <a:off x="868680" y="4251960"/>
            <a:ext cx="1042416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only thing connecting them is that one of them says the other one's name.</a:t>
            </a:r>
            <a:endParaRPr lang="en-US" sz="2000" dirty="0"/>
          </a:p>
        </p:txBody>
      </p:sp>
      <p:sp>
        <p:nvSpPr>
          <p:cNvPr id="16" name="Text 13"/>
          <p:cNvSpPr txBox="1"/>
          <p:nvPr/>
        </p:nvSpPr>
        <p:spPr>
          <a:xfrm>
            <a:off x="868680" y="4754880"/>
            <a:ext cx="10424160" cy="82296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That is a reading comprehension problem, not a data problem. It is the one part of this pipeline that could not be written as a rule - and the cause is a warning, on a host nobody was paging about, underneath twelve criticals.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0443E"/>
                </a:solidFill>
                <a:effectLst/>
                <a:uLnTx/>
                <a:uFillTx/>
                <a:latin typeface="Calibri" pitchFamily="34" charset="0"/>
                <a:ea typeface="Calibri" pitchFamily="34" charset="-122"/>
                <a:cs typeface="Calibri" pitchFamily="34" charset="-120"/>
              </a:rPr>
              <a:t>AI.PSM1  ·  THE MODEL CALL IS 29 LINES OF IT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Asking the model is the easy part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783080"/>
            <a:ext cx="11002975" cy="3575853"/>
          </a:xfrm>
          <a:prstGeom prst="roundRect">
            <a:avLst>
              <a:gd name="adj" fmla="val 1534"/>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14400" y="2011680"/>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$body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914400" y="2299350"/>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messages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914400" y="2587020"/>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 role = 'system'; content = $SystemPrompt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914400" y="287469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 role = 'user';   content = ($incidents | ConvertTo-Json -Depth 8)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914400" y="316236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FA3B8"/>
                </a:solidFill>
                <a:effectLst/>
                <a:uLnTx/>
                <a:uFillTx/>
                <a:latin typeface="Courier New" pitchFamily="34" charset="0"/>
                <a:ea typeface="Courier New" pitchFamily="34" charset="-122"/>
                <a:cs typeface="Courier New" pitchFamily="34" charset="-120"/>
              </a:rPr>
              <a: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914400" y="345003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8A33D"/>
                </a:solidFill>
                <a:effectLst/>
                <a:uLnTx/>
                <a:uFillTx/>
                <a:latin typeface="Courier New" pitchFamily="34" charset="0"/>
                <a:ea typeface="Courier New" pitchFamily="34" charset="-122"/>
                <a:cs typeface="Courier New" pitchFamily="34" charset="-120"/>
              </a:rPr>
              <a:t>    temperature     = 0                          # same events, same answer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914400" y="373770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8A33D"/>
                </a:solidFill>
                <a:effectLst/>
                <a:uLnTx/>
                <a:uFillTx/>
                <a:latin typeface="Courier New" pitchFamily="34" charset="0"/>
                <a:ea typeface="Courier New" pitchFamily="34" charset="-122"/>
                <a:cs typeface="Courier New" pitchFamily="34" charset="-120"/>
              </a:rPr>
              <a:t>    response_format = @{ type = 'json_object' }   # not prose, a contract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914400" y="402537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914400" y="431304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914400" y="460071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Invoke-RestMethod -Uri $uri -Method Post -Body ($body | ConvertTo-Json -Depth 10)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914400" y="488838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6B98A"/>
                </a:solidFill>
                <a:effectLst/>
                <a:uLnTx/>
                <a:uFillTx/>
                <a:latin typeface="Courier New" pitchFamily="34" charset="0"/>
                <a:ea typeface="Courier New" pitchFamily="34" charset="-122"/>
                <a:cs typeface="Courier New" pitchFamily="34" charset="-120"/>
              </a:rPr>
              <a:t>    -Headers @{ Authorization = "Bearer $(Get-ResourceToken ...)" }  # managed identity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594360" y="5678973"/>
            <a:ext cx="11002975" cy="868680"/>
          </a:xfrm>
          <a:prstGeom prst="roundRect">
            <a:avLst>
              <a:gd name="adj" fmla="val 6316"/>
            </a:avLst>
          </a:prstGeom>
          <a:solidFill>
            <a:srgbClr val="2231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868680" y="5880141"/>
            <a:ext cx="10454335"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prompt is 698 words. The code that sends it is 29 lines. </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THE EASY WAY TO LOOK CLEVER</a:t>
            </a:r>
            <a:endParaRPr lang="en-US" sz="1200" dirty="0"/>
          </a:p>
        </p:txBody>
      </p:sp>
      <p:sp>
        <p:nvSpPr>
          <p:cNvPr id="8" name="Text 5"/>
          <p:cNvSpPr txBox="1"/>
          <p:nvPr/>
        </p:nvSpPr>
        <p:spPr>
          <a:xfrm>
            <a:off x="594360" y="4956048"/>
            <a:ext cx="11018520" cy="868680"/>
          </a:xfrm>
          <a:prstGeom prst="rect">
            <a:avLst/>
          </a:prstGeom>
          <a:noFill/>
          <a:ln/>
        </p:spPr>
        <p:txBody>
          <a:bodyPr wrap="square" lIns="0" tIns="0" rIns="0" bIns="0" rtlCol="0" anchor="t"/>
          <a:lstStyle/>
          <a:p>
            <a:pPr marL="0" indent="0" algn="ctr">
              <a:buNone/>
            </a:pPr>
            <a:r>
              <a:rPr lang="en-US" sz="2700" b="1" dirty="0">
                <a:solidFill>
                  <a:srgbClr val="FFFFFF"/>
                </a:solidFill>
                <a:latin typeface="Calibri" pitchFamily="34" charset="0"/>
                <a:ea typeface="Calibri" pitchFamily="34" charset="-122"/>
                <a:cs typeface="Calibri" pitchFamily="34" charset="-120"/>
              </a:rPr>
              <a:t>Connecting everything is not correlation.</a:t>
            </a:r>
            <a:endParaRPr lang="en-US" sz="2700" dirty="0"/>
          </a:p>
        </p:txBody>
      </p:sp>
      <p:sp>
        <p:nvSpPr>
          <p:cNvPr id="9" name="Text 6"/>
          <p:cNvSpPr txBox="1"/>
          <p:nvPr/>
        </p:nvSpPr>
        <p:spPr>
          <a:xfrm>
            <a:off x="594360" y="5806440"/>
            <a:ext cx="11018520" cy="365760"/>
          </a:xfrm>
          <a:prstGeom prst="rect">
            <a:avLst/>
          </a:prstGeom>
          <a:noFill/>
          <a:ln/>
        </p:spPr>
        <p:txBody>
          <a:bodyPr wrap="square" lIns="0" tIns="0" rIns="0" bIns="0" rtlCol="0" anchor="ctr"/>
          <a:lstStyle/>
          <a:p>
            <a:pPr marL="0" indent="0" algn="ctr">
              <a:buNone/>
            </a:pPr>
            <a:r>
              <a:rPr lang="en-US" sz="1500" i="1" dirty="0">
                <a:solidFill>
                  <a:srgbClr val="8FA3B8"/>
                </a:solidFill>
                <a:latin typeface="Calibri" pitchFamily="34" charset="0"/>
                <a:ea typeface="Calibri" pitchFamily="34" charset="-122"/>
                <a:cs typeface="Calibri" pitchFamily="34" charset="-120"/>
              </a:rPr>
              <a:t>It is the failure mode that looks most like success.</a:t>
            </a:r>
            <a:endParaRPr lang="en-US" sz="1500" dirty="0"/>
          </a:p>
        </p:txBody>
      </p:sp>
      <p:pic>
        <p:nvPicPr>
          <p:cNvPr id="2" name="Picture 1" descr="Charlie Day GIFs | Tenor">
            <a:extLst>
              <a:ext uri="{FF2B5EF4-FFF2-40B4-BE49-F238E27FC236}">
                <a16:creationId xmlns:a16="http://schemas.microsoft.com/office/drawing/2014/main" id="{FB6B8DF2-FBB1-8AAD-2CCF-20EBED8C761D}"/>
              </a:ext>
            </a:extLst>
          </p:cNvPr>
          <p:cNvPicPr>
            <a:picLocks noChangeAspect="1"/>
          </p:cNvPicPr>
          <p:nvPr/>
        </p:nvPicPr>
        <p:blipFill>
          <a:blip r:embed="rId3"/>
          <a:stretch>
            <a:fillRect/>
          </a:stretch>
        </p:blipFill>
        <p:spPr>
          <a:xfrm>
            <a:off x="3110717" y="847169"/>
            <a:ext cx="6001426" cy="379608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0E1621"/>
        </a:solidFill>
        <a:effectLst/>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15100C"/>
          </a:solidFill>
          <a:ln/>
        </p:spPr>
        <p:txBody>
          <a:bodyPr/>
          <a:lstStyle/>
          <a:p>
            <a:endParaRPr lang="en-US"/>
          </a:p>
        </p:txBody>
      </p:sp>
      <p:sp>
        <p:nvSpPr>
          <p:cNvPr id="4" name="Text 1"/>
          <p:cNvSpPr txBox="1"/>
          <p:nvPr/>
        </p:nvSpPr>
        <p:spPr>
          <a:xfrm>
            <a:off x="594360" y="2057400"/>
            <a:ext cx="5486400" cy="411480"/>
          </a:xfrm>
          <a:prstGeom prst="rect">
            <a:avLst/>
          </a:prstGeom>
          <a:noFill/>
          <a:ln/>
        </p:spPr>
        <p:txBody>
          <a:bodyPr wrap="square" lIns="0" tIns="0" rIns="0" bIns="0" rtlCol="0" anchor="ctr"/>
          <a:lstStyle/>
          <a:p>
            <a:pPr marL="0" indent="0">
              <a:buNone/>
            </a:pPr>
            <a:r>
              <a:rPr lang="en-US" sz="1600" b="1" kern="0" spc="500" dirty="0">
                <a:solidFill>
                  <a:srgbClr val="E8A33D"/>
                </a:solidFill>
                <a:latin typeface="Calibri" pitchFamily="34" charset="0"/>
                <a:ea typeface="Calibri" pitchFamily="34" charset="-122"/>
                <a:cs typeface="Calibri" pitchFamily="34" charset="-120"/>
              </a:rPr>
              <a:t>DEMO 3</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Ask the model</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One call, every open incident at once - grouping, cause, and the first action</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Two root causes found across thirteen incidents</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Five things it reviewed and deliberately left alone</a:t>
            </a:r>
            <a:endParaRPr lang="en-US" sz="1600" dirty="0"/>
          </a:p>
          <a:p>
            <a:pPr marL="342900" indent="-342900">
              <a:spcAft>
                <a:spcPts val="800"/>
              </a:spcAft>
              <a:buSzPct val="100000"/>
              <a:buChar char="•"/>
            </a:pPr>
            <a:r>
              <a:rPr lang="en-US" sz="1600" dirty="0">
                <a:solidFill>
                  <a:srgbClr val="8FA3B8"/>
                </a:solidFill>
                <a:latin typeface="Calibri" pitchFamily="34" charset="0"/>
                <a:ea typeface="Calibri" pitchFamily="34" charset="-122"/>
                <a:cs typeface="Calibri" pitchFamily="34" charset="-120"/>
              </a:rPr>
              <a:t>Roughly 3,500 tokens and about four seconds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THE CAUSE WAS A WARNING</a:t>
            </a:r>
            <a:endParaRPr lang="en-US" sz="1200" dirty="0"/>
          </a:p>
        </p:txBody>
      </p:sp>
      <p:sp>
        <p:nvSpPr>
          <p:cNvPr id="8" name="Text 5"/>
          <p:cNvSpPr txBox="1"/>
          <p:nvPr/>
        </p:nvSpPr>
        <p:spPr>
          <a:xfrm>
            <a:off x="594360" y="4956048"/>
            <a:ext cx="11018520" cy="868680"/>
          </a:xfrm>
          <a:prstGeom prst="rect">
            <a:avLst/>
          </a:prstGeom>
          <a:noFill/>
          <a:ln/>
        </p:spPr>
        <p:txBody>
          <a:bodyPr wrap="square" lIns="0" tIns="0" rIns="0" bIns="0" rtlCol="0" anchor="t"/>
          <a:lstStyle/>
          <a:p>
            <a:pPr marL="0" indent="0" algn="ctr">
              <a:buNone/>
            </a:pPr>
            <a:r>
              <a:rPr lang="en-US" sz="2700" b="1" dirty="0">
                <a:solidFill>
                  <a:srgbClr val="FFFFFF"/>
                </a:solidFill>
                <a:latin typeface="Calibri" pitchFamily="34" charset="0"/>
                <a:ea typeface="Calibri" pitchFamily="34" charset="-122"/>
                <a:cs typeface="Calibri" pitchFamily="34" charset="-120"/>
              </a:rPr>
              <a:t>The loudest thing is almost never the cause.</a:t>
            </a:r>
            <a:endParaRPr lang="en-US" sz="2700" dirty="0"/>
          </a:p>
        </p:txBody>
      </p:sp>
      <p:sp>
        <p:nvSpPr>
          <p:cNvPr id="9" name="Text 6"/>
          <p:cNvSpPr txBox="1"/>
          <p:nvPr/>
        </p:nvSpPr>
        <p:spPr>
          <a:xfrm>
            <a:off x="594360" y="5806440"/>
            <a:ext cx="11018520" cy="365760"/>
          </a:xfrm>
          <a:prstGeom prst="rect">
            <a:avLst/>
          </a:prstGeom>
          <a:noFill/>
          <a:ln/>
        </p:spPr>
        <p:txBody>
          <a:bodyPr wrap="square" lIns="0" tIns="0" rIns="0" bIns="0" rtlCol="0" anchor="ctr"/>
          <a:lstStyle/>
          <a:p>
            <a:pPr marL="0" indent="0" algn="ctr">
              <a:buNone/>
            </a:pPr>
            <a:r>
              <a:rPr lang="en-US" sz="1500" i="1" dirty="0">
                <a:solidFill>
                  <a:srgbClr val="8FA3B8"/>
                </a:solidFill>
                <a:latin typeface="Calibri" pitchFamily="34" charset="0"/>
                <a:ea typeface="Calibri" pitchFamily="34" charset="-122"/>
                <a:cs typeface="Calibri" pitchFamily="34" charset="-120"/>
              </a:rPr>
              <a:t>Twelve criticals. The answer was an amber warning nobody was paged for.</a:t>
            </a:r>
            <a:endParaRPr lang="en-US" sz="1500" dirty="0"/>
          </a:p>
        </p:txBody>
      </p:sp>
      <p:pic>
        <p:nvPicPr>
          <p:cNvPr id="2" name="Picture 1" descr="Image of - It's always the quiet ones. - You hound.">
            <a:extLst>
              <a:ext uri="{FF2B5EF4-FFF2-40B4-BE49-F238E27FC236}">
                <a16:creationId xmlns:a16="http://schemas.microsoft.com/office/drawing/2014/main" id="{A055C6F1-9FCC-D51A-3DF4-C9886B4F2C36}"/>
              </a:ext>
            </a:extLst>
          </p:cNvPr>
          <p:cNvPicPr>
            <a:picLocks noChangeAspect="1"/>
          </p:cNvPicPr>
          <p:nvPr/>
        </p:nvPicPr>
        <p:blipFill>
          <a:blip r:embed="rId3"/>
          <a:stretch>
            <a:fillRect/>
          </a:stretch>
        </p:blipFill>
        <p:spPr>
          <a:xfrm>
            <a:off x="2692306" y="1516083"/>
            <a:ext cx="6626855" cy="278327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WHAT IT FOUND</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The chain, in the order it happened</a:t>
            </a:r>
            <a:endParaRPr lang="en-US" sz="3600" dirty="0"/>
          </a:p>
        </p:txBody>
      </p:sp>
      <p:sp>
        <p:nvSpPr>
          <p:cNvPr id="5" name="Shape 2"/>
          <p:cNvSpPr/>
          <p:nvPr/>
        </p:nvSpPr>
        <p:spPr>
          <a:xfrm>
            <a:off x="594360" y="1783080"/>
            <a:ext cx="11018520" cy="987552"/>
          </a:xfrm>
          <a:prstGeom prst="roundRect">
            <a:avLst>
              <a:gd name="adj" fmla="val 5556"/>
            </a:avLst>
          </a:prstGeom>
          <a:solidFill>
            <a:srgbClr val="19242F"/>
          </a:solidFill>
          <a:ln/>
        </p:spPr>
        <p:txBody>
          <a:bodyPr/>
          <a:lstStyle/>
          <a:p>
            <a:endParaRPr lang="en-US"/>
          </a:p>
        </p:txBody>
      </p:sp>
      <p:sp>
        <p:nvSpPr>
          <p:cNvPr id="6" name="Shape 3"/>
          <p:cNvSpPr/>
          <p:nvPr/>
        </p:nvSpPr>
        <p:spPr>
          <a:xfrm>
            <a:off x="868680" y="2039112"/>
            <a:ext cx="502920" cy="502920"/>
          </a:xfrm>
          <a:prstGeom prst="ellipse">
            <a:avLst/>
          </a:prstGeom>
          <a:solidFill>
            <a:srgbClr val="E8A33D"/>
          </a:solidFill>
          <a:ln/>
        </p:spPr>
        <p:txBody>
          <a:bodyPr/>
          <a:lstStyle/>
          <a:p>
            <a:endParaRPr lang="en-US"/>
          </a:p>
        </p:txBody>
      </p:sp>
      <p:sp>
        <p:nvSpPr>
          <p:cNvPr id="7" name="Text 4"/>
          <p:cNvSpPr txBox="1"/>
          <p:nvPr/>
        </p:nvSpPr>
        <p:spPr>
          <a:xfrm>
            <a:off x="868680" y="2039112"/>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65960"/>
            <a:ext cx="2194560" cy="365760"/>
          </a:xfrm>
          <a:prstGeom prst="rect">
            <a:avLst/>
          </a:prstGeom>
          <a:noFill/>
          <a:ln/>
        </p:spPr>
        <p:txBody>
          <a:bodyPr wrap="square" lIns="0" tIns="0" rIns="0" bIns="0" rtlCol="0" anchor="ctr"/>
          <a:lstStyle/>
          <a:p>
            <a:pPr marL="0" indent="0">
              <a:buNone/>
            </a:pPr>
            <a:r>
              <a:rPr lang="en-US" sz="1600" b="1" dirty="0">
                <a:solidFill>
                  <a:srgbClr val="E9EFF6"/>
                </a:solidFill>
                <a:latin typeface="Courier New" pitchFamily="34" charset="0"/>
                <a:ea typeface="Courier New" pitchFamily="34" charset="-122"/>
                <a:cs typeface="Courier New" pitchFamily="34" charset="-120"/>
              </a:rPr>
              <a:t>backup-01</a:t>
            </a:r>
            <a:endParaRPr lang="en-US" sz="1600" dirty="0"/>
          </a:p>
        </p:txBody>
      </p:sp>
      <p:sp>
        <p:nvSpPr>
          <p:cNvPr id="9" name="Text 6"/>
          <p:cNvSpPr txBox="1"/>
          <p:nvPr/>
        </p:nvSpPr>
        <p:spPr>
          <a:xfrm>
            <a:off x="1554480" y="2350008"/>
            <a:ext cx="2194560" cy="292608"/>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warning</a:t>
            </a:r>
            <a:endParaRPr lang="en-US" sz="1300" dirty="0"/>
          </a:p>
        </p:txBody>
      </p:sp>
      <p:sp>
        <p:nvSpPr>
          <p:cNvPr id="10" name="Text 7"/>
          <p:cNvSpPr txBox="1"/>
          <p:nvPr/>
        </p:nvSpPr>
        <p:spPr>
          <a:xfrm>
            <a:off x="3886200" y="2084832"/>
            <a:ext cx="7498080" cy="45720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Nightly backup overran its window and is still reading sql-prod-03 at 11 MB/s</a:t>
            </a:r>
            <a:endParaRPr lang="en-US" sz="1500" dirty="0"/>
          </a:p>
        </p:txBody>
      </p:sp>
      <p:sp>
        <p:nvSpPr>
          <p:cNvPr id="11" name="Shape 8"/>
          <p:cNvSpPr/>
          <p:nvPr/>
        </p:nvSpPr>
        <p:spPr>
          <a:xfrm rot="10800000">
            <a:off x="1042416" y="2825496"/>
            <a:ext cx="155448" cy="118872"/>
          </a:xfrm>
          <a:prstGeom prst="triangle">
            <a:avLst/>
          </a:prstGeom>
          <a:solidFill>
            <a:srgbClr val="7C90A6"/>
          </a:solidFill>
          <a:ln/>
        </p:spPr>
        <p:txBody>
          <a:bodyPr/>
          <a:lstStyle/>
          <a:p>
            <a:endParaRPr lang="en-US"/>
          </a:p>
        </p:txBody>
      </p:sp>
      <p:sp>
        <p:nvSpPr>
          <p:cNvPr id="12" name="Shape 9"/>
          <p:cNvSpPr/>
          <p:nvPr/>
        </p:nvSpPr>
        <p:spPr>
          <a:xfrm>
            <a:off x="594360" y="2990088"/>
            <a:ext cx="11018520" cy="987552"/>
          </a:xfrm>
          <a:prstGeom prst="roundRect">
            <a:avLst>
              <a:gd name="adj" fmla="val 5556"/>
            </a:avLst>
          </a:prstGeom>
          <a:solidFill>
            <a:srgbClr val="19242F"/>
          </a:solidFill>
          <a:ln/>
        </p:spPr>
        <p:txBody>
          <a:bodyPr/>
          <a:lstStyle/>
          <a:p>
            <a:endParaRPr lang="en-US"/>
          </a:p>
        </p:txBody>
      </p:sp>
      <p:sp>
        <p:nvSpPr>
          <p:cNvPr id="13" name="Shape 10"/>
          <p:cNvSpPr/>
          <p:nvPr/>
        </p:nvSpPr>
        <p:spPr>
          <a:xfrm>
            <a:off x="868680" y="3246120"/>
            <a:ext cx="502920" cy="502920"/>
          </a:xfrm>
          <a:prstGeom prst="ellipse">
            <a:avLst/>
          </a:prstGeom>
          <a:solidFill>
            <a:srgbClr val="E0443E"/>
          </a:solidFill>
          <a:ln/>
        </p:spPr>
        <p:txBody>
          <a:bodyPr/>
          <a:lstStyle/>
          <a:p>
            <a:endParaRPr lang="en-US"/>
          </a:p>
        </p:txBody>
      </p:sp>
      <p:sp>
        <p:nvSpPr>
          <p:cNvPr id="14" name="Text 11"/>
          <p:cNvSpPr txBox="1"/>
          <p:nvPr/>
        </p:nvSpPr>
        <p:spPr>
          <a:xfrm>
            <a:off x="868680" y="324612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1554480" y="3172968"/>
            <a:ext cx="2194560" cy="365760"/>
          </a:xfrm>
          <a:prstGeom prst="rect">
            <a:avLst/>
          </a:prstGeom>
          <a:noFill/>
          <a:ln/>
        </p:spPr>
        <p:txBody>
          <a:bodyPr wrap="square" lIns="0" tIns="0" rIns="0" bIns="0" rtlCol="0" anchor="ctr"/>
          <a:lstStyle/>
          <a:p>
            <a:pPr marL="0" indent="0">
              <a:buNone/>
            </a:pPr>
            <a:r>
              <a:rPr lang="en-US" sz="1600" b="1" dirty="0">
                <a:solidFill>
                  <a:srgbClr val="E9EFF6"/>
                </a:solidFill>
                <a:latin typeface="Courier New" pitchFamily="34" charset="0"/>
                <a:ea typeface="Courier New" pitchFamily="34" charset="-122"/>
                <a:cs typeface="Courier New" pitchFamily="34" charset="-120"/>
              </a:rPr>
              <a:t>sql-prod-03</a:t>
            </a:r>
            <a:endParaRPr lang="en-US" sz="1600" dirty="0"/>
          </a:p>
        </p:txBody>
      </p:sp>
      <p:sp>
        <p:nvSpPr>
          <p:cNvPr id="16" name="Text 13"/>
          <p:cNvSpPr txBox="1"/>
          <p:nvPr/>
        </p:nvSpPr>
        <p:spPr>
          <a:xfrm>
            <a:off x="1554480" y="3557016"/>
            <a:ext cx="2194560" cy="292608"/>
          </a:xfrm>
          <a:prstGeom prst="rect">
            <a:avLst/>
          </a:prstGeom>
          <a:noFill/>
          <a:ln/>
        </p:spPr>
        <p:txBody>
          <a:bodyPr wrap="square" lIns="0" tIns="0" rIns="0" bIns="0" rtlCol="0" anchor="ctr"/>
          <a:lstStyle/>
          <a:p>
            <a:pPr marL="0" indent="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17" name="Text 14"/>
          <p:cNvSpPr txBox="1"/>
          <p:nvPr/>
        </p:nvSpPr>
        <p:spPr>
          <a:xfrm>
            <a:off x="3886200" y="3291840"/>
            <a:ext cx="7498080" cy="45720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Disk saturated, lock waits climbing, connection pool exhausted at 100 of 100</a:t>
            </a:r>
            <a:endParaRPr lang="en-US" sz="1500" dirty="0"/>
          </a:p>
        </p:txBody>
      </p:sp>
      <p:sp>
        <p:nvSpPr>
          <p:cNvPr id="18" name="Shape 15"/>
          <p:cNvSpPr/>
          <p:nvPr/>
        </p:nvSpPr>
        <p:spPr>
          <a:xfrm rot="10800000">
            <a:off x="1042416" y="4032504"/>
            <a:ext cx="155448" cy="118872"/>
          </a:xfrm>
          <a:prstGeom prst="triangle">
            <a:avLst/>
          </a:prstGeom>
          <a:solidFill>
            <a:srgbClr val="7C90A6"/>
          </a:solidFill>
          <a:ln/>
        </p:spPr>
        <p:txBody>
          <a:bodyPr/>
          <a:lstStyle/>
          <a:p>
            <a:endParaRPr lang="en-US"/>
          </a:p>
        </p:txBody>
      </p:sp>
      <p:sp>
        <p:nvSpPr>
          <p:cNvPr id="19" name="Shape 16"/>
          <p:cNvSpPr/>
          <p:nvPr/>
        </p:nvSpPr>
        <p:spPr>
          <a:xfrm>
            <a:off x="594360" y="4197096"/>
            <a:ext cx="11018520" cy="987552"/>
          </a:xfrm>
          <a:prstGeom prst="roundRect">
            <a:avLst>
              <a:gd name="adj" fmla="val 5556"/>
            </a:avLst>
          </a:prstGeom>
          <a:solidFill>
            <a:srgbClr val="19242F"/>
          </a:solidFill>
          <a:ln/>
        </p:spPr>
        <p:txBody>
          <a:bodyPr/>
          <a:lstStyle/>
          <a:p>
            <a:endParaRPr lang="en-US"/>
          </a:p>
        </p:txBody>
      </p:sp>
      <p:sp>
        <p:nvSpPr>
          <p:cNvPr id="20" name="Shape 17"/>
          <p:cNvSpPr/>
          <p:nvPr/>
        </p:nvSpPr>
        <p:spPr>
          <a:xfrm>
            <a:off x="868680" y="4453128"/>
            <a:ext cx="502920" cy="502920"/>
          </a:xfrm>
          <a:prstGeom prst="ellipse">
            <a:avLst/>
          </a:prstGeom>
          <a:solidFill>
            <a:srgbClr val="E0443E"/>
          </a:solidFill>
          <a:ln/>
        </p:spPr>
        <p:txBody>
          <a:bodyPr/>
          <a:lstStyle/>
          <a:p>
            <a:endParaRPr lang="en-US"/>
          </a:p>
        </p:txBody>
      </p:sp>
      <p:sp>
        <p:nvSpPr>
          <p:cNvPr id="21" name="Text 18"/>
          <p:cNvSpPr txBox="1"/>
          <p:nvPr/>
        </p:nvSpPr>
        <p:spPr>
          <a:xfrm>
            <a:off x="868680" y="4453128"/>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1554480" y="4379976"/>
            <a:ext cx="2194560" cy="365760"/>
          </a:xfrm>
          <a:prstGeom prst="rect">
            <a:avLst/>
          </a:prstGeom>
          <a:noFill/>
          <a:ln/>
        </p:spPr>
        <p:txBody>
          <a:bodyPr wrap="square" lIns="0" tIns="0" rIns="0" bIns="0" rtlCol="0" anchor="ctr"/>
          <a:lstStyle/>
          <a:p>
            <a:pPr marL="0" indent="0">
              <a:buNone/>
            </a:pPr>
            <a:r>
              <a:rPr lang="en-US" sz="1600" b="1" dirty="0">
                <a:solidFill>
                  <a:srgbClr val="E9EFF6"/>
                </a:solidFill>
                <a:latin typeface="Courier New" pitchFamily="34" charset="0"/>
                <a:ea typeface="Courier New" pitchFamily="34" charset="-122"/>
                <a:cs typeface="Courier New" pitchFamily="34" charset="-120"/>
              </a:rPr>
              <a:t>app-web-01</a:t>
            </a:r>
            <a:endParaRPr lang="en-US" sz="1600" dirty="0"/>
          </a:p>
        </p:txBody>
      </p:sp>
      <p:sp>
        <p:nvSpPr>
          <p:cNvPr id="23" name="Text 20"/>
          <p:cNvSpPr txBox="1"/>
          <p:nvPr/>
        </p:nvSpPr>
        <p:spPr>
          <a:xfrm>
            <a:off x="1554480" y="4764024"/>
            <a:ext cx="2194560" cy="292608"/>
          </a:xfrm>
          <a:prstGeom prst="rect">
            <a:avLst/>
          </a:prstGeom>
          <a:noFill/>
          <a:ln/>
        </p:spPr>
        <p:txBody>
          <a:bodyPr wrap="square" lIns="0" tIns="0" rIns="0" bIns="0" rtlCol="0" anchor="ctr"/>
          <a:lstStyle/>
          <a:p>
            <a:pPr marL="0" indent="0">
              <a:buNone/>
            </a:pPr>
            <a:r>
              <a:rPr lang="en-US" sz="1300" b="1" dirty="0">
                <a:solidFill>
                  <a:srgbClr val="E0443E"/>
                </a:solidFill>
                <a:latin typeface="Calibri" pitchFamily="34" charset="0"/>
                <a:ea typeface="Calibri" pitchFamily="34" charset="-122"/>
                <a:cs typeface="Calibri" pitchFamily="34" charset="-120"/>
              </a:rPr>
              <a:t>critical</a:t>
            </a:r>
            <a:endParaRPr lang="en-US" sz="1300" dirty="0"/>
          </a:p>
        </p:txBody>
      </p:sp>
      <p:sp>
        <p:nvSpPr>
          <p:cNvPr id="24" name="Text 21"/>
          <p:cNvSpPr txBox="1"/>
          <p:nvPr/>
        </p:nvSpPr>
        <p:spPr>
          <a:xfrm>
            <a:off x="3886200" y="4498848"/>
            <a:ext cx="7498080" cy="457200"/>
          </a:xfrm>
          <a:prstGeom prst="rect">
            <a:avLst/>
          </a:prstGeom>
          <a:noFill/>
          <a:ln/>
        </p:spPr>
        <p:txBody>
          <a:bodyPr wrap="square" lIns="0" tIns="0" rIns="0" bIns="0" rtlCol="0" anchor="ctr"/>
          <a:lstStyle/>
          <a:p>
            <a:pPr marL="0" indent="0">
              <a:buNone/>
            </a:pPr>
            <a:r>
              <a:rPr lang="en-US" sz="1500" dirty="0">
                <a:solidFill>
                  <a:srgbClr val="8FA3B8"/>
                </a:solidFill>
                <a:latin typeface="Calibri" pitchFamily="34" charset="0"/>
                <a:ea typeface="Calibri" pitchFamily="34" charset="-122"/>
                <a:cs typeface="Calibri" pitchFamily="34" charset="-120"/>
              </a:rPr>
              <a:t>Checkout failing 27% of requests - timeouts, not application errors</a:t>
            </a:r>
            <a:endParaRPr lang="en-US" sz="1500" dirty="0"/>
          </a:p>
        </p:txBody>
      </p:sp>
      <p:sp>
        <p:nvSpPr>
          <p:cNvPr id="25" name="Shape 22"/>
          <p:cNvSpPr/>
          <p:nvPr/>
        </p:nvSpPr>
        <p:spPr>
          <a:xfrm>
            <a:off x="594360" y="5349240"/>
            <a:ext cx="11018520" cy="868680"/>
          </a:xfrm>
          <a:prstGeom prst="roundRect">
            <a:avLst>
              <a:gd name="adj" fmla="val 6316"/>
            </a:avLst>
          </a:prstGeom>
          <a:solidFill>
            <a:srgbClr val="223140"/>
          </a:solidFill>
          <a:ln/>
        </p:spPr>
        <p:txBody>
          <a:bodyPr/>
          <a:lstStyle/>
          <a:p>
            <a:endParaRPr lang="en-US"/>
          </a:p>
        </p:txBody>
      </p:sp>
      <p:sp>
        <p:nvSpPr>
          <p:cNvPr id="26" name="Text 23"/>
          <p:cNvSpPr txBox="1"/>
          <p:nvPr/>
        </p:nvSpPr>
        <p:spPr>
          <a:xfrm>
            <a:off x="868680" y="5559552"/>
            <a:ext cx="10424160" cy="457200"/>
          </a:xfrm>
          <a:prstGeom prst="rect">
            <a:avLst/>
          </a:prstGeom>
          <a:noFill/>
          <a:ln/>
        </p:spPr>
        <p:txBody>
          <a:bodyPr wrap="square" lIns="0" tIns="0" rIns="0" bIns="0" rtlCol="0" anchor="ctr"/>
          <a:lstStyle/>
          <a:p>
            <a:pPr marL="0" indent="0">
              <a:buNone/>
            </a:pPr>
            <a:r>
              <a:rPr lang="en-US" sz="1600" b="1" dirty="0">
                <a:solidFill>
                  <a:srgbClr val="46B98A"/>
                </a:solidFill>
                <a:latin typeface="Calibri" pitchFamily="34" charset="0"/>
                <a:ea typeface="Calibri" pitchFamily="34" charset="-122"/>
                <a:cs typeface="Calibri" pitchFamily="34" charset="-120"/>
              </a:rPr>
              <a:t>DO NOW  </a:t>
            </a:r>
            <a:r>
              <a:rPr lang="en-US" sz="1600" dirty="0">
                <a:solidFill>
                  <a:srgbClr val="E9EFF6"/>
                </a:solidFill>
                <a:latin typeface="Calibri" pitchFamily="34" charset="0"/>
                <a:ea typeface="Calibri" pitchFamily="34" charset="-122"/>
                <a:cs typeface="Calibri" pitchFamily="34" charset="-120"/>
              </a:rPr>
              <a:t>Kill job SQL-NIGHTLY-FULL on backup-01 to relieve I/O pressure on sql-prod-03, then recycle the application pool.</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0443E"/>
                </a:solidFill>
                <a:latin typeface="Calibri" pitchFamily="34" charset="0"/>
                <a:ea typeface="Calibri" pitchFamily="34" charset="-122"/>
                <a:cs typeface="Calibri" pitchFamily="34" charset="-120"/>
              </a:rPr>
              <a:t>THE HONEST PART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Where this falls over</a:t>
            </a:r>
            <a:endParaRPr lang="en-US" sz="3600" dirty="0"/>
          </a:p>
        </p:txBody>
      </p:sp>
      <p:sp>
        <p:nvSpPr>
          <p:cNvPr id="5" name="Shape 2"/>
          <p:cNvSpPr/>
          <p:nvPr/>
        </p:nvSpPr>
        <p:spPr>
          <a:xfrm>
            <a:off x="594360" y="1783080"/>
            <a:ext cx="5257800" cy="3977640"/>
          </a:xfrm>
          <a:prstGeom prst="roundRect">
            <a:avLst>
              <a:gd name="adj" fmla="val 1379"/>
            </a:avLst>
          </a:prstGeom>
          <a:solidFill>
            <a:srgbClr val="19242F"/>
          </a:solidFill>
          <a:ln/>
        </p:spPr>
        <p:txBody>
          <a:bodyPr/>
          <a:lstStyle/>
          <a:p>
            <a:endParaRPr lang="en-US"/>
          </a:p>
        </p:txBody>
      </p:sp>
      <p:sp>
        <p:nvSpPr>
          <p:cNvPr id="6" name="Text 3"/>
          <p:cNvSpPr txBox="1"/>
          <p:nvPr/>
        </p:nvSpPr>
        <p:spPr>
          <a:xfrm>
            <a:off x="914400" y="2011680"/>
            <a:ext cx="4617720" cy="365760"/>
          </a:xfrm>
          <a:prstGeom prst="rect">
            <a:avLst/>
          </a:prstGeom>
          <a:noFill/>
          <a:ln/>
        </p:spPr>
        <p:txBody>
          <a:bodyPr wrap="square" lIns="0" tIns="0" rIns="0" bIns="0" rtlCol="0" anchor="ctr"/>
          <a:lstStyle/>
          <a:p>
            <a:pPr marL="0" indent="0">
              <a:buNone/>
            </a:pPr>
            <a:r>
              <a:rPr lang="en-US" sz="2100" b="1" dirty="0">
                <a:solidFill>
                  <a:srgbClr val="E0443E"/>
                </a:solidFill>
                <a:latin typeface="Calibri" pitchFamily="34" charset="0"/>
                <a:ea typeface="Calibri" pitchFamily="34" charset="-122"/>
                <a:cs typeface="Calibri" pitchFamily="34" charset="-120"/>
              </a:rPr>
              <a:t>What it does not do</a:t>
            </a:r>
            <a:endParaRPr lang="en-US" sz="2100" dirty="0"/>
          </a:p>
        </p:txBody>
      </p:sp>
      <p:sp>
        <p:nvSpPr>
          <p:cNvPr id="7" name="Text 4"/>
          <p:cNvSpPr txBox="1"/>
          <p:nvPr/>
        </p:nvSpPr>
        <p:spPr>
          <a:xfrm>
            <a:off x="960120" y="2395728"/>
            <a:ext cx="457200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No ticketing, no paging, no auto-remediation</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One window at a time - no history, no trends</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A model can be confidently wrong, and will be</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Same events, same answer only because temperature is zero</a:t>
            </a:r>
            <a:endParaRPr lang="en-US" sz="1500" dirty="0"/>
          </a:p>
          <a:p>
            <a:pPr marL="342900" indent="-342900">
              <a:spcAft>
                <a:spcPts val="1000"/>
              </a:spcAft>
              <a:buSzPct val="100000"/>
              <a:buChar char="•"/>
            </a:pPr>
            <a:r>
              <a:rPr lang="en-US" sz="1500" dirty="0">
                <a:solidFill>
                  <a:srgbClr val="8FA3B8"/>
                </a:solidFill>
                <a:latin typeface="Calibri" pitchFamily="34" charset="0"/>
                <a:ea typeface="Calibri" pitchFamily="34" charset="-122"/>
                <a:cs typeface="Calibri" pitchFamily="34" charset="-120"/>
              </a:rPr>
              <a:t>Never creates or merges incidents - the model annotates. A model that can rewrite identity can lose your data</a:t>
            </a:r>
            <a:endParaRPr lang="en-US" sz="1500" dirty="0"/>
          </a:p>
        </p:txBody>
      </p:sp>
      <p:sp>
        <p:nvSpPr>
          <p:cNvPr id="8" name="Shape 5"/>
          <p:cNvSpPr/>
          <p:nvPr/>
        </p:nvSpPr>
        <p:spPr>
          <a:xfrm>
            <a:off x="6355080" y="1783080"/>
            <a:ext cx="5257800" cy="3977640"/>
          </a:xfrm>
          <a:prstGeom prst="roundRect">
            <a:avLst>
              <a:gd name="adj" fmla="val 1379"/>
            </a:avLst>
          </a:prstGeom>
          <a:solidFill>
            <a:srgbClr val="19242F"/>
          </a:solidFill>
          <a:ln/>
        </p:spPr>
        <p:txBody>
          <a:bodyPr/>
          <a:lstStyle/>
          <a:p>
            <a:endParaRPr lang="en-US"/>
          </a:p>
        </p:txBody>
      </p:sp>
      <p:sp>
        <p:nvSpPr>
          <p:cNvPr id="9" name="Text 6"/>
          <p:cNvSpPr txBox="1"/>
          <p:nvPr/>
        </p:nvSpPr>
        <p:spPr>
          <a:xfrm>
            <a:off x="6675120" y="2011680"/>
            <a:ext cx="4663440" cy="365760"/>
          </a:xfrm>
          <a:prstGeom prst="rect">
            <a:avLst/>
          </a:prstGeom>
          <a:noFill/>
          <a:ln/>
        </p:spPr>
        <p:txBody>
          <a:bodyPr wrap="square" lIns="0" tIns="0" rIns="0" bIns="0" rtlCol="0" anchor="ctr"/>
          <a:lstStyle/>
          <a:p>
            <a:pPr marL="0" indent="0">
              <a:buNone/>
            </a:pPr>
            <a:r>
              <a:rPr lang="en-US" sz="2100" b="1" dirty="0">
                <a:solidFill>
                  <a:srgbClr val="46B98A"/>
                </a:solidFill>
                <a:latin typeface="Calibri" pitchFamily="34" charset="0"/>
                <a:ea typeface="Calibri" pitchFamily="34" charset="-122"/>
                <a:cs typeface="Calibri" pitchFamily="34" charset="-120"/>
              </a:rPr>
              <a:t>What it costs</a:t>
            </a:r>
            <a:endParaRPr lang="en-US" sz="2100" dirty="0"/>
          </a:p>
        </p:txBody>
      </p:sp>
      <p:sp>
        <p:nvSpPr>
          <p:cNvPr id="10" name="Text 7"/>
          <p:cNvSpPr txBox="1"/>
          <p:nvPr/>
        </p:nvSpPr>
        <p:spPr>
          <a:xfrm>
            <a:off x="6675120" y="2560320"/>
            <a:ext cx="1417320" cy="502920"/>
          </a:xfrm>
          <a:prstGeom prst="rect">
            <a:avLst/>
          </a:prstGeom>
          <a:noFill/>
          <a:ln/>
        </p:spPr>
        <p:txBody>
          <a:bodyPr wrap="square" lIns="0" tIns="0" rIns="0" bIns="0" rtlCol="0" anchor="ctr"/>
          <a:lstStyle/>
          <a:p>
            <a:pPr marL="0" indent="0">
              <a:buNone/>
            </a:pPr>
            <a:r>
              <a:rPr lang="en-US" sz="2700" b="1" dirty="0">
                <a:solidFill>
                  <a:srgbClr val="E9EFF6"/>
                </a:solidFill>
                <a:latin typeface="Calibri" pitchFamily="34" charset="0"/>
                <a:ea typeface="Calibri" pitchFamily="34" charset="-122"/>
                <a:cs typeface="Calibri" pitchFamily="34" charset="-120"/>
              </a:rPr>
              <a:t>~3.5k</a:t>
            </a:r>
            <a:endParaRPr lang="en-US" sz="2700" dirty="0"/>
          </a:p>
        </p:txBody>
      </p:sp>
      <p:sp>
        <p:nvSpPr>
          <p:cNvPr id="11" name="Text 8"/>
          <p:cNvSpPr txBox="1"/>
          <p:nvPr/>
        </p:nvSpPr>
        <p:spPr>
          <a:xfrm>
            <a:off x="8183880" y="2596896"/>
            <a:ext cx="320040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tokens per analysis pass, all thirteen incidents in one call</a:t>
            </a:r>
            <a:endParaRPr lang="en-US" sz="1400" dirty="0"/>
          </a:p>
        </p:txBody>
      </p:sp>
      <p:sp>
        <p:nvSpPr>
          <p:cNvPr id="12" name="Text 9"/>
          <p:cNvSpPr txBox="1"/>
          <p:nvPr/>
        </p:nvSpPr>
        <p:spPr>
          <a:xfrm>
            <a:off x="6675120" y="3611880"/>
            <a:ext cx="1417320" cy="502920"/>
          </a:xfrm>
          <a:prstGeom prst="rect">
            <a:avLst/>
          </a:prstGeom>
          <a:noFill/>
          <a:ln/>
        </p:spPr>
        <p:txBody>
          <a:bodyPr wrap="square" lIns="0" tIns="0" rIns="0" bIns="0" rtlCol="0" anchor="ctr"/>
          <a:lstStyle/>
          <a:p>
            <a:pPr marL="0" indent="0">
              <a:buNone/>
            </a:pPr>
            <a:r>
              <a:rPr lang="en-US" sz="2700" b="1" dirty="0">
                <a:solidFill>
                  <a:srgbClr val="E9EFF6"/>
                </a:solidFill>
                <a:latin typeface="Calibri" pitchFamily="34" charset="0"/>
                <a:ea typeface="Calibri" pitchFamily="34" charset="-122"/>
                <a:cs typeface="Calibri" pitchFamily="34" charset="-120"/>
              </a:rPr>
              <a:t>1/min</a:t>
            </a:r>
            <a:endParaRPr lang="en-US" sz="2700" dirty="0"/>
          </a:p>
        </p:txBody>
      </p:sp>
      <p:sp>
        <p:nvSpPr>
          <p:cNvPr id="13" name="Text 10"/>
          <p:cNvSpPr txBox="1"/>
          <p:nvPr/>
        </p:nvSpPr>
        <p:spPr>
          <a:xfrm>
            <a:off x="8183880" y="3648456"/>
            <a:ext cx="320040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and it skips the call entirely when nothing changed</a:t>
            </a:r>
            <a:endParaRPr lang="en-US" sz="1400" dirty="0"/>
          </a:p>
        </p:txBody>
      </p:sp>
      <p:sp>
        <p:nvSpPr>
          <p:cNvPr id="14" name="Text 11"/>
          <p:cNvSpPr txBox="1"/>
          <p:nvPr/>
        </p:nvSpPr>
        <p:spPr>
          <a:xfrm>
            <a:off x="6675120" y="4663440"/>
            <a:ext cx="1417320" cy="502920"/>
          </a:xfrm>
          <a:prstGeom prst="rect">
            <a:avLst/>
          </a:prstGeom>
          <a:noFill/>
          <a:ln/>
        </p:spPr>
        <p:txBody>
          <a:bodyPr wrap="square" lIns="0" tIns="0" rIns="0" bIns="0" rtlCol="0" anchor="ctr"/>
          <a:lstStyle/>
          <a:p>
            <a:pPr marL="0" indent="0">
              <a:buNone/>
            </a:pPr>
            <a:r>
              <a:rPr lang="en-US" sz="2700" b="1" dirty="0">
                <a:solidFill>
                  <a:srgbClr val="E9EFF6"/>
                </a:solidFill>
                <a:latin typeface="Calibri" pitchFamily="34" charset="0"/>
                <a:ea typeface="Calibri" pitchFamily="34" charset="-122"/>
                <a:cs typeface="Calibri" pitchFamily="34" charset="-120"/>
              </a:rPr>
              <a:t>0</a:t>
            </a:r>
            <a:endParaRPr lang="en-US" sz="2700" dirty="0"/>
          </a:p>
        </p:txBody>
      </p:sp>
      <p:sp>
        <p:nvSpPr>
          <p:cNvPr id="15" name="Text 12"/>
          <p:cNvSpPr txBox="1"/>
          <p:nvPr/>
        </p:nvSpPr>
        <p:spPr>
          <a:xfrm>
            <a:off x="8183880" y="4700016"/>
            <a:ext cx="3200400" cy="7315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keys anywhere - managed identity end to end</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IF YOU REMEMBER THREE THINGS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E9EFF6"/>
                </a:solidFill>
                <a:latin typeface="Calibri" pitchFamily="34" charset="0"/>
                <a:ea typeface="Calibri" pitchFamily="34" charset="-122"/>
                <a:cs typeface="Calibri" pitchFamily="34" charset="-120"/>
              </a:rPr>
              <a:t>Takeaways</a:t>
            </a:r>
            <a:endParaRPr lang="en-US" sz="3600" dirty="0"/>
          </a:p>
        </p:txBody>
      </p:sp>
      <p:sp>
        <p:nvSpPr>
          <p:cNvPr id="5" name="Shape 2"/>
          <p:cNvSpPr/>
          <p:nvPr/>
        </p:nvSpPr>
        <p:spPr>
          <a:xfrm>
            <a:off x="594360" y="1783080"/>
            <a:ext cx="11018520" cy="1207008"/>
          </a:xfrm>
          <a:prstGeom prst="roundRect">
            <a:avLst>
              <a:gd name="adj" fmla="val 4545"/>
            </a:avLst>
          </a:prstGeom>
          <a:solidFill>
            <a:srgbClr val="19242F"/>
          </a:solidFill>
          <a:ln/>
        </p:spPr>
        <p:txBody>
          <a:bodyPr/>
          <a:lstStyle/>
          <a:p>
            <a:endParaRPr lang="en-US"/>
          </a:p>
        </p:txBody>
      </p:sp>
      <p:sp>
        <p:nvSpPr>
          <p:cNvPr id="6" name="Shape 3"/>
          <p:cNvSpPr/>
          <p:nvPr/>
        </p:nvSpPr>
        <p:spPr>
          <a:xfrm>
            <a:off x="886968" y="2148840"/>
            <a:ext cx="502920" cy="502920"/>
          </a:xfrm>
          <a:prstGeom prst="ellipse">
            <a:avLst/>
          </a:prstGeom>
          <a:solidFill>
            <a:srgbClr val="5B9BD5"/>
          </a:solidFill>
          <a:ln/>
        </p:spPr>
        <p:txBody>
          <a:bodyPr/>
          <a:lstStyle/>
          <a:p>
            <a:endParaRPr lang="en-US"/>
          </a:p>
        </p:txBody>
      </p:sp>
      <p:sp>
        <p:nvSpPr>
          <p:cNvPr id="7" name="Text 4"/>
          <p:cNvSpPr txBox="1"/>
          <p:nvPr/>
        </p:nvSpPr>
        <p:spPr>
          <a:xfrm>
            <a:off x="886968" y="214884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600200" y="1965960"/>
            <a:ext cx="9601200" cy="384048"/>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Do the arithmetic first</a:t>
            </a:r>
            <a:endParaRPr lang="en-US" sz="2100" dirty="0"/>
          </a:p>
        </p:txBody>
      </p:sp>
      <p:sp>
        <p:nvSpPr>
          <p:cNvPr id="9" name="Text 6"/>
          <p:cNvSpPr txBox="1"/>
          <p:nvPr/>
        </p:nvSpPr>
        <p:spPr>
          <a:xfrm>
            <a:off x="1600200" y="2386584"/>
            <a:ext cx="9601200" cy="5029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Fingerprinting and key matching removed 92% of the volume before anything read a word. Cheap, instant, and it never hallucinates.</a:t>
            </a:r>
            <a:endParaRPr lang="en-US" sz="1400" dirty="0"/>
          </a:p>
        </p:txBody>
      </p:sp>
      <p:sp>
        <p:nvSpPr>
          <p:cNvPr id="10" name="Shape 7"/>
          <p:cNvSpPr/>
          <p:nvPr/>
        </p:nvSpPr>
        <p:spPr>
          <a:xfrm>
            <a:off x="594360" y="3154680"/>
            <a:ext cx="11018520" cy="1207008"/>
          </a:xfrm>
          <a:prstGeom prst="roundRect">
            <a:avLst>
              <a:gd name="adj" fmla="val 4545"/>
            </a:avLst>
          </a:prstGeom>
          <a:solidFill>
            <a:srgbClr val="19242F"/>
          </a:solidFill>
          <a:ln/>
        </p:spPr>
        <p:txBody>
          <a:bodyPr/>
          <a:lstStyle/>
          <a:p>
            <a:endParaRPr lang="en-US"/>
          </a:p>
        </p:txBody>
      </p:sp>
      <p:sp>
        <p:nvSpPr>
          <p:cNvPr id="11" name="Shape 8"/>
          <p:cNvSpPr/>
          <p:nvPr/>
        </p:nvSpPr>
        <p:spPr>
          <a:xfrm>
            <a:off x="886968" y="3520440"/>
            <a:ext cx="502920" cy="502920"/>
          </a:xfrm>
          <a:prstGeom prst="ellipse">
            <a:avLst/>
          </a:prstGeom>
          <a:solidFill>
            <a:srgbClr val="46B98A"/>
          </a:solidFill>
          <a:ln/>
        </p:spPr>
        <p:txBody>
          <a:bodyPr/>
          <a:lstStyle/>
          <a:p>
            <a:endParaRPr lang="en-US"/>
          </a:p>
        </p:txBody>
      </p:sp>
      <p:sp>
        <p:nvSpPr>
          <p:cNvPr id="12" name="Text 9"/>
          <p:cNvSpPr txBox="1"/>
          <p:nvPr/>
        </p:nvSpPr>
        <p:spPr>
          <a:xfrm>
            <a:off x="886968" y="352044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600200" y="3337560"/>
            <a:ext cx="9601200" cy="384048"/>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Instrumentation earns the correlation</a:t>
            </a:r>
            <a:endParaRPr lang="en-US" sz="2100" dirty="0"/>
          </a:p>
        </p:txBody>
      </p:sp>
      <p:sp>
        <p:nvSpPr>
          <p:cNvPr id="14" name="Text 11"/>
          <p:cNvSpPr txBox="1"/>
          <p:nvPr/>
        </p:nvSpPr>
        <p:spPr>
          <a:xfrm>
            <a:off x="1600200" y="3758184"/>
            <a:ext cx="9601200" cy="5029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One OpenTelemetry span attribute did work a model would otherwise have to do. Good telemetry is cheaper than inference.</a:t>
            </a:r>
            <a:endParaRPr lang="en-US" sz="1400" dirty="0"/>
          </a:p>
        </p:txBody>
      </p:sp>
      <p:sp>
        <p:nvSpPr>
          <p:cNvPr id="15" name="Shape 12"/>
          <p:cNvSpPr/>
          <p:nvPr/>
        </p:nvSpPr>
        <p:spPr>
          <a:xfrm>
            <a:off x="594360" y="4526280"/>
            <a:ext cx="11018520" cy="1207008"/>
          </a:xfrm>
          <a:prstGeom prst="roundRect">
            <a:avLst>
              <a:gd name="adj" fmla="val 4545"/>
            </a:avLst>
          </a:prstGeom>
          <a:solidFill>
            <a:srgbClr val="19242F"/>
          </a:solidFill>
          <a:ln/>
        </p:spPr>
        <p:txBody>
          <a:bodyPr/>
          <a:lstStyle/>
          <a:p>
            <a:endParaRPr lang="en-US"/>
          </a:p>
        </p:txBody>
      </p:sp>
      <p:sp>
        <p:nvSpPr>
          <p:cNvPr id="16" name="Shape 13"/>
          <p:cNvSpPr/>
          <p:nvPr/>
        </p:nvSpPr>
        <p:spPr>
          <a:xfrm>
            <a:off x="886968" y="4892040"/>
            <a:ext cx="502920" cy="502920"/>
          </a:xfrm>
          <a:prstGeom prst="ellipse">
            <a:avLst/>
          </a:prstGeom>
          <a:solidFill>
            <a:srgbClr val="E0443E"/>
          </a:solidFill>
          <a:ln/>
        </p:spPr>
        <p:txBody>
          <a:bodyPr/>
          <a:lstStyle/>
          <a:p>
            <a:endParaRPr lang="en-US"/>
          </a:p>
        </p:txBody>
      </p:sp>
      <p:sp>
        <p:nvSpPr>
          <p:cNvPr id="17" name="Text 14"/>
          <p:cNvSpPr txBox="1"/>
          <p:nvPr/>
        </p:nvSpPr>
        <p:spPr>
          <a:xfrm>
            <a:off x="886968" y="489204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600200" y="4709160"/>
            <a:ext cx="9601200" cy="384048"/>
          </a:xfrm>
          <a:prstGeom prst="rect">
            <a:avLst/>
          </a:prstGeom>
          <a:noFill/>
          <a:ln/>
        </p:spPr>
        <p:txBody>
          <a:bodyPr wrap="square" lIns="0" tIns="0" rIns="0" bIns="0" rtlCol="0" anchor="ctr"/>
          <a:lstStyle/>
          <a:p>
            <a:pPr marL="0" indent="0">
              <a:buNone/>
            </a:pPr>
            <a:r>
              <a:rPr lang="en-US" sz="2100" b="1" dirty="0">
                <a:solidFill>
                  <a:srgbClr val="E9EFF6"/>
                </a:solidFill>
                <a:latin typeface="Calibri" pitchFamily="34" charset="0"/>
                <a:ea typeface="Calibri" pitchFamily="34" charset="-122"/>
                <a:cs typeface="Calibri" pitchFamily="34" charset="-120"/>
              </a:rPr>
              <a:t>Use the model for the reading problem</a:t>
            </a:r>
            <a:endParaRPr lang="en-US" sz="2100" dirty="0"/>
          </a:p>
        </p:txBody>
      </p:sp>
      <p:sp>
        <p:nvSpPr>
          <p:cNvPr id="19" name="Text 16"/>
          <p:cNvSpPr txBox="1"/>
          <p:nvPr/>
        </p:nvSpPr>
        <p:spPr>
          <a:xfrm>
            <a:off x="1600200" y="5129784"/>
            <a:ext cx="9601200" cy="502920"/>
          </a:xfrm>
          <a:prstGeom prst="rect">
            <a:avLst/>
          </a:prstGeom>
          <a:noFill/>
          <a:ln/>
        </p:spPr>
        <p:txBody>
          <a:bodyPr wrap="square" lIns="0" tIns="0" rIns="0" bIns="0" rtlCol="0" anchor="ctr"/>
          <a:lstStyle/>
          <a:p>
            <a:pPr marL="0" indent="0">
              <a:buNone/>
            </a:pPr>
            <a:r>
              <a:rPr lang="en-US" sz="1400" dirty="0">
                <a:solidFill>
                  <a:srgbClr val="8FA3B8"/>
                </a:solidFill>
                <a:latin typeface="Calibri" pitchFamily="34" charset="0"/>
                <a:ea typeface="Calibri" pitchFamily="34" charset="-122"/>
                <a:cs typeface="Calibri" pitchFamily="34" charset="-120"/>
              </a:rPr>
              <a:t>Ask it to connect what only prose connects, judge it on what it refuses to connect, and never let it own your data model.</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EVERY FUNCTION, BY JOB</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Which function answers which question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389888"/>
            <a:ext cx="11002975" cy="868680"/>
          </a:xfrm>
          <a:prstGeom prst="roundRect">
            <a:avLst>
              <a:gd name="adj" fmla="val 6316"/>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795528" y="1490472"/>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Normalise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795528" y="1755648"/>
            <a:ext cx="18745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Normalize.psm1 (10)</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2743200" y="1463040"/>
            <a:ext cx="8671255" cy="74066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ConvertTo-PipelineEvent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entry point: sniffs the payload shape and hands off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ConvertFrom-AppInsightsRecord · -AzureMonitorAlert · -ScriptEvent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one per shape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Get-HostFromTarget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a dependency’s Target becomes the host, so the app’s failed call joins the server’s incident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Get-Field · Get-ExceptionMessage · Format-Time · New-PipelineEvent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helpers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94360" y="2359152"/>
            <a:ext cx="11002975" cy="603504"/>
          </a:xfrm>
          <a:prstGeom prst="roundRect">
            <a:avLst>
              <a:gd name="adj" fmla="val 9091"/>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txBox="1"/>
          <p:nvPr/>
        </p:nvSpPr>
        <p:spPr>
          <a:xfrm>
            <a:off x="795528" y="2459736"/>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Same symptom?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95528" y="2724912"/>
            <a:ext cx="77724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txBox="1"/>
          <p:nvPr/>
        </p:nvSpPr>
        <p:spPr>
          <a:xfrm>
            <a:off x="795528" y="2724912"/>
            <a:ext cx="77724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QUESTION 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1645920" y="2724912"/>
            <a:ext cx="1024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Correlation.psm1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2743200" y="2432304"/>
            <a:ext cx="8671255" cy="4754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Get-Fingerprint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SHA256 of source | kind | title with digits → N | resource | host.  Four lines. The whole answer.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94360" y="3063240"/>
            <a:ext cx="11002975" cy="868680"/>
          </a:xfrm>
          <a:prstGeom prst="roundRect">
            <a:avLst>
              <a:gd name="adj" fmla="val 6316"/>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795528" y="3163824"/>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Same incident?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795528" y="3429000"/>
            <a:ext cx="777240" cy="201168"/>
          </a:xfrm>
          <a:prstGeom prst="roundRect">
            <a:avLst>
              <a:gd name="adj" fmla="val 22727"/>
            </a:avLst>
          </a:prstGeom>
          <a:solidFill>
            <a:srgbClr val="0E1621"/>
          </a:solidFill>
          <a:ln w="12700">
            <a:solidFill>
              <a:srgbClr val="E8A33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795528" y="3429000"/>
            <a:ext cx="77724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8A33D"/>
                </a:solidFill>
                <a:effectLst/>
                <a:uLnTx/>
                <a:uFillTx/>
                <a:latin typeface="Calibri" pitchFamily="34" charset="0"/>
                <a:ea typeface="Calibri" pitchFamily="34" charset="-122"/>
                <a:cs typeface="Calibri" pitchFamily="34" charset="-120"/>
              </a:rPr>
              <a:t>QUESTION 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txBox="1"/>
          <p:nvPr/>
        </p:nvSpPr>
        <p:spPr>
          <a:xfrm>
            <a:off x="1645920" y="3429000"/>
            <a:ext cx="1024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Correlation.psm1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txBox="1"/>
          <p:nvPr/>
        </p:nvSpPr>
        <p:spPr>
          <a:xfrm>
            <a:off x="2743200" y="3136392"/>
            <a:ext cx="8671255" cy="74066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Get-PrimaryKey · Get-IncidentId</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one key that decides the incident, and the id derived from it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Get-EventKey</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every key the event carries, for the “correlated on” 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Add-EventToIncident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orchestrator - the only thing IngestEvents calls after archiving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New-Incident · Write-RawEvent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writes; neither is conditional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594360" y="4032504"/>
            <a:ext cx="11002975" cy="713232"/>
          </a:xfrm>
          <a:prstGeom prst="roundRect">
            <a:avLst>
              <a:gd name="adj" fmla="val 7692"/>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txBox="1"/>
          <p:nvPr/>
        </p:nvSpPr>
        <p:spPr>
          <a:xfrm>
            <a:off x="795528" y="4133088"/>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Plumbing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795528" y="4398264"/>
            <a:ext cx="18745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Plumbing.psm1 (9)</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txBox="1"/>
          <p:nvPr/>
        </p:nvSpPr>
        <p:spPr>
          <a:xfrm>
            <a:off x="2743200" y="4105656"/>
            <a:ext cx="8671255" cy="585216"/>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Invoke-Table · Get-TableRow · Get-OpenIncident · Measure-Incident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Table Storage over REST, and the totals the incident row does not store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Get-ResourceToken · Get-StorageToken</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managed identity, one token per resource, cached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Get-HttpStatus · ConvertTo-TableLiteral · ConvertTo-Utc</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small conversions everyone leans 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594360" y="4846320"/>
            <a:ext cx="11002975" cy="868680"/>
          </a:xfrm>
          <a:prstGeom prst="roundRect">
            <a:avLst>
              <a:gd name="adj" fmla="val 6316"/>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795528" y="4946904"/>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Same problem?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795528" y="5212080"/>
            <a:ext cx="777240" cy="201168"/>
          </a:xfrm>
          <a:prstGeom prst="roundRect">
            <a:avLst>
              <a:gd name="adj" fmla="val 22727"/>
            </a:avLst>
          </a:prstGeom>
          <a:solidFill>
            <a:srgbClr val="0E1621"/>
          </a:solidFill>
          <a:ln w="12700">
            <a:solidFill>
              <a:srgbClr val="E044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795528" y="5212080"/>
            <a:ext cx="77724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E0443E"/>
                </a:solidFill>
                <a:effectLst/>
                <a:uLnTx/>
                <a:uFillTx/>
                <a:latin typeface="Calibri" pitchFamily="34" charset="0"/>
                <a:ea typeface="Calibri" pitchFamily="34" charset="-122"/>
                <a:cs typeface="Calibri" pitchFamily="34" charset="-120"/>
              </a:rPr>
              <a:t>QUESTION 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1645920" y="5212080"/>
            <a:ext cx="1024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Ai.psm1 (5)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txBox="1"/>
          <p:nvPr/>
        </p:nvSpPr>
        <p:spPr>
          <a:xfrm>
            <a:off x="2743200" y="4919472"/>
            <a:ext cx="8671255" cy="74066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Invoke-IncidentAnalysis</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pass: fetch, skip if quiet, brief, ask, write back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Get-IncidentBrief</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what the model is allowed to see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Invoke-OpenAI · ConvertFrom-ModelJson</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the one call, and the JSON it must return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Write-IncidentVerdict</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one incident’s verdict, a plain merge - it sends no counters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8"/>
          <p:cNvSpPr/>
          <p:nvPr/>
        </p:nvSpPr>
        <p:spPr>
          <a:xfrm>
            <a:off x="594360" y="5815584"/>
            <a:ext cx="11002975" cy="603504"/>
          </a:xfrm>
          <a:prstGeom prst="roundRect">
            <a:avLst>
              <a:gd name="adj" fmla="val 9091"/>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9"/>
          <p:cNvSpPr txBox="1"/>
          <p:nvPr/>
        </p:nvSpPr>
        <p:spPr>
          <a:xfrm>
            <a:off x="795528" y="5916168"/>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B9BD5"/>
                </a:solidFill>
                <a:effectLst/>
                <a:uLnTx/>
                <a:uFillTx/>
                <a:latin typeface="Calibri" pitchFamily="34" charset="0"/>
                <a:ea typeface="Calibri" pitchFamily="34" charset="-122"/>
                <a:cs typeface="Calibri" pitchFamily="34" charset="-120"/>
              </a:rPr>
              <a:t>Presentation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txBox="1"/>
          <p:nvPr/>
        </p:nvSpPr>
        <p:spPr>
          <a:xfrm>
            <a:off x="795528" y="6181344"/>
            <a:ext cx="18745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7C90A6"/>
                </a:solidFill>
                <a:effectLst/>
                <a:uLnTx/>
                <a:uFillTx/>
                <a:latin typeface="Courier New" pitchFamily="34" charset="0"/>
                <a:ea typeface="Courier New" pitchFamily="34" charset="-122"/>
                <a:cs typeface="Courier New" pitchFamily="34" charset="-120"/>
              </a:rPr>
              <a:t>GetIncidents/run.ps1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1"/>
          <p:cNvSpPr txBox="1"/>
          <p:nvPr/>
        </p:nvSpPr>
        <p:spPr>
          <a:xfrm>
            <a:off x="2743200" y="5888736"/>
            <a:ext cx="8671255" cy="4754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six ?view= shapes</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raw · summary · sources · tree · incidents · symptoms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EFF6"/>
                </a:solidFill>
                <a:effectLst/>
                <a:uLnTx/>
                <a:uFillTx/>
                <a:latin typeface="Courier New" pitchFamily="34" charset="0"/>
                <a:ea typeface="Courier New" pitchFamily="34" charset="-122"/>
                <a:cs typeface="Courier New" pitchFamily="34" charset="-120"/>
              </a:rPr>
              <a:t>Format-Count · Format-Age · Write-Json · Get-TableRow</a:t>
            </a: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   local helpers - that last one is a filter query, not the module’s point read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594360" y="6537960"/>
            <a:ext cx="11002975"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35 functions. Three of them decide what belongs together. One of them talks to a model.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E1621"/>
        </a:solidFill>
        <a:effectLst/>
      </p:bgPr>
    </p:bg>
    <p:spTree>
      <p:nvGrpSpPr>
        <p:cNvPr id="1" name=""/>
        <p:cNvGrpSpPr/>
        <p:nvPr/>
      </p:nvGrpSpPr>
      <p:grpSpPr>
        <a:xfrm>
          <a:off x="0" y="0"/>
          <a:ext cx="0" cy="0"/>
          <a:chOff x="0" y="0"/>
          <a:chExt cx="0" cy="0"/>
        </a:xfrm>
      </p:grpSpPr>
      <p:sp>
        <p:nvSpPr>
          <p:cNvPr id="3" name="Text 0"/>
          <p:cNvSpPr txBox="1"/>
          <p:nvPr/>
        </p:nvSpPr>
        <p:spPr>
          <a:xfrm>
            <a:off x="594360" y="1234440"/>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400" normalizeH="0" baseline="0" noProof="0" dirty="0">
                <a:ln>
                  <a:noFill/>
                </a:ln>
                <a:solidFill>
                  <a:srgbClr val="E8A33D"/>
                </a:solidFill>
                <a:effectLst/>
                <a:uLnTx/>
                <a:uFillTx/>
                <a:latin typeface="Calibri" pitchFamily="34" charset="0"/>
                <a:ea typeface="Calibri" pitchFamily="34" charset="-122"/>
                <a:cs typeface="Calibri" pitchFamily="34" charset="-120"/>
              </a:rPr>
              <a:t>SMARTER MONITORING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1645920"/>
            <a:ext cx="105156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Thank you</a:t>
            </a:r>
            <a:endParaRPr kumimoji="0" lang="en-US" sz="6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txBox="1"/>
          <p:nvPr/>
        </p:nvSpPr>
        <p:spPr>
          <a:xfrm>
            <a:off x="594360" y="2743200"/>
            <a:ext cx="9144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Donnie Taylor   ·   The Cloud &amp; AI Summit 2026</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594360" y="3383280"/>
            <a:ext cx="11002975" cy="2414016"/>
          </a:xfrm>
          <a:prstGeom prst="roundRect">
            <a:avLst>
              <a:gd name="adj" fmla="val 2273"/>
            </a:avLst>
          </a:prstGeom>
          <a:solidFill>
            <a:srgbClr val="19242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p:cNvSpPr/>
          <p:nvPr/>
        </p:nvSpPr>
        <p:spPr>
          <a:xfrm>
            <a:off x="914400" y="3721608"/>
            <a:ext cx="219456" cy="219456"/>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txBox="1"/>
          <p:nvPr/>
        </p:nvSpPr>
        <p:spPr>
          <a:xfrm>
            <a:off x="1371600" y="3611880"/>
            <a:ext cx="44805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github.com/donnietaylor</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5943600" y="3611880"/>
            <a:ext cx="53949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The code from today - Deploy-Azure.ps1 builds it in your tenant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914400" y="4434840"/>
            <a:ext cx="219456" cy="219456"/>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txBox="1"/>
          <p:nvPr/>
        </p:nvSpPr>
        <p:spPr>
          <a:xfrm>
            <a:off x="1371600" y="4325112"/>
            <a:ext cx="44805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draith.com</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5943600" y="4325112"/>
            <a:ext cx="53949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Blog and write-ups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914400" y="5148072"/>
            <a:ext cx="219456" cy="219456"/>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1371600" y="5038344"/>
            <a:ext cx="44805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9EFF6"/>
                </a:solidFill>
                <a:effectLst/>
                <a:uLnTx/>
                <a:uFillTx/>
                <a:latin typeface="Calibri" pitchFamily="34" charset="0"/>
                <a:ea typeface="Calibri" pitchFamily="34" charset="-122"/>
                <a:cs typeface="Calibri" pitchFamily="34" charset="-120"/>
              </a:rPr>
              <a:t>donnietaylor.bsky.social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5943600" y="5038344"/>
            <a:ext cx="53949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Also on LinkedIn: linkedin.com/in/donnietaylor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594360" y="5852160"/>
            <a:ext cx="8229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7C90A6"/>
                </a:solidFill>
                <a:effectLst/>
                <a:uLnTx/>
                <a:uFillTx/>
                <a:latin typeface="Calibri" pitchFamily="34" charset="0"/>
                <a:ea typeface="Calibri" pitchFamily="34" charset="-122"/>
                <a:cs typeface="Calibri" pitchFamily="34" charset="-120"/>
              </a:rPr>
              <a:t>Questions - now, or find me afterwards.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10643616" y="5934456"/>
            <a:ext cx="201168" cy="201168"/>
          </a:xfrm>
          <a:prstGeom prst="ellipse">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5"/>
          <p:cNvSpPr/>
          <p:nvPr/>
        </p:nvSpPr>
        <p:spPr>
          <a:xfrm>
            <a:off x="11027664" y="5934456"/>
            <a:ext cx="201168" cy="201168"/>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11411712" y="5934456"/>
            <a:ext cx="201168" cy="201168"/>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5703BEA-C48D-4B47-BF6A-148B9BFB993E}">
  <we:reference id="wa200010001" version="1.0.0.1" store="en-US" storeType="OMEX"/>
  <we:alternateReferences>
    <we:reference id="WA200010001"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431</TotalTime>
  <Words>4619</Words>
  <Application>Microsoft Office PowerPoint</Application>
  <PresentationFormat>Widescreen</PresentationFormat>
  <Paragraphs>524</Paragraphs>
  <Slides>28</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Smarter Monitoring: Building an AI-Enhanced Event Pipeline</dc:title>
  <dc:subject>PptxGenJS Presentation</dc:subject>
  <dc:creator>Donnie Taylor</dc:creator>
  <cp:lastModifiedBy>Donnie Taylor</cp:lastModifiedBy>
  <cp:revision>9</cp:revision>
  <dcterms:created xsi:type="dcterms:W3CDTF">2026-09-13T00:17:19Z</dcterms:created>
  <dcterms:modified xsi:type="dcterms:W3CDTF">2026-09-30T18:18:32Z</dcterms:modified>
</cp:coreProperties>
</file>