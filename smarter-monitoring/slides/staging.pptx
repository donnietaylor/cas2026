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slide. Walk it left to right once, then point at the two things that are not obvious: the dashed loop is the AI pass reading and writing the same table the ingest path writes, and the three question chips - same symptom, same incident, same problem - are the spine of the session. Roughly ninety seconds; do not narrate every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slide. Three swim lanes, one per trigger. The top lane is the one to spend time on: point at the row inside Add-EventToIncident and say that the incident is decided before the symptom - question two before question one - because they are the two halves of one row address. The other two lanes are a sentence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Do not read it aloud; let it sit while you say the one sentence at the bottom. The thing to point at is the same-symptom row: one function, four lines, and the middle row - the plumbing - which is its own module now and knows nothing about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before the first demo. The point is that the function that reads the hub is trivially small - all the interesting work is behind three verbs. Read the three lines in the inner loop out loud and move on; the next slides open each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three completely different JSON shapes, and none of them agree on what a field is called. This is the unglamorous half of any pipeline like this and it is worth saying so - people underestimate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in full. Three lines. Say plainly that this is the entire deduplication engine and that it involves no intelligence of any kind - it is a hash of a string with the numbers taken out. Then be honest about the cost: "Port 22 closed" and "Port 443 closed" collapse together too.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no code. Point at the right-hand column: every alert names the machine it is about. Two different tools, four different complaints, one machine name. That name is what groups them. No model, no lookup - it is a string match. If the room wants the fallback order (Azure resource, then app name), that is on the layer-two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follow one alert. Step one is a real alert from the demo. Step two: we pick the one label to group on - the machine name if the alert has one, otherwise the Azure resource, otherwise the app name. Step three: that label is hashed into the incident id. inc-de92ae29a9bb is the real id for sql-prod-03. The punchline is the callout: every other alert about that machine computes the same id, so it lands in the same incident without anyone searching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the code, set up first. Read the subtitle before touching the code: we do not search for an incident, we calculate its id. Two lines do it, and the comments show the real values. Then the two cards: different tools, different complaints, same id. Save the "why" for the callout - two workers handling alerts for the same machine at the same moment would both search, both miss and both create an incident. Calculating the id means they both write to the same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Deflate the AI stage deliberately. It is one HTTP call with temperature zero and a JSON contract. The interesting engineering is everywhere except here - and that is the honest shape of most production AI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code slide, and the one that makes the argument. Ninety-seven percent of the code is not AI. If they remember one number from the technical half of the session,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statement. One idea, no supporting text. Use it when you want the room looking at you rather than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three-card row. Comparisons, taxonomies, before/during/after. Works with two to four items; the helper sizes them to the content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numbered rows. Sequences, lists of three or four, anything where order matters. Three rows breathe; four is the maximum before it gets cramped.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two panels. Limits and costs, pros and cons, before and after. Both panels are the same width - the numbers here are correct, do not eyeball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chain. Cause at the top, consequences below, triangles between. The colour of the top badge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log wall. Real-looking output, monospace, severity coloured. It should be hard to read - that is usually why it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flow. Architecture, pipelines, stages. Five boxes is the comfortable maximum at this width; four reads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marker. Warm ground so it is obvious in presenter view that a demo is coming. Put the literal command in the first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image well. Drop the image over the grey box, then delete the box. The caption stays either way, so the slide still works if the image never turns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Thank-you slide. Leave it up through the last questions so people can grab the links. The repo line is the one to point at: Deploy-Azure.ps1 builds the whole thing in their own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SOURCES TO DASHBOARD</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The whole event flow</a:t>
            </a:r>
            <a:endParaRPr lang="en-US" sz="3600" dirty="0"/>
          </a:p>
        </p:txBody>
      </p:sp>
      <p:sp>
        <p:nvSpPr>
          <p:cNvPr id="5" name="Shape 2"/>
          <p:cNvSpPr/>
          <p:nvPr/>
        </p:nvSpPr>
        <p:spPr>
          <a:xfrm>
            <a:off x="594360" y="1444752"/>
            <a:ext cx="2240280" cy="2788920"/>
          </a:xfrm>
          <a:prstGeom prst="roundRect">
            <a:avLst>
              <a:gd name="adj" fmla="val 2449"/>
            </a:avLst>
          </a:prstGeom>
          <a:solidFill>
            <a:srgbClr val="19242F"/>
          </a:solidFill>
          <a:ln/>
        </p:spPr>
      </p:sp>
      <p:sp>
        <p:nvSpPr>
          <p:cNvPr id="6" name="Text 3"/>
          <p:cNvSpPr txBox="1"/>
          <p:nvPr/>
        </p:nvSpPr>
        <p:spPr>
          <a:xfrm>
            <a:off x="777240" y="1591056"/>
            <a:ext cx="187452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SOURCES</a:t>
            </a:r>
            <a:endParaRPr lang="en-US" sz="1000" dirty="0"/>
          </a:p>
        </p:txBody>
      </p:sp>
      <p:sp>
        <p:nvSpPr>
          <p:cNvPr id="7" name="Shape 4"/>
          <p:cNvSpPr/>
          <p:nvPr/>
        </p:nvSpPr>
        <p:spPr>
          <a:xfrm>
            <a:off x="777240" y="1965960"/>
            <a:ext cx="137160" cy="137160"/>
          </a:xfrm>
          <a:prstGeom prst="ellipse">
            <a:avLst/>
          </a:prstGeom>
          <a:solidFill>
            <a:srgbClr val="5B9BD5"/>
          </a:solidFill>
          <a:ln/>
        </p:spPr>
      </p:sp>
      <p:sp>
        <p:nvSpPr>
          <p:cNvPr id="8" name="Text 5"/>
          <p:cNvSpPr txBox="1"/>
          <p:nvPr/>
        </p:nvSpPr>
        <p:spPr>
          <a:xfrm>
            <a:off x="1005840" y="1901952"/>
            <a:ext cx="173736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OpenTelemetry</a:t>
            </a:r>
            <a:endParaRPr lang="en-US" sz="1300" dirty="0"/>
          </a:p>
        </p:txBody>
      </p:sp>
      <p:sp>
        <p:nvSpPr>
          <p:cNvPr id="9" name="Text 6"/>
          <p:cNvSpPr txBox="1"/>
          <p:nvPr/>
        </p:nvSpPr>
        <p:spPr>
          <a:xfrm>
            <a:off x="1005840" y="2130552"/>
            <a:ext cx="1737360" cy="201168"/>
          </a:xfrm>
          <a:prstGeom prst="rect">
            <a:avLst/>
          </a:prstGeom>
          <a:noFill/>
          <a:ln/>
        </p:spPr>
        <p:txBody>
          <a:bodyPr wrap="square" lIns="0" tIns="0" rIns="0" bIns="0" rtlCol="0" anchor="ctr"/>
          <a:lstStyle/>
          <a:p>
            <a:pPr indent="0" marL="0">
              <a:buNone/>
            </a:pPr>
            <a:r>
              <a:rPr lang="en-US" sz="900" dirty="0">
                <a:solidFill>
                  <a:srgbClr val="8FA3B8"/>
                </a:solidFill>
                <a:latin typeface="Courier New" pitchFamily="34" charset="0"/>
                <a:ea typeface="Courier New" pitchFamily="34" charset="-122"/>
                <a:cs typeface="Courier New" pitchFamily="34" charset="-120"/>
              </a:rPr>
              <a:t>store-api on this laptop</a:t>
            </a:r>
            <a:endParaRPr lang="en-US" sz="900" dirty="0"/>
          </a:p>
        </p:txBody>
      </p:sp>
      <p:sp>
        <p:nvSpPr>
          <p:cNvPr id="10" name="Text 7"/>
          <p:cNvSpPr txBox="1"/>
          <p:nvPr/>
        </p:nvSpPr>
        <p:spPr>
          <a:xfrm>
            <a:off x="1005840" y="2322576"/>
            <a:ext cx="1737360" cy="201168"/>
          </a:xfrm>
          <a:prstGeom prst="rect">
            <a:avLst/>
          </a:prstGeom>
          <a:noFill/>
          <a:ln/>
        </p:spPr>
        <p:txBody>
          <a:bodyPr wrap="square" lIns="0" tIns="0" rIns="0" bIns="0" rtlCol="0" anchor="ctr"/>
          <a:lstStyle/>
          <a:p>
            <a:pPr indent="0" marL="0">
              <a:buNone/>
            </a:pPr>
            <a:r>
              <a:rPr lang="en-US" sz="1000" i="1" dirty="0">
                <a:solidFill>
                  <a:srgbClr val="7C90A6"/>
                </a:solidFill>
                <a:latin typeface="Calibri" pitchFamily="34" charset="0"/>
                <a:ea typeface="Calibri" pitchFamily="34" charset="-122"/>
                <a:cs typeface="Calibri" pitchFamily="34" charset="-120"/>
              </a:rPr>
              <a:t>via Application Insights</a:t>
            </a:r>
            <a:endParaRPr lang="en-US" sz="1000" dirty="0"/>
          </a:p>
        </p:txBody>
      </p:sp>
      <p:sp>
        <p:nvSpPr>
          <p:cNvPr id="11" name="Shape 8"/>
          <p:cNvSpPr/>
          <p:nvPr/>
        </p:nvSpPr>
        <p:spPr>
          <a:xfrm>
            <a:off x="777240" y="2743200"/>
            <a:ext cx="137160" cy="137160"/>
          </a:xfrm>
          <a:prstGeom prst="ellipse">
            <a:avLst/>
          </a:prstGeom>
          <a:solidFill>
            <a:srgbClr val="E8A33D"/>
          </a:solidFill>
          <a:ln/>
        </p:spPr>
      </p:sp>
      <p:sp>
        <p:nvSpPr>
          <p:cNvPr id="12" name="Text 9"/>
          <p:cNvSpPr txBox="1"/>
          <p:nvPr/>
        </p:nvSpPr>
        <p:spPr>
          <a:xfrm>
            <a:off x="1005840" y="2679192"/>
            <a:ext cx="173736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Azure Monitor</a:t>
            </a:r>
            <a:endParaRPr lang="en-US" sz="1300" dirty="0"/>
          </a:p>
        </p:txBody>
      </p:sp>
      <p:sp>
        <p:nvSpPr>
          <p:cNvPr id="13" name="Text 10"/>
          <p:cNvSpPr txBox="1"/>
          <p:nvPr/>
        </p:nvSpPr>
        <p:spPr>
          <a:xfrm>
            <a:off x="1005840" y="2907792"/>
            <a:ext cx="1737360" cy="201168"/>
          </a:xfrm>
          <a:prstGeom prst="rect">
            <a:avLst/>
          </a:prstGeom>
          <a:noFill/>
          <a:ln/>
        </p:spPr>
        <p:txBody>
          <a:bodyPr wrap="square" lIns="0" tIns="0" rIns="0" bIns="0" rtlCol="0" anchor="ctr"/>
          <a:lstStyle/>
          <a:p>
            <a:pPr indent="0" marL="0">
              <a:buNone/>
            </a:pPr>
            <a:r>
              <a:rPr lang="en-US" sz="900" dirty="0">
                <a:solidFill>
                  <a:srgbClr val="8FA3B8"/>
                </a:solidFill>
                <a:latin typeface="Courier New" pitchFamily="34" charset="0"/>
                <a:ea typeface="Courier New" pitchFamily="34" charset="-122"/>
                <a:cs typeface="Courier New" pitchFamily="34" charset="-120"/>
              </a:rPr>
              <a:t>metric alert on failures</a:t>
            </a:r>
            <a:endParaRPr lang="en-US" sz="900" dirty="0"/>
          </a:p>
        </p:txBody>
      </p:sp>
      <p:sp>
        <p:nvSpPr>
          <p:cNvPr id="14" name="Text 11"/>
          <p:cNvSpPr txBox="1"/>
          <p:nvPr/>
        </p:nvSpPr>
        <p:spPr>
          <a:xfrm>
            <a:off x="1005840" y="3099816"/>
            <a:ext cx="1737360" cy="201168"/>
          </a:xfrm>
          <a:prstGeom prst="rect">
            <a:avLst/>
          </a:prstGeom>
          <a:noFill/>
          <a:ln/>
        </p:spPr>
        <p:txBody>
          <a:bodyPr wrap="square" lIns="0" tIns="0" rIns="0" bIns="0" rtlCol="0" anchor="ctr"/>
          <a:lstStyle/>
          <a:p>
            <a:pPr indent="0" marL="0">
              <a:buNone/>
            </a:pPr>
            <a:r>
              <a:rPr lang="en-US" sz="1000" i="1" dirty="0">
                <a:solidFill>
                  <a:srgbClr val="7C90A6"/>
                </a:solidFill>
                <a:latin typeface="Calibri" pitchFamily="34" charset="0"/>
                <a:ea typeface="Calibri" pitchFamily="34" charset="-122"/>
                <a:cs typeface="Calibri" pitchFamily="34" charset="-120"/>
              </a:rPr>
              <a:t>via an action group</a:t>
            </a:r>
            <a:endParaRPr lang="en-US" sz="1000" dirty="0"/>
          </a:p>
        </p:txBody>
      </p:sp>
      <p:sp>
        <p:nvSpPr>
          <p:cNvPr id="15" name="Shape 12"/>
          <p:cNvSpPr/>
          <p:nvPr/>
        </p:nvSpPr>
        <p:spPr>
          <a:xfrm>
            <a:off x="777240" y="3520440"/>
            <a:ext cx="137160" cy="137160"/>
          </a:xfrm>
          <a:prstGeom prst="ellipse">
            <a:avLst/>
          </a:prstGeom>
          <a:solidFill>
            <a:srgbClr val="46B98A"/>
          </a:solidFill>
          <a:ln/>
        </p:spPr>
      </p:sp>
      <p:sp>
        <p:nvSpPr>
          <p:cNvPr id="16" name="Text 13"/>
          <p:cNvSpPr txBox="1"/>
          <p:nvPr/>
        </p:nvSpPr>
        <p:spPr>
          <a:xfrm>
            <a:off x="1005840" y="3456432"/>
            <a:ext cx="173736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12 monitoring tools</a:t>
            </a:r>
            <a:endParaRPr lang="en-US" sz="1300" dirty="0"/>
          </a:p>
        </p:txBody>
      </p:sp>
      <p:sp>
        <p:nvSpPr>
          <p:cNvPr id="17" name="Text 14"/>
          <p:cNvSpPr txBox="1"/>
          <p:nvPr/>
        </p:nvSpPr>
        <p:spPr>
          <a:xfrm>
            <a:off x="1005840" y="3685032"/>
            <a:ext cx="1737360" cy="201168"/>
          </a:xfrm>
          <a:prstGeom prst="rect">
            <a:avLst/>
          </a:prstGeom>
          <a:noFill/>
          <a:ln/>
        </p:spPr>
        <p:txBody>
          <a:bodyPr wrap="square" lIns="0" tIns="0" rIns="0" bIns="0" rtlCol="0" anchor="ctr"/>
          <a:lstStyle/>
          <a:p>
            <a:pPr indent="0" marL="0">
              <a:buNone/>
            </a:pPr>
            <a:r>
              <a:rPr lang="en-US" sz="900" dirty="0">
                <a:solidFill>
                  <a:srgbClr val="8FA3B8"/>
                </a:solidFill>
                <a:latin typeface="Courier New" pitchFamily="34" charset="0"/>
                <a:ea typeface="Courier New" pitchFamily="34" charset="-122"/>
                <a:cs typeface="Courier New" pitchFamily="34" charset="-120"/>
              </a:rPr>
              <a:t>Send-Event.ps1</a:t>
            </a:r>
            <a:endParaRPr lang="en-US" sz="900" dirty="0"/>
          </a:p>
        </p:txBody>
      </p:sp>
      <p:sp>
        <p:nvSpPr>
          <p:cNvPr id="18" name="Text 15"/>
          <p:cNvSpPr txBox="1"/>
          <p:nvPr/>
        </p:nvSpPr>
        <p:spPr>
          <a:xfrm>
            <a:off x="1005840" y="3877056"/>
            <a:ext cx="1737360" cy="201168"/>
          </a:xfrm>
          <a:prstGeom prst="rect">
            <a:avLst/>
          </a:prstGeom>
          <a:noFill/>
          <a:ln/>
        </p:spPr>
        <p:txBody>
          <a:bodyPr wrap="square" lIns="0" tIns="0" rIns="0" bIns="0" rtlCol="0" anchor="ctr"/>
          <a:lstStyle/>
          <a:p>
            <a:pPr indent="0" marL="0">
              <a:buNone/>
            </a:pPr>
            <a:r>
              <a:rPr lang="en-US" sz="1000" i="1" dirty="0">
                <a:solidFill>
                  <a:srgbClr val="7C90A6"/>
                </a:solidFill>
                <a:latin typeface="Calibri" pitchFamily="34" charset="0"/>
                <a:ea typeface="Calibri" pitchFamily="34" charset="-122"/>
                <a:cs typeface="Calibri" pitchFamily="34" charset="-120"/>
              </a:rPr>
              <a:t>REST + SAS</a:t>
            </a:r>
            <a:endParaRPr lang="en-US" sz="1000" dirty="0"/>
          </a:p>
        </p:txBody>
      </p:sp>
      <p:sp>
        <p:nvSpPr>
          <p:cNvPr id="19" name="Shape 16"/>
          <p:cNvSpPr/>
          <p:nvPr/>
        </p:nvSpPr>
        <p:spPr>
          <a:xfrm>
            <a:off x="2834640" y="2823210"/>
            <a:ext cx="155448" cy="32004"/>
          </a:xfrm>
          <a:prstGeom prst="rect">
            <a:avLst/>
          </a:prstGeom>
          <a:solidFill>
            <a:srgbClr val="7C90A6"/>
          </a:solidFill>
          <a:ln/>
        </p:spPr>
      </p:sp>
      <p:sp>
        <p:nvSpPr>
          <p:cNvPr id="20" name="Shape 17"/>
          <p:cNvSpPr/>
          <p:nvPr/>
        </p:nvSpPr>
        <p:spPr>
          <a:xfrm rot="5400000">
            <a:off x="2990088" y="2770632"/>
            <a:ext cx="118872" cy="137160"/>
          </a:xfrm>
          <a:prstGeom prst="triangle">
            <a:avLst/>
          </a:prstGeom>
          <a:solidFill>
            <a:srgbClr val="7C90A6"/>
          </a:solidFill>
          <a:ln/>
        </p:spPr>
      </p:sp>
      <p:sp>
        <p:nvSpPr>
          <p:cNvPr id="21" name="Shape 18"/>
          <p:cNvSpPr/>
          <p:nvPr/>
        </p:nvSpPr>
        <p:spPr>
          <a:xfrm>
            <a:off x="3108960" y="1444752"/>
            <a:ext cx="1325880" cy="2788920"/>
          </a:xfrm>
          <a:prstGeom prst="roundRect">
            <a:avLst>
              <a:gd name="adj" fmla="val 4138"/>
            </a:avLst>
          </a:prstGeom>
          <a:solidFill>
            <a:srgbClr val="19242F"/>
          </a:solidFill>
          <a:ln/>
        </p:spPr>
      </p:sp>
      <p:sp>
        <p:nvSpPr>
          <p:cNvPr id="22" name="Text 19"/>
          <p:cNvSpPr txBox="1"/>
          <p:nvPr/>
        </p:nvSpPr>
        <p:spPr>
          <a:xfrm>
            <a:off x="3246120" y="1591056"/>
            <a:ext cx="105156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EVENT HUB</a:t>
            </a:r>
            <a:endParaRPr lang="en-US" sz="1000" dirty="0"/>
          </a:p>
        </p:txBody>
      </p:sp>
      <p:sp>
        <p:nvSpPr>
          <p:cNvPr id="23" name="Text 20"/>
          <p:cNvSpPr txBox="1"/>
          <p:nvPr/>
        </p:nvSpPr>
        <p:spPr>
          <a:xfrm>
            <a:off x="3246120" y="2180844"/>
            <a:ext cx="1051560" cy="548640"/>
          </a:xfrm>
          <a:prstGeom prst="rect">
            <a:avLst/>
          </a:prstGeom>
          <a:noFill/>
          <a:ln/>
        </p:spPr>
        <p:txBody>
          <a:bodyPr wrap="square" lIns="0" tIns="0" rIns="0" bIns="0" rtlCol="0" anchor="ctr"/>
          <a:lstStyle/>
          <a:p>
            <a:pPr indent="0" marL="0">
              <a:lnSpc>
                <a:spcPts val="2000"/>
              </a:lnSpc>
              <a:buNone/>
            </a:pPr>
            <a:r>
              <a:rPr lang="en-US" sz="1500" b="1" dirty="0">
                <a:solidFill>
                  <a:srgbClr val="E9EFF6"/>
                </a:solidFill>
                <a:latin typeface="Calibri" pitchFamily="34" charset="0"/>
                <a:ea typeface="Calibri" pitchFamily="34" charset="-122"/>
                <a:cs typeface="Calibri" pitchFamily="34" charset="-120"/>
              </a:rPr>
              <a:t>One hub.</a:t>
            </a:r>
            <a:endParaRPr lang="en-US" sz="1500" dirty="0"/>
          </a:p>
          <a:p>
            <a:pPr indent="0" marL="0">
              <a:lnSpc>
                <a:spcPts val="2000"/>
              </a:lnSpc>
              <a:buNone/>
            </a:pPr>
            <a:r>
              <a:rPr lang="en-US" sz="1500" b="1" dirty="0">
                <a:solidFill>
                  <a:srgbClr val="E9EFF6"/>
                </a:solidFill>
                <a:latin typeface="Calibri" pitchFamily="34" charset="0"/>
                <a:ea typeface="Calibri" pitchFamily="34" charset="-122"/>
                <a:cs typeface="Calibri" pitchFamily="34" charset="-120"/>
              </a:rPr>
              <a:t>Everything.</a:t>
            </a:r>
            <a:endParaRPr lang="en-US" sz="1500" dirty="0"/>
          </a:p>
        </p:txBody>
      </p:sp>
      <p:sp>
        <p:nvSpPr>
          <p:cNvPr id="24" name="Text 21"/>
          <p:cNvSpPr txBox="1"/>
          <p:nvPr/>
        </p:nvSpPr>
        <p:spPr>
          <a:xfrm>
            <a:off x="3246120" y="2793492"/>
            <a:ext cx="1051560" cy="1188720"/>
          </a:xfrm>
          <a:prstGeom prst="rect">
            <a:avLst/>
          </a:prstGeom>
          <a:noFill/>
          <a:ln/>
        </p:spPr>
        <p:txBody>
          <a:bodyPr wrap="square" lIns="0" tIns="0" rIns="0" bIns="0" rtlCol="0" anchor="ctr"/>
          <a:lstStyle/>
          <a:p>
            <a:pPr indent="0" marL="0">
              <a:lnSpc>
                <a:spcPts val="1400"/>
              </a:lnSpc>
              <a:buNone/>
            </a:pPr>
            <a:r>
              <a:rPr lang="en-US" sz="900" dirty="0">
                <a:solidFill>
                  <a:srgbClr val="8FA3B8"/>
                </a:solidFill>
                <a:latin typeface="Courier New" pitchFamily="34" charset="0"/>
                <a:ea typeface="Courier New" pitchFamily="34" charset="-122"/>
                <a:cs typeface="Courier New" pitchFamily="34" charset="-120"/>
              </a:rPr>
              <a:t>monitoring-</a:t>
            </a:r>
            <a:endParaRPr lang="en-US" sz="900" dirty="0"/>
          </a:p>
          <a:p>
            <a:pPr indent="0" marL="0">
              <a:lnSpc>
                <a:spcPts val="1400"/>
              </a:lnSpc>
              <a:buNone/>
            </a:pPr>
            <a:r>
              <a:rPr lang="en-US" sz="900" dirty="0">
                <a:solidFill>
                  <a:srgbClr val="8FA3B8"/>
                </a:solidFill>
                <a:latin typeface="Courier New" pitchFamily="34" charset="0"/>
                <a:ea typeface="Courier New" pitchFamily="34" charset="-122"/>
                <a:cs typeface="Courier New" pitchFamily="34" charset="-120"/>
              </a:rPr>
              <a:t>events</a:t>
            </a:r>
            <a:endParaRPr lang="en-US" sz="900" dirty="0"/>
          </a:p>
        </p:txBody>
      </p:sp>
      <p:sp>
        <p:nvSpPr>
          <p:cNvPr id="25" name="Shape 22"/>
          <p:cNvSpPr/>
          <p:nvPr/>
        </p:nvSpPr>
        <p:spPr>
          <a:xfrm>
            <a:off x="4434840" y="2823210"/>
            <a:ext cx="155448" cy="32004"/>
          </a:xfrm>
          <a:prstGeom prst="rect">
            <a:avLst/>
          </a:prstGeom>
          <a:solidFill>
            <a:srgbClr val="7C90A6"/>
          </a:solidFill>
          <a:ln/>
        </p:spPr>
      </p:sp>
      <p:sp>
        <p:nvSpPr>
          <p:cNvPr id="26" name="Shape 23"/>
          <p:cNvSpPr/>
          <p:nvPr/>
        </p:nvSpPr>
        <p:spPr>
          <a:xfrm rot="5400000">
            <a:off x="4590288" y="2770632"/>
            <a:ext cx="118872" cy="137160"/>
          </a:xfrm>
          <a:prstGeom prst="triangle">
            <a:avLst/>
          </a:prstGeom>
          <a:solidFill>
            <a:srgbClr val="7C90A6"/>
          </a:solidFill>
          <a:ln/>
        </p:spPr>
      </p:sp>
      <p:sp>
        <p:nvSpPr>
          <p:cNvPr id="27" name="Shape 24"/>
          <p:cNvSpPr/>
          <p:nvPr/>
        </p:nvSpPr>
        <p:spPr>
          <a:xfrm>
            <a:off x="4709160" y="1444752"/>
            <a:ext cx="2926080" cy="2788920"/>
          </a:xfrm>
          <a:prstGeom prst="roundRect">
            <a:avLst>
              <a:gd name="adj" fmla="val 1967"/>
            </a:avLst>
          </a:prstGeom>
          <a:solidFill>
            <a:srgbClr val="19242F"/>
          </a:solidFill>
          <a:ln/>
        </p:spPr>
      </p:sp>
      <p:sp>
        <p:nvSpPr>
          <p:cNvPr id="28" name="Text 25"/>
          <p:cNvSpPr txBox="1"/>
          <p:nvPr/>
        </p:nvSpPr>
        <p:spPr>
          <a:xfrm>
            <a:off x="4892040" y="1591056"/>
            <a:ext cx="2651760" cy="228600"/>
          </a:xfrm>
          <a:prstGeom prst="rect">
            <a:avLst/>
          </a:prstGeom>
          <a:noFill/>
          <a:ln/>
        </p:spPr>
        <p:txBody>
          <a:bodyPr wrap="square" lIns="0" tIns="0" rIns="0" bIns="0" rtlCol="0" anchor="ctr"/>
          <a:lstStyle/>
          <a:p>
            <a:pPr indent="0" marL="0">
              <a:buNone/>
            </a:pPr>
            <a:r>
              <a:rPr lang="en-US" sz="1000" b="1" spc="100" kern="0" dirty="0">
                <a:solidFill>
                  <a:srgbClr val="7C90A6"/>
                </a:solidFill>
                <a:latin typeface="Calibri" pitchFamily="34" charset="0"/>
                <a:ea typeface="Calibri" pitchFamily="34" charset="-122"/>
                <a:cs typeface="Calibri" pitchFamily="34" charset="-120"/>
              </a:rPr>
              <a:t>INGESTEVENTS  ·  EVENT HUBS TRIGGER</a:t>
            </a:r>
            <a:endParaRPr lang="en-US" sz="1000" dirty="0"/>
          </a:p>
        </p:txBody>
      </p:sp>
      <p:sp>
        <p:nvSpPr>
          <p:cNvPr id="29" name="Shape 26"/>
          <p:cNvSpPr/>
          <p:nvPr/>
        </p:nvSpPr>
        <p:spPr>
          <a:xfrm>
            <a:off x="4892040" y="1883664"/>
            <a:ext cx="256032" cy="256032"/>
          </a:xfrm>
          <a:prstGeom prst="ellipse">
            <a:avLst/>
          </a:prstGeom>
          <a:solidFill>
            <a:srgbClr val="5B9BD5"/>
          </a:solidFill>
          <a:ln/>
        </p:spPr>
      </p:sp>
      <p:sp>
        <p:nvSpPr>
          <p:cNvPr id="30" name="Text 27"/>
          <p:cNvSpPr txBox="1"/>
          <p:nvPr/>
        </p:nvSpPr>
        <p:spPr>
          <a:xfrm>
            <a:off x="4892040" y="1883664"/>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31" name="Text 28"/>
          <p:cNvSpPr txBox="1"/>
          <p:nvPr/>
        </p:nvSpPr>
        <p:spPr>
          <a:xfrm>
            <a:off x="5230368" y="1865376"/>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Normalise</a:t>
            </a:r>
            <a:endParaRPr lang="en-US" sz="1300" dirty="0"/>
          </a:p>
        </p:txBody>
      </p:sp>
      <p:sp>
        <p:nvSpPr>
          <p:cNvPr id="32" name="Text 29"/>
          <p:cNvSpPr txBox="1"/>
          <p:nvPr/>
        </p:nvSpPr>
        <p:spPr>
          <a:xfrm>
            <a:off x="5230368" y="2075688"/>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three shapes, one object</a:t>
            </a:r>
            <a:endParaRPr lang="en-US" sz="1000" dirty="0"/>
          </a:p>
        </p:txBody>
      </p:sp>
      <p:sp>
        <p:nvSpPr>
          <p:cNvPr id="33" name="Shape 30"/>
          <p:cNvSpPr/>
          <p:nvPr/>
        </p:nvSpPr>
        <p:spPr>
          <a:xfrm>
            <a:off x="4892040" y="2395728"/>
            <a:ext cx="256032" cy="256032"/>
          </a:xfrm>
          <a:prstGeom prst="ellipse">
            <a:avLst/>
          </a:prstGeom>
          <a:solidFill>
            <a:srgbClr val="7C90A6"/>
          </a:solidFill>
          <a:ln/>
        </p:spPr>
      </p:sp>
      <p:sp>
        <p:nvSpPr>
          <p:cNvPr id="34" name="Text 31"/>
          <p:cNvSpPr txBox="1"/>
          <p:nvPr/>
        </p:nvSpPr>
        <p:spPr>
          <a:xfrm>
            <a:off x="4892040" y="2395728"/>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35" name="Text 32"/>
          <p:cNvSpPr txBox="1"/>
          <p:nvPr/>
        </p:nvSpPr>
        <p:spPr>
          <a:xfrm>
            <a:off x="5230368" y="2377440"/>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Drop successes</a:t>
            </a:r>
            <a:endParaRPr lang="en-US" sz="1300" dirty="0"/>
          </a:p>
        </p:txBody>
      </p:sp>
      <p:sp>
        <p:nvSpPr>
          <p:cNvPr id="36" name="Text 33"/>
          <p:cNvSpPr txBox="1"/>
          <p:nvPr/>
        </p:nvSpPr>
        <p:spPr>
          <a:xfrm>
            <a:off x="5230368" y="2587752"/>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a success is not an event</a:t>
            </a:r>
            <a:endParaRPr lang="en-US" sz="1000" dirty="0"/>
          </a:p>
        </p:txBody>
      </p:sp>
      <p:sp>
        <p:nvSpPr>
          <p:cNvPr id="37" name="Shape 34"/>
          <p:cNvSpPr/>
          <p:nvPr/>
        </p:nvSpPr>
        <p:spPr>
          <a:xfrm>
            <a:off x="4892040" y="2907792"/>
            <a:ext cx="256032" cy="256032"/>
          </a:xfrm>
          <a:prstGeom prst="ellipse">
            <a:avLst/>
          </a:prstGeom>
          <a:solidFill>
            <a:srgbClr val="46B98A"/>
          </a:solidFill>
          <a:ln/>
        </p:spPr>
      </p:sp>
      <p:sp>
        <p:nvSpPr>
          <p:cNvPr id="38" name="Text 35"/>
          <p:cNvSpPr txBox="1"/>
          <p:nvPr/>
        </p:nvSpPr>
        <p:spPr>
          <a:xfrm>
            <a:off x="4892040" y="2907792"/>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39" name="Text 36"/>
          <p:cNvSpPr txBox="1"/>
          <p:nvPr/>
        </p:nvSpPr>
        <p:spPr>
          <a:xfrm>
            <a:off x="5230368" y="2889504"/>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Archive the raw event</a:t>
            </a:r>
            <a:endParaRPr lang="en-US" sz="1300" dirty="0"/>
          </a:p>
        </p:txBody>
      </p:sp>
      <p:sp>
        <p:nvSpPr>
          <p:cNvPr id="40" name="Text 37"/>
          <p:cNvSpPr txBox="1"/>
          <p:nvPr/>
        </p:nvSpPr>
        <p:spPr>
          <a:xfrm>
            <a:off x="5230368" y="3099816"/>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nothing merged yet</a:t>
            </a:r>
            <a:endParaRPr lang="en-US" sz="1000" dirty="0"/>
          </a:p>
        </p:txBody>
      </p:sp>
      <p:sp>
        <p:nvSpPr>
          <p:cNvPr id="41" name="Shape 38"/>
          <p:cNvSpPr/>
          <p:nvPr/>
        </p:nvSpPr>
        <p:spPr>
          <a:xfrm>
            <a:off x="4892040" y="3419856"/>
            <a:ext cx="256032" cy="256032"/>
          </a:xfrm>
          <a:prstGeom prst="ellipse">
            <a:avLst/>
          </a:prstGeom>
          <a:solidFill>
            <a:srgbClr val="E8A33D"/>
          </a:solidFill>
          <a:ln/>
        </p:spPr>
      </p:sp>
      <p:sp>
        <p:nvSpPr>
          <p:cNvPr id="42" name="Text 39"/>
          <p:cNvSpPr txBox="1"/>
          <p:nvPr/>
        </p:nvSpPr>
        <p:spPr>
          <a:xfrm>
            <a:off x="4892040" y="3419856"/>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4</a:t>
            </a:r>
            <a:endParaRPr lang="en-US" sz="1300" dirty="0"/>
          </a:p>
        </p:txBody>
      </p:sp>
      <p:sp>
        <p:nvSpPr>
          <p:cNvPr id="43" name="Text 40"/>
          <p:cNvSpPr txBox="1"/>
          <p:nvPr/>
        </p:nvSpPr>
        <p:spPr>
          <a:xfrm>
            <a:off x="5230368" y="3401568"/>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Correlate</a:t>
            </a:r>
            <a:endParaRPr lang="en-US" sz="1300" dirty="0"/>
          </a:p>
        </p:txBody>
      </p:sp>
      <p:sp>
        <p:nvSpPr>
          <p:cNvPr id="44" name="Text 41"/>
          <p:cNvSpPr txBox="1"/>
          <p:nvPr/>
        </p:nvSpPr>
        <p:spPr>
          <a:xfrm>
            <a:off x="5230368" y="3611880"/>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which incident, which symptom</a:t>
            </a:r>
            <a:endParaRPr lang="en-US" sz="1000" dirty="0"/>
          </a:p>
        </p:txBody>
      </p:sp>
      <p:sp>
        <p:nvSpPr>
          <p:cNvPr id="45" name="Shape 42"/>
          <p:cNvSpPr/>
          <p:nvPr/>
        </p:nvSpPr>
        <p:spPr>
          <a:xfrm>
            <a:off x="4892040" y="3895344"/>
            <a:ext cx="1097280" cy="201168"/>
          </a:xfrm>
          <a:prstGeom prst="roundRect">
            <a:avLst>
              <a:gd name="adj" fmla="val 22727"/>
            </a:avLst>
          </a:prstGeom>
          <a:solidFill>
            <a:srgbClr val="0E1621"/>
          </a:solidFill>
          <a:ln w="12700">
            <a:solidFill>
              <a:srgbClr val="E8A33D"/>
            </a:solidFill>
            <a:prstDash val="solid"/>
          </a:ln>
        </p:spPr>
      </p:sp>
      <p:sp>
        <p:nvSpPr>
          <p:cNvPr id="46" name="Text 43"/>
          <p:cNvSpPr txBox="1"/>
          <p:nvPr/>
        </p:nvSpPr>
        <p:spPr>
          <a:xfrm>
            <a:off x="4892040" y="3895344"/>
            <a:ext cx="109728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SYMPTOM?</a:t>
            </a:r>
            <a:endParaRPr lang="en-US" sz="900" dirty="0"/>
          </a:p>
        </p:txBody>
      </p:sp>
      <p:sp>
        <p:nvSpPr>
          <p:cNvPr id="47" name="Shape 44"/>
          <p:cNvSpPr/>
          <p:nvPr/>
        </p:nvSpPr>
        <p:spPr>
          <a:xfrm>
            <a:off x="6062472" y="3895344"/>
            <a:ext cx="1143000" cy="201168"/>
          </a:xfrm>
          <a:prstGeom prst="roundRect">
            <a:avLst>
              <a:gd name="adj" fmla="val 22727"/>
            </a:avLst>
          </a:prstGeom>
          <a:solidFill>
            <a:srgbClr val="0E1621"/>
          </a:solidFill>
          <a:ln w="12700">
            <a:solidFill>
              <a:srgbClr val="E8A33D"/>
            </a:solidFill>
            <a:prstDash val="solid"/>
          </a:ln>
        </p:spPr>
      </p:sp>
      <p:sp>
        <p:nvSpPr>
          <p:cNvPr id="48" name="Text 45"/>
          <p:cNvSpPr txBox="1"/>
          <p:nvPr/>
        </p:nvSpPr>
        <p:spPr>
          <a:xfrm>
            <a:off x="6062472" y="3895344"/>
            <a:ext cx="114300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INCIDENT?</a:t>
            </a:r>
            <a:endParaRPr lang="en-US" sz="900" dirty="0"/>
          </a:p>
        </p:txBody>
      </p:sp>
      <p:sp>
        <p:nvSpPr>
          <p:cNvPr id="49" name="Text 46"/>
          <p:cNvSpPr txBox="1"/>
          <p:nvPr/>
        </p:nvSpPr>
        <p:spPr>
          <a:xfrm>
            <a:off x="7242048" y="3895344"/>
            <a:ext cx="411480" cy="201168"/>
          </a:xfrm>
          <a:prstGeom prst="rect">
            <a:avLst/>
          </a:prstGeom>
          <a:noFill/>
          <a:ln/>
        </p:spPr>
        <p:txBody>
          <a:bodyPr wrap="square" lIns="0" tIns="0" rIns="0" bIns="0" rtlCol="0" anchor="ctr"/>
          <a:lstStyle/>
          <a:p>
            <a:pPr indent="0" marL="0">
              <a:buNone/>
            </a:pPr>
            <a:r>
              <a:rPr lang="en-US" sz="850" i="1" dirty="0">
                <a:solidFill>
                  <a:srgbClr val="7C90A6"/>
                </a:solidFill>
                <a:latin typeface="Calibri" pitchFamily="34" charset="0"/>
                <a:ea typeface="Calibri" pitchFamily="34" charset="-122"/>
                <a:cs typeface="Calibri" pitchFamily="34" charset="-120"/>
              </a:rPr>
              <a:t>no model</a:t>
            </a:r>
            <a:endParaRPr lang="en-US" sz="850" dirty="0"/>
          </a:p>
        </p:txBody>
      </p:sp>
      <p:sp>
        <p:nvSpPr>
          <p:cNvPr id="50" name="Shape 47"/>
          <p:cNvSpPr/>
          <p:nvPr/>
        </p:nvSpPr>
        <p:spPr>
          <a:xfrm>
            <a:off x="7635240" y="2823210"/>
            <a:ext cx="155448" cy="32004"/>
          </a:xfrm>
          <a:prstGeom prst="rect">
            <a:avLst/>
          </a:prstGeom>
          <a:solidFill>
            <a:srgbClr val="7C90A6"/>
          </a:solidFill>
          <a:ln/>
        </p:spPr>
      </p:sp>
      <p:sp>
        <p:nvSpPr>
          <p:cNvPr id="51" name="Shape 48"/>
          <p:cNvSpPr/>
          <p:nvPr/>
        </p:nvSpPr>
        <p:spPr>
          <a:xfrm rot="5400000">
            <a:off x="7790688" y="2770632"/>
            <a:ext cx="118872" cy="137160"/>
          </a:xfrm>
          <a:prstGeom prst="triangle">
            <a:avLst/>
          </a:prstGeom>
          <a:solidFill>
            <a:srgbClr val="7C90A6"/>
          </a:solidFill>
          <a:ln/>
        </p:spPr>
      </p:sp>
      <p:sp>
        <p:nvSpPr>
          <p:cNvPr id="52" name="Shape 49"/>
          <p:cNvSpPr/>
          <p:nvPr/>
        </p:nvSpPr>
        <p:spPr>
          <a:xfrm>
            <a:off x="7909560" y="1444752"/>
            <a:ext cx="1554480" cy="2788920"/>
          </a:xfrm>
          <a:prstGeom prst="roundRect">
            <a:avLst>
              <a:gd name="adj" fmla="val 3529"/>
            </a:avLst>
          </a:prstGeom>
          <a:solidFill>
            <a:srgbClr val="19242F"/>
          </a:solidFill>
          <a:ln/>
        </p:spPr>
      </p:sp>
      <p:sp>
        <p:nvSpPr>
          <p:cNvPr id="53" name="Text 50"/>
          <p:cNvSpPr txBox="1"/>
          <p:nvPr/>
        </p:nvSpPr>
        <p:spPr>
          <a:xfrm>
            <a:off x="8065008" y="1591056"/>
            <a:ext cx="1280160" cy="228600"/>
          </a:xfrm>
          <a:prstGeom prst="rect">
            <a:avLst/>
          </a:prstGeom>
          <a:noFill/>
          <a:ln/>
        </p:spPr>
        <p:txBody>
          <a:bodyPr wrap="square" lIns="0" tIns="0" rIns="0" bIns="0" rtlCol="0" anchor="ctr"/>
          <a:lstStyle/>
          <a:p>
            <a:pPr indent="0" marL="0">
              <a:buNone/>
            </a:pPr>
            <a:r>
              <a:rPr lang="en-US" sz="1000" b="1" spc="100" kern="0" dirty="0">
                <a:solidFill>
                  <a:srgbClr val="7C90A6"/>
                </a:solidFill>
                <a:latin typeface="Calibri" pitchFamily="34" charset="0"/>
                <a:ea typeface="Calibri" pitchFamily="34" charset="-122"/>
                <a:cs typeface="Calibri" pitchFamily="34" charset="-120"/>
              </a:rPr>
              <a:t>TABLE STORAGE</a:t>
            </a:r>
            <a:endParaRPr lang="en-US" sz="1000" dirty="0"/>
          </a:p>
        </p:txBody>
      </p:sp>
      <p:sp>
        <p:nvSpPr>
          <p:cNvPr id="54" name="Shape 51"/>
          <p:cNvSpPr/>
          <p:nvPr/>
        </p:nvSpPr>
        <p:spPr>
          <a:xfrm>
            <a:off x="8065008" y="1901952"/>
            <a:ext cx="1243584" cy="621792"/>
          </a:xfrm>
          <a:prstGeom prst="roundRect">
            <a:avLst>
              <a:gd name="adj" fmla="val 8824"/>
            </a:avLst>
          </a:prstGeom>
          <a:solidFill>
            <a:srgbClr val="223140"/>
          </a:solidFill>
          <a:ln/>
        </p:spPr>
      </p:sp>
      <p:sp>
        <p:nvSpPr>
          <p:cNvPr id="55" name="Text 52"/>
          <p:cNvSpPr txBox="1"/>
          <p:nvPr/>
        </p:nvSpPr>
        <p:spPr>
          <a:xfrm>
            <a:off x="8174736" y="1956816"/>
            <a:ext cx="1051560" cy="201168"/>
          </a:xfrm>
          <a:prstGeom prst="rect">
            <a:avLst/>
          </a:prstGeom>
          <a:noFill/>
          <a:ln/>
        </p:spPr>
        <p:txBody>
          <a:bodyPr wrap="square" lIns="0" tIns="0" rIns="0" bIns="0" rtlCol="0" anchor="ctr"/>
          <a:lstStyle/>
          <a:p>
            <a:pPr indent="0" marL="0">
              <a:buNone/>
            </a:pPr>
            <a:r>
              <a:rPr lang="en-US" sz="1100" b="1" dirty="0">
                <a:solidFill>
                  <a:srgbClr val="E9EFF6"/>
                </a:solidFill>
                <a:latin typeface="Courier New" pitchFamily="34" charset="0"/>
                <a:ea typeface="Courier New" pitchFamily="34" charset="-122"/>
                <a:cs typeface="Courier New" pitchFamily="34" charset="-120"/>
              </a:rPr>
              <a:t>RawEvents</a:t>
            </a:r>
            <a:endParaRPr lang="en-US" sz="1100" dirty="0"/>
          </a:p>
        </p:txBody>
      </p:sp>
      <p:sp>
        <p:nvSpPr>
          <p:cNvPr id="56" name="Text 53"/>
          <p:cNvSpPr txBox="1"/>
          <p:nvPr/>
        </p:nvSpPr>
        <p:spPr>
          <a:xfrm>
            <a:off x="8174736" y="2157984"/>
            <a:ext cx="1051560" cy="320040"/>
          </a:xfrm>
          <a:prstGeom prst="rect">
            <a:avLst/>
          </a:prstGeom>
          <a:noFill/>
          <a:ln/>
        </p:spPr>
        <p:txBody>
          <a:bodyPr wrap="square" lIns="0" tIns="0" rIns="0" bIns="0" rtlCol="0" anchor="ctr"/>
          <a:lstStyle/>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every event,</a:t>
            </a:r>
            <a:endParaRPr lang="en-US" sz="900" dirty="0"/>
          </a:p>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as it arrived</a:t>
            </a:r>
            <a:endParaRPr lang="en-US" sz="900" dirty="0"/>
          </a:p>
        </p:txBody>
      </p:sp>
      <p:sp>
        <p:nvSpPr>
          <p:cNvPr id="57" name="Shape 54"/>
          <p:cNvSpPr/>
          <p:nvPr/>
        </p:nvSpPr>
        <p:spPr>
          <a:xfrm>
            <a:off x="8065008" y="2651760"/>
            <a:ext cx="1243584" cy="621792"/>
          </a:xfrm>
          <a:prstGeom prst="roundRect">
            <a:avLst>
              <a:gd name="adj" fmla="val 8824"/>
            </a:avLst>
          </a:prstGeom>
          <a:solidFill>
            <a:srgbClr val="223140"/>
          </a:solidFill>
          <a:ln/>
        </p:spPr>
      </p:sp>
      <p:sp>
        <p:nvSpPr>
          <p:cNvPr id="58" name="Text 55"/>
          <p:cNvSpPr txBox="1"/>
          <p:nvPr/>
        </p:nvSpPr>
        <p:spPr>
          <a:xfrm>
            <a:off x="8174736" y="2706624"/>
            <a:ext cx="1051560" cy="201168"/>
          </a:xfrm>
          <a:prstGeom prst="rect">
            <a:avLst/>
          </a:prstGeom>
          <a:noFill/>
          <a:ln/>
        </p:spPr>
        <p:txBody>
          <a:bodyPr wrap="square" lIns="0" tIns="0" rIns="0" bIns="0" rtlCol="0" anchor="ctr"/>
          <a:lstStyle/>
          <a:p>
            <a:pPr indent="0" marL="0">
              <a:buNone/>
            </a:pPr>
            <a:r>
              <a:rPr lang="en-US" sz="1100" b="1" dirty="0">
                <a:solidFill>
                  <a:srgbClr val="E9EFF6"/>
                </a:solidFill>
                <a:latin typeface="Courier New" pitchFamily="34" charset="0"/>
                <a:ea typeface="Courier New" pitchFamily="34" charset="-122"/>
                <a:cs typeface="Courier New" pitchFamily="34" charset="-120"/>
              </a:rPr>
              <a:t>Events</a:t>
            </a:r>
            <a:endParaRPr lang="en-US" sz="1100" dirty="0"/>
          </a:p>
        </p:txBody>
      </p:sp>
      <p:sp>
        <p:nvSpPr>
          <p:cNvPr id="59" name="Text 56"/>
          <p:cNvSpPr txBox="1"/>
          <p:nvPr/>
        </p:nvSpPr>
        <p:spPr>
          <a:xfrm>
            <a:off x="8174736" y="2907792"/>
            <a:ext cx="1051560" cy="320040"/>
          </a:xfrm>
          <a:prstGeom prst="rect">
            <a:avLst/>
          </a:prstGeom>
          <a:noFill/>
          <a:ln/>
        </p:spPr>
        <p:txBody>
          <a:bodyPr wrap="square" lIns="0" tIns="0" rIns="0" bIns="0" rtlCol="0" anchor="ctr"/>
          <a:lstStyle/>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one row per</a:t>
            </a:r>
            <a:endParaRPr lang="en-US" sz="900" dirty="0"/>
          </a:p>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symptom + count</a:t>
            </a:r>
            <a:endParaRPr lang="en-US" sz="900" dirty="0"/>
          </a:p>
        </p:txBody>
      </p:sp>
      <p:sp>
        <p:nvSpPr>
          <p:cNvPr id="60" name="Shape 57"/>
          <p:cNvSpPr/>
          <p:nvPr/>
        </p:nvSpPr>
        <p:spPr>
          <a:xfrm>
            <a:off x="8065008" y="3401568"/>
            <a:ext cx="1243584" cy="621792"/>
          </a:xfrm>
          <a:prstGeom prst="roundRect">
            <a:avLst>
              <a:gd name="adj" fmla="val 8824"/>
            </a:avLst>
          </a:prstGeom>
          <a:solidFill>
            <a:srgbClr val="223140"/>
          </a:solidFill>
          <a:ln/>
        </p:spPr>
      </p:sp>
      <p:sp>
        <p:nvSpPr>
          <p:cNvPr id="61" name="Text 58"/>
          <p:cNvSpPr txBox="1"/>
          <p:nvPr/>
        </p:nvSpPr>
        <p:spPr>
          <a:xfrm>
            <a:off x="8174736" y="3456432"/>
            <a:ext cx="1051560" cy="201168"/>
          </a:xfrm>
          <a:prstGeom prst="rect">
            <a:avLst/>
          </a:prstGeom>
          <a:noFill/>
          <a:ln/>
        </p:spPr>
        <p:txBody>
          <a:bodyPr wrap="square" lIns="0" tIns="0" rIns="0" bIns="0" rtlCol="0" anchor="ctr"/>
          <a:lstStyle/>
          <a:p>
            <a:pPr indent="0" marL="0">
              <a:buNone/>
            </a:pPr>
            <a:r>
              <a:rPr lang="en-US" sz="1100" b="1" dirty="0">
                <a:solidFill>
                  <a:srgbClr val="E9EFF6"/>
                </a:solidFill>
                <a:latin typeface="Courier New" pitchFamily="34" charset="0"/>
                <a:ea typeface="Courier New" pitchFamily="34" charset="-122"/>
                <a:cs typeface="Courier New" pitchFamily="34" charset="-120"/>
              </a:rPr>
              <a:t>Incidents</a:t>
            </a:r>
            <a:endParaRPr lang="en-US" sz="1100" dirty="0"/>
          </a:p>
        </p:txBody>
      </p:sp>
      <p:sp>
        <p:nvSpPr>
          <p:cNvPr id="62" name="Text 59"/>
          <p:cNvSpPr txBox="1"/>
          <p:nvPr/>
        </p:nvSpPr>
        <p:spPr>
          <a:xfrm>
            <a:off x="8174736" y="3657600"/>
            <a:ext cx="1051560" cy="320040"/>
          </a:xfrm>
          <a:prstGeom prst="rect">
            <a:avLst/>
          </a:prstGeom>
          <a:noFill/>
          <a:ln/>
        </p:spPr>
        <p:txBody>
          <a:bodyPr wrap="square" lIns="0" tIns="0" rIns="0" bIns="0" rtlCol="0" anchor="ctr"/>
          <a:lstStyle/>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one row per</a:t>
            </a:r>
            <a:endParaRPr lang="en-US" sz="900" dirty="0"/>
          </a:p>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group + verdict</a:t>
            </a:r>
            <a:endParaRPr lang="en-US" sz="900" dirty="0"/>
          </a:p>
        </p:txBody>
      </p:sp>
      <p:sp>
        <p:nvSpPr>
          <p:cNvPr id="63" name="Shape 60"/>
          <p:cNvSpPr/>
          <p:nvPr/>
        </p:nvSpPr>
        <p:spPr>
          <a:xfrm>
            <a:off x="9464040" y="2823210"/>
            <a:ext cx="155448" cy="32004"/>
          </a:xfrm>
          <a:prstGeom prst="rect">
            <a:avLst/>
          </a:prstGeom>
          <a:solidFill>
            <a:srgbClr val="7C90A6"/>
          </a:solidFill>
          <a:ln/>
        </p:spPr>
      </p:sp>
      <p:sp>
        <p:nvSpPr>
          <p:cNvPr id="64" name="Shape 61"/>
          <p:cNvSpPr/>
          <p:nvPr/>
        </p:nvSpPr>
        <p:spPr>
          <a:xfrm rot="5400000">
            <a:off x="9619488" y="2770632"/>
            <a:ext cx="118872" cy="137160"/>
          </a:xfrm>
          <a:prstGeom prst="triangle">
            <a:avLst/>
          </a:prstGeom>
          <a:solidFill>
            <a:srgbClr val="7C90A6"/>
          </a:solidFill>
          <a:ln/>
        </p:spPr>
      </p:sp>
      <p:sp>
        <p:nvSpPr>
          <p:cNvPr id="65" name="Shape 62"/>
          <p:cNvSpPr/>
          <p:nvPr/>
        </p:nvSpPr>
        <p:spPr>
          <a:xfrm>
            <a:off x="9738360" y="1444752"/>
            <a:ext cx="1874520" cy="1298448"/>
          </a:xfrm>
          <a:prstGeom prst="roundRect">
            <a:avLst>
              <a:gd name="adj" fmla="val 4225"/>
            </a:avLst>
          </a:prstGeom>
          <a:solidFill>
            <a:srgbClr val="19242F"/>
          </a:solidFill>
          <a:ln/>
        </p:spPr>
      </p:sp>
      <p:sp>
        <p:nvSpPr>
          <p:cNvPr id="66" name="Text 63"/>
          <p:cNvSpPr txBox="1"/>
          <p:nvPr/>
        </p:nvSpPr>
        <p:spPr>
          <a:xfrm>
            <a:off x="9893808" y="1572768"/>
            <a:ext cx="160020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GETINCIDENTS  ·  HTTP</a:t>
            </a:r>
            <a:endParaRPr lang="en-US" sz="900" dirty="0"/>
          </a:p>
        </p:txBody>
      </p:sp>
      <p:sp>
        <p:nvSpPr>
          <p:cNvPr id="67" name="Text 64"/>
          <p:cNvSpPr txBox="1"/>
          <p:nvPr/>
        </p:nvSpPr>
        <p:spPr>
          <a:xfrm>
            <a:off x="9893808" y="1828800"/>
            <a:ext cx="1600200" cy="411480"/>
          </a:xfrm>
          <a:prstGeom prst="rect">
            <a:avLst/>
          </a:prstGeom>
          <a:noFill/>
          <a:ln/>
        </p:spPr>
        <p:txBody>
          <a:bodyPr wrap="square" lIns="0" tIns="0" rIns="0" bIns="0" rtlCol="0" anchor="ctr"/>
          <a:lstStyle/>
          <a:p>
            <a:pPr indent="0" marL="0">
              <a:lnSpc>
                <a:spcPts val="1500"/>
              </a:lnSpc>
              <a:buNone/>
            </a:pPr>
            <a:r>
              <a:rPr lang="en-US" sz="1200" b="1" dirty="0">
                <a:solidFill>
                  <a:srgbClr val="E9EFF6"/>
                </a:solidFill>
                <a:latin typeface="Calibri" pitchFamily="34" charset="0"/>
                <a:ea typeface="Calibri" pitchFamily="34" charset="-122"/>
                <a:cs typeface="Calibri" pitchFamily="34" charset="-120"/>
              </a:rPr>
              <a:t>Shapes the data</a:t>
            </a:r>
            <a:endParaRPr lang="en-US" sz="1200" dirty="0"/>
          </a:p>
          <a:p>
            <a:pPr indent="0" marL="0">
              <a:lnSpc>
                <a:spcPts val="1500"/>
              </a:lnSpc>
              <a:buNone/>
            </a:pPr>
            <a:r>
              <a:rPr lang="en-US" sz="1200" b="1" dirty="0">
                <a:solidFill>
                  <a:srgbClr val="E9EFF6"/>
                </a:solidFill>
                <a:latin typeface="Calibri" pitchFamily="34" charset="0"/>
                <a:ea typeface="Calibri" pitchFamily="34" charset="-122"/>
                <a:cs typeface="Calibri" pitchFamily="34" charset="-120"/>
              </a:rPr>
              <a:t>for the screen</a:t>
            </a:r>
            <a:endParaRPr lang="en-US" sz="1200" dirty="0"/>
          </a:p>
        </p:txBody>
      </p:sp>
      <p:sp>
        <p:nvSpPr>
          <p:cNvPr id="68" name="Text 65"/>
          <p:cNvSpPr txBox="1"/>
          <p:nvPr/>
        </p:nvSpPr>
        <p:spPr>
          <a:xfrm>
            <a:off x="9893808" y="2286000"/>
            <a:ext cx="1600200" cy="365760"/>
          </a:xfrm>
          <a:prstGeom prst="rect">
            <a:avLst/>
          </a:prstGeom>
          <a:noFill/>
          <a:ln/>
        </p:spPr>
        <p:txBody>
          <a:bodyPr wrap="square" lIns="0" tIns="0" rIns="0" bIns="0" rtlCol="0" anchor="ctr"/>
          <a:lstStyle/>
          <a:p>
            <a:pPr indent="0" marL="0">
              <a:lnSpc>
                <a:spcPts val="1200"/>
              </a:lnSpc>
              <a:buNone/>
            </a:pPr>
            <a:r>
              <a:rPr lang="en-US" sz="850" dirty="0">
                <a:solidFill>
                  <a:srgbClr val="8FA3B8"/>
                </a:solidFill>
                <a:latin typeface="Courier New" pitchFamily="34" charset="0"/>
                <a:ea typeface="Courier New" pitchFamily="34" charset="-122"/>
                <a:cs typeface="Courier New" pitchFamily="34" charset="-120"/>
              </a:rPr>
              <a:t>?view= raw | summary</a:t>
            </a:r>
            <a:endParaRPr lang="en-US" sz="850" dirty="0"/>
          </a:p>
          <a:p>
            <a:pPr indent="0" marL="0">
              <a:lnSpc>
                <a:spcPts val="1200"/>
              </a:lnSpc>
              <a:buNone/>
            </a:pPr>
            <a:r>
              <a:rPr lang="en-US" sz="850" dirty="0">
                <a:solidFill>
                  <a:srgbClr val="8FA3B8"/>
                </a:solidFill>
                <a:latin typeface="Courier New" pitchFamily="34" charset="0"/>
                <a:ea typeface="Courier New" pitchFamily="34" charset="-122"/>
                <a:cs typeface="Courier New" pitchFamily="34" charset="-120"/>
              </a:rPr>
              <a:t>       sources | tree</a:t>
            </a:r>
            <a:endParaRPr lang="en-US" sz="850" dirty="0"/>
          </a:p>
        </p:txBody>
      </p:sp>
      <p:sp>
        <p:nvSpPr>
          <p:cNvPr id="69" name="Shape 66"/>
          <p:cNvSpPr/>
          <p:nvPr/>
        </p:nvSpPr>
        <p:spPr>
          <a:xfrm>
            <a:off x="10664190" y="2743200"/>
            <a:ext cx="32004" cy="137160"/>
          </a:xfrm>
          <a:prstGeom prst="rect">
            <a:avLst/>
          </a:prstGeom>
          <a:solidFill>
            <a:srgbClr val="7C90A6"/>
          </a:solidFill>
          <a:ln/>
        </p:spPr>
      </p:sp>
      <p:sp>
        <p:nvSpPr>
          <p:cNvPr id="70" name="Shape 67"/>
          <p:cNvSpPr/>
          <p:nvPr/>
        </p:nvSpPr>
        <p:spPr>
          <a:xfrm rot="10800000">
            <a:off x="10611612" y="2880360"/>
            <a:ext cx="137160" cy="118872"/>
          </a:xfrm>
          <a:prstGeom prst="triangle">
            <a:avLst/>
          </a:prstGeom>
          <a:solidFill>
            <a:srgbClr val="7C90A6"/>
          </a:solidFill>
          <a:ln/>
        </p:spPr>
      </p:sp>
      <p:sp>
        <p:nvSpPr>
          <p:cNvPr id="71" name="Shape 68"/>
          <p:cNvSpPr/>
          <p:nvPr/>
        </p:nvSpPr>
        <p:spPr>
          <a:xfrm>
            <a:off x="9738360" y="2999232"/>
            <a:ext cx="1874520" cy="1234440"/>
          </a:xfrm>
          <a:prstGeom prst="roundRect">
            <a:avLst>
              <a:gd name="adj" fmla="val 4444"/>
            </a:avLst>
          </a:prstGeom>
          <a:solidFill>
            <a:srgbClr val="223140"/>
          </a:solidFill>
          <a:ln/>
        </p:spPr>
      </p:sp>
      <p:sp>
        <p:nvSpPr>
          <p:cNvPr id="72" name="Text 69"/>
          <p:cNvSpPr txBox="1"/>
          <p:nvPr/>
        </p:nvSpPr>
        <p:spPr>
          <a:xfrm>
            <a:off x="9893808" y="3127248"/>
            <a:ext cx="160020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AZURE WORKBOOK</a:t>
            </a:r>
            <a:endParaRPr lang="en-US" sz="900" dirty="0"/>
          </a:p>
        </p:txBody>
      </p:sp>
      <p:sp>
        <p:nvSpPr>
          <p:cNvPr id="73" name="Text 70"/>
          <p:cNvSpPr txBox="1"/>
          <p:nvPr/>
        </p:nvSpPr>
        <p:spPr>
          <a:xfrm>
            <a:off x="9893808" y="3364992"/>
            <a:ext cx="1600200" cy="256032"/>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The dashboard</a:t>
            </a:r>
            <a:endParaRPr lang="en-US" sz="1300" dirty="0"/>
          </a:p>
        </p:txBody>
      </p:sp>
      <p:sp>
        <p:nvSpPr>
          <p:cNvPr id="74" name="Text 71"/>
          <p:cNvSpPr txBox="1"/>
          <p:nvPr/>
        </p:nvSpPr>
        <p:spPr>
          <a:xfrm>
            <a:off x="9893808" y="3657600"/>
            <a:ext cx="1600200" cy="365760"/>
          </a:xfrm>
          <a:prstGeom prst="rect">
            <a:avLst/>
          </a:prstGeom>
          <a:noFill/>
          <a:ln/>
        </p:spPr>
        <p:txBody>
          <a:bodyPr wrap="square" lIns="0" tIns="0" rIns="0" bIns="0" rtlCol="0" anchor="ctr"/>
          <a:lstStyle/>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custom endpoint,</a:t>
            </a:r>
            <a:endParaRPr lang="en-US" sz="950" dirty="0"/>
          </a:p>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no Log Analytics</a:t>
            </a:r>
            <a:endParaRPr lang="en-US" sz="950" dirty="0"/>
          </a:p>
        </p:txBody>
      </p:sp>
      <p:sp>
        <p:nvSpPr>
          <p:cNvPr id="75" name="Shape 72"/>
          <p:cNvSpPr/>
          <p:nvPr/>
        </p:nvSpPr>
        <p:spPr>
          <a:xfrm>
            <a:off x="8670798" y="4233672"/>
            <a:ext cx="32004" cy="201168"/>
          </a:xfrm>
          <a:prstGeom prst="rect">
            <a:avLst/>
          </a:prstGeom>
          <a:solidFill>
            <a:srgbClr val="E0443E"/>
          </a:solidFill>
          <a:ln/>
        </p:spPr>
      </p:sp>
      <p:sp>
        <p:nvSpPr>
          <p:cNvPr id="76" name="Shape 73"/>
          <p:cNvSpPr/>
          <p:nvPr/>
        </p:nvSpPr>
        <p:spPr>
          <a:xfrm rot="10800000">
            <a:off x="8618220" y="4434840"/>
            <a:ext cx="137160" cy="118872"/>
          </a:xfrm>
          <a:prstGeom prst="triangle">
            <a:avLst/>
          </a:prstGeom>
          <a:solidFill>
            <a:srgbClr val="E0443E"/>
          </a:solidFill>
          <a:ln/>
        </p:spPr>
      </p:sp>
      <p:sp>
        <p:nvSpPr>
          <p:cNvPr id="77" name="Shape 74"/>
          <p:cNvSpPr/>
          <p:nvPr/>
        </p:nvSpPr>
        <p:spPr>
          <a:xfrm>
            <a:off x="9082278" y="4352544"/>
            <a:ext cx="32004" cy="201168"/>
          </a:xfrm>
          <a:prstGeom prst="rect">
            <a:avLst/>
          </a:prstGeom>
          <a:solidFill>
            <a:srgbClr val="E0443E"/>
          </a:solidFill>
          <a:ln/>
        </p:spPr>
      </p:sp>
      <p:sp>
        <p:nvSpPr>
          <p:cNvPr id="78" name="Shape 75"/>
          <p:cNvSpPr/>
          <p:nvPr/>
        </p:nvSpPr>
        <p:spPr>
          <a:xfrm>
            <a:off x="9029700" y="4233672"/>
            <a:ext cx="137160" cy="118872"/>
          </a:xfrm>
          <a:prstGeom prst="triangle">
            <a:avLst/>
          </a:prstGeom>
          <a:solidFill>
            <a:srgbClr val="E0443E"/>
          </a:solidFill>
          <a:ln/>
        </p:spPr>
      </p:sp>
      <p:sp>
        <p:nvSpPr>
          <p:cNvPr id="79" name="Text 76"/>
          <p:cNvSpPr txBox="1"/>
          <p:nvPr/>
        </p:nvSpPr>
        <p:spPr>
          <a:xfrm>
            <a:off x="8183880" y="4325112"/>
            <a:ext cx="457200" cy="182880"/>
          </a:xfrm>
          <a:prstGeom prst="rect">
            <a:avLst/>
          </a:prstGeom>
          <a:noFill/>
          <a:ln/>
        </p:spPr>
        <p:txBody>
          <a:bodyPr wrap="square" lIns="0" tIns="0" rIns="0" bIns="0" rtlCol="0" anchor="ctr"/>
          <a:lstStyle/>
          <a:p>
            <a:pPr algn="r" indent="0" marL="0">
              <a:buNone/>
            </a:pPr>
            <a:r>
              <a:rPr lang="en-US" sz="900" dirty="0">
                <a:solidFill>
                  <a:srgbClr val="7C90A6"/>
                </a:solidFill>
                <a:latin typeface="Calibri" pitchFamily="34" charset="0"/>
                <a:ea typeface="Calibri" pitchFamily="34" charset="-122"/>
                <a:cs typeface="Calibri" pitchFamily="34" charset="-120"/>
              </a:rPr>
              <a:t>reads</a:t>
            </a:r>
            <a:endParaRPr lang="en-US" sz="900" dirty="0"/>
          </a:p>
        </p:txBody>
      </p:sp>
      <p:sp>
        <p:nvSpPr>
          <p:cNvPr id="80" name="Text 77"/>
          <p:cNvSpPr txBox="1"/>
          <p:nvPr/>
        </p:nvSpPr>
        <p:spPr>
          <a:xfrm>
            <a:off x="9162288" y="4325112"/>
            <a:ext cx="822960" cy="182880"/>
          </a:xfrm>
          <a:prstGeom prst="rect">
            <a:avLst/>
          </a:prstGeom>
          <a:noFill/>
          <a:ln/>
        </p:spPr>
        <p:txBody>
          <a:bodyPr wrap="square" lIns="0" tIns="0" rIns="0" bIns="0" rtlCol="0" anchor="ctr"/>
          <a:lstStyle/>
          <a:p>
            <a:pPr indent="0" marL="0">
              <a:buNone/>
            </a:pPr>
            <a:r>
              <a:rPr lang="en-US" sz="900" dirty="0">
                <a:solidFill>
                  <a:srgbClr val="7C90A6"/>
                </a:solidFill>
                <a:latin typeface="Calibri" pitchFamily="34" charset="0"/>
                <a:ea typeface="Calibri" pitchFamily="34" charset="-122"/>
                <a:cs typeface="Calibri" pitchFamily="34" charset="-120"/>
              </a:rPr>
              <a:t>writes back</a:t>
            </a:r>
            <a:endParaRPr lang="en-US" sz="900" dirty="0"/>
          </a:p>
        </p:txBody>
      </p:sp>
      <p:sp>
        <p:nvSpPr>
          <p:cNvPr id="81" name="Shape 78"/>
          <p:cNvSpPr/>
          <p:nvPr/>
        </p:nvSpPr>
        <p:spPr>
          <a:xfrm>
            <a:off x="4709160" y="4553712"/>
            <a:ext cx="4754880" cy="1481328"/>
          </a:xfrm>
          <a:prstGeom prst="roundRect">
            <a:avLst>
              <a:gd name="adj" fmla="val 3704"/>
            </a:avLst>
          </a:prstGeom>
          <a:solidFill>
            <a:srgbClr val="19242F"/>
          </a:solidFill>
          <a:ln/>
        </p:spPr>
      </p:sp>
      <p:sp>
        <p:nvSpPr>
          <p:cNvPr id="82" name="Text 79"/>
          <p:cNvSpPr txBox="1"/>
          <p:nvPr/>
        </p:nvSpPr>
        <p:spPr>
          <a:xfrm>
            <a:off x="4892040" y="4681728"/>
            <a:ext cx="4389120" cy="201168"/>
          </a:xfrm>
          <a:prstGeom prst="rect">
            <a:avLst/>
          </a:prstGeom>
          <a:noFill/>
          <a:ln/>
        </p:spPr>
        <p:txBody>
          <a:bodyPr wrap="square" lIns="0" tIns="0" rIns="0" bIns="0" rtlCol="0" anchor="ctr"/>
          <a:lstStyle/>
          <a:p>
            <a:pPr indent="0" marL="0">
              <a:buNone/>
            </a:pPr>
            <a:r>
              <a:rPr lang="en-US" sz="900" b="1" spc="50" kern="0" dirty="0">
                <a:solidFill>
                  <a:srgbClr val="7C90A6"/>
                </a:solidFill>
                <a:latin typeface="Calibri" pitchFamily="34" charset="0"/>
                <a:ea typeface="Calibri" pitchFamily="34" charset="-122"/>
                <a:cs typeface="Calibri" pitchFamily="34" charset="-120"/>
              </a:rPr>
              <a:t>ANALYZETIMER  ·  EVERY MINUTE, ONLY WHEN SOMETHING CHANGED</a:t>
            </a:r>
            <a:endParaRPr lang="en-US" sz="900" dirty="0"/>
          </a:p>
        </p:txBody>
      </p:sp>
      <p:sp>
        <p:nvSpPr>
          <p:cNvPr id="83" name="Text 80"/>
          <p:cNvSpPr txBox="1"/>
          <p:nvPr/>
        </p:nvSpPr>
        <p:spPr>
          <a:xfrm>
            <a:off x="4892040" y="4937760"/>
            <a:ext cx="4389120" cy="274320"/>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Azure OpenAI  ·  gpt-4.1-mini</a:t>
            </a:r>
            <a:endParaRPr lang="en-US" sz="1500" dirty="0"/>
          </a:p>
        </p:txBody>
      </p:sp>
      <p:sp>
        <p:nvSpPr>
          <p:cNvPr id="84" name="Text 81"/>
          <p:cNvSpPr txBox="1"/>
          <p:nvPr/>
        </p:nvSpPr>
        <p:spPr>
          <a:xfrm>
            <a:off x="4892040" y="5230368"/>
            <a:ext cx="4389120" cy="402336"/>
          </a:xfrm>
          <a:prstGeom prst="rect">
            <a:avLst/>
          </a:prstGeom>
          <a:noFill/>
          <a:ln/>
        </p:spPr>
        <p:txBody>
          <a:bodyPr wrap="square" lIns="0" tIns="0" rIns="0" bIns="0" rtlCol="0" anchor="ctr"/>
          <a:lstStyle/>
          <a:p>
            <a:pPr indent="0" marL="0">
              <a:lnSpc>
                <a:spcPts val="1400"/>
              </a:lnSpc>
              <a:buNone/>
            </a:pPr>
            <a:r>
              <a:rPr lang="en-US" sz="1100" dirty="0">
                <a:solidFill>
                  <a:srgbClr val="8FA3B8"/>
                </a:solidFill>
                <a:latin typeface="Calibri" pitchFamily="34" charset="0"/>
                <a:ea typeface="Calibri" pitchFamily="34" charset="-122"/>
                <a:cs typeface="Calibri" pitchFamily="34" charset="-120"/>
              </a:rPr>
              <a:t>Which incidents are one problem. Which one is the cause. What to do first.</a:t>
            </a:r>
            <a:endParaRPr lang="en-US" sz="1100" dirty="0"/>
          </a:p>
          <a:p>
            <a:pPr indent="0" marL="0">
              <a:lnSpc>
                <a:spcPts val="1400"/>
              </a:lnSpc>
              <a:buNone/>
            </a:pPr>
            <a:r>
              <a:rPr lang="en-US" sz="1100" dirty="0">
                <a:solidFill>
                  <a:srgbClr val="8FA3B8"/>
                </a:solidFill>
                <a:latin typeface="Calibri" pitchFamily="34" charset="0"/>
                <a:ea typeface="Calibri" pitchFamily="34" charset="-122"/>
                <a:cs typeface="Calibri" pitchFamily="34" charset="-120"/>
              </a:rPr>
              <a:t>The verdict is written back onto the incident rows.</a:t>
            </a:r>
            <a:endParaRPr lang="en-US" sz="1100" dirty="0"/>
          </a:p>
        </p:txBody>
      </p:sp>
      <p:sp>
        <p:nvSpPr>
          <p:cNvPr id="85" name="Shape 82"/>
          <p:cNvSpPr/>
          <p:nvPr/>
        </p:nvSpPr>
        <p:spPr>
          <a:xfrm>
            <a:off x="4892040" y="5705856"/>
            <a:ext cx="1097280" cy="201168"/>
          </a:xfrm>
          <a:prstGeom prst="roundRect">
            <a:avLst>
              <a:gd name="adj" fmla="val 22727"/>
            </a:avLst>
          </a:prstGeom>
          <a:solidFill>
            <a:srgbClr val="0E1621"/>
          </a:solidFill>
          <a:ln w="12700">
            <a:solidFill>
              <a:srgbClr val="E0443E"/>
            </a:solidFill>
            <a:prstDash val="solid"/>
          </a:ln>
        </p:spPr>
      </p:sp>
      <p:sp>
        <p:nvSpPr>
          <p:cNvPr id="86" name="Text 83"/>
          <p:cNvSpPr txBox="1"/>
          <p:nvPr/>
        </p:nvSpPr>
        <p:spPr>
          <a:xfrm>
            <a:off x="4892040" y="5705856"/>
            <a:ext cx="1097280" cy="201168"/>
          </a:xfrm>
          <a:prstGeom prst="rect">
            <a:avLst/>
          </a:prstGeom>
          <a:noFill/>
          <a:ln/>
        </p:spPr>
        <p:txBody>
          <a:bodyPr wrap="square" lIns="0" tIns="0" rIns="0" bIns="0" rtlCol="0" anchor="ctr"/>
          <a:lstStyle/>
          <a:p>
            <a:pPr algn="ctr" indent="0" marL="0">
              <a:buNone/>
            </a:pPr>
            <a:r>
              <a:rPr lang="en-US" sz="900" b="1" spc="100" kern="0" dirty="0">
                <a:solidFill>
                  <a:srgbClr val="E0443E"/>
                </a:solidFill>
                <a:latin typeface="Calibri" pitchFamily="34" charset="0"/>
                <a:ea typeface="Calibri" pitchFamily="34" charset="-122"/>
                <a:cs typeface="Calibri" pitchFamily="34" charset="-120"/>
              </a:rPr>
              <a:t>SAME PROBLEM?</a:t>
            </a:r>
            <a:endParaRPr lang="en-US" sz="900" dirty="0"/>
          </a:p>
        </p:txBody>
      </p:sp>
      <p:sp>
        <p:nvSpPr>
          <p:cNvPr id="87" name="Text 84"/>
          <p:cNvSpPr txBox="1"/>
          <p:nvPr/>
        </p:nvSpPr>
        <p:spPr>
          <a:xfrm>
            <a:off x="6062472" y="5705856"/>
            <a:ext cx="2926080" cy="201168"/>
          </a:xfrm>
          <a:prstGeom prst="rect">
            <a:avLst/>
          </a:prstGeom>
          <a:noFill/>
          <a:ln/>
        </p:spPr>
        <p:txBody>
          <a:bodyPr wrap="square" lIns="0" tIns="0" rIns="0" bIns="0" rtlCol="0" anchor="ctr"/>
          <a:lstStyle/>
          <a:p>
            <a:pPr indent="0" marL="0">
              <a:buNone/>
            </a:pPr>
            <a:r>
              <a:rPr lang="en-US" sz="900" i="1" dirty="0">
                <a:solidFill>
                  <a:srgbClr val="7C90A6"/>
                </a:solidFill>
                <a:latin typeface="Calibri" pitchFamily="34" charset="0"/>
                <a:ea typeface="Calibri" pitchFamily="34" charset="-122"/>
                <a:cs typeface="Calibri" pitchFamily="34" charset="-120"/>
              </a:rPr>
              <a:t>the only question that needs English</a:t>
            </a:r>
            <a:endParaRPr lang="en-US" sz="900" dirty="0"/>
          </a:p>
        </p:txBody>
      </p:sp>
      <p:sp>
        <p:nvSpPr>
          <p:cNvPr id="88" name="Shape 85"/>
          <p:cNvSpPr/>
          <p:nvPr/>
        </p:nvSpPr>
        <p:spPr>
          <a:xfrm>
            <a:off x="594360" y="4553712"/>
            <a:ext cx="3840480" cy="1481328"/>
          </a:xfrm>
          <a:prstGeom prst="roundRect">
            <a:avLst>
              <a:gd name="adj" fmla="val 3704"/>
            </a:avLst>
          </a:prstGeom>
          <a:solidFill>
            <a:srgbClr val="223140"/>
          </a:solidFill>
          <a:ln/>
        </p:spPr>
      </p:sp>
      <p:sp>
        <p:nvSpPr>
          <p:cNvPr id="89" name="Text 86"/>
          <p:cNvSpPr txBox="1"/>
          <p:nvPr/>
        </p:nvSpPr>
        <p:spPr>
          <a:xfrm>
            <a:off x="777240" y="4681728"/>
            <a:ext cx="347472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EVERY ARROW IN THIS DIAGRAM</a:t>
            </a:r>
            <a:endParaRPr lang="en-US" sz="900" dirty="0"/>
          </a:p>
        </p:txBody>
      </p:sp>
      <p:sp>
        <p:nvSpPr>
          <p:cNvPr id="90" name="Text 87"/>
          <p:cNvSpPr txBox="1"/>
          <p:nvPr/>
        </p:nvSpPr>
        <p:spPr>
          <a:xfrm>
            <a:off x="777240" y="4937760"/>
            <a:ext cx="3474720" cy="274320"/>
          </a:xfrm>
          <a:prstGeom prst="rect">
            <a:avLst/>
          </a:prstGeom>
          <a:noFill/>
          <a:ln/>
        </p:spPr>
        <p:txBody>
          <a:bodyPr wrap="square" lIns="0" tIns="0" rIns="0" bIns="0" rtlCol="0" anchor="ctr"/>
          <a:lstStyle/>
          <a:p>
            <a:pPr indent="0" marL="0">
              <a:buNone/>
            </a:pPr>
            <a:r>
              <a:rPr lang="en-US" sz="1500" b="1" dirty="0">
                <a:solidFill>
                  <a:srgbClr val="46B98A"/>
                </a:solidFill>
                <a:latin typeface="Calibri" pitchFamily="34" charset="0"/>
                <a:ea typeface="Calibri" pitchFamily="34" charset="-122"/>
                <a:cs typeface="Calibri" pitchFamily="34" charset="-120"/>
              </a:rPr>
              <a:t>No keys anywhere</a:t>
            </a:r>
            <a:endParaRPr lang="en-US" sz="1500" dirty="0"/>
          </a:p>
        </p:txBody>
      </p:sp>
      <p:sp>
        <p:nvSpPr>
          <p:cNvPr id="91" name="Text 88"/>
          <p:cNvSpPr txBox="1"/>
          <p:nvPr/>
        </p:nvSpPr>
        <p:spPr>
          <a:xfrm>
            <a:off x="777240" y="5248656"/>
            <a:ext cx="3474720" cy="640080"/>
          </a:xfrm>
          <a:prstGeom prst="rect">
            <a:avLst/>
          </a:prstGeom>
          <a:noFill/>
          <a:ln/>
        </p:spPr>
        <p:txBody>
          <a:bodyPr wrap="square" lIns="0" tIns="0" rIns="0" bIns="0" rtlCol="0" anchor="ctr"/>
          <a:lstStyle/>
          <a:p>
            <a:pPr indent="0" marL="0">
              <a:lnSpc>
                <a:spcPts val="1400"/>
              </a:lnSpc>
              <a:buNone/>
            </a:pPr>
            <a:r>
              <a:rPr lang="en-US" sz="1100" dirty="0">
                <a:solidFill>
                  <a:srgbClr val="8FA3B8"/>
                </a:solidFill>
                <a:latin typeface="Calibri" pitchFamily="34" charset="0"/>
                <a:ea typeface="Calibri" pitchFamily="34" charset="-122"/>
                <a:cs typeface="Calibri" pitchFamily="34" charset="-120"/>
              </a:rPr>
              <a:t>The Function App has a managed identity with three role assignments: read the hub, write the tables, call Azure OpenAI. Nothing in the pipeline holds a secret.</a:t>
            </a:r>
            <a:endParaRPr lang="en-US" sz="1100" dirty="0"/>
          </a:p>
        </p:txBody>
      </p:sp>
      <p:sp>
        <p:nvSpPr>
          <p:cNvPr id="92" name="Shape 89"/>
          <p:cNvSpPr/>
          <p:nvPr/>
        </p:nvSpPr>
        <p:spPr>
          <a:xfrm>
            <a:off x="9738360" y="4553712"/>
            <a:ext cx="1874520" cy="1481328"/>
          </a:xfrm>
          <a:prstGeom prst="roundRect">
            <a:avLst>
              <a:gd name="adj" fmla="val 3704"/>
            </a:avLst>
          </a:prstGeom>
          <a:solidFill>
            <a:srgbClr val="19242F"/>
          </a:solidFill>
          <a:ln/>
        </p:spPr>
      </p:sp>
      <p:sp>
        <p:nvSpPr>
          <p:cNvPr id="93" name="Text 90"/>
          <p:cNvSpPr txBox="1"/>
          <p:nvPr/>
        </p:nvSpPr>
        <p:spPr>
          <a:xfrm>
            <a:off x="9893808" y="4681728"/>
            <a:ext cx="160020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ALSO READS THE TABLES</a:t>
            </a:r>
            <a:endParaRPr lang="en-US" sz="900" dirty="0"/>
          </a:p>
        </p:txBody>
      </p:sp>
      <p:sp>
        <p:nvSpPr>
          <p:cNvPr id="94" name="Text 91"/>
          <p:cNvSpPr txBox="1"/>
          <p:nvPr/>
        </p:nvSpPr>
        <p:spPr>
          <a:xfrm>
            <a:off x="9893808" y="4965192"/>
            <a:ext cx="1600200" cy="457200"/>
          </a:xfrm>
          <a:prstGeom prst="rect">
            <a:avLst/>
          </a:prstGeom>
          <a:noFill/>
          <a:ln/>
        </p:spPr>
        <p:txBody>
          <a:bodyPr wrap="square" lIns="0" tIns="0" rIns="0" bIns="0" rtlCol="0" anchor="ctr"/>
          <a:lstStyle/>
          <a:p>
            <a:pPr indent="0" marL="0">
              <a:lnSpc>
                <a:spcPts val="1500"/>
              </a:lnSpc>
              <a:buNone/>
            </a:pPr>
            <a:r>
              <a:rPr lang="en-US" sz="1000" dirty="0">
                <a:solidFill>
                  <a:srgbClr val="E9EFF6"/>
                </a:solidFill>
                <a:latin typeface="Courier New" pitchFamily="34" charset="0"/>
                <a:ea typeface="Courier New" pitchFamily="34" charset="-122"/>
                <a:cs typeface="Courier New" pitchFamily="34" charset="-120"/>
              </a:rPr>
              <a:t>Show-Incidents.ps1</a:t>
            </a:r>
            <a:endParaRPr lang="en-US" sz="1000" dirty="0"/>
          </a:p>
          <a:p>
            <a:pPr indent="0" marL="0">
              <a:lnSpc>
                <a:spcPts val="1500"/>
              </a:lnSpc>
              <a:buNone/>
            </a:pPr>
            <a:r>
              <a:rPr lang="en-US" sz="1000" dirty="0">
                <a:solidFill>
                  <a:srgbClr val="E9EFF6"/>
                </a:solidFill>
                <a:latin typeface="Courier New" pitchFamily="34" charset="0"/>
                <a:ea typeface="Courier New" pitchFamily="34" charset="-122"/>
                <a:cs typeface="Courier New" pitchFamily="34" charset="-120"/>
              </a:rPr>
              <a:t>Reset-Pipeline.ps1</a:t>
            </a:r>
            <a:endParaRPr lang="en-US" sz="1000" dirty="0"/>
          </a:p>
        </p:txBody>
      </p:sp>
      <p:sp>
        <p:nvSpPr>
          <p:cNvPr id="95" name="Text 92"/>
          <p:cNvSpPr txBox="1"/>
          <p:nvPr/>
        </p:nvSpPr>
        <p:spPr>
          <a:xfrm>
            <a:off x="9893808" y="5468112"/>
            <a:ext cx="1600200" cy="411480"/>
          </a:xfrm>
          <a:prstGeom prst="rect">
            <a:avLst/>
          </a:prstGeom>
          <a:noFill/>
          <a:ln/>
        </p:spPr>
        <p:txBody>
          <a:bodyPr wrap="square" lIns="0" tIns="0" rIns="0" bIns="0" rtlCol="0" anchor="ctr"/>
          <a:lstStyle/>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a short-lived SAS,</a:t>
            </a:r>
            <a:endParaRPr lang="en-US" sz="950" dirty="0"/>
          </a:p>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from your terminal</a:t>
            </a:r>
            <a:endParaRPr lang="en-US" sz="950" dirty="0"/>
          </a:p>
        </p:txBody>
      </p:sp>
      <p:sp>
        <p:nvSpPr>
          <p:cNvPr id="96" name="Text 93"/>
          <p:cNvSpPr txBox="1"/>
          <p:nvPr/>
        </p:nvSpPr>
        <p:spPr>
          <a:xfrm>
            <a:off x="594360" y="6199632"/>
            <a:ext cx="11002975" cy="274320"/>
          </a:xfrm>
          <a:prstGeom prst="rect">
            <a:avLst/>
          </a:prstGeom>
          <a:noFill/>
          <a:ln/>
        </p:spPr>
        <p:txBody>
          <a:bodyPr wrap="square" lIns="0" tIns="0" rIns="0" bIns="0" rtlCol="0" anchor="ctr"/>
          <a:lstStyle/>
          <a:p>
            <a:pPr algn="ctr" indent="0" marL="0">
              <a:buNone/>
            </a:pPr>
            <a:r>
              <a:rPr lang="en-US" sz="1200" i="1" dirty="0">
                <a:solidFill>
                  <a:srgbClr val="7C90A6"/>
                </a:solidFill>
                <a:latin typeface="Calibri" pitchFamily="34" charset="0"/>
                <a:ea typeface="Calibri" pitchFamily="34" charset="-122"/>
                <a:cs typeface="Calibri" pitchFamily="34" charset="-120"/>
              </a:rPr>
              <a:t>179 events in. 13 incidents and 2 root causes out. About four seconds of model time.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THREE TRIGGERS, ONE TABLE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Which function runs when</a:t>
            </a:r>
            <a:endParaRPr lang="en-US" sz="3600" dirty="0"/>
          </a:p>
        </p:txBody>
      </p:sp>
      <p:sp>
        <p:nvSpPr>
          <p:cNvPr id="5" name="Shape 2"/>
          <p:cNvSpPr/>
          <p:nvPr/>
        </p:nvSpPr>
        <p:spPr>
          <a:xfrm>
            <a:off x="594360" y="1371600"/>
            <a:ext cx="11002975" cy="2194560"/>
          </a:xfrm>
          <a:prstGeom prst="roundRect">
            <a:avLst>
              <a:gd name="adj" fmla="val 2500"/>
            </a:avLst>
          </a:prstGeom>
          <a:solidFill>
            <a:srgbClr val="19242F"/>
          </a:solidFill>
          <a:ln/>
        </p:spPr>
      </p:sp>
      <p:sp>
        <p:nvSpPr>
          <p:cNvPr id="6" name="Text 3"/>
          <p:cNvSpPr txBox="1"/>
          <p:nvPr/>
        </p:nvSpPr>
        <p:spPr>
          <a:xfrm>
            <a:off x="758952" y="1499616"/>
            <a:ext cx="1691640" cy="201168"/>
          </a:xfrm>
          <a:prstGeom prst="rect">
            <a:avLst/>
          </a:prstGeom>
          <a:noFill/>
          <a:ln/>
        </p:spPr>
        <p:txBody>
          <a:bodyPr wrap="square" lIns="0" tIns="0" rIns="0" bIns="0" rtlCol="0" anchor="ctr"/>
          <a:lstStyle/>
          <a:p>
            <a:pPr indent="0" marL="0">
              <a:buNone/>
            </a:pPr>
            <a:r>
              <a:rPr lang="en-US" sz="950" b="1" spc="100" kern="0" dirty="0">
                <a:solidFill>
                  <a:srgbClr val="7C90A6"/>
                </a:solidFill>
                <a:latin typeface="Calibri" pitchFamily="34" charset="0"/>
                <a:ea typeface="Calibri" pitchFamily="34" charset="-122"/>
                <a:cs typeface="Calibri" pitchFamily="34" charset="-120"/>
              </a:rPr>
              <a:t>INGESTEVENTS</a:t>
            </a:r>
            <a:endParaRPr lang="en-US" sz="950" dirty="0"/>
          </a:p>
        </p:txBody>
      </p:sp>
      <p:sp>
        <p:nvSpPr>
          <p:cNvPr id="7" name="Text 4"/>
          <p:cNvSpPr txBox="1"/>
          <p:nvPr/>
        </p:nvSpPr>
        <p:spPr>
          <a:xfrm>
            <a:off x="758952" y="1719072"/>
            <a:ext cx="1691640" cy="420624"/>
          </a:xfrm>
          <a:prstGeom prst="rect">
            <a:avLst/>
          </a:prstGeom>
          <a:noFill/>
          <a:ln/>
        </p:spPr>
        <p:txBody>
          <a:bodyPr wrap="square" lIns="0" tIns="0" rIns="0" bIns="0" rtlCol="0" anchor="ctr"/>
          <a:lstStyle/>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Event Hubs trigger</a:t>
            </a:r>
            <a:endParaRPr lang="en-US" sz="1250" dirty="0"/>
          </a:p>
        </p:txBody>
      </p:sp>
      <p:sp>
        <p:nvSpPr>
          <p:cNvPr id="8" name="Text 5"/>
          <p:cNvSpPr txBox="1"/>
          <p:nvPr/>
        </p:nvSpPr>
        <p:spPr>
          <a:xfrm>
            <a:off x="758952" y="2157984"/>
            <a:ext cx="1691640" cy="365760"/>
          </a:xfrm>
          <a:prstGeom prst="rect">
            <a:avLst/>
          </a:prstGeom>
          <a:noFill/>
          <a:ln/>
        </p:spPr>
        <p:txBody>
          <a:bodyPr wrap="square" lIns="0" tIns="0" rIns="0" bIns="0" rtlCol="0" anchor="ctr"/>
          <a:lstStyle/>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runs per batch,</a:t>
            </a:r>
            <a:endParaRPr lang="en-US" sz="950" dirty="0"/>
          </a:p>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every step per event</a:t>
            </a:r>
            <a:endParaRPr lang="en-US" sz="950" dirty="0"/>
          </a:p>
        </p:txBody>
      </p:sp>
      <p:sp>
        <p:nvSpPr>
          <p:cNvPr id="9" name="Text 6"/>
          <p:cNvSpPr txBox="1"/>
          <p:nvPr/>
        </p:nvSpPr>
        <p:spPr>
          <a:xfrm>
            <a:off x="758952" y="2596896"/>
            <a:ext cx="1691640" cy="219456"/>
          </a:xfrm>
          <a:prstGeom prst="rect">
            <a:avLst/>
          </a:prstGeom>
          <a:noFill/>
          <a:ln/>
        </p:spPr>
        <p:txBody>
          <a:bodyPr wrap="square" lIns="0" tIns="0" rIns="0" bIns="0" rtlCol="0" anchor="ctr"/>
          <a:lstStyle/>
          <a:p>
            <a:pPr indent="0" marL="0">
              <a:lnSpc>
                <a:spcPts val="1200"/>
              </a:lnSpc>
              <a:buNone/>
            </a:pPr>
            <a:r>
              <a:rPr lang="en-US" sz="850" dirty="0">
                <a:solidFill>
                  <a:srgbClr val="7C90A6"/>
                </a:solidFill>
                <a:latin typeface="Courier New" pitchFamily="34" charset="0"/>
                <a:ea typeface="Courier New" pitchFamily="34" charset="-122"/>
                <a:cs typeface="Courier New" pitchFamily="34" charset="-120"/>
              </a:rPr>
              <a:t>Normalize.psm1</a:t>
            </a:r>
            <a:endParaRPr lang="en-US" sz="850" dirty="0"/>
          </a:p>
          <a:p>
            <a:pPr indent="0" marL="0">
              <a:lnSpc>
                <a:spcPts val="1200"/>
              </a:lnSpc>
              <a:buNone/>
            </a:pPr>
            <a:r>
              <a:rPr lang="en-US" sz="850" dirty="0">
                <a:solidFill>
                  <a:srgbClr val="7C90A6"/>
                </a:solidFill>
                <a:latin typeface="Courier New" pitchFamily="34" charset="0"/>
                <a:ea typeface="Courier New" pitchFamily="34" charset="-122"/>
                <a:cs typeface="Courier New" pitchFamily="34" charset="-120"/>
              </a:rPr>
              <a:t>Correlation.psm1</a:t>
            </a:r>
            <a:endParaRPr lang="en-US" sz="850" dirty="0"/>
          </a:p>
        </p:txBody>
      </p:sp>
      <p:sp>
        <p:nvSpPr>
          <p:cNvPr id="10" name="Shape 7"/>
          <p:cNvSpPr/>
          <p:nvPr/>
        </p:nvSpPr>
        <p:spPr>
          <a:xfrm>
            <a:off x="2606040" y="1517904"/>
            <a:ext cx="2783738" cy="603504"/>
          </a:xfrm>
          <a:prstGeom prst="roundRect">
            <a:avLst>
              <a:gd name="adj" fmla="val 7576"/>
            </a:avLst>
          </a:prstGeom>
          <a:solidFill>
            <a:srgbClr val="223140"/>
          </a:solidFill>
          <a:ln/>
        </p:spPr>
      </p:sp>
      <p:sp>
        <p:nvSpPr>
          <p:cNvPr id="11" name="Text 8"/>
          <p:cNvSpPr txBox="1"/>
          <p:nvPr/>
        </p:nvSpPr>
        <p:spPr>
          <a:xfrm>
            <a:off x="2697480" y="1581912"/>
            <a:ext cx="2600858" cy="201168"/>
          </a:xfrm>
          <a:prstGeom prst="rect">
            <a:avLst/>
          </a:prstGeom>
          <a:noFill/>
          <a:ln/>
        </p:spPr>
        <p:txBody>
          <a:bodyPr wrap="square" lIns="0" tIns="0" rIns="0" bIns="0" rtlCol="0" anchor="ctr"/>
          <a:lstStyle/>
          <a:p>
            <a:pPr indent="0" marL="0">
              <a:lnSpc>
                <a:spcPts val="1200"/>
              </a:lnSpc>
              <a:buNone/>
            </a:pPr>
            <a:r>
              <a:rPr lang="en-US" sz="950" b="1" dirty="0">
                <a:solidFill>
                  <a:srgbClr val="E9EFF6"/>
                </a:solidFill>
                <a:latin typeface="Courier New" pitchFamily="34" charset="0"/>
                <a:ea typeface="Courier New" pitchFamily="34" charset="-122"/>
                <a:cs typeface="Courier New" pitchFamily="34" charset="-120"/>
              </a:rPr>
              <a:t>ConvertTo-PipelineEvent</a:t>
            </a:r>
            <a:endParaRPr lang="en-US" sz="950" dirty="0"/>
          </a:p>
        </p:txBody>
      </p:sp>
      <p:sp>
        <p:nvSpPr>
          <p:cNvPr id="12" name="Text 9"/>
          <p:cNvSpPr txBox="1"/>
          <p:nvPr/>
        </p:nvSpPr>
        <p:spPr>
          <a:xfrm>
            <a:off x="2697480" y="1801368"/>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Three payload shapes become one event object. Successes are dropped here - a success is not an event.</a:t>
            </a:r>
            <a:endParaRPr lang="en-US" sz="850" dirty="0"/>
          </a:p>
        </p:txBody>
      </p:sp>
      <p:sp>
        <p:nvSpPr>
          <p:cNvPr id="13" name="Shape 10"/>
          <p:cNvSpPr/>
          <p:nvPr/>
        </p:nvSpPr>
        <p:spPr>
          <a:xfrm>
            <a:off x="5170322" y="1609344"/>
            <a:ext cx="109728" cy="109728"/>
          </a:xfrm>
          <a:prstGeom prst="ellipse">
            <a:avLst/>
          </a:prstGeom>
          <a:solidFill>
            <a:srgbClr val="5B9BD5"/>
          </a:solidFill>
          <a:ln/>
        </p:spPr>
      </p:sp>
      <p:sp>
        <p:nvSpPr>
          <p:cNvPr id="14" name="Shape 11"/>
          <p:cNvSpPr/>
          <p:nvPr/>
        </p:nvSpPr>
        <p:spPr>
          <a:xfrm>
            <a:off x="5417210" y="1803654"/>
            <a:ext cx="146304" cy="32004"/>
          </a:xfrm>
          <a:prstGeom prst="rect">
            <a:avLst/>
          </a:prstGeom>
          <a:solidFill>
            <a:srgbClr val="7C90A6"/>
          </a:solidFill>
          <a:ln/>
        </p:spPr>
      </p:sp>
      <p:sp>
        <p:nvSpPr>
          <p:cNvPr id="15" name="Shape 12"/>
          <p:cNvSpPr/>
          <p:nvPr/>
        </p:nvSpPr>
        <p:spPr>
          <a:xfrm rot="5400000">
            <a:off x="5563514" y="1751076"/>
            <a:ext cx="118872" cy="137160"/>
          </a:xfrm>
          <a:prstGeom prst="triangle">
            <a:avLst/>
          </a:prstGeom>
          <a:solidFill>
            <a:srgbClr val="7C90A6"/>
          </a:solidFill>
          <a:ln/>
        </p:spPr>
      </p:sp>
      <p:sp>
        <p:nvSpPr>
          <p:cNvPr id="16" name="Shape 13"/>
          <p:cNvSpPr/>
          <p:nvPr/>
        </p:nvSpPr>
        <p:spPr>
          <a:xfrm>
            <a:off x="5709818" y="1517904"/>
            <a:ext cx="2783738" cy="603504"/>
          </a:xfrm>
          <a:prstGeom prst="roundRect">
            <a:avLst>
              <a:gd name="adj" fmla="val 7576"/>
            </a:avLst>
          </a:prstGeom>
          <a:solidFill>
            <a:srgbClr val="223140"/>
          </a:solidFill>
          <a:ln/>
        </p:spPr>
      </p:sp>
      <p:sp>
        <p:nvSpPr>
          <p:cNvPr id="17" name="Text 14"/>
          <p:cNvSpPr txBox="1"/>
          <p:nvPr/>
        </p:nvSpPr>
        <p:spPr>
          <a:xfrm>
            <a:off x="5801258" y="1581912"/>
            <a:ext cx="2600858" cy="201168"/>
          </a:xfrm>
          <a:prstGeom prst="rect">
            <a:avLst/>
          </a:prstGeom>
          <a:noFill/>
          <a:ln/>
        </p:spPr>
        <p:txBody>
          <a:bodyPr wrap="square" lIns="0" tIns="0" rIns="0" bIns="0" rtlCol="0" anchor="ctr"/>
          <a:lstStyle/>
          <a:p>
            <a:pPr indent="0" marL="0">
              <a:lnSpc>
                <a:spcPts val="1200"/>
              </a:lnSpc>
              <a:buNone/>
            </a:pPr>
            <a:r>
              <a:rPr lang="en-US" sz="950" b="1" dirty="0">
                <a:solidFill>
                  <a:srgbClr val="E9EFF6"/>
                </a:solidFill>
                <a:latin typeface="Courier New" pitchFamily="34" charset="0"/>
                <a:ea typeface="Courier New" pitchFamily="34" charset="-122"/>
                <a:cs typeface="Courier New" pitchFamily="34" charset="-120"/>
              </a:rPr>
              <a:t>Write-RawEvent</a:t>
            </a:r>
            <a:endParaRPr lang="en-US" sz="950" dirty="0"/>
          </a:p>
        </p:txBody>
      </p:sp>
      <p:sp>
        <p:nvSpPr>
          <p:cNvPr id="18" name="Text 15"/>
          <p:cNvSpPr txBox="1"/>
          <p:nvPr/>
        </p:nvSpPr>
        <p:spPr>
          <a:xfrm>
            <a:off x="5801258" y="1801368"/>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Archived exactly as it arrived, before anything is merged away. This is the RawEvents firehose.</a:t>
            </a:r>
            <a:endParaRPr lang="en-US" sz="850" dirty="0"/>
          </a:p>
        </p:txBody>
      </p:sp>
      <p:sp>
        <p:nvSpPr>
          <p:cNvPr id="19" name="Shape 16"/>
          <p:cNvSpPr/>
          <p:nvPr/>
        </p:nvSpPr>
        <p:spPr>
          <a:xfrm>
            <a:off x="8274101" y="1609344"/>
            <a:ext cx="109728" cy="109728"/>
          </a:xfrm>
          <a:prstGeom prst="ellipse">
            <a:avLst/>
          </a:prstGeom>
          <a:solidFill>
            <a:srgbClr val="46B98A"/>
          </a:solidFill>
          <a:ln/>
        </p:spPr>
      </p:sp>
      <p:sp>
        <p:nvSpPr>
          <p:cNvPr id="20" name="Shape 17"/>
          <p:cNvSpPr/>
          <p:nvPr/>
        </p:nvSpPr>
        <p:spPr>
          <a:xfrm>
            <a:off x="8520989" y="1803654"/>
            <a:ext cx="146304" cy="32004"/>
          </a:xfrm>
          <a:prstGeom prst="rect">
            <a:avLst/>
          </a:prstGeom>
          <a:solidFill>
            <a:srgbClr val="7C90A6"/>
          </a:solidFill>
          <a:ln/>
        </p:spPr>
      </p:sp>
      <p:sp>
        <p:nvSpPr>
          <p:cNvPr id="21" name="Shape 18"/>
          <p:cNvSpPr/>
          <p:nvPr/>
        </p:nvSpPr>
        <p:spPr>
          <a:xfrm rot="5400000">
            <a:off x="8667293" y="1751076"/>
            <a:ext cx="118872" cy="137160"/>
          </a:xfrm>
          <a:prstGeom prst="triangle">
            <a:avLst/>
          </a:prstGeom>
          <a:solidFill>
            <a:srgbClr val="7C90A6"/>
          </a:solidFill>
          <a:ln/>
        </p:spPr>
      </p:sp>
      <p:sp>
        <p:nvSpPr>
          <p:cNvPr id="22" name="Shape 19"/>
          <p:cNvSpPr/>
          <p:nvPr/>
        </p:nvSpPr>
        <p:spPr>
          <a:xfrm>
            <a:off x="8813597" y="1517904"/>
            <a:ext cx="2783738" cy="603504"/>
          </a:xfrm>
          <a:prstGeom prst="roundRect">
            <a:avLst>
              <a:gd name="adj" fmla="val 7576"/>
            </a:avLst>
          </a:prstGeom>
          <a:solidFill>
            <a:srgbClr val="223140"/>
          </a:solidFill>
          <a:ln w="15875">
            <a:solidFill>
              <a:srgbClr val="E8A33D"/>
            </a:solidFill>
            <a:prstDash val="solid"/>
          </a:ln>
        </p:spPr>
      </p:sp>
      <p:sp>
        <p:nvSpPr>
          <p:cNvPr id="23" name="Text 20"/>
          <p:cNvSpPr txBox="1"/>
          <p:nvPr/>
        </p:nvSpPr>
        <p:spPr>
          <a:xfrm>
            <a:off x="8905037" y="1581912"/>
            <a:ext cx="2600858" cy="201168"/>
          </a:xfrm>
          <a:prstGeom prst="rect">
            <a:avLst/>
          </a:prstGeom>
          <a:noFill/>
          <a:ln/>
        </p:spPr>
        <p:txBody>
          <a:bodyPr wrap="square" lIns="0" tIns="0" rIns="0" bIns="0" rtlCol="0" anchor="ctr"/>
          <a:lstStyle/>
          <a:p>
            <a:pPr indent="0" marL="0">
              <a:lnSpc>
                <a:spcPts val="1200"/>
              </a:lnSpc>
              <a:buNone/>
            </a:pPr>
            <a:r>
              <a:rPr lang="en-US" sz="950" b="1" dirty="0">
                <a:solidFill>
                  <a:srgbClr val="E9EFF6"/>
                </a:solidFill>
                <a:latin typeface="Courier New" pitchFamily="34" charset="0"/>
                <a:ea typeface="Courier New" pitchFamily="34" charset="-122"/>
                <a:cs typeface="Courier New" pitchFamily="34" charset="-120"/>
              </a:rPr>
              <a:t>Add-EventToIncident</a:t>
            </a:r>
            <a:endParaRPr lang="en-US" sz="950" dirty="0"/>
          </a:p>
        </p:txBody>
      </p:sp>
      <p:sp>
        <p:nvSpPr>
          <p:cNvPr id="24" name="Text 21"/>
          <p:cNvSpPr txBox="1"/>
          <p:nvPr/>
        </p:nvSpPr>
        <p:spPr>
          <a:xfrm>
            <a:off x="8905037" y="1801368"/>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The correlator. Everything on the row below happens inside this one call, in this order.</a:t>
            </a:r>
            <a:endParaRPr lang="en-US" sz="850" dirty="0"/>
          </a:p>
        </p:txBody>
      </p:sp>
      <p:sp>
        <p:nvSpPr>
          <p:cNvPr id="25" name="Shape 22"/>
          <p:cNvSpPr/>
          <p:nvPr/>
        </p:nvSpPr>
        <p:spPr>
          <a:xfrm>
            <a:off x="11377879" y="1609344"/>
            <a:ext cx="109728" cy="109728"/>
          </a:xfrm>
          <a:prstGeom prst="ellipse">
            <a:avLst/>
          </a:prstGeom>
          <a:solidFill>
            <a:srgbClr val="E8A33D"/>
          </a:solidFill>
          <a:ln/>
        </p:spPr>
      </p:sp>
      <p:sp>
        <p:nvSpPr>
          <p:cNvPr id="26" name="Text 23"/>
          <p:cNvSpPr txBox="1"/>
          <p:nvPr/>
        </p:nvSpPr>
        <p:spPr>
          <a:xfrm>
            <a:off x="2606040" y="2176272"/>
            <a:ext cx="8991295" cy="182880"/>
          </a:xfrm>
          <a:prstGeom prst="rect">
            <a:avLst/>
          </a:prstGeom>
          <a:noFill/>
          <a:ln/>
        </p:spPr>
        <p:txBody>
          <a:bodyPr wrap="square" lIns="0" tIns="0" rIns="0" bIns="0" rtlCol="0" anchor="ctr"/>
          <a:lstStyle/>
          <a:p>
            <a:pPr indent="0" marL="0">
              <a:buNone/>
            </a:pPr>
            <a:r>
              <a:rPr lang="en-US" sz="900" i="1" dirty="0">
                <a:solidFill>
                  <a:srgbClr val="E8A33D"/>
                </a:solidFill>
                <a:latin typeface="Calibri" pitchFamily="34" charset="0"/>
                <a:ea typeface="Calibri" pitchFamily="34" charset="-122"/>
                <a:cs typeface="Calibri" pitchFamily="34" charset="-120"/>
              </a:rPr>
              <a:t>inside Add-EventToIncident, for each event, left to right</a:t>
            </a:r>
            <a:endParaRPr lang="en-US" sz="900" dirty="0"/>
          </a:p>
        </p:txBody>
      </p:sp>
      <p:sp>
        <p:nvSpPr>
          <p:cNvPr id="27" name="Shape 24"/>
          <p:cNvSpPr/>
          <p:nvPr/>
        </p:nvSpPr>
        <p:spPr>
          <a:xfrm>
            <a:off x="2606040" y="2359152"/>
            <a:ext cx="1637325" cy="1078992"/>
          </a:xfrm>
          <a:prstGeom prst="roundRect">
            <a:avLst>
              <a:gd name="adj" fmla="val 4237"/>
            </a:avLst>
          </a:prstGeom>
          <a:solidFill>
            <a:srgbClr val="223140"/>
          </a:solidFill>
          <a:ln/>
        </p:spPr>
      </p:sp>
      <p:sp>
        <p:nvSpPr>
          <p:cNvPr id="28" name="Text 25"/>
          <p:cNvSpPr txBox="1"/>
          <p:nvPr/>
        </p:nvSpPr>
        <p:spPr>
          <a:xfrm>
            <a:off x="2697480" y="2423160"/>
            <a:ext cx="1454445" cy="310896"/>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Get-PrimaryKey</a:t>
            </a:r>
            <a:endParaRPr lang="en-US" sz="850" dirty="0"/>
          </a:p>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 Get-IncidentId</a:t>
            </a:r>
            <a:endParaRPr lang="en-US" sz="850" dirty="0"/>
          </a:p>
        </p:txBody>
      </p:sp>
      <p:sp>
        <p:nvSpPr>
          <p:cNvPr id="29" name="Text 26"/>
          <p:cNvSpPr txBox="1"/>
          <p:nvPr/>
        </p:nvSpPr>
        <p:spPr>
          <a:xfrm>
            <a:off x="2697480" y="2752344"/>
            <a:ext cx="1454445" cy="402336"/>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Which incident: host &gt; resource &gt; service &gt; trace, then hashed.</a:t>
            </a:r>
            <a:endParaRPr lang="en-US" sz="850" dirty="0"/>
          </a:p>
        </p:txBody>
      </p:sp>
      <p:sp>
        <p:nvSpPr>
          <p:cNvPr id="30" name="Shape 27"/>
          <p:cNvSpPr/>
          <p:nvPr/>
        </p:nvSpPr>
        <p:spPr>
          <a:xfrm>
            <a:off x="2697480" y="3163824"/>
            <a:ext cx="1143000" cy="201168"/>
          </a:xfrm>
          <a:prstGeom prst="roundRect">
            <a:avLst>
              <a:gd name="adj" fmla="val 22727"/>
            </a:avLst>
          </a:prstGeom>
          <a:solidFill>
            <a:srgbClr val="0E1621"/>
          </a:solidFill>
          <a:ln w="12700">
            <a:solidFill>
              <a:srgbClr val="E8A33D"/>
            </a:solidFill>
            <a:prstDash val="solid"/>
          </a:ln>
        </p:spPr>
      </p:sp>
      <p:sp>
        <p:nvSpPr>
          <p:cNvPr id="31" name="Text 28"/>
          <p:cNvSpPr txBox="1"/>
          <p:nvPr/>
        </p:nvSpPr>
        <p:spPr>
          <a:xfrm>
            <a:off x="2697480" y="3163824"/>
            <a:ext cx="114300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INCIDENT?</a:t>
            </a:r>
            <a:endParaRPr lang="en-US" sz="900" dirty="0"/>
          </a:p>
        </p:txBody>
      </p:sp>
      <p:sp>
        <p:nvSpPr>
          <p:cNvPr id="32" name="Shape 29"/>
          <p:cNvSpPr/>
          <p:nvPr/>
        </p:nvSpPr>
        <p:spPr>
          <a:xfrm>
            <a:off x="4270797" y="2882646"/>
            <a:ext cx="27432" cy="32004"/>
          </a:xfrm>
          <a:prstGeom prst="rect">
            <a:avLst/>
          </a:prstGeom>
          <a:solidFill>
            <a:srgbClr val="7C90A6"/>
          </a:solidFill>
          <a:ln/>
        </p:spPr>
      </p:sp>
      <p:sp>
        <p:nvSpPr>
          <p:cNvPr id="33" name="Shape 30"/>
          <p:cNvSpPr/>
          <p:nvPr/>
        </p:nvSpPr>
        <p:spPr>
          <a:xfrm rot="5400000">
            <a:off x="4298229" y="2830068"/>
            <a:ext cx="118872" cy="137160"/>
          </a:xfrm>
          <a:prstGeom prst="triangle">
            <a:avLst/>
          </a:prstGeom>
          <a:solidFill>
            <a:srgbClr val="7C90A6"/>
          </a:solidFill>
          <a:ln/>
        </p:spPr>
      </p:sp>
      <p:sp>
        <p:nvSpPr>
          <p:cNvPr id="34" name="Shape 31"/>
          <p:cNvSpPr/>
          <p:nvPr/>
        </p:nvSpPr>
        <p:spPr>
          <a:xfrm>
            <a:off x="4444533" y="2359152"/>
            <a:ext cx="1637325" cy="1078992"/>
          </a:xfrm>
          <a:prstGeom prst="roundRect">
            <a:avLst>
              <a:gd name="adj" fmla="val 4237"/>
            </a:avLst>
          </a:prstGeom>
          <a:solidFill>
            <a:srgbClr val="223140"/>
          </a:solidFill>
          <a:ln/>
        </p:spPr>
      </p:sp>
      <p:sp>
        <p:nvSpPr>
          <p:cNvPr id="35" name="Text 32"/>
          <p:cNvSpPr txBox="1"/>
          <p:nvPr/>
        </p:nvSpPr>
        <p:spPr>
          <a:xfrm>
            <a:off x="4535973" y="2423160"/>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Get-Fingerprint</a:t>
            </a:r>
            <a:endParaRPr lang="en-US" sz="850" dirty="0"/>
          </a:p>
        </p:txBody>
      </p:sp>
      <p:sp>
        <p:nvSpPr>
          <p:cNvPr id="36" name="Text 33"/>
          <p:cNvSpPr txBox="1"/>
          <p:nvPr/>
        </p:nvSpPr>
        <p:spPr>
          <a:xfrm>
            <a:off x="4535973" y="2642616"/>
            <a:ext cx="1454445" cy="51206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Which symptom. Digits → N, then source | kind | title | resource | host, hashed.</a:t>
            </a:r>
            <a:endParaRPr lang="en-US" sz="850" dirty="0"/>
          </a:p>
        </p:txBody>
      </p:sp>
      <p:sp>
        <p:nvSpPr>
          <p:cNvPr id="37" name="Shape 34"/>
          <p:cNvSpPr/>
          <p:nvPr/>
        </p:nvSpPr>
        <p:spPr>
          <a:xfrm>
            <a:off x="4535973" y="3163824"/>
            <a:ext cx="1143000" cy="201168"/>
          </a:xfrm>
          <a:prstGeom prst="roundRect">
            <a:avLst>
              <a:gd name="adj" fmla="val 22727"/>
            </a:avLst>
          </a:prstGeom>
          <a:solidFill>
            <a:srgbClr val="0E1621"/>
          </a:solidFill>
          <a:ln w="12700">
            <a:solidFill>
              <a:srgbClr val="E8A33D"/>
            </a:solidFill>
            <a:prstDash val="solid"/>
          </a:ln>
        </p:spPr>
      </p:sp>
      <p:sp>
        <p:nvSpPr>
          <p:cNvPr id="38" name="Text 35"/>
          <p:cNvSpPr txBox="1"/>
          <p:nvPr/>
        </p:nvSpPr>
        <p:spPr>
          <a:xfrm>
            <a:off x="4535973" y="3163824"/>
            <a:ext cx="114300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SYMPTOM?</a:t>
            </a:r>
            <a:endParaRPr lang="en-US" sz="900" dirty="0"/>
          </a:p>
        </p:txBody>
      </p:sp>
      <p:sp>
        <p:nvSpPr>
          <p:cNvPr id="39" name="Shape 36"/>
          <p:cNvSpPr/>
          <p:nvPr/>
        </p:nvSpPr>
        <p:spPr>
          <a:xfrm>
            <a:off x="6109289" y="2882646"/>
            <a:ext cx="27432" cy="32004"/>
          </a:xfrm>
          <a:prstGeom prst="rect">
            <a:avLst/>
          </a:prstGeom>
          <a:solidFill>
            <a:srgbClr val="7C90A6"/>
          </a:solidFill>
          <a:ln/>
        </p:spPr>
      </p:sp>
      <p:sp>
        <p:nvSpPr>
          <p:cNvPr id="40" name="Shape 37"/>
          <p:cNvSpPr/>
          <p:nvPr/>
        </p:nvSpPr>
        <p:spPr>
          <a:xfrm rot="5400000">
            <a:off x="6136721" y="2830068"/>
            <a:ext cx="118872" cy="137160"/>
          </a:xfrm>
          <a:prstGeom prst="triangle">
            <a:avLst/>
          </a:prstGeom>
          <a:solidFill>
            <a:srgbClr val="7C90A6"/>
          </a:solidFill>
          <a:ln/>
        </p:spPr>
      </p:sp>
      <p:sp>
        <p:nvSpPr>
          <p:cNvPr id="41" name="Shape 38"/>
          <p:cNvSpPr/>
          <p:nvPr/>
        </p:nvSpPr>
        <p:spPr>
          <a:xfrm>
            <a:off x="6283025" y="2359152"/>
            <a:ext cx="1637325" cy="1078992"/>
          </a:xfrm>
          <a:prstGeom prst="roundRect">
            <a:avLst>
              <a:gd name="adj" fmla="val 4237"/>
            </a:avLst>
          </a:prstGeom>
          <a:solidFill>
            <a:srgbClr val="223140"/>
          </a:solidFill>
          <a:ln/>
        </p:spPr>
      </p:sp>
      <p:sp>
        <p:nvSpPr>
          <p:cNvPr id="42" name="Text 39"/>
          <p:cNvSpPr txBox="1"/>
          <p:nvPr/>
        </p:nvSpPr>
        <p:spPr>
          <a:xfrm>
            <a:off x="6374465" y="2423160"/>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New-Incident</a:t>
            </a:r>
            <a:endParaRPr lang="en-US" sz="850" dirty="0"/>
          </a:p>
        </p:txBody>
      </p:sp>
      <p:sp>
        <p:nvSpPr>
          <p:cNvPr id="43" name="Text 40"/>
          <p:cNvSpPr txBox="1"/>
          <p:nvPr/>
        </p:nvSpPr>
        <p:spPr>
          <a:xfrm>
            <a:off x="6374465" y="2642616"/>
            <a:ext cx="1454445" cy="731520"/>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Create the incident row, or revive it if it went quiet longer than the window.</a:t>
            </a:r>
            <a:endParaRPr lang="en-US" sz="850" dirty="0"/>
          </a:p>
        </p:txBody>
      </p:sp>
      <p:sp>
        <p:nvSpPr>
          <p:cNvPr id="44" name="Shape 41"/>
          <p:cNvSpPr/>
          <p:nvPr/>
        </p:nvSpPr>
        <p:spPr>
          <a:xfrm>
            <a:off x="7947782" y="2882646"/>
            <a:ext cx="27432" cy="32004"/>
          </a:xfrm>
          <a:prstGeom prst="rect">
            <a:avLst/>
          </a:prstGeom>
          <a:solidFill>
            <a:srgbClr val="7C90A6"/>
          </a:solidFill>
          <a:ln/>
        </p:spPr>
      </p:sp>
      <p:sp>
        <p:nvSpPr>
          <p:cNvPr id="45" name="Shape 42"/>
          <p:cNvSpPr/>
          <p:nvPr/>
        </p:nvSpPr>
        <p:spPr>
          <a:xfrm rot="5400000">
            <a:off x="7975214" y="2830068"/>
            <a:ext cx="118872" cy="137160"/>
          </a:xfrm>
          <a:prstGeom prst="triangle">
            <a:avLst/>
          </a:prstGeom>
          <a:solidFill>
            <a:srgbClr val="7C90A6"/>
          </a:solidFill>
          <a:ln/>
        </p:spPr>
      </p:sp>
      <p:sp>
        <p:nvSpPr>
          <p:cNvPr id="46" name="Shape 43"/>
          <p:cNvSpPr/>
          <p:nvPr/>
        </p:nvSpPr>
        <p:spPr>
          <a:xfrm>
            <a:off x="8121518" y="2359152"/>
            <a:ext cx="1637325" cy="1078992"/>
          </a:xfrm>
          <a:prstGeom prst="roundRect">
            <a:avLst>
              <a:gd name="adj" fmla="val 4237"/>
            </a:avLst>
          </a:prstGeom>
          <a:solidFill>
            <a:srgbClr val="223140"/>
          </a:solidFill>
          <a:ln/>
        </p:spPr>
      </p:sp>
      <p:sp>
        <p:nvSpPr>
          <p:cNvPr id="47" name="Text 44"/>
          <p:cNvSpPr txBox="1"/>
          <p:nvPr/>
        </p:nvSpPr>
        <p:spPr>
          <a:xfrm>
            <a:off x="8212958" y="2423160"/>
            <a:ext cx="1454445"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Events(id, fp)</a:t>
            </a:r>
            <a:endParaRPr lang="en-US" sz="1050" dirty="0"/>
          </a:p>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seen in the window?</a:t>
            </a:r>
            <a:endParaRPr lang="en-US" sz="1050" dirty="0"/>
          </a:p>
        </p:txBody>
      </p:sp>
      <p:sp>
        <p:nvSpPr>
          <p:cNvPr id="48" name="Text 45"/>
          <p:cNvSpPr txBox="1"/>
          <p:nvPr/>
        </p:nvSpPr>
        <p:spPr>
          <a:xfrm>
            <a:off x="8212958" y="2660904"/>
            <a:ext cx="1454445" cy="7132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Yes: Count + 1, outcome deduped. No: POST a new symptom row, outcome new-symptom.</a:t>
            </a:r>
            <a:endParaRPr lang="en-US" sz="850" dirty="0"/>
          </a:p>
        </p:txBody>
      </p:sp>
      <p:sp>
        <p:nvSpPr>
          <p:cNvPr id="49" name="Shape 46"/>
          <p:cNvSpPr/>
          <p:nvPr/>
        </p:nvSpPr>
        <p:spPr>
          <a:xfrm>
            <a:off x="9786275" y="2882646"/>
            <a:ext cx="27432" cy="32004"/>
          </a:xfrm>
          <a:prstGeom prst="rect">
            <a:avLst/>
          </a:prstGeom>
          <a:solidFill>
            <a:srgbClr val="7C90A6"/>
          </a:solidFill>
          <a:ln/>
        </p:spPr>
      </p:sp>
      <p:sp>
        <p:nvSpPr>
          <p:cNvPr id="50" name="Shape 47"/>
          <p:cNvSpPr/>
          <p:nvPr/>
        </p:nvSpPr>
        <p:spPr>
          <a:xfrm rot="5400000">
            <a:off x="9813707" y="2830068"/>
            <a:ext cx="118872" cy="137160"/>
          </a:xfrm>
          <a:prstGeom prst="triangle">
            <a:avLst/>
          </a:prstGeom>
          <a:solidFill>
            <a:srgbClr val="7C90A6"/>
          </a:solidFill>
          <a:ln/>
        </p:spPr>
      </p:sp>
      <p:sp>
        <p:nvSpPr>
          <p:cNvPr id="51" name="Shape 48"/>
          <p:cNvSpPr/>
          <p:nvPr/>
        </p:nvSpPr>
        <p:spPr>
          <a:xfrm>
            <a:off x="9960011" y="2359152"/>
            <a:ext cx="1637325" cy="1078992"/>
          </a:xfrm>
          <a:prstGeom prst="roundRect">
            <a:avLst>
              <a:gd name="adj" fmla="val 4237"/>
            </a:avLst>
          </a:prstGeom>
          <a:solidFill>
            <a:srgbClr val="223140"/>
          </a:solidFill>
          <a:ln/>
        </p:spPr>
      </p:sp>
      <p:sp>
        <p:nvSpPr>
          <p:cNvPr id="52" name="Text 49"/>
          <p:cNvSpPr txBox="1"/>
          <p:nvPr/>
        </p:nvSpPr>
        <p:spPr>
          <a:xfrm>
            <a:off x="10051451" y="2423160"/>
            <a:ext cx="1454445"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Touch the incident</a:t>
            </a:r>
            <a:endParaRPr lang="en-US" sz="1050" dirty="0"/>
          </a:p>
        </p:txBody>
      </p:sp>
      <p:sp>
        <p:nvSpPr>
          <p:cNvPr id="53" name="Text 50"/>
          <p:cNvSpPr txBox="1"/>
          <p:nvPr/>
        </p:nvSpPr>
        <p:spPr>
          <a:xfrm>
            <a:off x="10051451" y="2660904"/>
            <a:ext cx="1454445" cy="7132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LastSeen and TouchedAt, unconditional. Nothing on the incident row is a counter, so nothing can race.</a:t>
            </a:r>
            <a:endParaRPr lang="en-US" sz="850" dirty="0"/>
          </a:p>
        </p:txBody>
      </p:sp>
      <p:sp>
        <p:nvSpPr>
          <p:cNvPr id="54" name="Shape 51"/>
          <p:cNvSpPr/>
          <p:nvPr/>
        </p:nvSpPr>
        <p:spPr>
          <a:xfrm>
            <a:off x="594360" y="3730752"/>
            <a:ext cx="11002975" cy="1335024"/>
          </a:xfrm>
          <a:prstGeom prst="roundRect">
            <a:avLst>
              <a:gd name="adj" fmla="val 4110"/>
            </a:avLst>
          </a:prstGeom>
          <a:solidFill>
            <a:srgbClr val="19242F"/>
          </a:solidFill>
          <a:ln/>
        </p:spPr>
      </p:sp>
      <p:sp>
        <p:nvSpPr>
          <p:cNvPr id="55" name="Text 52"/>
          <p:cNvSpPr txBox="1"/>
          <p:nvPr/>
        </p:nvSpPr>
        <p:spPr>
          <a:xfrm>
            <a:off x="758952" y="3858768"/>
            <a:ext cx="1691640" cy="201168"/>
          </a:xfrm>
          <a:prstGeom prst="rect">
            <a:avLst/>
          </a:prstGeom>
          <a:noFill/>
          <a:ln/>
        </p:spPr>
        <p:txBody>
          <a:bodyPr wrap="square" lIns="0" tIns="0" rIns="0" bIns="0" rtlCol="0" anchor="ctr"/>
          <a:lstStyle/>
          <a:p>
            <a:pPr indent="0" marL="0">
              <a:buNone/>
            </a:pPr>
            <a:r>
              <a:rPr lang="en-US" sz="950" b="1" spc="100" kern="0" dirty="0">
                <a:solidFill>
                  <a:srgbClr val="7C90A6"/>
                </a:solidFill>
                <a:latin typeface="Calibri" pitchFamily="34" charset="0"/>
                <a:ea typeface="Calibri" pitchFamily="34" charset="-122"/>
                <a:cs typeface="Calibri" pitchFamily="34" charset="-120"/>
              </a:rPr>
              <a:t>ANALYZETIMER  ·  ANALYZE</a:t>
            </a:r>
            <a:endParaRPr lang="en-US" sz="950" dirty="0"/>
          </a:p>
        </p:txBody>
      </p:sp>
      <p:sp>
        <p:nvSpPr>
          <p:cNvPr id="56" name="Text 53"/>
          <p:cNvSpPr txBox="1"/>
          <p:nvPr/>
        </p:nvSpPr>
        <p:spPr>
          <a:xfrm>
            <a:off x="758952" y="4078224"/>
            <a:ext cx="1691640" cy="420624"/>
          </a:xfrm>
          <a:prstGeom prst="rect">
            <a:avLst/>
          </a:prstGeom>
          <a:noFill/>
          <a:ln/>
        </p:spPr>
        <p:txBody>
          <a:bodyPr wrap="square" lIns="0" tIns="0" rIns="0" bIns="0" rtlCol="0" anchor="ctr"/>
          <a:lstStyle/>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Every minute,</a:t>
            </a:r>
            <a:endParaRPr lang="en-US" sz="1250" dirty="0"/>
          </a:p>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or on demand</a:t>
            </a:r>
            <a:endParaRPr lang="en-US" sz="1250" dirty="0"/>
          </a:p>
        </p:txBody>
      </p:sp>
      <p:sp>
        <p:nvSpPr>
          <p:cNvPr id="57" name="Text 54"/>
          <p:cNvSpPr txBox="1"/>
          <p:nvPr/>
        </p:nvSpPr>
        <p:spPr>
          <a:xfrm>
            <a:off x="758952" y="4517136"/>
            <a:ext cx="1691640" cy="365760"/>
          </a:xfrm>
          <a:prstGeom prst="rect">
            <a:avLst/>
          </a:prstGeom>
          <a:noFill/>
          <a:ln/>
        </p:spPr>
        <p:txBody>
          <a:bodyPr wrap="square" lIns="0" tIns="0" rIns="0" bIns="0" rtlCol="0" anchor="ctr"/>
          <a:lstStyle/>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one call to</a:t>
            </a:r>
            <a:endParaRPr lang="en-US" sz="950" dirty="0"/>
          </a:p>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Invoke-IncidentAnalysis</a:t>
            </a:r>
            <a:endParaRPr lang="en-US" sz="950" dirty="0"/>
          </a:p>
        </p:txBody>
      </p:sp>
      <p:sp>
        <p:nvSpPr>
          <p:cNvPr id="58" name="Text 55"/>
          <p:cNvSpPr txBox="1"/>
          <p:nvPr/>
        </p:nvSpPr>
        <p:spPr>
          <a:xfrm>
            <a:off x="758952" y="4846320"/>
            <a:ext cx="1691640" cy="219456"/>
          </a:xfrm>
          <a:prstGeom prst="rect">
            <a:avLst/>
          </a:prstGeom>
          <a:noFill/>
          <a:ln/>
        </p:spPr>
        <p:txBody>
          <a:bodyPr wrap="square" lIns="0" tIns="0" rIns="0" bIns="0" rtlCol="0" anchor="ctr"/>
          <a:lstStyle/>
          <a:p>
            <a:pPr indent="0" marL="0">
              <a:lnSpc>
                <a:spcPts val="1200"/>
              </a:lnSpc>
              <a:buNone/>
            </a:pPr>
            <a:r>
              <a:rPr lang="en-US" sz="850" dirty="0">
                <a:solidFill>
                  <a:srgbClr val="7C90A6"/>
                </a:solidFill>
                <a:latin typeface="Courier New" pitchFamily="34" charset="0"/>
                <a:ea typeface="Courier New" pitchFamily="34" charset="-122"/>
                <a:cs typeface="Courier New" pitchFamily="34" charset="-120"/>
              </a:rPr>
              <a:t>Ai.psm1</a:t>
            </a:r>
            <a:endParaRPr lang="en-US" sz="850" dirty="0"/>
          </a:p>
        </p:txBody>
      </p:sp>
      <p:sp>
        <p:nvSpPr>
          <p:cNvPr id="59" name="Shape 56"/>
          <p:cNvSpPr/>
          <p:nvPr/>
        </p:nvSpPr>
        <p:spPr>
          <a:xfrm>
            <a:off x="2606040" y="3877056"/>
            <a:ext cx="1637325" cy="1042416"/>
          </a:xfrm>
          <a:prstGeom prst="roundRect">
            <a:avLst>
              <a:gd name="adj" fmla="val 4386"/>
            </a:avLst>
          </a:prstGeom>
          <a:solidFill>
            <a:srgbClr val="223140"/>
          </a:solidFill>
          <a:ln/>
        </p:spPr>
      </p:sp>
      <p:sp>
        <p:nvSpPr>
          <p:cNvPr id="60" name="Text 57"/>
          <p:cNvSpPr txBox="1"/>
          <p:nvPr/>
        </p:nvSpPr>
        <p:spPr>
          <a:xfrm>
            <a:off x="2697480"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Get-OpenIncident</a:t>
            </a:r>
            <a:endParaRPr lang="en-US" sz="850" dirty="0"/>
          </a:p>
        </p:txBody>
      </p:sp>
      <p:sp>
        <p:nvSpPr>
          <p:cNvPr id="61" name="Text 58"/>
          <p:cNvSpPr txBox="1"/>
          <p:nvPr/>
        </p:nvSpPr>
        <p:spPr>
          <a:xfrm>
            <a:off x="2697480" y="4160520"/>
            <a:ext cx="1454445" cy="69494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Every open incident seen in the last 60 minutes.</a:t>
            </a:r>
            <a:endParaRPr lang="en-US" sz="850" dirty="0"/>
          </a:p>
        </p:txBody>
      </p:sp>
      <p:sp>
        <p:nvSpPr>
          <p:cNvPr id="62" name="Shape 59"/>
          <p:cNvSpPr/>
          <p:nvPr/>
        </p:nvSpPr>
        <p:spPr>
          <a:xfrm>
            <a:off x="4270797" y="4382262"/>
            <a:ext cx="27432" cy="32004"/>
          </a:xfrm>
          <a:prstGeom prst="rect">
            <a:avLst/>
          </a:prstGeom>
          <a:solidFill>
            <a:srgbClr val="7C90A6"/>
          </a:solidFill>
          <a:ln/>
        </p:spPr>
      </p:sp>
      <p:sp>
        <p:nvSpPr>
          <p:cNvPr id="63" name="Shape 60"/>
          <p:cNvSpPr/>
          <p:nvPr/>
        </p:nvSpPr>
        <p:spPr>
          <a:xfrm rot="5400000">
            <a:off x="4298229" y="4329684"/>
            <a:ext cx="118872" cy="137160"/>
          </a:xfrm>
          <a:prstGeom prst="triangle">
            <a:avLst/>
          </a:prstGeom>
          <a:solidFill>
            <a:srgbClr val="7C90A6"/>
          </a:solidFill>
          <a:ln/>
        </p:spPr>
      </p:sp>
      <p:sp>
        <p:nvSpPr>
          <p:cNvPr id="64" name="Shape 61"/>
          <p:cNvSpPr/>
          <p:nvPr/>
        </p:nvSpPr>
        <p:spPr>
          <a:xfrm>
            <a:off x="4444533" y="3877056"/>
            <a:ext cx="1637325" cy="1042416"/>
          </a:xfrm>
          <a:prstGeom prst="roundRect">
            <a:avLst>
              <a:gd name="adj" fmla="val 4386"/>
            </a:avLst>
          </a:prstGeom>
          <a:solidFill>
            <a:srgbClr val="223140"/>
          </a:solidFill>
          <a:ln/>
        </p:spPr>
      </p:sp>
      <p:sp>
        <p:nvSpPr>
          <p:cNvPr id="65" name="Text 62"/>
          <p:cNvSpPr txBox="1"/>
          <p:nvPr/>
        </p:nvSpPr>
        <p:spPr>
          <a:xfrm>
            <a:off x="4535973" y="3941064"/>
            <a:ext cx="1454445"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Anything touched</a:t>
            </a:r>
            <a:endParaRPr lang="en-US" sz="1050" dirty="0"/>
          </a:p>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since the last pass?</a:t>
            </a:r>
            <a:endParaRPr lang="en-US" sz="1050" dirty="0"/>
          </a:p>
        </p:txBody>
      </p:sp>
      <p:sp>
        <p:nvSpPr>
          <p:cNvPr id="66" name="Text 63"/>
          <p:cNvSpPr txBox="1"/>
          <p:nvPr/>
        </p:nvSpPr>
        <p:spPr>
          <a:xfrm>
            <a:off x="4535973" y="4178808"/>
            <a:ext cx="1454445" cy="676656"/>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A meta row remembers LastRun. A quiet minute costs nothing. -Force skips the check for the demo.</a:t>
            </a:r>
            <a:endParaRPr lang="en-US" sz="850" dirty="0"/>
          </a:p>
        </p:txBody>
      </p:sp>
      <p:sp>
        <p:nvSpPr>
          <p:cNvPr id="67" name="Shape 64"/>
          <p:cNvSpPr/>
          <p:nvPr/>
        </p:nvSpPr>
        <p:spPr>
          <a:xfrm>
            <a:off x="6109289" y="4382262"/>
            <a:ext cx="27432" cy="32004"/>
          </a:xfrm>
          <a:prstGeom prst="rect">
            <a:avLst/>
          </a:prstGeom>
          <a:solidFill>
            <a:srgbClr val="7C90A6"/>
          </a:solidFill>
          <a:ln/>
        </p:spPr>
      </p:sp>
      <p:sp>
        <p:nvSpPr>
          <p:cNvPr id="68" name="Shape 65"/>
          <p:cNvSpPr/>
          <p:nvPr/>
        </p:nvSpPr>
        <p:spPr>
          <a:xfrm rot="5400000">
            <a:off x="6136721" y="4329684"/>
            <a:ext cx="118872" cy="137160"/>
          </a:xfrm>
          <a:prstGeom prst="triangle">
            <a:avLst/>
          </a:prstGeom>
          <a:solidFill>
            <a:srgbClr val="7C90A6"/>
          </a:solidFill>
          <a:ln/>
        </p:spPr>
      </p:sp>
      <p:sp>
        <p:nvSpPr>
          <p:cNvPr id="69" name="Shape 66"/>
          <p:cNvSpPr/>
          <p:nvPr/>
        </p:nvSpPr>
        <p:spPr>
          <a:xfrm>
            <a:off x="6283025" y="3877056"/>
            <a:ext cx="1637325" cy="1042416"/>
          </a:xfrm>
          <a:prstGeom prst="roundRect">
            <a:avLst>
              <a:gd name="adj" fmla="val 4386"/>
            </a:avLst>
          </a:prstGeom>
          <a:solidFill>
            <a:srgbClr val="223140"/>
          </a:solidFill>
          <a:ln/>
        </p:spPr>
      </p:sp>
      <p:sp>
        <p:nvSpPr>
          <p:cNvPr id="70" name="Text 67"/>
          <p:cNvSpPr txBox="1"/>
          <p:nvPr/>
        </p:nvSpPr>
        <p:spPr>
          <a:xfrm>
            <a:off x="6374465"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Get-IncidentBrief</a:t>
            </a:r>
            <a:endParaRPr lang="en-US" sz="850" dirty="0"/>
          </a:p>
        </p:txBody>
      </p:sp>
      <p:sp>
        <p:nvSpPr>
          <p:cNvPr id="71" name="Text 68"/>
          <p:cNvSpPr txBox="1"/>
          <p:nvPr/>
        </p:nvSpPr>
        <p:spPr>
          <a:xfrm>
            <a:off x="6374465" y="4160520"/>
            <a:ext cx="1454445" cy="69494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Top 6 symptoms per incident. Row keys and plumbing stripped - the model sees the outage, not the schema.</a:t>
            </a:r>
            <a:endParaRPr lang="en-US" sz="850" dirty="0"/>
          </a:p>
        </p:txBody>
      </p:sp>
      <p:sp>
        <p:nvSpPr>
          <p:cNvPr id="72" name="Shape 69"/>
          <p:cNvSpPr/>
          <p:nvPr/>
        </p:nvSpPr>
        <p:spPr>
          <a:xfrm>
            <a:off x="7947782" y="4382262"/>
            <a:ext cx="27432" cy="32004"/>
          </a:xfrm>
          <a:prstGeom prst="rect">
            <a:avLst/>
          </a:prstGeom>
          <a:solidFill>
            <a:srgbClr val="7C90A6"/>
          </a:solidFill>
          <a:ln/>
        </p:spPr>
      </p:sp>
      <p:sp>
        <p:nvSpPr>
          <p:cNvPr id="73" name="Shape 70"/>
          <p:cNvSpPr/>
          <p:nvPr/>
        </p:nvSpPr>
        <p:spPr>
          <a:xfrm rot="5400000">
            <a:off x="7975214" y="4329684"/>
            <a:ext cx="118872" cy="137160"/>
          </a:xfrm>
          <a:prstGeom prst="triangle">
            <a:avLst/>
          </a:prstGeom>
          <a:solidFill>
            <a:srgbClr val="7C90A6"/>
          </a:solidFill>
          <a:ln/>
        </p:spPr>
      </p:sp>
      <p:sp>
        <p:nvSpPr>
          <p:cNvPr id="74" name="Shape 71"/>
          <p:cNvSpPr/>
          <p:nvPr/>
        </p:nvSpPr>
        <p:spPr>
          <a:xfrm>
            <a:off x="8121518" y="3877056"/>
            <a:ext cx="1637325" cy="1042416"/>
          </a:xfrm>
          <a:prstGeom prst="roundRect">
            <a:avLst>
              <a:gd name="adj" fmla="val 4386"/>
            </a:avLst>
          </a:prstGeom>
          <a:solidFill>
            <a:srgbClr val="223140"/>
          </a:solidFill>
          <a:ln/>
        </p:spPr>
      </p:sp>
      <p:sp>
        <p:nvSpPr>
          <p:cNvPr id="75" name="Text 72"/>
          <p:cNvSpPr txBox="1"/>
          <p:nvPr/>
        </p:nvSpPr>
        <p:spPr>
          <a:xfrm>
            <a:off x="8212958"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Invoke-OpenAI</a:t>
            </a:r>
            <a:endParaRPr lang="en-US" sz="850" dirty="0"/>
          </a:p>
        </p:txBody>
      </p:sp>
      <p:sp>
        <p:nvSpPr>
          <p:cNvPr id="76" name="Text 73"/>
          <p:cNvSpPr txBox="1"/>
          <p:nvPr/>
        </p:nvSpPr>
        <p:spPr>
          <a:xfrm>
            <a:off x="8212958" y="4160520"/>
            <a:ext cx="1454445" cy="475488"/>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One call. gpt-4.1-mini, temp 0, JSON out, parsed by ConvertFrom-ModelJson.</a:t>
            </a:r>
            <a:endParaRPr lang="en-US" sz="850" dirty="0"/>
          </a:p>
        </p:txBody>
      </p:sp>
      <p:sp>
        <p:nvSpPr>
          <p:cNvPr id="77" name="Shape 74"/>
          <p:cNvSpPr/>
          <p:nvPr/>
        </p:nvSpPr>
        <p:spPr>
          <a:xfrm>
            <a:off x="8212958" y="4645152"/>
            <a:ext cx="1143000" cy="201168"/>
          </a:xfrm>
          <a:prstGeom prst="roundRect">
            <a:avLst>
              <a:gd name="adj" fmla="val 22727"/>
            </a:avLst>
          </a:prstGeom>
          <a:solidFill>
            <a:srgbClr val="0E1621"/>
          </a:solidFill>
          <a:ln w="12700">
            <a:solidFill>
              <a:srgbClr val="E0443E"/>
            </a:solidFill>
            <a:prstDash val="solid"/>
          </a:ln>
        </p:spPr>
      </p:sp>
      <p:sp>
        <p:nvSpPr>
          <p:cNvPr id="78" name="Text 75"/>
          <p:cNvSpPr txBox="1"/>
          <p:nvPr/>
        </p:nvSpPr>
        <p:spPr>
          <a:xfrm>
            <a:off x="8212958" y="4645152"/>
            <a:ext cx="1143000" cy="201168"/>
          </a:xfrm>
          <a:prstGeom prst="rect">
            <a:avLst/>
          </a:prstGeom>
          <a:noFill/>
          <a:ln/>
        </p:spPr>
        <p:txBody>
          <a:bodyPr wrap="square" lIns="0" tIns="0" rIns="0" bIns="0" rtlCol="0" anchor="ctr"/>
          <a:lstStyle/>
          <a:p>
            <a:pPr algn="ctr" indent="0" marL="0">
              <a:buNone/>
            </a:pPr>
            <a:r>
              <a:rPr lang="en-US" sz="900" b="1" spc="100" kern="0" dirty="0">
                <a:solidFill>
                  <a:srgbClr val="E0443E"/>
                </a:solidFill>
                <a:latin typeface="Calibri" pitchFamily="34" charset="0"/>
                <a:ea typeface="Calibri" pitchFamily="34" charset="-122"/>
                <a:cs typeface="Calibri" pitchFamily="34" charset="-120"/>
              </a:rPr>
              <a:t>SAME PROBLEM?</a:t>
            </a:r>
            <a:endParaRPr lang="en-US" sz="900" dirty="0"/>
          </a:p>
        </p:txBody>
      </p:sp>
      <p:sp>
        <p:nvSpPr>
          <p:cNvPr id="79" name="Shape 76"/>
          <p:cNvSpPr/>
          <p:nvPr/>
        </p:nvSpPr>
        <p:spPr>
          <a:xfrm>
            <a:off x="9786275" y="4382262"/>
            <a:ext cx="27432" cy="32004"/>
          </a:xfrm>
          <a:prstGeom prst="rect">
            <a:avLst/>
          </a:prstGeom>
          <a:solidFill>
            <a:srgbClr val="7C90A6"/>
          </a:solidFill>
          <a:ln/>
        </p:spPr>
      </p:sp>
      <p:sp>
        <p:nvSpPr>
          <p:cNvPr id="80" name="Shape 77"/>
          <p:cNvSpPr/>
          <p:nvPr/>
        </p:nvSpPr>
        <p:spPr>
          <a:xfrm rot="5400000">
            <a:off x="9813707" y="4329684"/>
            <a:ext cx="118872" cy="137160"/>
          </a:xfrm>
          <a:prstGeom prst="triangle">
            <a:avLst/>
          </a:prstGeom>
          <a:solidFill>
            <a:srgbClr val="7C90A6"/>
          </a:solidFill>
          <a:ln/>
        </p:spPr>
      </p:sp>
      <p:sp>
        <p:nvSpPr>
          <p:cNvPr id="81" name="Shape 78"/>
          <p:cNvSpPr/>
          <p:nvPr/>
        </p:nvSpPr>
        <p:spPr>
          <a:xfrm>
            <a:off x="9960011" y="3877056"/>
            <a:ext cx="1637325" cy="1042416"/>
          </a:xfrm>
          <a:prstGeom prst="roundRect">
            <a:avLst>
              <a:gd name="adj" fmla="val 4386"/>
            </a:avLst>
          </a:prstGeom>
          <a:solidFill>
            <a:srgbClr val="223140"/>
          </a:solidFill>
          <a:ln/>
        </p:spPr>
      </p:sp>
      <p:sp>
        <p:nvSpPr>
          <p:cNvPr id="82" name="Text 79"/>
          <p:cNvSpPr txBox="1"/>
          <p:nvPr/>
        </p:nvSpPr>
        <p:spPr>
          <a:xfrm>
            <a:off x="10051451"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Write-IncidentVerdict</a:t>
            </a:r>
            <a:endParaRPr lang="en-US" sz="850" dirty="0"/>
          </a:p>
        </p:txBody>
      </p:sp>
      <p:sp>
        <p:nvSpPr>
          <p:cNvPr id="83" name="Text 80"/>
          <p:cNvSpPr txBox="1"/>
          <p:nvPr/>
        </p:nvSpPr>
        <p:spPr>
          <a:xfrm>
            <a:off x="10051451" y="4160520"/>
            <a:ext cx="1454445" cy="69494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Once per incident: cause, downstream, unrelated or forgotten. Clusters of one are demoted. Then LastRun moves.</a:t>
            </a:r>
            <a:endParaRPr lang="en-US" sz="850" dirty="0"/>
          </a:p>
        </p:txBody>
      </p:sp>
      <p:sp>
        <p:nvSpPr>
          <p:cNvPr id="84" name="Shape 81"/>
          <p:cNvSpPr/>
          <p:nvPr/>
        </p:nvSpPr>
        <p:spPr>
          <a:xfrm>
            <a:off x="594360" y="5230368"/>
            <a:ext cx="11002975" cy="896112"/>
          </a:xfrm>
          <a:prstGeom prst="roundRect">
            <a:avLst>
              <a:gd name="adj" fmla="val 6122"/>
            </a:avLst>
          </a:prstGeom>
          <a:solidFill>
            <a:srgbClr val="19242F"/>
          </a:solidFill>
          <a:ln/>
        </p:spPr>
      </p:sp>
      <p:sp>
        <p:nvSpPr>
          <p:cNvPr id="85" name="Text 82"/>
          <p:cNvSpPr txBox="1"/>
          <p:nvPr/>
        </p:nvSpPr>
        <p:spPr>
          <a:xfrm>
            <a:off x="758952" y="5358384"/>
            <a:ext cx="1691640" cy="201168"/>
          </a:xfrm>
          <a:prstGeom prst="rect">
            <a:avLst/>
          </a:prstGeom>
          <a:noFill/>
          <a:ln/>
        </p:spPr>
        <p:txBody>
          <a:bodyPr wrap="square" lIns="0" tIns="0" rIns="0" bIns="0" rtlCol="0" anchor="ctr"/>
          <a:lstStyle/>
          <a:p>
            <a:pPr indent="0" marL="0">
              <a:buNone/>
            </a:pPr>
            <a:r>
              <a:rPr lang="en-US" sz="950" b="1" spc="100" kern="0" dirty="0">
                <a:solidFill>
                  <a:srgbClr val="7C90A6"/>
                </a:solidFill>
                <a:latin typeface="Calibri" pitchFamily="34" charset="0"/>
                <a:ea typeface="Calibri" pitchFamily="34" charset="-122"/>
                <a:cs typeface="Calibri" pitchFamily="34" charset="-120"/>
              </a:rPr>
              <a:t>GETINCIDENTS</a:t>
            </a:r>
            <a:endParaRPr lang="en-US" sz="950" dirty="0"/>
          </a:p>
        </p:txBody>
      </p:sp>
      <p:sp>
        <p:nvSpPr>
          <p:cNvPr id="86" name="Text 83"/>
          <p:cNvSpPr txBox="1"/>
          <p:nvPr/>
        </p:nvSpPr>
        <p:spPr>
          <a:xfrm>
            <a:off x="758952" y="5577840"/>
            <a:ext cx="1691640" cy="420624"/>
          </a:xfrm>
          <a:prstGeom prst="rect">
            <a:avLst/>
          </a:prstGeom>
          <a:noFill/>
          <a:ln/>
        </p:spPr>
        <p:txBody>
          <a:bodyPr wrap="square" lIns="0" tIns="0" rIns="0" bIns="0" rtlCol="0" anchor="ctr"/>
          <a:lstStyle/>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HTTP, when the</a:t>
            </a:r>
            <a:endParaRPr lang="en-US" sz="1250" dirty="0"/>
          </a:p>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workbook refreshes</a:t>
            </a:r>
            <a:endParaRPr lang="en-US" sz="1250" dirty="0"/>
          </a:p>
        </p:txBody>
      </p:sp>
      <p:sp>
        <p:nvSpPr>
          <p:cNvPr id="87" name="Shape 84"/>
          <p:cNvSpPr/>
          <p:nvPr/>
        </p:nvSpPr>
        <p:spPr>
          <a:xfrm>
            <a:off x="2606040" y="5367528"/>
            <a:ext cx="2783738" cy="621792"/>
          </a:xfrm>
          <a:prstGeom prst="roundRect">
            <a:avLst>
              <a:gd name="adj" fmla="val 7353"/>
            </a:avLst>
          </a:prstGeom>
          <a:solidFill>
            <a:srgbClr val="223140"/>
          </a:solidFill>
          <a:ln/>
        </p:spPr>
      </p:sp>
      <p:sp>
        <p:nvSpPr>
          <p:cNvPr id="88" name="Text 85"/>
          <p:cNvSpPr txBox="1"/>
          <p:nvPr/>
        </p:nvSpPr>
        <p:spPr>
          <a:xfrm>
            <a:off x="2697480" y="5431536"/>
            <a:ext cx="2600858"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Read</a:t>
            </a:r>
            <a:endParaRPr lang="en-US" sz="1050" dirty="0"/>
          </a:p>
        </p:txBody>
      </p:sp>
      <p:sp>
        <p:nvSpPr>
          <p:cNvPr id="89" name="Text 86"/>
          <p:cNvSpPr txBox="1"/>
          <p:nvPr/>
        </p:nvSpPr>
        <p:spPr>
          <a:xfrm>
            <a:off x="2697480" y="5669280"/>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Incidents open in the last 2 hours, plus their Events rows. Imports Plumbing.psm1 and nothing else.</a:t>
            </a:r>
            <a:endParaRPr lang="en-US" sz="850" dirty="0"/>
          </a:p>
        </p:txBody>
      </p:sp>
      <p:sp>
        <p:nvSpPr>
          <p:cNvPr id="90" name="Shape 87"/>
          <p:cNvSpPr/>
          <p:nvPr/>
        </p:nvSpPr>
        <p:spPr>
          <a:xfrm>
            <a:off x="5417210" y="5662422"/>
            <a:ext cx="146304" cy="32004"/>
          </a:xfrm>
          <a:prstGeom prst="rect">
            <a:avLst/>
          </a:prstGeom>
          <a:solidFill>
            <a:srgbClr val="7C90A6"/>
          </a:solidFill>
          <a:ln/>
        </p:spPr>
      </p:sp>
      <p:sp>
        <p:nvSpPr>
          <p:cNvPr id="91" name="Shape 88"/>
          <p:cNvSpPr/>
          <p:nvPr/>
        </p:nvSpPr>
        <p:spPr>
          <a:xfrm rot="5400000">
            <a:off x="5563514" y="5609844"/>
            <a:ext cx="118872" cy="137160"/>
          </a:xfrm>
          <a:prstGeom prst="triangle">
            <a:avLst/>
          </a:prstGeom>
          <a:solidFill>
            <a:srgbClr val="7C90A6"/>
          </a:solidFill>
          <a:ln/>
        </p:spPr>
      </p:sp>
      <p:sp>
        <p:nvSpPr>
          <p:cNvPr id="92" name="Shape 89"/>
          <p:cNvSpPr/>
          <p:nvPr/>
        </p:nvSpPr>
        <p:spPr>
          <a:xfrm>
            <a:off x="5709818" y="5367528"/>
            <a:ext cx="2783738" cy="621792"/>
          </a:xfrm>
          <a:prstGeom prst="roundRect">
            <a:avLst>
              <a:gd name="adj" fmla="val 7353"/>
            </a:avLst>
          </a:prstGeom>
          <a:solidFill>
            <a:srgbClr val="223140"/>
          </a:solidFill>
          <a:ln/>
        </p:spPr>
      </p:sp>
      <p:sp>
        <p:nvSpPr>
          <p:cNvPr id="93" name="Text 90"/>
          <p:cNvSpPr txBox="1"/>
          <p:nvPr/>
        </p:nvSpPr>
        <p:spPr>
          <a:xfrm>
            <a:off x="5801258" y="5431536"/>
            <a:ext cx="2600858"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Shape</a:t>
            </a:r>
            <a:endParaRPr lang="en-US" sz="1050" dirty="0"/>
          </a:p>
        </p:txBody>
      </p:sp>
      <p:sp>
        <p:nvSpPr>
          <p:cNvPr id="94" name="Text 91"/>
          <p:cNvSpPr txBox="1"/>
          <p:nvPr/>
        </p:nvSpPr>
        <p:spPr>
          <a:xfrm>
            <a:off x="5801258" y="5669280"/>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?view= raw · summary · sources · tree · incidents · symptoms - one per visual on the workbook.</a:t>
            </a:r>
            <a:endParaRPr lang="en-US" sz="850" dirty="0"/>
          </a:p>
        </p:txBody>
      </p:sp>
      <p:sp>
        <p:nvSpPr>
          <p:cNvPr id="95" name="Shape 92"/>
          <p:cNvSpPr/>
          <p:nvPr/>
        </p:nvSpPr>
        <p:spPr>
          <a:xfrm>
            <a:off x="8520989" y="5662422"/>
            <a:ext cx="146304" cy="32004"/>
          </a:xfrm>
          <a:prstGeom prst="rect">
            <a:avLst/>
          </a:prstGeom>
          <a:solidFill>
            <a:srgbClr val="7C90A6"/>
          </a:solidFill>
          <a:ln/>
        </p:spPr>
      </p:sp>
      <p:sp>
        <p:nvSpPr>
          <p:cNvPr id="96" name="Shape 93"/>
          <p:cNvSpPr/>
          <p:nvPr/>
        </p:nvSpPr>
        <p:spPr>
          <a:xfrm rot="5400000">
            <a:off x="8667293" y="5609844"/>
            <a:ext cx="118872" cy="137160"/>
          </a:xfrm>
          <a:prstGeom prst="triangle">
            <a:avLst/>
          </a:prstGeom>
          <a:solidFill>
            <a:srgbClr val="7C90A6"/>
          </a:solidFill>
          <a:ln/>
        </p:spPr>
      </p:sp>
      <p:sp>
        <p:nvSpPr>
          <p:cNvPr id="97" name="Shape 94"/>
          <p:cNvSpPr/>
          <p:nvPr/>
        </p:nvSpPr>
        <p:spPr>
          <a:xfrm>
            <a:off x="8813597" y="5367528"/>
            <a:ext cx="2783738" cy="621792"/>
          </a:xfrm>
          <a:prstGeom prst="roundRect">
            <a:avLst>
              <a:gd name="adj" fmla="val 7353"/>
            </a:avLst>
          </a:prstGeom>
          <a:solidFill>
            <a:srgbClr val="223140"/>
          </a:solidFill>
          <a:ln/>
        </p:spPr>
      </p:sp>
      <p:sp>
        <p:nvSpPr>
          <p:cNvPr id="98" name="Text 95"/>
          <p:cNvSpPr txBox="1"/>
          <p:nvPr/>
        </p:nvSpPr>
        <p:spPr>
          <a:xfrm>
            <a:off x="8905037" y="5431536"/>
            <a:ext cx="2600858"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Answer</a:t>
            </a:r>
            <a:endParaRPr lang="en-US" sz="1050" dirty="0"/>
          </a:p>
        </p:txBody>
      </p:sp>
      <p:sp>
        <p:nvSpPr>
          <p:cNvPr id="99" name="Text 96"/>
          <p:cNvSpPr txBox="1"/>
          <p:nvPr/>
        </p:nvSpPr>
        <p:spPr>
          <a:xfrm>
            <a:off x="8905037" y="5669280"/>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JSON the workbook can colour. No correlation logic lives here; it is presentation only.</a:t>
            </a:r>
            <a:endParaRPr lang="en-US" sz="850" dirty="0"/>
          </a:p>
        </p:txBody>
      </p:sp>
      <p:sp>
        <p:nvSpPr>
          <p:cNvPr id="100" name="Text 97"/>
          <p:cNvSpPr txBox="1"/>
          <p:nvPr/>
        </p:nvSpPr>
        <p:spPr>
          <a:xfrm>
            <a:off x="594360" y="6236208"/>
            <a:ext cx="11002975" cy="384048"/>
          </a:xfrm>
          <a:prstGeom prst="rect">
            <a:avLst/>
          </a:prstGeom>
          <a:noFill/>
          <a:ln/>
        </p:spPr>
        <p:txBody>
          <a:bodyPr wrap="square" lIns="0" tIns="0" rIns="0" bIns="0" rtlCol="0" anchor="t"/>
          <a:lstStyle/>
          <a:p>
            <a:pPr algn="ctr" indent="0" marL="0">
              <a:buNone/>
            </a:pPr>
            <a:r>
              <a:rPr lang="en-US" sz="1100" b="1" dirty="0">
                <a:solidFill>
                  <a:srgbClr val="E9EFF6"/>
                </a:solidFill>
                <a:latin typeface="Calibri" pitchFamily="34" charset="0"/>
                <a:ea typeface="Calibri" pitchFamily="34" charset="-122"/>
                <a:cs typeface="Calibri" pitchFamily="34" charset="-120"/>
              </a:rPr>
              <a:t>The first two questions are not two passes. </a:t>
            </a:r>
            <a:pPr algn="ctr" indent="0" marL="0">
              <a:buNone/>
            </a:pPr>
            <a:r>
              <a:rPr lang="en-US" sz="1100" dirty="0">
                <a:solidFill>
                  <a:srgbClr val="8FA3B8"/>
                </a:solidFill>
                <a:latin typeface="Calibri" pitchFamily="34" charset="0"/>
                <a:ea typeface="Calibri" pitchFamily="34" charset="-122"/>
                <a:cs typeface="Calibri" pitchFamily="34" charset="-120"/>
              </a:rPr>
              <a:t>They are the two halves of one row address - </a:t>
            </a:r>
            <a:pPr algn="ctr" indent="0" marL="0">
              <a:buNone/>
            </a:pPr>
            <a:r>
              <a:rPr lang="en-US" sz="1100" dirty="0">
                <a:solidFill>
                  <a:srgbClr val="E8A33D"/>
                </a:solidFill>
                <a:latin typeface="Courier New" pitchFamily="34" charset="0"/>
                <a:ea typeface="Courier New" pitchFamily="34" charset="-122"/>
                <a:cs typeface="Courier New" pitchFamily="34" charset="-120"/>
              </a:rPr>
              <a:t>Events(PartitionKey = incident id, RowKey = fingerprint)</a:t>
            </a:r>
            <a:pPr algn="ctr" indent="0" marL="0">
              <a:buNone/>
            </a:pPr>
            <a:r>
              <a:rPr lang="en-US" sz="1100" dirty="0">
                <a:solidFill>
                  <a:srgbClr val="8FA3B8"/>
                </a:solidFill>
                <a:latin typeface="Calibri" pitchFamily="34" charset="0"/>
                <a:ea typeface="Calibri" pitchFamily="34" charset="-122"/>
                <a:cs typeface="Calibri" pitchFamily="34" charset="-120"/>
              </a:rPr>
              <a:t> - and the code works out the incident before the symptom.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EVERY FUNCTION, BY JOB</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Which function answers which question</a:t>
            </a:r>
            <a:endParaRPr lang="en-US" sz="3600" dirty="0"/>
          </a:p>
        </p:txBody>
      </p:sp>
      <p:sp>
        <p:nvSpPr>
          <p:cNvPr id="5" name="Shape 2"/>
          <p:cNvSpPr/>
          <p:nvPr/>
        </p:nvSpPr>
        <p:spPr>
          <a:xfrm>
            <a:off x="594360" y="1389888"/>
            <a:ext cx="11002975" cy="868680"/>
          </a:xfrm>
          <a:prstGeom prst="roundRect">
            <a:avLst>
              <a:gd name="adj" fmla="val 6316"/>
            </a:avLst>
          </a:prstGeom>
          <a:solidFill>
            <a:srgbClr val="19242F"/>
          </a:solidFill>
          <a:ln/>
        </p:spPr>
      </p:sp>
      <p:sp>
        <p:nvSpPr>
          <p:cNvPr id="6" name="Text 3"/>
          <p:cNvSpPr txBox="1"/>
          <p:nvPr/>
        </p:nvSpPr>
        <p:spPr>
          <a:xfrm>
            <a:off x="795528" y="1490472"/>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Normalise</a:t>
            </a:r>
            <a:endParaRPr lang="en-US" sz="1300" dirty="0"/>
          </a:p>
        </p:txBody>
      </p:sp>
      <p:sp>
        <p:nvSpPr>
          <p:cNvPr id="7" name="Text 4"/>
          <p:cNvSpPr txBox="1"/>
          <p:nvPr/>
        </p:nvSpPr>
        <p:spPr>
          <a:xfrm>
            <a:off x="795528" y="1755648"/>
            <a:ext cx="1874520" cy="201168"/>
          </a:xfrm>
          <a:prstGeom prst="rect">
            <a:avLst/>
          </a:prstGeom>
          <a:noFill/>
          <a:ln/>
        </p:spPr>
        <p:txBody>
          <a:bodyPr wrap="square" lIns="0" tIns="0" rIns="0" bIns="0" rtlCol="0" anchor="ctr"/>
          <a:lstStyle/>
          <a:p>
            <a:pPr indent="0" marL="0">
              <a:buNone/>
            </a:pPr>
            <a:r>
              <a:rPr lang="en-US" sz="850" dirty="0">
                <a:solidFill>
                  <a:srgbClr val="7C90A6"/>
                </a:solidFill>
                <a:latin typeface="Courier New" pitchFamily="34" charset="0"/>
                <a:ea typeface="Courier New" pitchFamily="34" charset="-122"/>
                <a:cs typeface="Courier New" pitchFamily="34" charset="-120"/>
              </a:rPr>
              <a:t>Normalize.psm1 (10)</a:t>
            </a:r>
            <a:endParaRPr lang="en-US" sz="850" dirty="0"/>
          </a:p>
        </p:txBody>
      </p:sp>
      <p:sp>
        <p:nvSpPr>
          <p:cNvPr id="8" name="Text 5"/>
          <p:cNvSpPr txBox="1"/>
          <p:nvPr/>
        </p:nvSpPr>
        <p:spPr>
          <a:xfrm>
            <a:off x="2743200" y="1463040"/>
            <a:ext cx="8671255" cy="740664"/>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ConvertTo-PipelineEvent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entry point: sniffs the payload shape and hands off</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ConvertFrom-AppInsightsRecord · -AzureMonitorAlert · -ScriptEvent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one per shape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Get-HostFromTarget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a dependency’s Target becomes the host, so the app’s failed call joins the server’s incident</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Get-Field · Get-ExceptionMessage · Format-Time · New-PipelineEvent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helpers</a:t>
            </a:r>
            <a:endParaRPr lang="en-US" sz="1000" dirty="0"/>
          </a:p>
        </p:txBody>
      </p:sp>
      <p:sp>
        <p:nvSpPr>
          <p:cNvPr id="9" name="Shape 6"/>
          <p:cNvSpPr/>
          <p:nvPr/>
        </p:nvSpPr>
        <p:spPr>
          <a:xfrm>
            <a:off x="594360" y="2359152"/>
            <a:ext cx="11002975" cy="603504"/>
          </a:xfrm>
          <a:prstGeom prst="roundRect">
            <a:avLst>
              <a:gd name="adj" fmla="val 9091"/>
            </a:avLst>
          </a:prstGeom>
          <a:solidFill>
            <a:srgbClr val="19242F"/>
          </a:solidFill>
          <a:ln/>
        </p:spPr>
      </p:sp>
      <p:sp>
        <p:nvSpPr>
          <p:cNvPr id="10" name="Text 7"/>
          <p:cNvSpPr txBox="1"/>
          <p:nvPr/>
        </p:nvSpPr>
        <p:spPr>
          <a:xfrm>
            <a:off x="795528" y="2459736"/>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Same symptom?</a:t>
            </a:r>
            <a:endParaRPr lang="en-US" sz="1300" dirty="0"/>
          </a:p>
        </p:txBody>
      </p:sp>
      <p:sp>
        <p:nvSpPr>
          <p:cNvPr id="11" name="Shape 8"/>
          <p:cNvSpPr/>
          <p:nvPr/>
        </p:nvSpPr>
        <p:spPr>
          <a:xfrm>
            <a:off x="795528" y="2724912"/>
            <a:ext cx="777240" cy="201168"/>
          </a:xfrm>
          <a:prstGeom prst="roundRect">
            <a:avLst>
              <a:gd name="adj" fmla="val 22727"/>
            </a:avLst>
          </a:prstGeom>
          <a:solidFill>
            <a:srgbClr val="0E1621"/>
          </a:solidFill>
          <a:ln w="12700">
            <a:solidFill>
              <a:srgbClr val="E8A33D"/>
            </a:solidFill>
            <a:prstDash val="solid"/>
          </a:ln>
        </p:spPr>
      </p:sp>
      <p:sp>
        <p:nvSpPr>
          <p:cNvPr id="12" name="Text 9"/>
          <p:cNvSpPr txBox="1"/>
          <p:nvPr/>
        </p:nvSpPr>
        <p:spPr>
          <a:xfrm>
            <a:off x="795528" y="2724912"/>
            <a:ext cx="77724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QUESTION 1</a:t>
            </a:r>
            <a:endParaRPr lang="en-US" sz="900" dirty="0"/>
          </a:p>
        </p:txBody>
      </p:sp>
      <p:sp>
        <p:nvSpPr>
          <p:cNvPr id="13" name="Text 10"/>
          <p:cNvSpPr txBox="1"/>
          <p:nvPr/>
        </p:nvSpPr>
        <p:spPr>
          <a:xfrm>
            <a:off x="1645920" y="2724912"/>
            <a:ext cx="1024128" cy="201168"/>
          </a:xfrm>
          <a:prstGeom prst="rect">
            <a:avLst/>
          </a:prstGeom>
          <a:noFill/>
          <a:ln/>
        </p:spPr>
        <p:txBody>
          <a:bodyPr wrap="square" lIns="0" tIns="0" rIns="0" bIns="0" rtlCol="0" anchor="ctr"/>
          <a:lstStyle/>
          <a:p>
            <a:pPr indent="0" marL="0">
              <a:buNone/>
            </a:pPr>
            <a:r>
              <a:rPr lang="en-US" sz="800" dirty="0">
                <a:solidFill>
                  <a:srgbClr val="7C90A6"/>
                </a:solidFill>
                <a:latin typeface="Courier New" pitchFamily="34" charset="0"/>
                <a:ea typeface="Courier New" pitchFamily="34" charset="-122"/>
                <a:cs typeface="Courier New" pitchFamily="34" charset="-120"/>
              </a:rPr>
              <a:t>Correlation.psm1</a:t>
            </a:r>
            <a:endParaRPr lang="en-US" sz="800" dirty="0"/>
          </a:p>
        </p:txBody>
      </p:sp>
      <p:sp>
        <p:nvSpPr>
          <p:cNvPr id="14" name="Text 11"/>
          <p:cNvSpPr txBox="1"/>
          <p:nvPr/>
        </p:nvSpPr>
        <p:spPr>
          <a:xfrm>
            <a:off x="2743200" y="2432304"/>
            <a:ext cx="8671255" cy="475488"/>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Get-Fingerprint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SHA256 of source | kind | title with digits → N | resource | host.  Four lines. The whole answer.</a:t>
            </a:r>
            <a:endParaRPr lang="en-US" sz="1000" dirty="0"/>
          </a:p>
        </p:txBody>
      </p:sp>
      <p:sp>
        <p:nvSpPr>
          <p:cNvPr id="15" name="Shape 12"/>
          <p:cNvSpPr/>
          <p:nvPr/>
        </p:nvSpPr>
        <p:spPr>
          <a:xfrm>
            <a:off x="594360" y="3063240"/>
            <a:ext cx="11002975" cy="868680"/>
          </a:xfrm>
          <a:prstGeom prst="roundRect">
            <a:avLst>
              <a:gd name="adj" fmla="val 6316"/>
            </a:avLst>
          </a:prstGeom>
          <a:solidFill>
            <a:srgbClr val="19242F"/>
          </a:solidFill>
          <a:ln/>
        </p:spPr>
      </p:sp>
      <p:sp>
        <p:nvSpPr>
          <p:cNvPr id="16" name="Text 13"/>
          <p:cNvSpPr txBox="1"/>
          <p:nvPr/>
        </p:nvSpPr>
        <p:spPr>
          <a:xfrm>
            <a:off x="795528" y="3163824"/>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Same incident?</a:t>
            </a:r>
            <a:endParaRPr lang="en-US" sz="1300" dirty="0"/>
          </a:p>
        </p:txBody>
      </p:sp>
      <p:sp>
        <p:nvSpPr>
          <p:cNvPr id="17" name="Shape 14"/>
          <p:cNvSpPr/>
          <p:nvPr/>
        </p:nvSpPr>
        <p:spPr>
          <a:xfrm>
            <a:off x="795528" y="3429000"/>
            <a:ext cx="777240" cy="201168"/>
          </a:xfrm>
          <a:prstGeom prst="roundRect">
            <a:avLst>
              <a:gd name="adj" fmla="val 22727"/>
            </a:avLst>
          </a:prstGeom>
          <a:solidFill>
            <a:srgbClr val="0E1621"/>
          </a:solidFill>
          <a:ln w="12700">
            <a:solidFill>
              <a:srgbClr val="E8A33D"/>
            </a:solidFill>
            <a:prstDash val="solid"/>
          </a:ln>
        </p:spPr>
      </p:sp>
      <p:sp>
        <p:nvSpPr>
          <p:cNvPr id="18" name="Text 15"/>
          <p:cNvSpPr txBox="1"/>
          <p:nvPr/>
        </p:nvSpPr>
        <p:spPr>
          <a:xfrm>
            <a:off x="795528" y="3429000"/>
            <a:ext cx="77724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QUESTION 2</a:t>
            </a:r>
            <a:endParaRPr lang="en-US" sz="900" dirty="0"/>
          </a:p>
        </p:txBody>
      </p:sp>
      <p:sp>
        <p:nvSpPr>
          <p:cNvPr id="19" name="Text 16"/>
          <p:cNvSpPr txBox="1"/>
          <p:nvPr/>
        </p:nvSpPr>
        <p:spPr>
          <a:xfrm>
            <a:off x="1645920" y="3429000"/>
            <a:ext cx="1024128" cy="201168"/>
          </a:xfrm>
          <a:prstGeom prst="rect">
            <a:avLst/>
          </a:prstGeom>
          <a:noFill/>
          <a:ln/>
        </p:spPr>
        <p:txBody>
          <a:bodyPr wrap="square" lIns="0" tIns="0" rIns="0" bIns="0" rtlCol="0" anchor="ctr"/>
          <a:lstStyle/>
          <a:p>
            <a:pPr indent="0" marL="0">
              <a:buNone/>
            </a:pPr>
            <a:r>
              <a:rPr lang="en-US" sz="800" dirty="0">
                <a:solidFill>
                  <a:srgbClr val="7C90A6"/>
                </a:solidFill>
                <a:latin typeface="Courier New" pitchFamily="34" charset="0"/>
                <a:ea typeface="Courier New" pitchFamily="34" charset="-122"/>
                <a:cs typeface="Courier New" pitchFamily="34" charset="-120"/>
              </a:rPr>
              <a:t>Correlation.psm1</a:t>
            </a:r>
            <a:endParaRPr lang="en-US" sz="800" dirty="0"/>
          </a:p>
        </p:txBody>
      </p:sp>
      <p:sp>
        <p:nvSpPr>
          <p:cNvPr id="20" name="Text 17"/>
          <p:cNvSpPr txBox="1"/>
          <p:nvPr/>
        </p:nvSpPr>
        <p:spPr>
          <a:xfrm>
            <a:off x="2743200" y="3136392"/>
            <a:ext cx="8671255" cy="740664"/>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Get-PrimaryKey · Get-IncidentId</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one key that decides the incident, and the id derived from it</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Get-EventKey</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every key the event carries, for the “correlated on” line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Add-EventToIncident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orchestrator - the only thing IngestEvents calls after archiving</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New-Incident · Write-RawEvent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writes; neither is conditional</a:t>
            </a:r>
            <a:endParaRPr lang="en-US" sz="1000" dirty="0"/>
          </a:p>
        </p:txBody>
      </p:sp>
      <p:sp>
        <p:nvSpPr>
          <p:cNvPr id="21" name="Shape 18"/>
          <p:cNvSpPr/>
          <p:nvPr/>
        </p:nvSpPr>
        <p:spPr>
          <a:xfrm>
            <a:off x="594360" y="4032504"/>
            <a:ext cx="11002975" cy="713232"/>
          </a:xfrm>
          <a:prstGeom prst="roundRect">
            <a:avLst>
              <a:gd name="adj" fmla="val 7692"/>
            </a:avLst>
          </a:prstGeom>
          <a:solidFill>
            <a:srgbClr val="19242F"/>
          </a:solidFill>
          <a:ln/>
        </p:spPr>
      </p:sp>
      <p:sp>
        <p:nvSpPr>
          <p:cNvPr id="22" name="Text 19"/>
          <p:cNvSpPr txBox="1"/>
          <p:nvPr/>
        </p:nvSpPr>
        <p:spPr>
          <a:xfrm>
            <a:off x="795528" y="4133088"/>
            <a:ext cx="1874520" cy="237744"/>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Plumbing</a:t>
            </a:r>
            <a:endParaRPr lang="en-US" sz="1300" dirty="0"/>
          </a:p>
        </p:txBody>
      </p:sp>
      <p:sp>
        <p:nvSpPr>
          <p:cNvPr id="23" name="Text 20"/>
          <p:cNvSpPr txBox="1"/>
          <p:nvPr/>
        </p:nvSpPr>
        <p:spPr>
          <a:xfrm>
            <a:off x="795528" y="4398264"/>
            <a:ext cx="1874520" cy="201168"/>
          </a:xfrm>
          <a:prstGeom prst="rect">
            <a:avLst/>
          </a:prstGeom>
          <a:noFill/>
          <a:ln/>
        </p:spPr>
        <p:txBody>
          <a:bodyPr wrap="square" lIns="0" tIns="0" rIns="0" bIns="0" rtlCol="0" anchor="ctr"/>
          <a:lstStyle/>
          <a:p>
            <a:pPr indent="0" marL="0">
              <a:buNone/>
            </a:pPr>
            <a:r>
              <a:rPr lang="en-US" sz="850" dirty="0">
                <a:solidFill>
                  <a:srgbClr val="7C90A6"/>
                </a:solidFill>
                <a:latin typeface="Courier New" pitchFamily="34" charset="0"/>
                <a:ea typeface="Courier New" pitchFamily="34" charset="-122"/>
                <a:cs typeface="Courier New" pitchFamily="34" charset="-120"/>
              </a:rPr>
              <a:t>Plumbing.psm1 (9)</a:t>
            </a:r>
            <a:endParaRPr lang="en-US" sz="850" dirty="0"/>
          </a:p>
        </p:txBody>
      </p:sp>
      <p:sp>
        <p:nvSpPr>
          <p:cNvPr id="24" name="Text 21"/>
          <p:cNvSpPr txBox="1"/>
          <p:nvPr/>
        </p:nvSpPr>
        <p:spPr>
          <a:xfrm>
            <a:off x="2743200" y="4105656"/>
            <a:ext cx="8671255" cy="585216"/>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Invoke-Table · Get-TableRow · Get-OpenIncident · Measure-Incident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Table Storage over REST, and the totals the incident row does not store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Get-ResourceToken · Get-StorageToken</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managed identity, one token per resource, cached</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Get-HttpStatus · ConvertTo-TableLiteral · ConvertTo-Utc</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small conversions everyone leans on</a:t>
            </a:r>
            <a:endParaRPr lang="en-US" sz="1000" dirty="0"/>
          </a:p>
        </p:txBody>
      </p:sp>
      <p:sp>
        <p:nvSpPr>
          <p:cNvPr id="25" name="Shape 22"/>
          <p:cNvSpPr/>
          <p:nvPr/>
        </p:nvSpPr>
        <p:spPr>
          <a:xfrm>
            <a:off x="594360" y="4846320"/>
            <a:ext cx="11002975" cy="868680"/>
          </a:xfrm>
          <a:prstGeom prst="roundRect">
            <a:avLst>
              <a:gd name="adj" fmla="val 6316"/>
            </a:avLst>
          </a:prstGeom>
          <a:solidFill>
            <a:srgbClr val="19242F"/>
          </a:solidFill>
          <a:ln/>
        </p:spPr>
      </p:sp>
      <p:sp>
        <p:nvSpPr>
          <p:cNvPr id="26" name="Text 23"/>
          <p:cNvSpPr txBox="1"/>
          <p:nvPr/>
        </p:nvSpPr>
        <p:spPr>
          <a:xfrm>
            <a:off x="795528" y="4946904"/>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Same problem?</a:t>
            </a:r>
            <a:endParaRPr lang="en-US" sz="1300" dirty="0"/>
          </a:p>
        </p:txBody>
      </p:sp>
      <p:sp>
        <p:nvSpPr>
          <p:cNvPr id="27" name="Shape 24"/>
          <p:cNvSpPr/>
          <p:nvPr/>
        </p:nvSpPr>
        <p:spPr>
          <a:xfrm>
            <a:off x="795528" y="5212080"/>
            <a:ext cx="777240" cy="201168"/>
          </a:xfrm>
          <a:prstGeom prst="roundRect">
            <a:avLst>
              <a:gd name="adj" fmla="val 22727"/>
            </a:avLst>
          </a:prstGeom>
          <a:solidFill>
            <a:srgbClr val="0E1621"/>
          </a:solidFill>
          <a:ln w="12700">
            <a:solidFill>
              <a:srgbClr val="E0443E"/>
            </a:solidFill>
            <a:prstDash val="solid"/>
          </a:ln>
        </p:spPr>
      </p:sp>
      <p:sp>
        <p:nvSpPr>
          <p:cNvPr id="28" name="Text 25"/>
          <p:cNvSpPr txBox="1"/>
          <p:nvPr/>
        </p:nvSpPr>
        <p:spPr>
          <a:xfrm>
            <a:off x="795528" y="5212080"/>
            <a:ext cx="777240" cy="201168"/>
          </a:xfrm>
          <a:prstGeom prst="rect">
            <a:avLst/>
          </a:prstGeom>
          <a:noFill/>
          <a:ln/>
        </p:spPr>
        <p:txBody>
          <a:bodyPr wrap="square" lIns="0" tIns="0" rIns="0" bIns="0" rtlCol="0" anchor="ctr"/>
          <a:lstStyle/>
          <a:p>
            <a:pPr algn="ctr" indent="0" marL="0">
              <a:buNone/>
            </a:pPr>
            <a:r>
              <a:rPr lang="en-US" sz="900" b="1" spc="100" kern="0" dirty="0">
                <a:solidFill>
                  <a:srgbClr val="E0443E"/>
                </a:solidFill>
                <a:latin typeface="Calibri" pitchFamily="34" charset="0"/>
                <a:ea typeface="Calibri" pitchFamily="34" charset="-122"/>
                <a:cs typeface="Calibri" pitchFamily="34" charset="-120"/>
              </a:rPr>
              <a:t>QUESTION 3</a:t>
            </a:r>
            <a:endParaRPr lang="en-US" sz="900" dirty="0"/>
          </a:p>
        </p:txBody>
      </p:sp>
      <p:sp>
        <p:nvSpPr>
          <p:cNvPr id="29" name="Text 26"/>
          <p:cNvSpPr txBox="1"/>
          <p:nvPr/>
        </p:nvSpPr>
        <p:spPr>
          <a:xfrm>
            <a:off x="1645920" y="5212080"/>
            <a:ext cx="1024128" cy="201168"/>
          </a:xfrm>
          <a:prstGeom prst="rect">
            <a:avLst/>
          </a:prstGeom>
          <a:noFill/>
          <a:ln/>
        </p:spPr>
        <p:txBody>
          <a:bodyPr wrap="square" lIns="0" tIns="0" rIns="0" bIns="0" rtlCol="0" anchor="ctr"/>
          <a:lstStyle/>
          <a:p>
            <a:pPr indent="0" marL="0">
              <a:buNone/>
            </a:pPr>
            <a:r>
              <a:rPr lang="en-US" sz="800" dirty="0">
                <a:solidFill>
                  <a:srgbClr val="7C90A6"/>
                </a:solidFill>
                <a:latin typeface="Courier New" pitchFamily="34" charset="0"/>
                <a:ea typeface="Courier New" pitchFamily="34" charset="-122"/>
                <a:cs typeface="Courier New" pitchFamily="34" charset="-120"/>
              </a:rPr>
              <a:t>Ai.psm1 (5)</a:t>
            </a:r>
            <a:endParaRPr lang="en-US" sz="800" dirty="0"/>
          </a:p>
        </p:txBody>
      </p:sp>
      <p:sp>
        <p:nvSpPr>
          <p:cNvPr id="30" name="Text 27"/>
          <p:cNvSpPr txBox="1"/>
          <p:nvPr/>
        </p:nvSpPr>
        <p:spPr>
          <a:xfrm>
            <a:off x="2743200" y="4919472"/>
            <a:ext cx="8671255" cy="740664"/>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Invoke-IncidentAnalysis</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pass: fetch, skip if quiet, brief, ask, write back</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Get-IncidentBrief</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what the model is allowed to see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Invoke-OpenAI · ConvertFrom-ModelJson</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one call, and the JSON it must return</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Write-IncidentVerdict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one incident’s verdict, a plain merge - it sends no counters</a:t>
            </a:r>
            <a:endParaRPr lang="en-US" sz="1000" dirty="0"/>
          </a:p>
        </p:txBody>
      </p:sp>
      <p:sp>
        <p:nvSpPr>
          <p:cNvPr id="31" name="Shape 28"/>
          <p:cNvSpPr/>
          <p:nvPr/>
        </p:nvSpPr>
        <p:spPr>
          <a:xfrm>
            <a:off x="594360" y="5815584"/>
            <a:ext cx="11002975" cy="603504"/>
          </a:xfrm>
          <a:prstGeom prst="roundRect">
            <a:avLst>
              <a:gd name="adj" fmla="val 9091"/>
            </a:avLst>
          </a:prstGeom>
          <a:solidFill>
            <a:srgbClr val="19242F"/>
          </a:solidFill>
          <a:ln/>
        </p:spPr>
      </p:sp>
      <p:sp>
        <p:nvSpPr>
          <p:cNvPr id="32" name="Text 29"/>
          <p:cNvSpPr txBox="1"/>
          <p:nvPr/>
        </p:nvSpPr>
        <p:spPr>
          <a:xfrm>
            <a:off x="795528" y="5916168"/>
            <a:ext cx="1874520" cy="237744"/>
          </a:xfrm>
          <a:prstGeom prst="rect">
            <a:avLst/>
          </a:prstGeom>
          <a:noFill/>
          <a:ln/>
        </p:spPr>
        <p:txBody>
          <a:bodyPr wrap="square" lIns="0" tIns="0" rIns="0" bIns="0"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Presentation</a:t>
            </a:r>
            <a:endParaRPr lang="en-US" sz="1300" dirty="0"/>
          </a:p>
        </p:txBody>
      </p:sp>
      <p:sp>
        <p:nvSpPr>
          <p:cNvPr id="33" name="Text 30"/>
          <p:cNvSpPr txBox="1"/>
          <p:nvPr/>
        </p:nvSpPr>
        <p:spPr>
          <a:xfrm>
            <a:off x="795528" y="6181344"/>
            <a:ext cx="1874520" cy="201168"/>
          </a:xfrm>
          <a:prstGeom prst="rect">
            <a:avLst/>
          </a:prstGeom>
          <a:noFill/>
          <a:ln/>
        </p:spPr>
        <p:txBody>
          <a:bodyPr wrap="square" lIns="0" tIns="0" rIns="0" bIns="0" rtlCol="0" anchor="ctr"/>
          <a:lstStyle/>
          <a:p>
            <a:pPr indent="0" marL="0">
              <a:buNone/>
            </a:pPr>
            <a:r>
              <a:rPr lang="en-US" sz="850" dirty="0">
                <a:solidFill>
                  <a:srgbClr val="7C90A6"/>
                </a:solidFill>
                <a:latin typeface="Courier New" pitchFamily="34" charset="0"/>
                <a:ea typeface="Courier New" pitchFamily="34" charset="-122"/>
                <a:cs typeface="Courier New" pitchFamily="34" charset="-120"/>
              </a:rPr>
              <a:t>GetIncidents/run.ps1</a:t>
            </a:r>
            <a:endParaRPr lang="en-US" sz="850" dirty="0"/>
          </a:p>
        </p:txBody>
      </p:sp>
      <p:sp>
        <p:nvSpPr>
          <p:cNvPr id="34" name="Text 31"/>
          <p:cNvSpPr txBox="1"/>
          <p:nvPr/>
        </p:nvSpPr>
        <p:spPr>
          <a:xfrm>
            <a:off x="2743200" y="5888736"/>
            <a:ext cx="8671255" cy="475488"/>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six ?view= shapes</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raw · summary · sources · tree · incidents · symptoms</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Format-Count · Format-Age · Write-Json · Get-TableRow</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local helpers - that last one is a filter query, not the module’s point read</a:t>
            </a:r>
            <a:endParaRPr lang="en-US" sz="1000" dirty="0"/>
          </a:p>
        </p:txBody>
      </p:sp>
      <p:sp>
        <p:nvSpPr>
          <p:cNvPr id="35" name="Text 32"/>
          <p:cNvSpPr txBox="1"/>
          <p:nvPr/>
        </p:nvSpPr>
        <p:spPr>
          <a:xfrm>
            <a:off x="594360" y="6537960"/>
            <a:ext cx="11002975" cy="274320"/>
          </a:xfrm>
          <a:prstGeom prst="rect">
            <a:avLst/>
          </a:prstGeom>
          <a:noFill/>
          <a:ln/>
        </p:spPr>
        <p:txBody>
          <a:bodyPr wrap="square" lIns="0" tIns="0" rIns="0" bIns="0" rtlCol="0" anchor="ctr"/>
          <a:lstStyle/>
          <a:p>
            <a:pPr algn="ctr" indent="0" marL="0">
              <a:buNone/>
            </a:pPr>
            <a:r>
              <a:rPr lang="en-US" sz="1200" i="1" dirty="0">
                <a:solidFill>
                  <a:srgbClr val="7C90A6"/>
                </a:solidFill>
                <a:latin typeface="Calibri" pitchFamily="34" charset="0"/>
                <a:ea typeface="Calibri" pitchFamily="34" charset="-122"/>
                <a:cs typeface="Calibri" pitchFamily="34" charset="-120"/>
              </a:rPr>
              <a:t>35 functions. Three of them decide what belongs together. One of them talks to a model.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INGESTEVENTS / RUN.PS1  ·  34 LINES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The whole trigger</a:t>
            </a:r>
            <a:endParaRPr lang="en-US" sz="3600" dirty="0"/>
          </a:p>
        </p:txBody>
      </p:sp>
      <p:sp>
        <p:nvSpPr>
          <p:cNvPr id="5" name="Shape 2"/>
          <p:cNvSpPr/>
          <p:nvPr/>
        </p:nvSpPr>
        <p:spPr>
          <a:xfrm>
            <a:off x="594360" y="1783080"/>
            <a:ext cx="11002975" cy="3730752"/>
          </a:xfrm>
          <a:prstGeom prst="roundRect">
            <a:avLst>
              <a:gd name="adj" fmla="val 1471"/>
            </a:avLst>
          </a:prstGeom>
          <a:solidFill>
            <a:srgbClr val="19242F"/>
          </a:solidFill>
          <a:ln/>
        </p:spPr>
      </p:sp>
      <p:sp>
        <p:nvSpPr>
          <p:cNvPr id="6" name="Text 3"/>
          <p:cNvSpPr txBox="1"/>
          <p:nvPr/>
        </p:nvSpPr>
        <p:spPr>
          <a:xfrm>
            <a:off x="914400" y="2011680"/>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foreach ($message in @($eventHubMessages)) {</a:t>
            </a:r>
            <a:endParaRPr lang="en-US" sz="1500" dirty="0"/>
          </a:p>
        </p:txBody>
      </p:sp>
      <p:sp>
        <p:nvSpPr>
          <p:cNvPr id="7" name="Text 4"/>
          <p:cNvSpPr txBox="1"/>
          <p:nvPr/>
        </p:nvSpPr>
        <p:spPr>
          <a:xfrm>
            <a:off x="914400" y="2343607"/>
            <a:ext cx="10362895" cy="331927"/>
          </a:xfrm>
          <a:prstGeom prst="rect">
            <a:avLst/>
          </a:prstGeom>
          <a:noFill/>
          <a:ln/>
        </p:spPr>
        <p:txBody>
          <a:bodyPr wrap="square" lIns="0" tIns="0" rIns="0" bIns="0" rtlCol="0" anchor="ctr"/>
          <a:lstStyle/>
          <a:p>
            <a:pPr indent="0" marL="0">
              <a:buNone/>
            </a:pPr>
            <a:r>
              <a:rPr lang="en-US" sz="1500" dirty="0">
                <a:solidFill>
                  <a:srgbClr val="8FA3B8"/>
                </a:solidFill>
                <a:latin typeface="Courier New" pitchFamily="34" charset="0"/>
                <a:ea typeface="Courier New" pitchFamily="34" charset="-122"/>
                <a:cs typeface="Courier New" pitchFamily="34" charset="-120"/>
              </a:rPr>
              <a:t>    $payload = $message | ConvertFrom-Json -Depth 50</a:t>
            </a:r>
            <a:endParaRPr lang="en-US" sz="1500" dirty="0"/>
          </a:p>
        </p:txBody>
      </p:sp>
      <p:sp>
        <p:nvSpPr>
          <p:cNvPr id="8" name="Text 5"/>
          <p:cNvSpPr txBox="1"/>
          <p:nvPr/>
        </p:nvSpPr>
        <p:spPr>
          <a:xfrm>
            <a:off x="914400" y="2675534"/>
            <a:ext cx="10362895" cy="331927"/>
          </a:xfrm>
          <a:prstGeom prst="rect">
            <a:avLst/>
          </a:prstGeom>
          <a:noFill/>
          <a:ln/>
        </p:spPr>
        <p:txBody>
          <a:bodyPr wrap="square" lIns="0" tIns="0" rIns="0" bIns="0" rtlCol="0" anchor="ctr"/>
          <a:lstStyle/>
          <a:p>
            <a:pPr indent="0" marL="0">
              <a:buNone/>
            </a:pPr>
            <a:endParaRPr lang="en-US" sz="1500" dirty="0"/>
          </a:p>
        </p:txBody>
      </p:sp>
      <p:sp>
        <p:nvSpPr>
          <p:cNvPr id="9" name="Text 6"/>
          <p:cNvSpPr txBox="1"/>
          <p:nvPr/>
        </p:nvSpPr>
        <p:spPr>
          <a:xfrm>
            <a:off x="914400" y="3007462"/>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    foreach ($event in ConvertTo-PipelineEvent -Payload $payload) {</a:t>
            </a:r>
            <a:endParaRPr lang="en-US" sz="1500" dirty="0"/>
          </a:p>
        </p:txBody>
      </p:sp>
      <p:sp>
        <p:nvSpPr>
          <p:cNvPr id="10" name="Text 7"/>
          <p:cNvSpPr txBox="1"/>
          <p:nvPr/>
        </p:nvSpPr>
        <p:spPr>
          <a:xfrm>
            <a:off x="914400" y="3339389"/>
            <a:ext cx="10362895" cy="331927"/>
          </a:xfrm>
          <a:prstGeom prst="rect">
            <a:avLst/>
          </a:prstGeom>
          <a:noFill/>
          <a:ln/>
        </p:spPr>
        <p:txBody>
          <a:bodyPr wrap="square" lIns="0" tIns="0" rIns="0" bIns="0" rtlCol="0" anchor="ctr"/>
          <a:lstStyle/>
          <a:p>
            <a:pPr indent="0" marL="0">
              <a:buNone/>
            </a:pPr>
            <a:r>
              <a:rPr lang="en-US" sz="1500" dirty="0">
                <a:solidFill>
                  <a:srgbClr val="7C90A6"/>
                </a:solidFill>
                <a:latin typeface="Courier New" pitchFamily="34" charset="0"/>
                <a:ea typeface="Courier New" pitchFamily="34" charset="-122"/>
                <a:cs typeface="Courier New" pitchFamily="34" charset="-120"/>
              </a:rPr>
              <a:t>        if ($event.Success) { $dropped++; continue }  # a success is not news</a:t>
            </a:r>
            <a:endParaRPr lang="en-US" sz="1500" dirty="0"/>
          </a:p>
        </p:txBody>
      </p:sp>
      <p:sp>
        <p:nvSpPr>
          <p:cNvPr id="11" name="Text 8"/>
          <p:cNvSpPr txBox="1"/>
          <p:nvPr/>
        </p:nvSpPr>
        <p:spPr>
          <a:xfrm>
            <a:off x="914400" y="3671316"/>
            <a:ext cx="10362895" cy="331927"/>
          </a:xfrm>
          <a:prstGeom prst="rect">
            <a:avLst/>
          </a:prstGeom>
          <a:noFill/>
          <a:ln/>
        </p:spPr>
        <p:txBody>
          <a:bodyPr wrap="square" lIns="0" tIns="0" rIns="0" bIns="0" rtlCol="0" anchor="ctr"/>
          <a:lstStyle/>
          <a:p>
            <a:pPr indent="0" marL="0">
              <a:buNone/>
            </a:pPr>
            <a:endParaRPr lang="en-US" sz="1500" dirty="0"/>
          </a:p>
        </p:txBody>
      </p:sp>
      <p:sp>
        <p:nvSpPr>
          <p:cNvPr id="12" name="Text 9"/>
          <p:cNvSpPr txBox="1"/>
          <p:nvPr/>
        </p:nvSpPr>
        <p:spPr>
          <a:xfrm>
            <a:off x="914400" y="4003243"/>
            <a:ext cx="10362895" cy="331927"/>
          </a:xfrm>
          <a:prstGeom prst="rect">
            <a:avLst/>
          </a:prstGeom>
          <a:noFill/>
          <a:ln/>
        </p:spPr>
        <p:txBody>
          <a:bodyPr wrap="square" lIns="0" tIns="0" rIns="0" bIns="0" rtlCol="0" anchor="ctr"/>
          <a:lstStyle/>
          <a:p>
            <a:pPr indent="0" marL="0">
              <a:buNone/>
            </a:pPr>
            <a:r>
              <a:rPr lang="en-US" sz="1500" dirty="0">
                <a:solidFill>
                  <a:srgbClr val="46B98A"/>
                </a:solidFill>
                <a:latin typeface="Courier New" pitchFamily="34" charset="0"/>
                <a:ea typeface="Courier New" pitchFamily="34" charset="-122"/>
                <a:cs typeface="Courier New" pitchFamily="34" charset="-120"/>
              </a:rPr>
              <a:t>        Write-RawEvent      -Event $event   # keep the firehose</a:t>
            </a:r>
            <a:endParaRPr lang="en-US" sz="1500" dirty="0"/>
          </a:p>
        </p:txBody>
      </p:sp>
      <p:sp>
        <p:nvSpPr>
          <p:cNvPr id="13" name="Text 10"/>
          <p:cNvSpPr txBox="1"/>
          <p:nvPr/>
        </p:nvSpPr>
        <p:spPr>
          <a:xfrm>
            <a:off x="914400" y="4335170"/>
            <a:ext cx="10362895" cy="331927"/>
          </a:xfrm>
          <a:prstGeom prst="rect">
            <a:avLst/>
          </a:prstGeom>
          <a:noFill/>
          <a:ln/>
        </p:spPr>
        <p:txBody>
          <a:bodyPr wrap="square" lIns="0" tIns="0" rIns="0" bIns="0" rtlCol="0" anchor="ctr"/>
          <a:lstStyle/>
          <a:p>
            <a:pPr indent="0" marL="0">
              <a:buNone/>
            </a:pPr>
            <a:r>
              <a:rPr lang="en-US" sz="1500" dirty="0">
                <a:solidFill>
                  <a:srgbClr val="E8A33D"/>
                </a:solidFill>
                <a:latin typeface="Courier New" pitchFamily="34" charset="0"/>
                <a:ea typeface="Courier New" pitchFamily="34" charset="-122"/>
                <a:cs typeface="Courier New" pitchFamily="34" charset="-120"/>
              </a:rPr>
              <a:t>        Add-EventToIncident -Event $event   # correlate it</a:t>
            </a:r>
            <a:endParaRPr lang="en-US" sz="1500" dirty="0"/>
          </a:p>
        </p:txBody>
      </p:sp>
      <p:sp>
        <p:nvSpPr>
          <p:cNvPr id="14" name="Text 11"/>
          <p:cNvSpPr txBox="1"/>
          <p:nvPr/>
        </p:nvSpPr>
        <p:spPr>
          <a:xfrm>
            <a:off x="914400" y="4667098"/>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    }</a:t>
            </a:r>
            <a:endParaRPr lang="en-US" sz="1500" dirty="0"/>
          </a:p>
        </p:txBody>
      </p:sp>
      <p:sp>
        <p:nvSpPr>
          <p:cNvPr id="15" name="Text 12"/>
          <p:cNvSpPr txBox="1"/>
          <p:nvPr/>
        </p:nvSpPr>
        <p:spPr>
          <a:xfrm>
            <a:off x="914400" y="4999025"/>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a:t>
            </a:r>
            <a:endParaRPr lang="en-US" sz="1500" dirty="0"/>
          </a:p>
        </p:txBody>
      </p:sp>
      <p:sp>
        <p:nvSpPr>
          <p:cNvPr id="16" name="Shape 13"/>
          <p:cNvSpPr/>
          <p:nvPr/>
        </p:nvSpPr>
        <p:spPr>
          <a:xfrm>
            <a:off x="594360" y="5833872"/>
            <a:ext cx="11002975" cy="868680"/>
          </a:xfrm>
          <a:prstGeom prst="roundRect">
            <a:avLst>
              <a:gd name="adj" fmla="val 6316"/>
            </a:avLst>
          </a:prstGeom>
          <a:solidFill>
            <a:srgbClr val="223140"/>
          </a:solidFill>
          <a:ln/>
        </p:spPr>
      </p:sp>
      <p:sp>
        <p:nvSpPr>
          <p:cNvPr id="17" name="Text 14"/>
          <p:cNvSpPr txBox="1"/>
          <p:nvPr/>
        </p:nvSpPr>
        <p:spPr>
          <a:xfrm>
            <a:off x="868680" y="6035040"/>
            <a:ext cx="10454335" cy="5029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Read the hub, normalise, throw away the successes, correlate. </a:t>
            </a:r>
            <a:pPr indent="0" marL="0">
              <a:buNone/>
            </a:pPr>
            <a:r>
              <a:rPr lang="en-US" sz="1700" dirty="0">
                <a:solidFill>
                  <a:srgbClr val="8FA3B8"/>
                </a:solidFill>
                <a:latin typeface="Calibri" pitchFamily="34" charset="0"/>
                <a:ea typeface="Calibri" pitchFamily="34" charset="-122"/>
                <a:cs typeface="Calibri" pitchFamily="34" charset="-120"/>
              </a:rPr>
              <a:t>Everything else in this session is one of those three verbs, opened up.</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5B9BD5"/>
                </a:solidFill>
                <a:latin typeface="Calibri" pitchFamily="34" charset="0"/>
                <a:ea typeface="Calibri" pitchFamily="34" charset="-122"/>
                <a:cs typeface="Calibri" pitchFamily="34" charset="-120"/>
              </a:rPr>
              <a:t>NORMALIZE.PSM1  ·  122 LINES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Three shapes, one object</a:t>
            </a:r>
            <a:endParaRPr lang="en-US" sz="3600" dirty="0"/>
          </a:p>
        </p:txBody>
      </p:sp>
      <p:sp>
        <p:nvSpPr>
          <p:cNvPr id="5" name="Shape 2"/>
          <p:cNvSpPr/>
          <p:nvPr/>
        </p:nvSpPr>
        <p:spPr>
          <a:xfrm>
            <a:off x="594360" y="1783080"/>
            <a:ext cx="6949440" cy="1849831"/>
          </a:xfrm>
          <a:prstGeom prst="roundRect">
            <a:avLst>
              <a:gd name="adj" fmla="val 2966"/>
            </a:avLst>
          </a:prstGeom>
          <a:solidFill>
            <a:srgbClr val="19242F"/>
          </a:solidFill>
          <a:ln/>
        </p:spPr>
      </p:sp>
      <p:sp>
        <p:nvSpPr>
          <p:cNvPr id="6" name="Text 3"/>
          <p:cNvSpPr txBox="1"/>
          <p:nvPr/>
        </p:nvSpPr>
        <p:spPr>
          <a:xfrm>
            <a:off x="914400" y="2011680"/>
            <a:ext cx="6309360"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function Get-PayloadShape {</a:t>
            </a:r>
            <a:endParaRPr lang="en-US" sz="1300" dirty="0"/>
          </a:p>
        </p:txBody>
      </p:sp>
      <p:sp>
        <p:nvSpPr>
          <p:cNvPr id="7" name="Text 4"/>
          <p:cNvSpPr txBox="1"/>
          <p:nvPr/>
        </p:nvSpPr>
        <p:spPr>
          <a:xfrm>
            <a:off x="914400" y="2299350"/>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($Payload.records)         { 'appinsights' }  # diagnostic setting</a:t>
            </a:r>
            <a:endParaRPr lang="en-US" sz="1300" dirty="0"/>
          </a:p>
        </p:txBody>
      </p:sp>
      <p:sp>
        <p:nvSpPr>
          <p:cNvPr id="8" name="Text 5"/>
          <p:cNvSpPr txBox="1"/>
          <p:nvPr/>
        </p:nvSpPr>
        <p:spPr>
          <a:xfrm>
            <a:off x="914400" y="2587020"/>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($Payload.data.essentials) { 'alert' }        # common alert schema</a:t>
            </a:r>
            <a:endParaRPr lang="en-US" sz="1300" dirty="0"/>
          </a:p>
        </p:txBody>
      </p:sp>
      <p:sp>
        <p:nvSpPr>
          <p:cNvPr id="9" name="Text 6"/>
          <p:cNvSpPr txBox="1"/>
          <p:nvPr/>
        </p:nvSpPr>
        <p:spPr>
          <a:xfrm>
            <a:off x="914400" y="2874691"/>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($Payload.tool)            { 'script' }       # our own senders</a:t>
            </a:r>
            <a:endParaRPr lang="en-US" sz="1300" dirty="0"/>
          </a:p>
        </p:txBody>
      </p:sp>
      <p:sp>
        <p:nvSpPr>
          <p:cNvPr id="10" name="Text 7"/>
          <p:cNvSpPr txBox="1"/>
          <p:nvPr/>
        </p:nvSpPr>
        <p:spPr>
          <a:xfrm>
            <a:off x="914400" y="3162361"/>
            <a:ext cx="6309360"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1" name="Shape 8"/>
          <p:cNvSpPr/>
          <p:nvPr/>
        </p:nvSpPr>
        <p:spPr>
          <a:xfrm>
            <a:off x="7863840" y="1783080"/>
            <a:ext cx="3749040" cy="1849831"/>
          </a:xfrm>
          <a:prstGeom prst="roundRect">
            <a:avLst>
              <a:gd name="adj" fmla="val 2966"/>
            </a:avLst>
          </a:prstGeom>
          <a:solidFill>
            <a:srgbClr val="223140"/>
          </a:solidFill>
          <a:ln/>
        </p:spPr>
      </p:sp>
      <p:sp>
        <p:nvSpPr>
          <p:cNvPr id="12" name="Text 9"/>
          <p:cNvSpPr txBox="1"/>
          <p:nvPr/>
        </p:nvSpPr>
        <p:spPr>
          <a:xfrm>
            <a:off x="8138160" y="1938528"/>
            <a:ext cx="3291840" cy="320040"/>
          </a:xfrm>
          <a:prstGeom prst="rect">
            <a:avLst/>
          </a:prstGeom>
          <a:noFill/>
          <a:ln/>
        </p:spPr>
        <p:txBody>
          <a:bodyPr wrap="square" lIns="0" tIns="0" rIns="0" bIns="0" rtlCol="0" anchor="ctr"/>
          <a:lstStyle/>
          <a:p>
            <a:pPr indent="0" marL="0">
              <a:buNone/>
            </a:pPr>
            <a:r>
              <a:rPr lang="en-US" sz="1600" b="1" dirty="0">
                <a:solidFill>
                  <a:srgbClr val="E9EFF6"/>
                </a:solidFill>
                <a:latin typeface="Calibri" pitchFamily="34" charset="0"/>
                <a:ea typeface="Calibri" pitchFamily="34" charset="-122"/>
                <a:cs typeface="Calibri" pitchFamily="34" charset="-120"/>
              </a:rPr>
              <a:t>Out the other side</a:t>
            </a:r>
            <a:endParaRPr lang="en-US" sz="1600" dirty="0"/>
          </a:p>
        </p:txBody>
      </p:sp>
      <p:sp>
        <p:nvSpPr>
          <p:cNvPr id="13" name="Text 10"/>
          <p:cNvSpPr txBox="1"/>
          <p:nvPr/>
        </p:nvSpPr>
        <p:spPr>
          <a:xfrm>
            <a:off x="8138160" y="2304288"/>
            <a:ext cx="3291840" cy="1005840"/>
          </a:xfrm>
          <a:prstGeom prst="rect">
            <a:avLst/>
          </a:prstGeom>
          <a:noFill/>
          <a:ln/>
        </p:spPr>
        <p:txBody>
          <a:bodyPr wrap="square" lIns="0" tIns="0" rIns="0" bIns="0" rtlCol="0" anchor="ctr"/>
          <a:lstStyle/>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Source  Kind     Time</a:t>
            </a:r>
            <a:endParaRPr lang="en-US" sz="1100" dirty="0"/>
          </a:p>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Severity Title   Message</a:t>
            </a:r>
            <a:endParaRPr lang="en-US" sz="1100" dirty="0"/>
          </a:p>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TraceId Host     Resource</a:t>
            </a:r>
            <a:endParaRPr lang="en-US" sz="1100" dirty="0"/>
          </a:p>
        </p:txBody>
      </p:sp>
      <p:sp>
        <p:nvSpPr>
          <p:cNvPr id="14" name="Shape 11"/>
          <p:cNvSpPr/>
          <p:nvPr/>
        </p:nvSpPr>
        <p:spPr>
          <a:xfrm>
            <a:off x="594360" y="3998671"/>
            <a:ext cx="11002975" cy="1143000"/>
          </a:xfrm>
          <a:prstGeom prst="roundRect">
            <a:avLst>
              <a:gd name="adj" fmla="val 4800"/>
            </a:avLst>
          </a:prstGeom>
          <a:solidFill>
            <a:srgbClr val="223140"/>
          </a:solidFill>
          <a:ln/>
        </p:spPr>
      </p:sp>
      <p:sp>
        <p:nvSpPr>
          <p:cNvPr id="15" name="Text 12"/>
          <p:cNvSpPr txBox="1"/>
          <p:nvPr/>
        </p:nvSpPr>
        <p:spPr>
          <a:xfrm>
            <a:off x="868680" y="4199839"/>
            <a:ext cx="10454335" cy="7772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Every source disagrees about field names. </a:t>
            </a:r>
            <a:pPr indent="0" marL="0">
              <a:buNone/>
            </a:pPr>
            <a:r>
              <a:rPr lang="en-US" sz="1500" dirty="0">
                <a:solidFill>
                  <a:srgbClr val="8FA3B8"/>
                </a:solidFill>
                <a:latin typeface="Calibri" pitchFamily="34" charset="0"/>
                <a:ea typeface="Calibri" pitchFamily="34" charset="-122"/>
                <a:cs typeface="Calibri" pitchFamily="34" charset="-120"/>
              </a:rPr>
              <a:t>OperationId or operation_Id. TimeGenerated or time or timestamp. Nothing downstream can be written until one object comes out of here - and this is the part everyone underestimates when they plan a pipeline like this.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IS THIS THE SAME SYMPTOM?</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Deduplication is three lines</a:t>
            </a:r>
            <a:endParaRPr lang="en-US" sz="3600" dirty="0"/>
          </a:p>
        </p:txBody>
      </p:sp>
      <p:sp>
        <p:nvSpPr>
          <p:cNvPr id="5" name="Shape 2"/>
          <p:cNvSpPr/>
          <p:nvPr/>
        </p:nvSpPr>
        <p:spPr>
          <a:xfrm>
            <a:off x="594360" y="1783080"/>
            <a:ext cx="11002975" cy="1340876"/>
          </a:xfrm>
          <a:prstGeom prst="roundRect">
            <a:avLst>
              <a:gd name="adj" fmla="val 4092"/>
            </a:avLst>
          </a:prstGeom>
          <a:solidFill>
            <a:srgbClr val="19242F"/>
          </a:solidFill>
          <a:ln/>
        </p:spPr>
      </p:sp>
      <p:sp>
        <p:nvSpPr>
          <p:cNvPr id="6" name="Text 3"/>
          <p:cNvSpPr txBox="1"/>
          <p:nvPr/>
        </p:nvSpPr>
        <p:spPr>
          <a:xfrm>
            <a:off x="914400" y="2011680"/>
            <a:ext cx="10362895" cy="309799"/>
          </a:xfrm>
          <a:prstGeom prst="rect">
            <a:avLst/>
          </a:prstGeom>
          <a:noFill/>
          <a:ln/>
        </p:spPr>
        <p:txBody>
          <a:bodyPr wrap="square" lIns="0" tIns="0" rIns="0" bIns="0" rtlCol="0" anchor="ctr"/>
          <a:lstStyle/>
          <a:p>
            <a:pPr indent="0" marL="0">
              <a:buNone/>
            </a:pPr>
            <a:r>
              <a:rPr lang="en-US" sz="1400" dirty="0">
                <a:solidFill>
                  <a:srgbClr val="E8A33D"/>
                </a:solidFill>
                <a:latin typeface="Courier New" pitchFamily="34" charset="0"/>
                <a:ea typeface="Courier New" pitchFamily="34" charset="-122"/>
                <a:cs typeface="Courier New" pitchFamily="34" charset="-120"/>
              </a:rPr>
              <a:t>$title = $Event.Title -replace '\d+', 'N'          # 480 ms and 8 ms are the same symptom</a:t>
            </a:r>
            <a:endParaRPr lang="en-US" sz="1400" dirty="0"/>
          </a:p>
        </p:txBody>
      </p:sp>
      <p:sp>
        <p:nvSpPr>
          <p:cNvPr id="7" name="Text 4"/>
          <p:cNvSpPr txBox="1"/>
          <p:nvPr/>
        </p:nvSpPr>
        <p:spPr>
          <a:xfrm>
            <a:off x="914400" y="2321479"/>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$seed  = "$Source|$Kind|$title|$ResourceId|$Host".ToLowerInvariant()</a:t>
            </a:r>
            <a:endParaRPr lang="en-US" sz="1400" dirty="0"/>
          </a:p>
        </p:txBody>
      </p:sp>
      <p:sp>
        <p:nvSpPr>
          <p:cNvPr id="8" name="Text 5"/>
          <p:cNvSpPr txBox="1"/>
          <p:nvPr/>
        </p:nvSpPr>
        <p:spPr>
          <a:xfrm>
            <a:off x="914400" y="2631277"/>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$hash  = [Security.Cryptography.SHA256]::HashData([Text.Encoding]::UTF8.GetBytes($seed))</a:t>
            </a:r>
            <a:endParaRPr lang="en-US" sz="1400" dirty="0"/>
          </a:p>
        </p:txBody>
      </p:sp>
      <p:sp>
        <p:nvSpPr>
          <p:cNvPr id="9" name="Shape 6"/>
          <p:cNvSpPr/>
          <p:nvPr/>
        </p:nvSpPr>
        <p:spPr>
          <a:xfrm>
            <a:off x="594360" y="3398276"/>
            <a:ext cx="5257800" cy="1783080"/>
          </a:xfrm>
          <a:prstGeom prst="roundRect">
            <a:avLst>
              <a:gd name="adj" fmla="val 3077"/>
            </a:avLst>
          </a:prstGeom>
          <a:solidFill>
            <a:srgbClr val="19242F"/>
          </a:solidFill>
          <a:ln/>
        </p:spPr>
      </p:sp>
      <p:sp>
        <p:nvSpPr>
          <p:cNvPr id="10" name="Text 7"/>
          <p:cNvSpPr txBox="1"/>
          <p:nvPr/>
        </p:nvSpPr>
        <p:spPr>
          <a:xfrm>
            <a:off x="914400" y="3535436"/>
            <a:ext cx="4617720" cy="292608"/>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What goes in</a:t>
            </a:r>
            <a:endParaRPr lang="en-US" sz="1500" dirty="0"/>
          </a:p>
        </p:txBody>
      </p:sp>
      <p:sp>
        <p:nvSpPr>
          <p:cNvPr id="11" name="Text 8"/>
          <p:cNvSpPr txBox="1"/>
          <p:nvPr/>
        </p:nvSpPr>
        <p:spPr>
          <a:xfrm>
            <a:off x="914400" y="3855476"/>
            <a:ext cx="4617720" cy="1280160"/>
          </a:xfrm>
          <a:prstGeom prst="rect">
            <a:avLst/>
          </a:prstGeom>
          <a:noFill/>
          <a:ln/>
        </p:spPr>
        <p:txBody>
          <a:bodyPr wrap="square" lIns="0" tIns="0" rIns="0" bIns="0" rtlCol="0" anchor="ctr"/>
          <a:lstStyle/>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410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455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480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512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498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466 ms, sustained</a:t>
            </a:r>
            <a:endParaRPr lang="en-US" sz="1100" dirty="0"/>
          </a:p>
        </p:txBody>
      </p:sp>
      <p:sp>
        <p:nvSpPr>
          <p:cNvPr id="12" name="Text 9"/>
          <p:cNvSpPr txBox="1"/>
          <p:nvPr/>
        </p:nvSpPr>
        <p:spPr>
          <a:xfrm>
            <a:off x="5897880" y="4038356"/>
            <a:ext cx="45720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&gt;</a:t>
            </a:r>
            <a:endParaRPr lang="en-US" sz="2600" dirty="0"/>
          </a:p>
        </p:txBody>
      </p:sp>
      <p:sp>
        <p:nvSpPr>
          <p:cNvPr id="13" name="Shape 10"/>
          <p:cNvSpPr/>
          <p:nvPr/>
        </p:nvSpPr>
        <p:spPr>
          <a:xfrm>
            <a:off x="6355080" y="3398276"/>
            <a:ext cx="5257800" cy="1783080"/>
          </a:xfrm>
          <a:prstGeom prst="roundRect">
            <a:avLst>
              <a:gd name="adj" fmla="val 3077"/>
            </a:avLst>
          </a:prstGeom>
          <a:solidFill>
            <a:srgbClr val="223140"/>
          </a:solidFill>
          <a:ln/>
        </p:spPr>
      </p:sp>
      <p:sp>
        <p:nvSpPr>
          <p:cNvPr id="14" name="Text 11"/>
          <p:cNvSpPr txBox="1"/>
          <p:nvPr/>
        </p:nvSpPr>
        <p:spPr>
          <a:xfrm>
            <a:off x="6675120" y="3535436"/>
            <a:ext cx="4617720" cy="292608"/>
          </a:xfrm>
          <a:prstGeom prst="rect">
            <a:avLst/>
          </a:prstGeom>
          <a:noFill/>
          <a:ln/>
        </p:spPr>
        <p:txBody>
          <a:bodyPr wrap="square" lIns="0" tIns="0" rIns="0" bIns="0" rtlCol="0" anchor="ctr"/>
          <a:lstStyle/>
          <a:p>
            <a:pPr indent="0" marL="0">
              <a:buNone/>
            </a:pPr>
            <a:r>
              <a:rPr lang="en-US" sz="1500" b="1" dirty="0">
                <a:solidFill>
                  <a:srgbClr val="46B98A"/>
                </a:solidFill>
                <a:latin typeface="Calibri" pitchFamily="34" charset="0"/>
                <a:ea typeface="Calibri" pitchFamily="34" charset="-122"/>
                <a:cs typeface="Calibri" pitchFamily="34" charset="-120"/>
              </a:rPr>
              <a:t>What comes out</a:t>
            </a:r>
            <a:endParaRPr lang="en-US" sz="1500" dirty="0"/>
          </a:p>
        </p:txBody>
      </p:sp>
      <p:sp>
        <p:nvSpPr>
          <p:cNvPr id="15" name="Text 12"/>
          <p:cNvSpPr txBox="1"/>
          <p:nvPr/>
        </p:nvSpPr>
        <p:spPr>
          <a:xfrm>
            <a:off x="6675120" y="3965204"/>
            <a:ext cx="4617720" cy="32004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Disk read latency N ms, sustained</a:t>
            </a:r>
            <a:endParaRPr lang="en-US" sz="1300" dirty="0"/>
          </a:p>
        </p:txBody>
      </p:sp>
      <p:sp>
        <p:nvSpPr>
          <p:cNvPr id="16" name="Text 13"/>
          <p:cNvSpPr txBox="1"/>
          <p:nvPr/>
        </p:nvSpPr>
        <p:spPr>
          <a:xfrm>
            <a:off x="6675120" y="4422404"/>
            <a:ext cx="4617720" cy="32004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one row  ·  seen 6 times</a:t>
            </a:r>
            <a:endParaRPr lang="en-US" sz="1600" dirty="0"/>
          </a:p>
        </p:txBody>
      </p:sp>
      <p:sp>
        <p:nvSpPr>
          <p:cNvPr id="17" name="Shape 14"/>
          <p:cNvSpPr/>
          <p:nvPr/>
        </p:nvSpPr>
        <p:spPr>
          <a:xfrm>
            <a:off x="594360" y="5382524"/>
            <a:ext cx="11002975" cy="914400"/>
          </a:xfrm>
          <a:prstGeom prst="roundRect">
            <a:avLst>
              <a:gd name="adj" fmla="val 6000"/>
            </a:avLst>
          </a:prstGeom>
          <a:solidFill>
            <a:srgbClr val="223140"/>
          </a:solidFill>
          <a:ln/>
        </p:spPr>
      </p:sp>
      <p:sp>
        <p:nvSpPr>
          <p:cNvPr id="18" name="Text 15"/>
          <p:cNvSpPr txBox="1"/>
          <p:nvPr/>
        </p:nvSpPr>
        <p:spPr>
          <a:xfrm>
            <a:off x="868680" y="5583692"/>
            <a:ext cx="10454335"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Every run of digits collapses.  </a:t>
            </a:r>
            <a:pPr indent="0" marL="0">
              <a:buNone/>
            </a:pPr>
            <a:r>
              <a:rPr lang="en-US" sz="1400" dirty="0">
                <a:solidFill>
                  <a:srgbClr val="8FA3B8"/>
                </a:solidFill>
                <a:latin typeface="Calibri" pitchFamily="34" charset="0"/>
                <a:ea typeface="Calibri" pitchFamily="34" charset="-122"/>
                <a:cs typeface="Calibri" pitchFamily="34" charset="-120"/>
              </a:rPr>
              <a:t>Durations, counts, percentages and addresses are values, not identities - 300 identical checkout failures become one row with a count, not 300 rows.  </a:t>
            </a:r>
            <a:pPr indent="0" marL="0">
              <a:buNone/>
            </a:pPr>
            <a:r>
              <a:rPr lang="en-US" sz="1400" b="1" dirty="0">
                <a:solidFill>
                  <a:srgbClr val="E8A33D"/>
                </a:solidFill>
                <a:latin typeface="Calibri" pitchFamily="34" charset="0"/>
                <a:ea typeface="Calibri" pitchFamily="34" charset="-122"/>
                <a:cs typeface="Calibri" pitchFamily="34" charset="-120"/>
              </a:rPr>
              <a:t>The honest cost: </a:t>
            </a:r>
            <a:pPr indent="0" marL="0">
              <a:buNone/>
            </a:pPr>
            <a:r>
              <a:rPr lang="en-US" sz="1400" dirty="0">
                <a:solidFill>
                  <a:srgbClr val="8FA3B8"/>
                </a:solidFill>
                <a:latin typeface="Calibri" pitchFamily="34" charset="0"/>
                <a:ea typeface="Calibri" pitchFamily="34" charset="-122"/>
                <a:cs typeface="Calibri" pitchFamily="34" charset="-120"/>
              </a:rPr>
              <a:t>"Port 22 closed" and "Port 443 closed" collapse together too.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Same machine, same incident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A · NO CODE</a:t>
            </a:r>
            <a:endParaRPr lang="en-US" sz="900" dirty="0"/>
          </a:p>
        </p:txBody>
      </p:sp>
      <p:sp>
        <p:nvSpPr>
          <p:cNvPr id="7" name="Text 4"/>
          <p:cNvSpPr txBox="1"/>
          <p:nvPr/>
        </p:nvSpPr>
        <p:spPr>
          <a:xfrm>
            <a:off x="594360" y="1481328"/>
            <a:ext cx="11002975" cy="365760"/>
          </a:xfrm>
          <a:prstGeom prst="rect">
            <a:avLst/>
          </a:prstGeom>
          <a:noFill/>
          <a:ln/>
        </p:spPr>
        <p:txBody>
          <a:bodyPr wrap="square" lIns="0" tIns="0" rIns="0" bIns="0" rtlCol="0" anchor="ctr"/>
          <a:lstStyle/>
          <a:p>
            <a:pPr indent="0" marL="0">
              <a:buNone/>
            </a:pPr>
            <a:r>
              <a:rPr lang="en-US" sz="1700" dirty="0">
                <a:solidFill>
                  <a:srgbClr val="8FA3B8"/>
                </a:solidFill>
                <a:latin typeface="Calibri" pitchFamily="34" charset="0"/>
                <a:ea typeface="Calibri" pitchFamily="34" charset="-122"/>
                <a:cs typeface="Calibri" pitchFamily="34" charset="-120"/>
              </a:rPr>
              <a:t>Four alerts from two different tools. Every one of them names the machine it is about.</a:t>
            </a:r>
            <a:endParaRPr lang="en-US" sz="1700" dirty="0"/>
          </a:p>
        </p:txBody>
      </p:sp>
      <p:sp>
        <p:nvSpPr>
          <p:cNvPr id="8" name="Shape 5"/>
          <p:cNvSpPr/>
          <p:nvPr/>
        </p:nvSpPr>
        <p:spPr>
          <a:xfrm>
            <a:off x="594360" y="2103120"/>
            <a:ext cx="7406640" cy="2907792"/>
          </a:xfrm>
          <a:prstGeom prst="roundRect">
            <a:avLst>
              <a:gd name="adj" fmla="val 1887"/>
            </a:avLst>
          </a:prstGeom>
          <a:solidFill>
            <a:srgbClr val="19242F"/>
          </a:solidFill>
          <a:ln/>
        </p:spPr>
      </p:sp>
      <p:sp>
        <p:nvSpPr>
          <p:cNvPr id="9" name="Text 6"/>
          <p:cNvSpPr txBox="1"/>
          <p:nvPr/>
        </p:nvSpPr>
        <p:spPr>
          <a:xfrm>
            <a:off x="868680" y="2286000"/>
            <a:ext cx="146304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TOOL</a:t>
            </a:r>
            <a:endParaRPr lang="en-US" sz="1000" dirty="0"/>
          </a:p>
        </p:txBody>
      </p:sp>
      <p:sp>
        <p:nvSpPr>
          <p:cNvPr id="10" name="Text 7"/>
          <p:cNvSpPr txBox="1"/>
          <p:nvPr/>
        </p:nvSpPr>
        <p:spPr>
          <a:xfrm>
            <a:off x="2331720" y="2286000"/>
            <a:ext cx="146304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ALERT</a:t>
            </a:r>
            <a:endParaRPr lang="en-US" sz="1000" dirty="0"/>
          </a:p>
        </p:txBody>
      </p:sp>
      <p:sp>
        <p:nvSpPr>
          <p:cNvPr id="11" name="Text 8"/>
          <p:cNvSpPr txBox="1"/>
          <p:nvPr/>
        </p:nvSpPr>
        <p:spPr>
          <a:xfrm>
            <a:off x="6400800" y="2286000"/>
            <a:ext cx="146304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MACHINE</a:t>
            </a:r>
            <a:endParaRPr lang="en-US" sz="1000" dirty="0"/>
          </a:p>
        </p:txBody>
      </p:sp>
      <p:sp>
        <p:nvSpPr>
          <p:cNvPr id="12" name="Text 9"/>
          <p:cNvSpPr txBox="1"/>
          <p:nvPr/>
        </p:nvSpPr>
        <p:spPr>
          <a:xfrm>
            <a:off x="868680" y="2606040"/>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storage-watch</a:t>
            </a:r>
            <a:endParaRPr lang="en-US" sz="1200" dirty="0"/>
          </a:p>
        </p:txBody>
      </p:sp>
      <p:sp>
        <p:nvSpPr>
          <p:cNvPr id="13" name="Text 10"/>
          <p:cNvSpPr txBox="1"/>
          <p:nvPr/>
        </p:nvSpPr>
        <p:spPr>
          <a:xfrm>
            <a:off x="2331720" y="2606040"/>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Disk read latency 480 ms, sustained</a:t>
            </a:r>
            <a:endParaRPr lang="en-US" sz="1200" dirty="0"/>
          </a:p>
        </p:txBody>
      </p:sp>
      <p:sp>
        <p:nvSpPr>
          <p:cNvPr id="14" name="Text 11"/>
          <p:cNvSpPr txBox="1"/>
          <p:nvPr/>
        </p:nvSpPr>
        <p:spPr>
          <a:xfrm>
            <a:off x="6400800" y="2606040"/>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15" name="Text 12"/>
          <p:cNvSpPr txBox="1"/>
          <p:nvPr/>
        </p:nvSpPr>
        <p:spPr>
          <a:xfrm>
            <a:off x="868680" y="3172968"/>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storage-watch</a:t>
            </a:r>
            <a:endParaRPr lang="en-US" sz="1200" dirty="0"/>
          </a:p>
        </p:txBody>
      </p:sp>
      <p:sp>
        <p:nvSpPr>
          <p:cNvPr id="16" name="Text 13"/>
          <p:cNvSpPr txBox="1"/>
          <p:nvPr/>
        </p:nvSpPr>
        <p:spPr>
          <a:xfrm>
            <a:off x="2331720" y="3172968"/>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Write queue depth 56, above threshold 8</a:t>
            </a:r>
            <a:endParaRPr lang="en-US" sz="1200" dirty="0"/>
          </a:p>
        </p:txBody>
      </p:sp>
      <p:sp>
        <p:nvSpPr>
          <p:cNvPr id="17" name="Text 14"/>
          <p:cNvSpPr txBox="1"/>
          <p:nvPr/>
        </p:nvSpPr>
        <p:spPr>
          <a:xfrm>
            <a:off x="6400800" y="3172968"/>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18" name="Text 15"/>
          <p:cNvSpPr txBox="1"/>
          <p:nvPr/>
        </p:nvSpPr>
        <p:spPr>
          <a:xfrm>
            <a:off x="868680" y="3739896"/>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sql-watch</a:t>
            </a:r>
            <a:endParaRPr lang="en-US" sz="1200" dirty="0"/>
          </a:p>
        </p:txBody>
      </p:sp>
      <p:sp>
        <p:nvSpPr>
          <p:cNvPr id="19" name="Text 16"/>
          <p:cNvSpPr txBox="1"/>
          <p:nvPr/>
        </p:nvSpPr>
        <p:spPr>
          <a:xfrm>
            <a:off x="2331720" y="3739896"/>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Lock wait time 3100 ms on OrderLines</a:t>
            </a:r>
            <a:endParaRPr lang="en-US" sz="1200" dirty="0"/>
          </a:p>
        </p:txBody>
      </p:sp>
      <p:sp>
        <p:nvSpPr>
          <p:cNvPr id="20" name="Text 17"/>
          <p:cNvSpPr txBox="1"/>
          <p:nvPr/>
        </p:nvSpPr>
        <p:spPr>
          <a:xfrm>
            <a:off x="6400800" y="3739896"/>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21" name="Text 18"/>
          <p:cNvSpPr txBox="1"/>
          <p:nvPr/>
        </p:nvSpPr>
        <p:spPr>
          <a:xfrm>
            <a:off x="868680" y="4306824"/>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sql-watch</a:t>
            </a:r>
            <a:endParaRPr lang="en-US" sz="1200" dirty="0"/>
          </a:p>
        </p:txBody>
      </p:sp>
      <p:sp>
        <p:nvSpPr>
          <p:cNvPr id="22" name="Text 19"/>
          <p:cNvSpPr txBox="1"/>
          <p:nvPr/>
        </p:nvSpPr>
        <p:spPr>
          <a:xfrm>
            <a:off x="2331720" y="4306824"/>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Connection pool exhausted, 100 of 100</a:t>
            </a:r>
            <a:endParaRPr lang="en-US" sz="1200" dirty="0"/>
          </a:p>
        </p:txBody>
      </p:sp>
      <p:sp>
        <p:nvSpPr>
          <p:cNvPr id="23" name="Text 20"/>
          <p:cNvSpPr txBox="1"/>
          <p:nvPr/>
        </p:nvSpPr>
        <p:spPr>
          <a:xfrm>
            <a:off x="6400800" y="4306824"/>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24" name="Shape 21"/>
          <p:cNvSpPr/>
          <p:nvPr/>
        </p:nvSpPr>
        <p:spPr>
          <a:xfrm>
            <a:off x="8110728" y="3541014"/>
            <a:ext cx="338328" cy="32004"/>
          </a:xfrm>
          <a:prstGeom prst="rect">
            <a:avLst/>
          </a:prstGeom>
          <a:solidFill>
            <a:srgbClr val="E8A33D"/>
          </a:solidFill>
          <a:ln/>
        </p:spPr>
      </p:sp>
      <p:sp>
        <p:nvSpPr>
          <p:cNvPr id="25" name="Shape 22"/>
          <p:cNvSpPr/>
          <p:nvPr/>
        </p:nvSpPr>
        <p:spPr>
          <a:xfrm rot="5400000">
            <a:off x="8449056" y="3488436"/>
            <a:ext cx="118872" cy="137160"/>
          </a:xfrm>
          <a:prstGeom prst="triangle">
            <a:avLst/>
          </a:prstGeom>
          <a:solidFill>
            <a:srgbClr val="E8A33D"/>
          </a:solidFill>
          <a:ln/>
        </p:spPr>
      </p:sp>
      <p:sp>
        <p:nvSpPr>
          <p:cNvPr id="26" name="Shape 23"/>
          <p:cNvSpPr/>
          <p:nvPr/>
        </p:nvSpPr>
        <p:spPr>
          <a:xfrm>
            <a:off x="8686800" y="2103120"/>
            <a:ext cx="2910535" cy="2907792"/>
          </a:xfrm>
          <a:prstGeom prst="roundRect">
            <a:avLst>
              <a:gd name="adj" fmla="val 1887"/>
            </a:avLst>
          </a:prstGeom>
          <a:solidFill>
            <a:srgbClr val="223140"/>
          </a:solidFill>
          <a:ln/>
        </p:spPr>
      </p:sp>
      <p:sp>
        <p:nvSpPr>
          <p:cNvPr id="27" name="Text 24"/>
          <p:cNvSpPr txBox="1"/>
          <p:nvPr/>
        </p:nvSpPr>
        <p:spPr>
          <a:xfrm>
            <a:off x="8961120" y="2286000"/>
            <a:ext cx="2361895"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ONE INCIDENT</a:t>
            </a:r>
            <a:endParaRPr lang="en-US" sz="1000" dirty="0"/>
          </a:p>
        </p:txBody>
      </p:sp>
      <p:sp>
        <p:nvSpPr>
          <p:cNvPr id="28" name="Text 25"/>
          <p:cNvSpPr txBox="1"/>
          <p:nvPr/>
        </p:nvSpPr>
        <p:spPr>
          <a:xfrm>
            <a:off x="8961120" y="2788920"/>
            <a:ext cx="2361895" cy="457200"/>
          </a:xfrm>
          <a:prstGeom prst="rect">
            <a:avLst/>
          </a:prstGeom>
          <a:noFill/>
          <a:ln/>
        </p:spPr>
        <p:txBody>
          <a:bodyPr wrap="square" lIns="0" tIns="0" rIns="0" bIns="0" rtlCol="0" anchor="ctr"/>
          <a:lstStyle/>
          <a:p>
            <a:pPr indent="0" marL="0">
              <a:buNone/>
            </a:pPr>
            <a:r>
              <a:rPr lang="en-US" sz="2200" b="1" dirty="0">
                <a:solidFill>
                  <a:srgbClr val="E8A33D"/>
                </a:solidFill>
                <a:latin typeface="Courier New" pitchFamily="34" charset="0"/>
                <a:ea typeface="Courier New" pitchFamily="34" charset="-122"/>
                <a:cs typeface="Courier New" pitchFamily="34" charset="-120"/>
              </a:rPr>
              <a:t>sql-prod-03</a:t>
            </a:r>
            <a:endParaRPr lang="en-US" sz="2200" dirty="0"/>
          </a:p>
        </p:txBody>
      </p:sp>
      <p:sp>
        <p:nvSpPr>
          <p:cNvPr id="29" name="Text 26"/>
          <p:cNvSpPr txBox="1"/>
          <p:nvPr/>
        </p:nvSpPr>
        <p:spPr>
          <a:xfrm>
            <a:off x="8961120" y="3383280"/>
            <a:ext cx="2361895" cy="320040"/>
          </a:xfrm>
          <a:prstGeom prst="rect">
            <a:avLst/>
          </a:prstGeom>
          <a:noFill/>
          <a:ln/>
        </p:spPr>
        <p:txBody>
          <a:bodyPr wrap="square" lIns="0" tIns="0" rIns="0" bIns="0" rtlCol="0" anchor="ctr"/>
          <a:lstStyle/>
          <a:p>
            <a:pPr indent="0" marL="0">
              <a:buNone/>
            </a:pPr>
            <a:r>
              <a:rPr lang="en-US" sz="1600" dirty="0">
                <a:solidFill>
                  <a:srgbClr val="E9EFF6"/>
                </a:solidFill>
                <a:latin typeface="Calibri" pitchFamily="34" charset="0"/>
                <a:ea typeface="Calibri" pitchFamily="34" charset="-122"/>
                <a:cs typeface="Calibri" pitchFamily="34" charset="-120"/>
              </a:rPr>
              <a:t>4 symptoms  ·  2 tools</a:t>
            </a:r>
            <a:endParaRPr lang="en-US" sz="1600" dirty="0"/>
          </a:p>
        </p:txBody>
      </p:sp>
      <p:sp>
        <p:nvSpPr>
          <p:cNvPr id="30" name="Text 27"/>
          <p:cNvSpPr txBox="1"/>
          <p:nvPr/>
        </p:nvSpPr>
        <p:spPr>
          <a:xfrm>
            <a:off x="8961120" y="3794760"/>
            <a:ext cx="2361895" cy="320040"/>
          </a:xfrm>
          <a:prstGeom prst="rect">
            <a:avLst/>
          </a:prstGeom>
          <a:noFill/>
          <a:ln/>
        </p:spPr>
        <p:txBody>
          <a:bodyPr wrap="square" lIns="0" tIns="0" rIns="0" bIns="0" rtlCol="0" anchor="ctr"/>
          <a:lstStyle/>
          <a:p>
            <a:pPr indent="0" marL="0">
              <a:buNone/>
            </a:pPr>
            <a:r>
              <a:rPr lang="en-US" sz="1400" i="1" dirty="0">
                <a:solidFill>
                  <a:srgbClr val="46B98A"/>
                </a:solidFill>
                <a:latin typeface="Calibri" pitchFamily="34" charset="0"/>
                <a:ea typeface="Calibri" pitchFamily="34" charset="-122"/>
                <a:cs typeface="Calibri" pitchFamily="34" charset="-120"/>
              </a:rPr>
              <a:t>grouped by the name alone</a:t>
            </a:r>
            <a:endParaRPr lang="en-US" sz="1400" dirty="0"/>
          </a:p>
        </p:txBody>
      </p:sp>
      <p:sp>
        <p:nvSpPr>
          <p:cNvPr id="31" name="Shape 28"/>
          <p:cNvSpPr/>
          <p:nvPr/>
        </p:nvSpPr>
        <p:spPr>
          <a:xfrm>
            <a:off x="594360" y="5330952"/>
            <a:ext cx="11002975" cy="914400"/>
          </a:xfrm>
          <a:prstGeom prst="roundRect">
            <a:avLst>
              <a:gd name="adj" fmla="val 6000"/>
            </a:avLst>
          </a:prstGeom>
          <a:solidFill>
            <a:srgbClr val="223140"/>
          </a:solidFill>
          <a:ln/>
        </p:spPr>
      </p:sp>
      <p:sp>
        <p:nvSpPr>
          <p:cNvPr id="32" name="Text 29"/>
          <p:cNvSpPr txBox="1"/>
          <p:nvPr/>
        </p:nvSpPr>
        <p:spPr>
          <a:xfrm>
            <a:off x="868680" y="5532120"/>
            <a:ext cx="10454335" cy="5486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Group by the machine name.  </a:t>
            </a:r>
            <a:pPr indent="0" marL="0">
              <a:buNone/>
            </a:pPr>
            <a:r>
              <a:rPr lang="en-US" sz="1700" dirty="0">
                <a:solidFill>
                  <a:srgbClr val="8FA3B8"/>
                </a:solidFill>
                <a:latin typeface="Calibri" pitchFamily="34" charset="0"/>
                <a:ea typeface="Calibri" pitchFamily="34" charset="-122"/>
                <a:cs typeface="Calibri" pitchFamily="34" charset="-120"/>
              </a:rPr>
              <a:t>Any alert that says sql-prod-03 lands in the sql-prod-03 incident, whichever tool sent it. No model, no lookup table - a string match.</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Follow one alert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B · WALKTHROUGH</a:t>
            </a:r>
            <a:endParaRPr lang="en-US" sz="900" dirty="0"/>
          </a:p>
        </p:txBody>
      </p:sp>
      <p:sp>
        <p:nvSpPr>
          <p:cNvPr id="7" name="Shape 4"/>
          <p:cNvSpPr/>
          <p:nvPr/>
        </p:nvSpPr>
        <p:spPr>
          <a:xfrm>
            <a:off x="594360" y="1645920"/>
            <a:ext cx="11002975" cy="1024128"/>
          </a:xfrm>
          <a:prstGeom prst="roundRect">
            <a:avLst>
              <a:gd name="adj" fmla="val 5357"/>
            </a:avLst>
          </a:prstGeom>
          <a:solidFill>
            <a:srgbClr val="19242F"/>
          </a:solidFill>
          <a:ln/>
        </p:spPr>
      </p:sp>
      <p:sp>
        <p:nvSpPr>
          <p:cNvPr id="8" name="Shape 5"/>
          <p:cNvSpPr/>
          <p:nvPr/>
        </p:nvSpPr>
        <p:spPr>
          <a:xfrm>
            <a:off x="886968" y="1920240"/>
            <a:ext cx="475488" cy="475488"/>
          </a:xfrm>
          <a:prstGeom prst="ellipse">
            <a:avLst/>
          </a:prstGeom>
          <a:solidFill>
            <a:srgbClr val="5B9BD5"/>
          </a:solidFill>
          <a:ln/>
        </p:spPr>
      </p:sp>
      <p:sp>
        <p:nvSpPr>
          <p:cNvPr id="9" name="Text 6"/>
          <p:cNvSpPr txBox="1"/>
          <p:nvPr/>
        </p:nvSpPr>
        <p:spPr>
          <a:xfrm>
            <a:off x="886968" y="19202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554480" y="1828800"/>
            <a:ext cx="384048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An alert arrives</a:t>
            </a:r>
            <a:endParaRPr lang="en-US" sz="2000" dirty="0"/>
          </a:p>
        </p:txBody>
      </p:sp>
      <p:sp>
        <p:nvSpPr>
          <p:cNvPr id="11" name="Text 8"/>
          <p:cNvSpPr txBox="1"/>
          <p:nvPr/>
        </p:nvSpPr>
        <p:spPr>
          <a:xfrm>
            <a:off x="1554480" y="2212848"/>
            <a:ext cx="4023360" cy="384048"/>
          </a:xfrm>
          <a:prstGeom prst="rect">
            <a:avLst/>
          </a:prstGeom>
          <a:noFill/>
          <a:ln/>
        </p:spPr>
        <p:txBody>
          <a:bodyPr wrap="square" lIns="0" tIns="0" rIns="0" bIns="0" rtlCol="0" anchor="t"/>
          <a:lstStyle/>
          <a:p>
            <a:pPr indent="0" marL="0">
              <a:buNone/>
            </a:pPr>
            <a:r>
              <a:rPr lang="en-US" sz="1200" dirty="0">
                <a:solidFill>
                  <a:srgbClr val="8FA3B8"/>
                </a:solidFill>
                <a:latin typeface="Calibri" pitchFamily="34" charset="0"/>
                <a:ea typeface="Calibri" pitchFamily="34" charset="-122"/>
                <a:cs typeface="Calibri" pitchFamily="34" charset="-120"/>
              </a:rPr>
              <a:t>Tool, what went wrong, and which machine.</a:t>
            </a:r>
            <a:endParaRPr lang="en-US" sz="1200" dirty="0"/>
          </a:p>
        </p:txBody>
      </p:sp>
      <p:sp>
        <p:nvSpPr>
          <p:cNvPr id="12" name="Text 9"/>
          <p:cNvSpPr txBox="1"/>
          <p:nvPr/>
        </p:nvSpPr>
        <p:spPr>
          <a:xfrm>
            <a:off x="5715000" y="1828800"/>
            <a:ext cx="5669280" cy="658368"/>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sql-watch  ·  Lock wait 3100 ms  ·  sql-prod-03</a:t>
            </a:r>
            <a:endParaRPr lang="en-US" sz="1500" dirty="0"/>
          </a:p>
        </p:txBody>
      </p:sp>
      <p:sp>
        <p:nvSpPr>
          <p:cNvPr id="13" name="Shape 10"/>
          <p:cNvSpPr/>
          <p:nvPr/>
        </p:nvSpPr>
        <p:spPr>
          <a:xfrm>
            <a:off x="1108710" y="2688336"/>
            <a:ext cx="32004" cy="27432"/>
          </a:xfrm>
          <a:prstGeom prst="rect">
            <a:avLst/>
          </a:prstGeom>
          <a:solidFill>
            <a:srgbClr val="7C90A6"/>
          </a:solidFill>
          <a:ln/>
        </p:spPr>
      </p:sp>
      <p:sp>
        <p:nvSpPr>
          <p:cNvPr id="14" name="Shape 11"/>
          <p:cNvSpPr/>
          <p:nvPr/>
        </p:nvSpPr>
        <p:spPr>
          <a:xfrm rot="10800000">
            <a:off x="1056132" y="2715768"/>
            <a:ext cx="137160" cy="118872"/>
          </a:xfrm>
          <a:prstGeom prst="triangle">
            <a:avLst/>
          </a:prstGeom>
          <a:solidFill>
            <a:srgbClr val="7C90A6"/>
          </a:solidFill>
          <a:ln/>
        </p:spPr>
      </p:sp>
      <p:sp>
        <p:nvSpPr>
          <p:cNvPr id="15" name="Shape 12"/>
          <p:cNvSpPr/>
          <p:nvPr/>
        </p:nvSpPr>
        <p:spPr>
          <a:xfrm>
            <a:off x="594360" y="2834640"/>
            <a:ext cx="11002975" cy="1024128"/>
          </a:xfrm>
          <a:prstGeom prst="roundRect">
            <a:avLst>
              <a:gd name="adj" fmla="val 5357"/>
            </a:avLst>
          </a:prstGeom>
          <a:solidFill>
            <a:srgbClr val="19242F"/>
          </a:solidFill>
          <a:ln/>
        </p:spPr>
      </p:sp>
      <p:sp>
        <p:nvSpPr>
          <p:cNvPr id="16" name="Shape 13"/>
          <p:cNvSpPr/>
          <p:nvPr/>
        </p:nvSpPr>
        <p:spPr>
          <a:xfrm>
            <a:off x="886968" y="3108960"/>
            <a:ext cx="475488" cy="475488"/>
          </a:xfrm>
          <a:prstGeom prst="ellipse">
            <a:avLst/>
          </a:prstGeom>
          <a:solidFill>
            <a:srgbClr val="E8A33D"/>
          </a:solidFill>
          <a:ln/>
        </p:spPr>
      </p:sp>
      <p:sp>
        <p:nvSpPr>
          <p:cNvPr id="17" name="Text 14"/>
          <p:cNvSpPr txBox="1"/>
          <p:nvPr/>
        </p:nvSpPr>
        <p:spPr>
          <a:xfrm>
            <a:off x="886968" y="310896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8" name="Text 15"/>
          <p:cNvSpPr txBox="1"/>
          <p:nvPr/>
        </p:nvSpPr>
        <p:spPr>
          <a:xfrm>
            <a:off x="1554480" y="3017520"/>
            <a:ext cx="384048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Pick the label to group on</a:t>
            </a:r>
            <a:endParaRPr lang="en-US" sz="2000" dirty="0"/>
          </a:p>
        </p:txBody>
      </p:sp>
      <p:sp>
        <p:nvSpPr>
          <p:cNvPr id="19" name="Text 16"/>
          <p:cNvSpPr txBox="1"/>
          <p:nvPr/>
        </p:nvSpPr>
        <p:spPr>
          <a:xfrm>
            <a:off x="1554480" y="3401568"/>
            <a:ext cx="4023360" cy="384048"/>
          </a:xfrm>
          <a:prstGeom prst="rect">
            <a:avLst/>
          </a:prstGeom>
          <a:noFill/>
          <a:ln/>
        </p:spPr>
        <p:txBody>
          <a:bodyPr wrap="square" lIns="0" tIns="0" rIns="0" bIns="0" rtlCol="0" anchor="t"/>
          <a:lstStyle/>
          <a:p>
            <a:pPr indent="0" marL="0">
              <a:buNone/>
            </a:pPr>
            <a:r>
              <a:rPr lang="en-US" sz="1200" dirty="0">
                <a:solidFill>
                  <a:srgbClr val="8FA3B8"/>
                </a:solidFill>
                <a:latin typeface="Calibri" pitchFamily="34" charset="0"/>
                <a:ea typeface="Calibri" pitchFamily="34" charset="-122"/>
                <a:cs typeface="Calibri" pitchFamily="34" charset="-120"/>
              </a:rPr>
              <a:t>The machine name if it has one. Otherwise the Azure resource, then the app name.</a:t>
            </a:r>
            <a:endParaRPr lang="en-US" sz="1200" dirty="0"/>
          </a:p>
        </p:txBody>
      </p:sp>
      <p:sp>
        <p:nvSpPr>
          <p:cNvPr id="20" name="Text 17"/>
          <p:cNvSpPr txBox="1"/>
          <p:nvPr/>
        </p:nvSpPr>
        <p:spPr>
          <a:xfrm>
            <a:off x="5715000" y="3017520"/>
            <a:ext cx="5669280" cy="658368"/>
          </a:xfrm>
          <a:prstGeom prst="rect">
            <a:avLst/>
          </a:prstGeom>
          <a:noFill/>
          <a:ln/>
        </p:spPr>
        <p:txBody>
          <a:bodyPr wrap="square" lIns="0" tIns="0" rIns="0" bIns="0" rtlCol="0" anchor="ctr"/>
          <a:lstStyle/>
          <a:p>
            <a:pPr indent="0" marL="0">
              <a:buNone/>
            </a:pPr>
            <a:r>
              <a:rPr lang="en-US" sz="2000" b="1" dirty="0">
                <a:solidFill>
                  <a:srgbClr val="E8A33D"/>
                </a:solidFill>
                <a:latin typeface="Courier New" pitchFamily="34" charset="0"/>
                <a:ea typeface="Courier New" pitchFamily="34" charset="-122"/>
                <a:cs typeface="Courier New" pitchFamily="34" charset="-120"/>
              </a:rPr>
              <a:t>host:sql-prod-03</a:t>
            </a:r>
            <a:endParaRPr lang="en-US" sz="2000" dirty="0"/>
          </a:p>
        </p:txBody>
      </p:sp>
      <p:sp>
        <p:nvSpPr>
          <p:cNvPr id="21" name="Shape 18"/>
          <p:cNvSpPr/>
          <p:nvPr/>
        </p:nvSpPr>
        <p:spPr>
          <a:xfrm>
            <a:off x="1108710" y="3877056"/>
            <a:ext cx="32004" cy="27432"/>
          </a:xfrm>
          <a:prstGeom prst="rect">
            <a:avLst/>
          </a:prstGeom>
          <a:solidFill>
            <a:srgbClr val="7C90A6"/>
          </a:solidFill>
          <a:ln/>
        </p:spPr>
      </p:sp>
      <p:sp>
        <p:nvSpPr>
          <p:cNvPr id="22" name="Shape 19"/>
          <p:cNvSpPr/>
          <p:nvPr/>
        </p:nvSpPr>
        <p:spPr>
          <a:xfrm rot="10800000">
            <a:off x="1056132" y="3904488"/>
            <a:ext cx="137160" cy="118872"/>
          </a:xfrm>
          <a:prstGeom prst="triangle">
            <a:avLst/>
          </a:prstGeom>
          <a:solidFill>
            <a:srgbClr val="7C90A6"/>
          </a:solidFill>
          <a:ln/>
        </p:spPr>
      </p:sp>
      <p:sp>
        <p:nvSpPr>
          <p:cNvPr id="23" name="Shape 20"/>
          <p:cNvSpPr/>
          <p:nvPr/>
        </p:nvSpPr>
        <p:spPr>
          <a:xfrm>
            <a:off x="594360" y="4023360"/>
            <a:ext cx="11002975" cy="1024128"/>
          </a:xfrm>
          <a:prstGeom prst="roundRect">
            <a:avLst>
              <a:gd name="adj" fmla="val 5357"/>
            </a:avLst>
          </a:prstGeom>
          <a:solidFill>
            <a:srgbClr val="19242F"/>
          </a:solidFill>
          <a:ln/>
        </p:spPr>
      </p:sp>
      <p:sp>
        <p:nvSpPr>
          <p:cNvPr id="24" name="Shape 21"/>
          <p:cNvSpPr/>
          <p:nvPr/>
        </p:nvSpPr>
        <p:spPr>
          <a:xfrm>
            <a:off x="886968" y="4297680"/>
            <a:ext cx="475488" cy="475488"/>
          </a:xfrm>
          <a:prstGeom prst="ellipse">
            <a:avLst/>
          </a:prstGeom>
          <a:solidFill>
            <a:srgbClr val="46B98A"/>
          </a:solidFill>
          <a:ln/>
        </p:spPr>
      </p:sp>
      <p:sp>
        <p:nvSpPr>
          <p:cNvPr id="25" name="Text 22"/>
          <p:cNvSpPr txBox="1"/>
          <p:nvPr/>
        </p:nvSpPr>
        <p:spPr>
          <a:xfrm>
            <a:off x="886968" y="429768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6" name="Text 23"/>
          <p:cNvSpPr txBox="1"/>
          <p:nvPr/>
        </p:nvSpPr>
        <p:spPr>
          <a:xfrm>
            <a:off x="1554480" y="4206240"/>
            <a:ext cx="384048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Turn the label into an id</a:t>
            </a:r>
            <a:endParaRPr lang="en-US" sz="2000" dirty="0"/>
          </a:p>
        </p:txBody>
      </p:sp>
      <p:sp>
        <p:nvSpPr>
          <p:cNvPr id="27" name="Text 24"/>
          <p:cNvSpPr txBox="1"/>
          <p:nvPr/>
        </p:nvSpPr>
        <p:spPr>
          <a:xfrm>
            <a:off x="1554480" y="4590288"/>
            <a:ext cx="4023360" cy="384048"/>
          </a:xfrm>
          <a:prstGeom prst="rect">
            <a:avLst/>
          </a:prstGeom>
          <a:noFill/>
          <a:ln/>
        </p:spPr>
        <p:txBody>
          <a:bodyPr wrap="square" lIns="0" tIns="0" rIns="0" bIns="0" rtlCol="0" anchor="t"/>
          <a:lstStyle/>
          <a:p>
            <a:pPr indent="0" marL="0">
              <a:buNone/>
            </a:pPr>
            <a:r>
              <a:rPr lang="en-US" sz="1200" dirty="0">
                <a:solidFill>
                  <a:srgbClr val="8FA3B8"/>
                </a:solidFill>
                <a:latin typeface="Calibri" pitchFamily="34" charset="0"/>
                <a:ea typeface="Calibri" pitchFamily="34" charset="-122"/>
                <a:cs typeface="Calibri" pitchFamily="34" charset="-120"/>
              </a:rPr>
              <a:t>A hash of the label. Same label in, same id out - every time.</a:t>
            </a:r>
            <a:endParaRPr lang="en-US" sz="1200" dirty="0"/>
          </a:p>
        </p:txBody>
      </p:sp>
      <p:sp>
        <p:nvSpPr>
          <p:cNvPr id="28" name="Text 25"/>
          <p:cNvSpPr txBox="1"/>
          <p:nvPr/>
        </p:nvSpPr>
        <p:spPr>
          <a:xfrm>
            <a:off x="5715000" y="4206240"/>
            <a:ext cx="5669280" cy="658368"/>
          </a:xfrm>
          <a:prstGeom prst="rect">
            <a:avLst/>
          </a:prstGeom>
          <a:noFill/>
          <a:ln/>
        </p:spPr>
        <p:txBody>
          <a:bodyPr wrap="square" lIns="0" tIns="0" rIns="0" bIns="0" rtlCol="0" anchor="ctr"/>
          <a:lstStyle/>
          <a:p>
            <a:pPr indent="0" marL="0">
              <a:buNone/>
            </a:pPr>
            <a:r>
              <a:rPr lang="en-US" sz="2000" b="1" dirty="0">
                <a:solidFill>
                  <a:srgbClr val="46B98A"/>
                </a:solidFill>
                <a:latin typeface="Courier New" pitchFamily="34" charset="0"/>
                <a:ea typeface="Courier New" pitchFamily="34" charset="-122"/>
                <a:cs typeface="Courier New" pitchFamily="34" charset="-120"/>
              </a:rPr>
              <a:t>inc-de92ae29a9bb</a:t>
            </a:r>
            <a:endParaRPr lang="en-US" sz="2000" dirty="0"/>
          </a:p>
        </p:txBody>
      </p:sp>
      <p:sp>
        <p:nvSpPr>
          <p:cNvPr id="29" name="Shape 26"/>
          <p:cNvSpPr/>
          <p:nvPr/>
        </p:nvSpPr>
        <p:spPr>
          <a:xfrm>
            <a:off x="594360" y="5303520"/>
            <a:ext cx="11002975" cy="868680"/>
          </a:xfrm>
          <a:prstGeom prst="roundRect">
            <a:avLst>
              <a:gd name="adj" fmla="val 6316"/>
            </a:avLst>
          </a:prstGeom>
          <a:solidFill>
            <a:srgbClr val="223140"/>
          </a:solidFill>
          <a:ln/>
        </p:spPr>
      </p:sp>
      <p:sp>
        <p:nvSpPr>
          <p:cNvPr id="30" name="Text 27"/>
          <p:cNvSpPr txBox="1"/>
          <p:nvPr/>
        </p:nvSpPr>
        <p:spPr>
          <a:xfrm>
            <a:off x="868680" y="5504688"/>
            <a:ext cx="10454335" cy="502920"/>
          </a:xfrm>
          <a:prstGeom prst="rect">
            <a:avLst/>
          </a:prstGeom>
          <a:noFill/>
          <a:ln/>
        </p:spPr>
        <p:txBody>
          <a:bodyPr wrap="square" lIns="0" tIns="0" rIns="0" bIns="0" rtlCol="0" anchor="t"/>
          <a:lstStyle/>
          <a:p>
            <a:pPr indent="0" marL="0">
              <a:buNone/>
            </a:pPr>
            <a:r>
              <a:rPr lang="en-US" sz="1700" dirty="0">
                <a:solidFill>
                  <a:srgbClr val="8FA3B8"/>
                </a:solidFill>
                <a:latin typeface="Calibri" pitchFamily="34" charset="0"/>
                <a:ea typeface="Calibri" pitchFamily="34" charset="-122"/>
                <a:cs typeface="Calibri" pitchFamily="34" charset="-120"/>
              </a:rPr>
              <a:t>The next alert about sql-prod-03 - from any tool - computes </a:t>
            </a:r>
            <a:pPr indent="0" marL="0">
              <a:buNone/>
            </a:pPr>
            <a:r>
              <a:rPr lang="en-US" sz="1700" b="1" dirty="0">
                <a:solidFill>
                  <a:srgbClr val="46B98A"/>
                </a:solidFill>
                <a:latin typeface="Courier New" pitchFamily="34" charset="0"/>
                <a:ea typeface="Courier New" pitchFamily="34" charset="-122"/>
                <a:cs typeface="Courier New" pitchFamily="34" charset="-120"/>
              </a:rPr>
              <a:t>inc-de92ae29a9bb</a:t>
            </a:r>
            <a:pPr indent="0" marL="0">
              <a:buNone/>
            </a:pPr>
            <a:r>
              <a:rPr lang="en-US" sz="1700" dirty="0">
                <a:solidFill>
                  <a:srgbClr val="8FA3B8"/>
                </a:solidFill>
                <a:latin typeface="Calibri" pitchFamily="34" charset="0"/>
                <a:ea typeface="Calibri" pitchFamily="34" charset="-122"/>
                <a:cs typeface="Calibri" pitchFamily="34" charset="-120"/>
              </a:rPr>
              <a:t> too.  </a:t>
            </a:r>
            <a:pPr indent="0" marL="0">
              <a:buNone/>
            </a:pPr>
            <a:r>
              <a:rPr lang="en-US" sz="1700" b="1" dirty="0">
                <a:solidFill>
                  <a:srgbClr val="FFFFFF"/>
                </a:solidFill>
                <a:latin typeface="Calibri" pitchFamily="34" charset="0"/>
                <a:ea typeface="Calibri" pitchFamily="34" charset="-122"/>
                <a:cs typeface="Calibri" pitchFamily="34" charset="-120"/>
              </a:rPr>
              <a:t>Same incident, and nobody had to look anything up.</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Calculate the incident, don't search for it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C · CODE</a:t>
            </a:r>
            <a:endParaRPr lang="en-US" sz="900" dirty="0"/>
          </a:p>
        </p:txBody>
      </p:sp>
      <p:sp>
        <p:nvSpPr>
          <p:cNvPr id="7" name="Text 4"/>
          <p:cNvSpPr txBox="1"/>
          <p:nvPr/>
        </p:nvSpPr>
        <p:spPr>
          <a:xfrm>
            <a:off x="594360" y="1481328"/>
            <a:ext cx="11002975" cy="365760"/>
          </a:xfrm>
          <a:prstGeom prst="rect">
            <a:avLst/>
          </a:prstGeom>
          <a:noFill/>
          <a:ln/>
        </p:spPr>
        <p:txBody>
          <a:bodyPr wrap="square" lIns="0" tIns="0" rIns="0" bIns="0" rtlCol="0" anchor="ctr"/>
          <a:lstStyle/>
          <a:p>
            <a:pPr indent="0" marL="0">
              <a:buNone/>
            </a:pPr>
            <a:r>
              <a:rPr lang="en-US" sz="1700" dirty="0">
                <a:solidFill>
                  <a:srgbClr val="8FA3B8"/>
                </a:solidFill>
                <a:latin typeface="Calibri" pitchFamily="34" charset="0"/>
                <a:ea typeface="Calibri" pitchFamily="34" charset="-122"/>
                <a:cs typeface="Calibri" pitchFamily="34" charset="-120"/>
              </a:rPr>
              <a:t>Every alert has to land in an incident. Instead of looking one up, we calculate its id from the alert itself.</a:t>
            </a:r>
            <a:endParaRPr lang="en-US" sz="1700" dirty="0"/>
          </a:p>
        </p:txBody>
      </p:sp>
      <p:sp>
        <p:nvSpPr>
          <p:cNvPr id="8" name="Shape 5"/>
          <p:cNvSpPr/>
          <p:nvPr/>
        </p:nvSpPr>
        <p:spPr>
          <a:xfrm>
            <a:off x="594360" y="2011680"/>
            <a:ext cx="11002975" cy="1119591"/>
          </a:xfrm>
          <a:prstGeom prst="roundRect">
            <a:avLst>
              <a:gd name="adj" fmla="val 4900"/>
            </a:avLst>
          </a:prstGeom>
          <a:solidFill>
            <a:srgbClr val="19242F"/>
          </a:solidFill>
          <a:ln/>
        </p:spPr>
      </p:sp>
      <p:sp>
        <p:nvSpPr>
          <p:cNvPr id="9" name="Text 6"/>
          <p:cNvSpPr txBox="1"/>
          <p:nvPr/>
        </p:nvSpPr>
        <p:spPr>
          <a:xfrm>
            <a:off x="914400" y="2240280"/>
            <a:ext cx="10362895" cy="354056"/>
          </a:xfrm>
          <a:prstGeom prst="rect">
            <a:avLst/>
          </a:prstGeom>
          <a:noFill/>
          <a:ln/>
        </p:spPr>
        <p:txBody>
          <a:bodyPr wrap="square" lIns="0" tIns="0" rIns="0" bIns="0" rtlCol="0" anchor="ctr"/>
          <a:lstStyle/>
          <a:p>
            <a:pPr indent="0" marL="0">
              <a:buNone/>
            </a:pPr>
            <a:r>
              <a:rPr lang="en-US" sz="1600" dirty="0">
                <a:solidFill>
                  <a:srgbClr val="E8A33D"/>
                </a:solidFill>
                <a:latin typeface="Courier New" pitchFamily="34" charset="0"/>
                <a:ea typeface="Courier New" pitchFamily="34" charset="-122"/>
                <a:cs typeface="Courier New" pitchFamily="34" charset="-120"/>
              </a:rPr>
              <a:t>$key = Get-PrimaryKey $Event                     # "host:sql-prod-03"</a:t>
            </a:r>
            <a:endParaRPr lang="en-US" sz="1600" dirty="0"/>
          </a:p>
        </p:txBody>
      </p:sp>
      <p:sp>
        <p:nvSpPr>
          <p:cNvPr id="10" name="Text 7"/>
          <p:cNvSpPr txBox="1"/>
          <p:nvPr/>
        </p:nvSpPr>
        <p:spPr>
          <a:xfrm>
            <a:off x="914400" y="2594336"/>
            <a:ext cx="10362895" cy="354056"/>
          </a:xfrm>
          <a:prstGeom prst="rect">
            <a:avLst/>
          </a:prstGeom>
          <a:noFill/>
          <a:ln/>
        </p:spPr>
        <p:txBody>
          <a:bodyPr wrap="square" lIns="0" tIns="0" rIns="0" bIns="0" rtlCol="0" anchor="ctr"/>
          <a:lstStyle/>
          <a:p>
            <a:pPr indent="0" marL="0">
              <a:buNone/>
            </a:pPr>
            <a:r>
              <a:rPr lang="en-US" sz="1600" dirty="0">
                <a:solidFill>
                  <a:srgbClr val="46B98A"/>
                </a:solidFill>
                <a:latin typeface="Courier New" pitchFamily="34" charset="0"/>
                <a:ea typeface="Courier New" pitchFamily="34" charset="-122"/>
                <a:cs typeface="Courier New" pitchFamily="34" charset="-120"/>
              </a:rPr>
              <a:t>$id  = 'inc-' + (Sha256 $key).Substring(0, 12)   # "inc-de92ae29a9bb"</a:t>
            </a:r>
            <a:endParaRPr lang="en-US" sz="1600" dirty="0"/>
          </a:p>
        </p:txBody>
      </p:sp>
      <p:sp>
        <p:nvSpPr>
          <p:cNvPr id="11" name="Shape 8"/>
          <p:cNvSpPr/>
          <p:nvPr/>
        </p:nvSpPr>
        <p:spPr>
          <a:xfrm>
            <a:off x="594360" y="3405591"/>
            <a:ext cx="5318608" cy="1188720"/>
          </a:xfrm>
          <a:prstGeom prst="roundRect">
            <a:avLst>
              <a:gd name="adj" fmla="val 4615"/>
            </a:avLst>
          </a:prstGeom>
          <a:solidFill>
            <a:srgbClr val="19242F"/>
          </a:solidFill>
          <a:ln/>
        </p:spPr>
      </p:sp>
      <p:sp>
        <p:nvSpPr>
          <p:cNvPr id="12" name="Text 9"/>
          <p:cNvSpPr txBox="1"/>
          <p:nvPr/>
        </p:nvSpPr>
        <p:spPr>
          <a:xfrm>
            <a:off x="868680" y="3570183"/>
            <a:ext cx="4769968" cy="27432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storage-watch  ·  sql-prod-03</a:t>
            </a:r>
            <a:endParaRPr lang="en-US" sz="1200" dirty="0"/>
          </a:p>
        </p:txBody>
      </p:sp>
      <p:sp>
        <p:nvSpPr>
          <p:cNvPr id="13" name="Text 10"/>
          <p:cNvSpPr txBox="1"/>
          <p:nvPr/>
        </p:nvSpPr>
        <p:spPr>
          <a:xfrm>
            <a:off x="868680" y="3844503"/>
            <a:ext cx="4769968" cy="27432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Disk read latency 480 ms, sustained</a:t>
            </a:r>
            <a:endParaRPr lang="en-US" sz="1200" dirty="0"/>
          </a:p>
        </p:txBody>
      </p:sp>
      <p:sp>
        <p:nvSpPr>
          <p:cNvPr id="14" name="Text 11"/>
          <p:cNvSpPr txBox="1"/>
          <p:nvPr/>
        </p:nvSpPr>
        <p:spPr>
          <a:xfrm>
            <a:off x="868680" y="4173687"/>
            <a:ext cx="4769968" cy="292608"/>
          </a:xfrm>
          <a:prstGeom prst="rect">
            <a:avLst/>
          </a:prstGeom>
          <a:noFill/>
          <a:ln/>
        </p:spPr>
        <p:txBody>
          <a:bodyPr wrap="square" lIns="0" tIns="0" rIns="0" bIns="0" rtlCol="0" anchor="ctr"/>
          <a:lstStyle/>
          <a:p>
            <a:pPr indent="0" marL="0">
              <a:buNone/>
            </a:pPr>
            <a:r>
              <a:rPr lang="en-US" sz="1500" b="1" dirty="0">
                <a:solidFill>
                  <a:srgbClr val="46B98A"/>
                </a:solidFill>
                <a:latin typeface="Courier New" pitchFamily="34" charset="0"/>
                <a:ea typeface="Courier New" pitchFamily="34" charset="-122"/>
                <a:cs typeface="Courier New" pitchFamily="34" charset="-120"/>
              </a:rPr>
              <a:t>-&gt;  inc-de92ae29a9bb</a:t>
            </a:r>
            <a:endParaRPr lang="en-US" sz="1500" dirty="0"/>
          </a:p>
        </p:txBody>
      </p:sp>
      <p:sp>
        <p:nvSpPr>
          <p:cNvPr id="15" name="Shape 12"/>
          <p:cNvSpPr/>
          <p:nvPr/>
        </p:nvSpPr>
        <p:spPr>
          <a:xfrm>
            <a:off x="6278728" y="3405591"/>
            <a:ext cx="5318608" cy="1188720"/>
          </a:xfrm>
          <a:prstGeom prst="roundRect">
            <a:avLst>
              <a:gd name="adj" fmla="val 4615"/>
            </a:avLst>
          </a:prstGeom>
          <a:solidFill>
            <a:srgbClr val="19242F"/>
          </a:solidFill>
          <a:ln/>
        </p:spPr>
      </p:sp>
      <p:sp>
        <p:nvSpPr>
          <p:cNvPr id="16" name="Text 13"/>
          <p:cNvSpPr txBox="1"/>
          <p:nvPr/>
        </p:nvSpPr>
        <p:spPr>
          <a:xfrm>
            <a:off x="6553048" y="3570183"/>
            <a:ext cx="4769968" cy="27432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sql-watch  ·  sql-prod-03</a:t>
            </a:r>
            <a:endParaRPr lang="en-US" sz="1200" dirty="0"/>
          </a:p>
        </p:txBody>
      </p:sp>
      <p:sp>
        <p:nvSpPr>
          <p:cNvPr id="17" name="Text 14"/>
          <p:cNvSpPr txBox="1"/>
          <p:nvPr/>
        </p:nvSpPr>
        <p:spPr>
          <a:xfrm>
            <a:off x="6553048" y="3844503"/>
            <a:ext cx="4769968" cy="27432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Lock wait time 3100 ms on OrderLines</a:t>
            </a:r>
            <a:endParaRPr lang="en-US" sz="1200" dirty="0"/>
          </a:p>
        </p:txBody>
      </p:sp>
      <p:sp>
        <p:nvSpPr>
          <p:cNvPr id="18" name="Text 15"/>
          <p:cNvSpPr txBox="1"/>
          <p:nvPr/>
        </p:nvSpPr>
        <p:spPr>
          <a:xfrm>
            <a:off x="6553048" y="4173687"/>
            <a:ext cx="4769968" cy="292608"/>
          </a:xfrm>
          <a:prstGeom prst="rect">
            <a:avLst/>
          </a:prstGeom>
          <a:noFill/>
          <a:ln/>
        </p:spPr>
        <p:txBody>
          <a:bodyPr wrap="square" lIns="0" tIns="0" rIns="0" bIns="0" rtlCol="0" anchor="ctr"/>
          <a:lstStyle/>
          <a:p>
            <a:pPr indent="0" marL="0">
              <a:buNone/>
            </a:pPr>
            <a:r>
              <a:rPr lang="en-US" sz="1500" b="1" dirty="0">
                <a:solidFill>
                  <a:srgbClr val="46B98A"/>
                </a:solidFill>
                <a:latin typeface="Courier New" pitchFamily="34" charset="0"/>
                <a:ea typeface="Courier New" pitchFamily="34" charset="-122"/>
                <a:cs typeface="Courier New" pitchFamily="34" charset="-120"/>
              </a:rPr>
              <a:t>-&gt;  inc-de92ae29a9bb</a:t>
            </a:r>
            <a:endParaRPr lang="en-US" sz="1500" dirty="0"/>
          </a:p>
        </p:txBody>
      </p:sp>
      <p:sp>
        <p:nvSpPr>
          <p:cNvPr id="19" name="Shape 16"/>
          <p:cNvSpPr/>
          <p:nvPr/>
        </p:nvSpPr>
        <p:spPr>
          <a:xfrm>
            <a:off x="594360" y="4868631"/>
            <a:ext cx="11002975" cy="960120"/>
          </a:xfrm>
          <a:prstGeom prst="roundRect">
            <a:avLst>
              <a:gd name="adj" fmla="val 5714"/>
            </a:avLst>
          </a:prstGeom>
          <a:solidFill>
            <a:srgbClr val="223140"/>
          </a:solidFill>
          <a:ln/>
        </p:spPr>
      </p:sp>
      <p:sp>
        <p:nvSpPr>
          <p:cNvPr id="20" name="Text 17"/>
          <p:cNvSpPr txBox="1"/>
          <p:nvPr/>
        </p:nvSpPr>
        <p:spPr>
          <a:xfrm>
            <a:off x="868680" y="5069799"/>
            <a:ext cx="10454335" cy="5943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Why calculate it?  </a:t>
            </a:r>
            <a:pPr indent="0" marL="0">
              <a:buNone/>
            </a:pPr>
            <a:r>
              <a:rPr lang="en-US" sz="1500" dirty="0">
                <a:solidFill>
                  <a:srgbClr val="8FA3B8"/>
                </a:solidFill>
                <a:latin typeface="Calibri" pitchFamily="34" charset="0"/>
                <a:ea typeface="Calibri" pitchFamily="34" charset="-122"/>
                <a:cs typeface="Calibri" pitchFamily="34" charset="-120"/>
              </a:rPr>
              <a:t>Two workers can handle alerts for the same machine at the same moment. If both searched for an open incident, both would miss and both would create one. A calculated id means they both write to the same row.</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AI.PSM1  ·  THE MODEL CALL IS 29 LINES OF IT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Asking the model is the easy part</a:t>
            </a:r>
            <a:endParaRPr lang="en-US" sz="3600" dirty="0"/>
          </a:p>
        </p:txBody>
      </p:sp>
      <p:sp>
        <p:nvSpPr>
          <p:cNvPr id="5" name="Shape 2"/>
          <p:cNvSpPr/>
          <p:nvPr/>
        </p:nvSpPr>
        <p:spPr>
          <a:xfrm>
            <a:off x="594360" y="1783080"/>
            <a:ext cx="11002975" cy="3575853"/>
          </a:xfrm>
          <a:prstGeom prst="roundRect">
            <a:avLst>
              <a:gd name="adj" fmla="val 1534"/>
            </a:avLst>
          </a:prstGeom>
          <a:solidFill>
            <a:srgbClr val="19242F"/>
          </a:solidFill>
          <a:ln/>
        </p:spPr>
      </p:sp>
      <p:sp>
        <p:nvSpPr>
          <p:cNvPr id="6" name="Text 3"/>
          <p:cNvSpPr txBox="1"/>
          <p:nvPr/>
        </p:nvSpPr>
        <p:spPr>
          <a:xfrm>
            <a:off x="914400" y="2011680"/>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$body = @{</a:t>
            </a:r>
            <a:endParaRPr lang="en-US" sz="1300" dirty="0"/>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messages = @(</a:t>
            </a:r>
            <a:endParaRPr lang="en-US" sz="1300" dirty="0"/>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 role = 'system'; content = $SystemPrompt }</a:t>
            </a:r>
            <a:endParaRPr lang="en-US" sz="1300" dirty="0"/>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 role = 'user';   content = ($incidents | ConvertTo-Json -Depth 8) }</a:t>
            </a:r>
            <a:endParaRPr lang="en-US" sz="1300" dirty="0"/>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a:t>
            </a:r>
            <a:endParaRPr lang="en-US" sz="1300" dirty="0"/>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indent="0" marL="0">
              <a:buNone/>
            </a:pPr>
            <a:r>
              <a:rPr lang="en-US" sz="1300" dirty="0">
                <a:solidFill>
                  <a:srgbClr val="E8A33D"/>
                </a:solidFill>
                <a:latin typeface="Courier New" pitchFamily="34" charset="0"/>
                <a:ea typeface="Courier New" pitchFamily="34" charset="-122"/>
                <a:cs typeface="Courier New" pitchFamily="34" charset="-120"/>
              </a:rPr>
              <a:t>    temperature     = 0                          # same events, same answer</a:t>
            </a:r>
            <a:endParaRPr lang="en-US" sz="1300" dirty="0"/>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indent="0" marL="0">
              <a:buNone/>
            </a:pPr>
            <a:r>
              <a:rPr lang="en-US" sz="1300" dirty="0">
                <a:solidFill>
                  <a:srgbClr val="E8A33D"/>
                </a:solidFill>
                <a:latin typeface="Courier New" pitchFamily="34" charset="0"/>
                <a:ea typeface="Courier New" pitchFamily="34" charset="-122"/>
                <a:cs typeface="Courier New" pitchFamily="34" charset="-120"/>
              </a:rPr>
              <a:t>    response_format = @{ type = 'json_object' }   # not prose, a contract</a:t>
            </a:r>
            <a:endParaRPr lang="en-US" sz="1300" dirty="0"/>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4" name="Text 11"/>
          <p:cNvSpPr txBox="1"/>
          <p:nvPr/>
        </p:nvSpPr>
        <p:spPr>
          <a:xfrm>
            <a:off x="914400" y="4313042"/>
            <a:ext cx="10362895" cy="287670"/>
          </a:xfrm>
          <a:prstGeom prst="rect">
            <a:avLst/>
          </a:prstGeom>
          <a:noFill/>
          <a:ln/>
        </p:spPr>
        <p:txBody>
          <a:bodyPr wrap="square" lIns="0" tIns="0" rIns="0" bIns="0" rtlCol="0" anchor="ctr"/>
          <a:lstStyle/>
          <a:p>
            <a:pPr indent="0" marL="0">
              <a:buNone/>
            </a:pPr>
            <a:endParaRPr lang="en-US" sz="1300" dirty="0"/>
          </a:p>
        </p:txBody>
      </p:sp>
      <p:sp>
        <p:nvSpPr>
          <p:cNvPr id="15" name="Text 12"/>
          <p:cNvSpPr txBox="1"/>
          <p:nvPr/>
        </p:nvSpPr>
        <p:spPr>
          <a:xfrm>
            <a:off x="914400" y="4600712"/>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Invoke-RestMethod -Uri $uri -Method Post -Body ($body | ConvertTo-Json -Depth 10) `</a:t>
            </a:r>
            <a:endParaRPr lang="en-US" sz="1300" dirty="0"/>
          </a:p>
        </p:txBody>
      </p:sp>
      <p:sp>
        <p:nvSpPr>
          <p:cNvPr id="16" name="Text 13"/>
          <p:cNvSpPr txBox="1"/>
          <p:nvPr/>
        </p:nvSpPr>
        <p:spPr>
          <a:xfrm>
            <a:off x="914400" y="4888382"/>
            <a:ext cx="10362895" cy="287670"/>
          </a:xfrm>
          <a:prstGeom prst="rect">
            <a:avLst/>
          </a:prstGeom>
          <a:noFill/>
          <a:ln/>
        </p:spPr>
        <p:txBody>
          <a:bodyPr wrap="square" lIns="0" tIns="0" rIns="0" bIns="0" rtlCol="0" anchor="ctr"/>
          <a:lstStyle/>
          <a:p>
            <a:pPr indent="0" marL="0">
              <a:buNone/>
            </a:pPr>
            <a:r>
              <a:rPr lang="en-US" sz="1300" dirty="0">
                <a:solidFill>
                  <a:srgbClr val="46B98A"/>
                </a:solidFill>
                <a:latin typeface="Courier New" pitchFamily="34" charset="0"/>
                <a:ea typeface="Courier New" pitchFamily="34" charset="-122"/>
                <a:cs typeface="Courier New" pitchFamily="34" charset="-120"/>
              </a:rPr>
              <a:t>    -Headers @{ Authorization = "Bearer $(Get-ResourceToken ...)" }  # managed identity</a:t>
            </a:r>
            <a:endParaRPr lang="en-US" sz="1300" dirty="0"/>
          </a:p>
        </p:txBody>
      </p:sp>
      <p:sp>
        <p:nvSpPr>
          <p:cNvPr id="17" name="Shape 14"/>
          <p:cNvSpPr/>
          <p:nvPr/>
        </p:nvSpPr>
        <p:spPr>
          <a:xfrm>
            <a:off x="594360" y="5678973"/>
            <a:ext cx="11002975" cy="868680"/>
          </a:xfrm>
          <a:prstGeom prst="roundRect">
            <a:avLst>
              <a:gd name="adj" fmla="val 6316"/>
            </a:avLst>
          </a:prstGeom>
          <a:solidFill>
            <a:srgbClr val="223140"/>
          </a:solidFill>
          <a:ln/>
        </p:spPr>
      </p:sp>
      <p:sp>
        <p:nvSpPr>
          <p:cNvPr id="18" name="Text 15"/>
          <p:cNvSpPr txBox="1"/>
          <p:nvPr/>
        </p:nvSpPr>
        <p:spPr>
          <a:xfrm>
            <a:off x="868680" y="5880141"/>
            <a:ext cx="10454335" cy="5029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prompt is 698 words. The code that sends it is 29 lines. </a:t>
            </a:r>
            <a:pPr indent="0" marL="0">
              <a:buNone/>
            </a:pPr>
            <a:r>
              <a:rPr lang="en-US" sz="1700" dirty="0">
                <a:solidFill>
                  <a:srgbClr val="8FA3B8"/>
                </a:solidFill>
                <a:latin typeface="Calibri" pitchFamily="34" charset="0"/>
                <a:ea typeface="Calibri" pitchFamily="34" charset="-122"/>
                <a:cs typeface="Calibri" pitchFamily="34" charset="-120"/>
              </a:rPr>
              <a:t>Everything else in this repo exists to make sure the question is worth asking.</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912 LINES OF POWERSHELL</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Where the lines actually are</a:t>
            </a:r>
            <a:endParaRPr lang="en-US" sz="3600" dirty="0"/>
          </a:p>
        </p:txBody>
      </p:sp>
      <p:sp>
        <p:nvSpPr>
          <p:cNvPr id="5" name="Text 2"/>
          <p:cNvSpPr txBox="1"/>
          <p:nvPr/>
        </p:nvSpPr>
        <p:spPr>
          <a:xfrm>
            <a:off x="594360" y="1801368"/>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dashboard endpoint</a:t>
            </a:r>
            <a:endParaRPr lang="en-US" sz="1500" dirty="0"/>
          </a:p>
        </p:txBody>
      </p:sp>
      <p:sp>
        <p:nvSpPr>
          <p:cNvPr id="6" name="Text 3"/>
          <p:cNvSpPr txBox="1"/>
          <p:nvPr/>
        </p:nvSpPr>
        <p:spPr>
          <a:xfrm>
            <a:off x="3657600" y="1828800"/>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GetIncidents</a:t>
            </a:r>
            <a:endParaRPr lang="en-US" sz="1100" dirty="0"/>
          </a:p>
        </p:txBody>
      </p:sp>
      <p:sp>
        <p:nvSpPr>
          <p:cNvPr id="7" name="Shape 4"/>
          <p:cNvSpPr/>
          <p:nvPr/>
        </p:nvSpPr>
        <p:spPr>
          <a:xfrm>
            <a:off x="5394960" y="1837944"/>
            <a:ext cx="4937760" cy="237744"/>
          </a:xfrm>
          <a:prstGeom prst="rect">
            <a:avLst/>
          </a:prstGeom>
          <a:solidFill>
            <a:srgbClr val="5B9BD5"/>
          </a:solidFill>
          <a:ln/>
        </p:spPr>
      </p:sp>
      <p:sp>
        <p:nvSpPr>
          <p:cNvPr id="8" name="Text 5"/>
          <p:cNvSpPr txBox="1"/>
          <p:nvPr/>
        </p:nvSpPr>
        <p:spPr>
          <a:xfrm>
            <a:off x="10469880" y="1801368"/>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256</a:t>
            </a:r>
            <a:endParaRPr lang="en-US" sz="1500" dirty="0"/>
          </a:p>
        </p:txBody>
      </p:sp>
      <p:sp>
        <p:nvSpPr>
          <p:cNvPr id="9" name="Text 6"/>
          <p:cNvSpPr txBox="1"/>
          <p:nvPr/>
        </p:nvSpPr>
        <p:spPr>
          <a:xfrm>
            <a:off x="594360" y="2276856"/>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AI stage (100 is the prompt)</a:t>
            </a:r>
            <a:endParaRPr lang="en-US" sz="1500" dirty="0"/>
          </a:p>
        </p:txBody>
      </p:sp>
      <p:sp>
        <p:nvSpPr>
          <p:cNvPr id="10" name="Text 7"/>
          <p:cNvSpPr txBox="1"/>
          <p:nvPr/>
        </p:nvSpPr>
        <p:spPr>
          <a:xfrm>
            <a:off x="3657600" y="2304288"/>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Ai.psm1</a:t>
            </a:r>
            <a:endParaRPr lang="en-US" sz="1100" dirty="0"/>
          </a:p>
        </p:txBody>
      </p:sp>
      <p:sp>
        <p:nvSpPr>
          <p:cNvPr id="11" name="Shape 8"/>
          <p:cNvSpPr/>
          <p:nvPr/>
        </p:nvSpPr>
        <p:spPr>
          <a:xfrm>
            <a:off x="5394960" y="2313432"/>
            <a:ext cx="4706303" cy="237744"/>
          </a:xfrm>
          <a:prstGeom prst="rect">
            <a:avLst/>
          </a:prstGeom>
          <a:solidFill>
            <a:srgbClr val="E0443E"/>
          </a:solidFill>
          <a:ln/>
        </p:spPr>
      </p:sp>
      <p:sp>
        <p:nvSpPr>
          <p:cNvPr id="12" name="Text 9"/>
          <p:cNvSpPr txBox="1"/>
          <p:nvPr/>
        </p:nvSpPr>
        <p:spPr>
          <a:xfrm>
            <a:off x="10469880" y="2276856"/>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244</a:t>
            </a:r>
            <a:endParaRPr lang="en-US" sz="1500" dirty="0"/>
          </a:p>
        </p:txBody>
      </p:sp>
      <p:sp>
        <p:nvSpPr>
          <p:cNvPr id="13" name="Text 10"/>
          <p:cNvSpPr txBox="1"/>
          <p:nvPr/>
        </p:nvSpPr>
        <p:spPr>
          <a:xfrm>
            <a:off x="594360" y="2752344"/>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Deterministic correlation</a:t>
            </a:r>
            <a:endParaRPr lang="en-US" sz="1500" dirty="0"/>
          </a:p>
        </p:txBody>
      </p:sp>
      <p:sp>
        <p:nvSpPr>
          <p:cNvPr id="14" name="Text 11"/>
          <p:cNvSpPr txBox="1"/>
          <p:nvPr/>
        </p:nvSpPr>
        <p:spPr>
          <a:xfrm>
            <a:off x="3657600" y="2779776"/>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Correlation.psm1</a:t>
            </a:r>
            <a:endParaRPr lang="en-US" sz="1100" dirty="0"/>
          </a:p>
        </p:txBody>
      </p:sp>
      <p:sp>
        <p:nvSpPr>
          <p:cNvPr id="15" name="Shape 12"/>
          <p:cNvSpPr/>
          <p:nvPr/>
        </p:nvSpPr>
        <p:spPr>
          <a:xfrm>
            <a:off x="5394960" y="2788920"/>
            <a:ext cx="2661761" cy="237744"/>
          </a:xfrm>
          <a:prstGeom prst="rect">
            <a:avLst/>
          </a:prstGeom>
          <a:solidFill>
            <a:srgbClr val="E8A33D"/>
          </a:solidFill>
          <a:ln/>
        </p:spPr>
      </p:sp>
      <p:sp>
        <p:nvSpPr>
          <p:cNvPr id="16" name="Text 13"/>
          <p:cNvSpPr txBox="1"/>
          <p:nvPr/>
        </p:nvSpPr>
        <p:spPr>
          <a:xfrm>
            <a:off x="10469880" y="2752344"/>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138</a:t>
            </a:r>
            <a:endParaRPr lang="en-US" sz="1500" dirty="0"/>
          </a:p>
        </p:txBody>
      </p:sp>
      <p:sp>
        <p:nvSpPr>
          <p:cNvPr id="17" name="Text 14"/>
          <p:cNvSpPr txBox="1"/>
          <p:nvPr/>
        </p:nvSpPr>
        <p:spPr>
          <a:xfrm>
            <a:off x="594360" y="3227832"/>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Normalising three shapes</a:t>
            </a:r>
            <a:endParaRPr lang="en-US" sz="1500" dirty="0"/>
          </a:p>
        </p:txBody>
      </p:sp>
      <p:sp>
        <p:nvSpPr>
          <p:cNvPr id="18" name="Text 15"/>
          <p:cNvSpPr txBox="1"/>
          <p:nvPr/>
        </p:nvSpPr>
        <p:spPr>
          <a:xfrm>
            <a:off x="3657600" y="3255264"/>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Normalize.psm1</a:t>
            </a:r>
            <a:endParaRPr lang="en-US" sz="1100" dirty="0"/>
          </a:p>
        </p:txBody>
      </p:sp>
      <p:sp>
        <p:nvSpPr>
          <p:cNvPr id="19" name="Shape 16"/>
          <p:cNvSpPr/>
          <p:nvPr/>
        </p:nvSpPr>
        <p:spPr>
          <a:xfrm>
            <a:off x="5394960" y="3264408"/>
            <a:ext cx="2353151" cy="237744"/>
          </a:xfrm>
          <a:prstGeom prst="rect">
            <a:avLst/>
          </a:prstGeom>
          <a:solidFill>
            <a:srgbClr val="5B9BD5"/>
          </a:solidFill>
          <a:ln/>
        </p:spPr>
      </p:sp>
      <p:sp>
        <p:nvSpPr>
          <p:cNvPr id="20" name="Text 17"/>
          <p:cNvSpPr txBox="1"/>
          <p:nvPr/>
        </p:nvSpPr>
        <p:spPr>
          <a:xfrm>
            <a:off x="10469880" y="3227832"/>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122</a:t>
            </a:r>
            <a:endParaRPr lang="en-US" sz="1500" dirty="0"/>
          </a:p>
        </p:txBody>
      </p:sp>
      <p:sp>
        <p:nvSpPr>
          <p:cNvPr id="21" name="Text 18"/>
          <p:cNvSpPr txBox="1"/>
          <p:nvPr/>
        </p:nvSpPr>
        <p:spPr>
          <a:xfrm>
            <a:off x="594360" y="3703320"/>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Table Storage plumbing</a:t>
            </a:r>
            <a:endParaRPr lang="en-US" sz="1500" dirty="0"/>
          </a:p>
        </p:txBody>
      </p:sp>
      <p:sp>
        <p:nvSpPr>
          <p:cNvPr id="22" name="Text 19"/>
          <p:cNvSpPr txBox="1"/>
          <p:nvPr/>
        </p:nvSpPr>
        <p:spPr>
          <a:xfrm>
            <a:off x="3657600" y="3730752"/>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Plumbing.psm1</a:t>
            </a:r>
            <a:endParaRPr lang="en-US" sz="1100" dirty="0"/>
          </a:p>
        </p:txBody>
      </p:sp>
      <p:sp>
        <p:nvSpPr>
          <p:cNvPr id="23" name="Shape 20"/>
          <p:cNvSpPr/>
          <p:nvPr/>
        </p:nvSpPr>
        <p:spPr>
          <a:xfrm>
            <a:off x="5394960" y="3739896"/>
            <a:ext cx="1697355" cy="237744"/>
          </a:xfrm>
          <a:prstGeom prst="rect">
            <a:avLst/>
          </a:prstGeom>
          <a:solidFill>
            <a:srgbClr val="7C90A6"/>
          </a:solidFill>
          <a:ln/>
        </p:spPr>
      </p:sp>
      <p:sp>
        <p:nvSpPr>
          <p:cNvPr id="24" name="Text 21"/>
          <p:cNvSpPr txBox="1"/>
          <p:nvPr/>
        </p:nvSpPr>
        <p:spPr>
          <a:xfrm>
            <a:off x="10469880" y="3703320"/>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88</a:t>
            </a:r>
            <a:endParaRPr lang="en-US" sz="1500" dirty="0"/>
          </a:p>
        </p:txBody>
      </p:sp>
      <p:sp>
        <p:nvSpPr>
          <p:cNvPr id="25" name="Text 22"/>
          <p:cNvSpPr txBox="1"/>
          <p:nvPr/>
        </p:nvSpPr>
        <p:spPr>
          <a:xfrm>
            <a:off x="594360" y="4178808"/>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Event Hubs trigger</a:t>
            </a:r>
            <a:endParaRPr lang="en-US" sz="1500" dirty="0"/>
          </a:p>
        </p:txBody>
      </p:sp>
      <p:sp>
        <p:nvSpPr>
          <p:cNvPr id="26" name="Text 23"/>
          <p:cNvSpPr txBox="1"/>
          <p:nvPr/>
        </p:nvSpPr>
        <p:spPr>
          <a:xfrm>
            <a:off x="3657600" y="4206240"/>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IngestEvents</a:t>
            </a:r>
            <a:endParaRPr lang="en-US" sz="1100" dirty="0"/>
          </a:p>
        </p:txBody>
      </p:sp>
      <p:sp>
        <p:nvSpPr>
          <p:cNvPr id="27" name="Shape 24"/>
          <p:cNvSpPr/>
          <p:nvPr/>
        </p:nvSpPr>
        <p:spPr>
          <a:xfrm>
            <a:off x="5394960" y="4215384"/>
            <a:ext cx="636508" cy="237744"/>
          </a:xfrm>
          <a:prstGeom prst="rect">
            <a:avLst/>
          </a:prstGeom>
          <a:solidFill>
            <a:srgbClr val="46B98A"/>
          </a:solidFill>
          <a:ln/>
        </p:spPr>
      </p:sp>
      <p:sp>
        <p:nvSpPr>
          <p:cNvPr id="28" name="Text 25"/>
          <p:cNvSpPr txBox="1"/>
          <p:nvPr/>
        </p:nvSpPr>
        <p:spPr>
          <a:xfrm>
            <a:off x="10469880" y="4178808"/>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33</a:t>
            </a:r>
            <a:endParaRPr lang="en-US" sz="1500" dirty="0"/>
          </a:p>
        </p:txBody>
      </p:sp>
      <p:sp>
        <p:nvSpPr>
          <p:cNvPr id="29" name="Text 26"/>
          <p:cNvSpPr txBox="1"/>
          <p:nvPr/>
        </p:nvSpPr>
        <p:spPr>
          <a:xfrm>
            <a:off x="594360" y="4654296"/>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Timer + HTTP triggers</a:t>
            </a:r>
            <a:endParaRPr lang="en-US" sz="1500" dirty="0"/>
          </a:p>
        </p:txBody>
      </p:sp>
      <p:sp>
        <p:nvSpPr>
          <p:cNvPr id="30" name="Text 27"/>
          <p:cNvSpPr txBox="1"/>
          <p:nvPr/>
        </p:nvSpPr>
        <p:spPr>
          <a:xfrm>
            <a:off x="3657600" y="4681728"/>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Analyze*</a:t>
            </a:r>
            <a:endParaRPr lang="en-US" sz="1100" dirty="0"/>
          </a:p>
        </p:txBody>
      </p:sp>
      <p:sp>
        <p:nvSpPr>
          <p:cNvPr id="31" name="Shape 28"/>
          <p:cNvSpPr/>
          <p:nvPr/>
        </p:nvSpPr>
        <p:spPr>
          <a:xfrm>
            <a:off x="5394960" y="4690872"/>
            <a:ext cx="597932" cy="237744"/>
          </a:xfrm>
          <a:prstGeom prst="rect">
            <a:avLst/>
          </a:prstGeom>
          <a:solidFill>
            <a:srgbClr val="46B98A"/>
          </a:solidFill>
          <a:ln/>
        </p:spPr>
      </p:sp>
      <p:sp>
        <p:nvSpPr>
          <p:cNvPr id="32" name="Text 29"/>
          <p:cNvSpPr txBox="1"/>
          <p:nvPr/>
        </p:nvSpPr>
        <p:spPr>
          <a:xfrm>
            <a:off x="10469880" y="4654296"/>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31</a:t>
            </a:r>
            <a:endParaRPr lang="en-US" sz="1500" dirty="0"/>
          </a:p>
        </p:txBody>
      </p:sp>
      <p:sp>
        <p:nvSpPr>
          <p:cNvPr id="33" name="Shape 30"/>
          <p:cNvSpPr/>
          <p:nvPr/>
        </p:nvSpPr>
        <p:spPr>
          <a:xfrm>
            <a:off x="594360" y="5349240"/>
            <a:ext cx="11002975" cy="914400"/>
          </a:xfrm>
          <a:prstGeom prst="roundRect">
            <a:avLst>
              <a:gd name="adj" fmla="val 6000"/>
            </a:avLst>
          </a:prstGeom>
          <a:solidFill>
            <a:srgbClr val="223140"/>
          </a:solidFill>
          <a:ln/>
        </p:spPr>
      </p:sp>
      <p:sp>
        <p:nvSpPr>
          <p:cNvPr id="34" name="Text 31"/>
          <p:cNvSpPr txBox="1"/>
          <p:nvPr/>
        </p:nvSpPr>
        <p:spPr>
          <a:xfrm>
            <a:off x="868680" y="5550408"/>
            <a:ext cx="10454335" cy="548640"/>
          </a:xfrm>
          <a:prstGeom prst="rect">
            <a:avLst/>
          </a:prstGeom>
          <a:noFill/>
          <a:ln/>
        </p:spPr>
        <p:txBody>
          <a:bodyPr wrap="square" lIns="0" tIns="0" rIns="0" bIns="0" rtlCol="0" anchor="t"/>
          <a:lstStyle/>
          <a:p>
            <a:pPr indent="0" marL="0">
              <a:buNone/>
            </a:pPr>
            <a:r>
              <a:rPr lang="en-US" sz="1600" b="1" dirty="0">
                <a:solidFill>
                  <a:srgbClr val="46B98A"/>
                </a:solidFill>
                <a:latin typeface="Calibri" pitchFamily="34" charset="0"/>
                <a:ea typeface="Calibri" pitchFamily="34" charset="-122"/>
                <a:cs typeface="Calibri" pitchFamily="34" charset="-120"/>
              </a:rPr>
              <a:t>The model call is 29 of those lines. </a:t>
            </a:r>
            <a:pPr indent="0" marL="0">
              <a:buNone/>
            </a:pPr>
            <a:r>
              <a:rPr lang="en-US" sz="1600" dirty="0">
                <a:solidFill>
                  <a:srgbClr val="E9EFF6"/>
                </a:solidFill>
                <a:latin typeface="Calibri" pitchFamily="34" charset="0"/>
                <a:ea typeface="Calibri" pitchFamily="34" charset="-122"/>
                <a:cs typeface="Calibri" pitchFamily="34" charset="-120"/>
              </a:rPr>
              <a:t>Ninety-seven percent of this is plumbing, normalising and arithmetic - which is roughly the ratio you should expect from any AI feature that actually ships.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2286000"/>
            <a:ext cx="10058400" cy="365760"/>
          </a:xfrm>
          <a:prstGeom prst="rect">
            <a:avLst/>
          </a:prstGeom>
          <a:noFill/>
          <a:ln/>
        </p:spPr>
        <p:txBody>
          <a:bodyPr wrap="square" lIns="0" tIns="0" rIns="0" bIns="0" rtlCol="0" anchor="ctr"/>
          <a:lstStyle/>
          <a:p>
            <a:pPr indent="0" marL="0">
              <a:buNone/>
            </a:pPr>
            <a:r>
              <a:rPr lang="en-US" sz="1400" b="1" spc="400" kern="0" dirty="0">
                <a:solidFill>
                  <a:srgbClr val="E8A33D"/>
                </a:solidFill>
                <a:latin typeface="Calibri" pitchFamily="34" charset="0"/>
                <a:ea typeface="Calibri" pitchFamily="34" charset="-122"/>
                <a:cs typeface="Calibri" pitchFamily="34" charset="-120"/>
              </a:rPr>
              <a:t>STATEMENT SLIDE</a:t>
            </a:r>
            <a:endParaRPr lang="en-US" sz="1400" dirty="0"/>
          </a:p>
        </p:txBody>
      </p:sp>
      <p:sp>
        <p:nvSpPr>
          <p:cNvPr id="4" name="Text 1"/>
          <p:cNvSpPr txBox="1"/>
          <p:nvPr/>
        </p:nvSpPr>
        <p:spPr>
          <a:xfrm>
            <a:off x="594360" y="2743200"/>
            <a:ext cx="10515600" cy="12801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The loudest thing is almost never the cause.</a:t>
            </a:r>
            <a:endParaRPr lang="en-US" sz="4400" dirty="0"/>
          </a:p>
        </p:txBody>
      </p:sp>
      <p:sp>
        <p:nvSpPr>
          <p:cNvPr id="5" name="Text 2"/>
          <p:cNvSpPr txBox="1"/>
          <p:nvPr/>
        </p:nvSpPr>
        <p:spPr>
          <a:xfrm>
            <a:off x="594360" y="4114800"/>
            <a:ext cx="9144000" cy="365760"/>
          </a:xfrm>
          <a:prstGeom prst="rect">
            <a:avLst/>
          </a:prstGeom>
          <a:noFill/>
          <a:ln/>
        </p:spPr>
        <p:txBody>
          <a:bodyPr wrap="square" lIns="0" tIns="0" rIns="0" bIns="0" rtlCol="0" anchor="ctr"/>
          <a:lstStyle/>
          <a:p>
            <a:pPr indent="0" marL="0">
              <a:buNone/>
            </a:pPr>
            <a:r>
              <a:rPr lang="en-US" sz="1700" i="1" dirty="0">
                <a:solidFill>
                  <a:srgbClr val="8FA3B8"/>
                </a:solidFill>
                <a:latin typeface="Calibri" pitchFamily="34" charset="0"/>
                <a:ea typeface="Calibri" pitchFamily="34" charset="-122"/>
                <a:cs typeface="Calibri" pitchFamily="34" charset="-120"/>
              </a:rPr>
              <a:t>A one-line qualifier lives here, if it needs one.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Three cards across</a:t>
            </a:r>
            <a:endParaRPr lang="en-US" sz="3600" dirty="0"/>
          </a:p>
        </p:txBody>
      </p:sp>
      <p:sp>
        <p:nvSpPr>
          <p:cNvPr id="5" name="Shape 2"/>
          <p:cNvSpPr/>
          <p:nvPr/>
        </p:nvSpPr>
        <p:spPr>
          <a:xfrm>
            <a:off x="594360" y="1783080"/>
            <a:ext cx="3423818" cy="3703320"/>
          </a:xfrm>
          <a:prstGeom prst="roundRect">
            <a:avLst>
              <a:gd name="adj" fmla="val 1602"/>
            </a:avLst>
          </a:prstGeom>
          <a:solidFill>
            <a:srgbClr val="19242F"/>
          </a:solidFill>
          <a:ln/>
        </p:spPr>
      </p:sp>
      <p:sp>
        <p:nvSpPr>
          <p:cNvPr id="6" name="Shape 3"/>
          <p:cNvSpPr/>
          <p:nvPr/>
        </p:nvSpPr>
        <p:spPr>
          <a:xfrm>
            <a:off x="914400" y="2103120"/>
            <a:ext cx="457200" cy="457200"/>
          </a:xfrm>
          <a:prstGeom prst="ellipse">
            <a:avLst/>
          </a:prstGeom>
          <a:solidFill>
            <a:srgbClr val="5B9BD5"/>
          </a:solidFill>
          <a:ln/>
        </p:spPr>
      </p:sp>
      <p:sp>
        <p:nvSpPr>
          <p:cNvPr id="7" name="Text 4"/>
          <p:cNvSpPr txBox="1"/>
          <p:nvPr/>
        </p:nvSpPr>
        <p:spPr>
          <a:xfrm>
            <a:off x="914400"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14400"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First thing</a:t>
            </a:r>
            <a:endParaRPr lang="en-US" sz="2100" dirty="0"/>
          </a:p>
        </p:txBody>
      </p:sp>
      <p:sp>
        <p:nvSpPr>
          <p:cNvPr id="9" name="Text 6"/>
          <p:cNvSpPr txBox="1"/>
          <p:nvPr/>
        </p:nvSpPr>
        <p:spPr>
          <a:xfrm>
            <a:off x="914400" y="3200400"/>
            <a:ext cx="2783738" cy="548640"/>
          </a:xfrm>
          <a:prstGeom prst="rect">
            <a:avLst/>
          </a:prstGeom>
          <a:noFill/>
          <a:ln/>
        </p:spPr>
        <p:txBody>
          <a:bodyPr wrap="square" lIns="0" tIns="0" rIns="0" bIns="0" rtlCol="0" anchor="t"/>
          <a:lstStyle/>
          <a:p>
            <a:pPr indent="0" marL="0">
              <a:buNone/>
            </a:pPr>
            <a:r>
              <a:rPr lang="en-US" sz="1500" i="1" dirty="0">
                <a:solidFill>
                  <a:srgbClr val="5B9BD5"/>
                </a:solidFill>
                <a:latin typeface="Calibri" pitchFamily="34" charset="0"/>
                <a:ea typeface="Calibri" pitchFamily="34" charset="-122"/>
                <a:cs typeface="Calibri" pitchFamily="34" charset="-120"/>
              </a:rPr>
              <a:t>The question it answers?</a:t>
            </a:r>
            <a:endParaRPr lang="en-US" sz="1500" dirty="0"/>
          </a:p>
        </p:txBody>
      </p:sp>
      <p:sp>
        <p:nvSpPr>
          <p:cNvPr id="10" name="Text 7"/>
          <p:cNvSpPr txBox="1"/>
          <p:nvPr/>
        </p:nvSpPr>
        <p:spPr>
          <a:xfrm>
            <a:off x="914400"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Two lines of supporting detail, no more than about twenty words.</a:t>
            </a:r>
            <a:endParaRPr lang="en-US" sz="1400" dirty="0"/>
          </a:p>
        </p:txBody>
      </p:sp>
      <p:sp>
        <p:nvSpPr>
          <p:cNvPr id="11" name="Text 8"/>
          <p:cNvSpPr txBox="1"/>
          <p:nvPr/>
        </p:nvSpPr>
        <p:spPr>
          <a:xfrm>
            <a:off x="914400"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12" name="Shape 9"/>
          <p:cNvSpPr/>
          <p:nvPr/>
        </p:nvSpPr>
        <p:spPr>
          <a:xfrm>
            <a:off x="4383938" y="1783080"/>
            <a:ext cx="3423818" cy="3703320"/>
          </a:xfrm>
          <a:prstGeom prst="roundRect">
            <a:avLst>
              <a:gd name="adj" fmla="val 1602"/>
            </a:avLst>
          </a:prstGeom>
          <a:solidFill>
            <a:srgbClr val="19242F"/>
          </a:solidFill>
          <a:ln/>
        </p:spPr>
      </p:sp>
      <p:sp>
        <p:nvSpPr>
          <p:cNvPr id="13" name="Shape 10"/>
          <p:cNvSpPr/>
          <p:nvPr/>
        </p:nvSpPr>
        <p:spPr>
          <a:xfrm>
            <a:off x="4703978" y="2103120"/>
            <a:ext cx="457200" cy="457200"/>
          </a:xfrm>
          <a:prstGeom prst="ellipse">
            <a:avLst/>
          </a:prstGeom>
          <a:solidFill>
            <a:srgbClr val="E8A33D"/>
          </a:solidFill>
          <a:ln/>
        </p:spPr>
      </p:sp>
      <p:sp>
        <p:nvSpPr>
          <p:cNvPr id="14" name="Text 11"/>
          <p:cNvSpPr txBox="1"/>
          <p:nvPr/>
        </p:nvSpPr>
        <p:spPr>
          <a:xfrm>
            <a:off x="4703978"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4703978"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Second thing</a:t>
            </a:r>
            <a:endParaRPr lang="en-US" sz="2100" dirty="0"/>
          </a:p>
        </p:txBody>
      </p:sp>
      <p:sp>
        <p:nvSpPr>
          <p:cNvPr id="16" name="Text 13"/>
          <p:cNvSpPr txBox="1"/>
          <p:nvPr/>
        </p:nvSpPr>
        <p:spPr>
          <a:xfrm>
            <a:off x="4703978" y="3200400"/>
            <a:ext cx="2783738" cy="548640"/>
          </a:xfrm>
          <a:prstGeom prst="rect">
            <a:avLst/>
          </a:prstGeom>
          <a:noFill/>
          <a:ln/>
        </p:spPr>
        <p:txBody>
          <a:bodyPr wrap="square" lIns="0" tIns="0" rIns="0" bIns="0" rtlCol="0" anchor="t"/>
          <a:lstStyle/>
          <a:p>
            <a:pPr indent="0" marL="0">
              <a:buNone/>
            </a:pPr>
            <a:r>
              <a:rPr lang="en-US" sz="1500" i="1" dirty="0">
                <a:solidFill>
                  <a:srgbClr val="E8A33D"/>
                </a:solidFill>
                <a:latin typeface="Calibri" pitchFamily="34" charset="0"/>
                <a:ea typeface="Calibri" pitchFamily="34" charset="-122"/>
                <a:cs typeface="Calibri" pitchFamily="34" charset="-120"/>
              </a:rPr>
              <a:t>The question it answers?</a:t>
            </a:r>
            <a:endParaRPr lang="en-US" sz="1500" dirty="0"/>
          </a:p>
        </p:txBody>
      </p:sp>
      <p:sp>
        <p:nvSpPr>
          <p:cNvPr id="17" name="Text 14"/>
          <p:cNvSpPr txBox="1"/>
          <p:nvPr/>
        </p:nvSpPr>
        <p:spPr>
          <a:xfrm>
            <a:off x="4703978"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Keep the three bodies roughly the same length or the row looks broken.</a:t>
            </a:r>
            <a:endParaRPr lang="en-US" sz="1400" dirty="0"/>
          </a:p>
        </p:txBody>
      </p:sp>
      <p:sp>
        <p:nvSpPr>
          <p:cNvPr id="18" name="Text 15"/>
          <p:cNvSpPr txBox="1"/>
          <p:nvPr/>
        </p:nvSpPr>
        <p:spPr>
          <a:xfrm>
            <a:off x="4703978"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19" name="Shape 16"/>
          <p:cNvSpPr/>
          <p:nvPr/>
        </p:nvSpPr>
        <p:spPr>
          <a:xfrm>
            <a:off x="8173517" y="1783080"/>
            <a:ext cx="3423818" cy="3703320"/>
          </a:xfrm>
          <a:prstGeom prst="roundRect">
            <a:avLst>
              <a:gd name="adj" fmla="val 1602"/>
            </a:avLst>
          </a:prstGeom>
          <a:solidFill>
            <a:srgbClr val="19242F"/>
          </a:solidFill>
          <a:ln/>
        </p:spPr>
      </p:sp>
      <p:sp>
        <p:nvSpPr>
          <p:cNvPr id="20" name="Shape 17"/>
          <p:cNvSpPr/>
          <p:nvPr/>
        </p:nvSpPr>
        <p:spPr>
          <a:xfrm>
            <a:off x="8493557" y="2103120"/>
            <a:ext cx="457200" cy="457200"/>
          </a:xfrm>
          <a:prstGeom prst="ellipse">
            <a:avLst/>
          </a:prstGeom>
          <a:solidFill>
            <a:srgbClr val="E0443E"/>
          </a:solidFill>
          <a:ln/>
        </p:spPr>
      </p:sp>
      <p:sp>
        <p:nvSpPr>
          <p:cNvPr id="21" name="Text 18"/>
          <p:cNvSpPr txBox="1"/>
          <p:nvPr/>
        </p:nvSpPr>
        <p:spPr>
          <a:xfrm>
            <a:off x="8493557"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493557"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Third thing</a:t>
            </a:r>
            <a:endParaRPr lang="en-US" sz="2100" dirty="0"/>
          </a:p>
        </p:txBody>
      </p:sp>
      <p:sp>
        <p:nvSpPr>
          <p:cNvPr id="23" name="Text 20"/>
          <p:cNvSpPr txBox="1"/>
          <p:nvPr/>
        </p:nvSpPr>
        <p:spPr>
          <a:xfrm>
            <a:off x="8493557" y="3200400"/>
            <a:ext cx="2783738" cy="548640"/>
          </a:xfrm>
          <a:prstGeom prst="rect">
            <a:avLst/>
          </a:prstGeom>
          <a:noFill/>
          <a:ln/>
        </p:spPr>
        <p:txBody>
          <a:bodyPr wrap="square" lIns="0" tIns="0" rIns="0" bIns="0" rtlCol="0" anchor="t"/>
          <a:lstStyle/>
          <a:p>
            <a:pPr indent="0" marL="0">
              <a:buNone/>
            </a:pPr>
            <a:r>
              <a:rPr lang="en-US" sz="1500" i="1" dirty="0">
                <a:solidFill>
                  <a:srgbClr val="E0443E"/>
                </a:solidFill>
                <a:latin typeface="Calibri" pitchFamily="34" charset="0"/>
                <a:ea typeface="Calibri" pitchFamily="34" charset="-122"/>
                <a:cs typeface="Calibri" pitchFamily="34" charset="-120"/>
              </a:rPr>
              <a:t>The question it answers?</a:t>
            </a:r>
            <a:endParaRPr lang="en-US" sz="1500" dirty="0"/>
          </a:p>
        </p:txBody>
      </p:sp>
      <p:sp>
        <p:nvSpPr>
          <p:cNvPr id="24" name="Text 21"/>
          <p:cNvSpPr txBox="1"/>
          <p:nvPr/>
        </p:nvSpPr>
        <p:spPr>
          <a:xfrm>
            <a:off x="8493557"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The last card is where the argument lands, so give it the accent colour.</a:t>
            </a:r>
            <a:endParaRPr lang="en-US" sz="1400" dirty="0"/>
          </a:p>
        </p:txBody>
      </p:sp>
      <p:sp>
        <p:nvSpPr>
          <p:cNvPr id="25" name="Text 22"/>
          <p:cNvSpPr txBox="1"/>
          <p:nvPr/>
        </p:nvSpPr>
        <p:spPr>
          <a:xfrm>
            <a:off x="8493557"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26" name="Text 23"/>
          <p:cNvSpPr txBox="1"/>
          <p:nvPr/>
        </p:nvSpPr>
        <p:spPr>
          <a:xfrm>
            <a:off x="594360" y="5760720"/>
            <a:ext cx="11002975"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line under the row is where you say what the three add up to.</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Stacked rows</a:t>
            </a:r>
            <a:endParaRPr lang="en-US" sz="3600" dirty="0"/>
          </a:p>
        </p:txBody>
      </p:sp>
      <p:sp>
        <p:nvSpPr>
          <p:cNvPr id="5" name="Shape 2"/>
          <p:cNvSpPr/>
          <p:nvPr/>
        </p:nvSpPr>
        <p:spPr>
          <a:xfrm>
            <a:off x="594360" y="1783080"/>
            <a:ext cx="11002975" cy="1207008"/>
          </a:xfrm>
          <a:prstGeom prst="roundRect">
            <a:avLst>
              <a:gd name="adj" fmla="val 4545"/>
            </a:avLst>
          </a:prstGeom>
          <a:solidFill>
            <a:srgbClr val="19242F"/>
          </a:solidFill>
          <a:ln/>
        </p:spPr>
      </p:sp>
      <p:sp>
        <p:nvSpPr>
          <p:cNvPr id="6" name="Shape 3"/>
          <p:cNvSpPr/>
          <p:nvPr/>
        </p:nvSpPr>
        <p:spPr>
          <a:xfrm>
            <a:off x="886968" y="2148840"/>
            <a:ext cx="475488" cy="475488"/>
          </a:xfrm>
          <a:prstGeom prst="ellipse">
            <a:avLst/>
          </a:prstGeom>
          <a:solidFill>
            <a:srgbClr val="E8A33D"/>
          </a:solidFill>
          <a:ln/>
        </p:spPr>
      </p:sp>
      <p:sp>
        <p:nvSpPr>
          <p:cNvPr id="7" name="Text 4"/>
          <p:cNvSpPr txBox="1"/>
          <p:nvPr/>
        </p:nvSpPr>
        <p:spPr>
          <a:xfrm>
            <a:off x="886968" y="21488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659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A bold statement per row</a:t>
            </a:r>
            <a:endParaRPr lang="en-US" sz="2000" dirty="0"/>
          </a:p>
        </p:txBody>
      </p:sp>
      <p:sp>
        <p:nvSpPr>
          <p:cNvPr id="9" name="Text 6"/>
          <p:cNvSpPr txBox="1"/>
          <p:nvPr/>
        </p:nvSpPr>
        <p:spPr>
          <a:xfrm>
            <a:off x="1554480" y="23865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And one line of detail underneath it, in muted grey.</a:t>
            </a:r>
            <a:endParaRPr lang="en-US" sz="1400" dirty="0"/>
          </a:p>
        </p:txBody>
      </p:sp>
      <p:sp>
        <p:nvSpPr>
          <p:cNvPr id="10" name="Shape 7"/>
          <p:cNvSpPr/>
          <p:nvPr/>
        </p:nvSpPr>
        <p:spPr>
          <a:xfrm>
            <a:off x="594360" y="3154680"/>
            <a:ext cx="11002975" cy="1207008"/>
          </a:xfrm>
          <a:prstGeom prst="roundRect">
            <a:avLst>
              <a:gd name="adj" fmla="val 4545"/>
            </a:avLst>
          </a:prstGeom>
          <a:solidFill>
            <a:srgbClr val="19242F"/>
          </a:solidFill>
          <a:ln/>
        </p:spPr>
      </p:sp>
      <p:sp>
        <p:nvSpPr>
          <p:cNvPr id="11" name="Shape 8"/>
          <p:cNvSpPr/>
          <p:nvPr/>
        </p:nvSpPr>
        <p:spPr>
          <a:xfrm>
            <a:off x="886968" y="3520440"/>
            <a:ext cx="475488" cy="475488"/>
          </a:xfrm>
          <a:prstGeom prst="ellipse">
            <a:avLst/>
          </a:prstGeom>
          <a:solidFill>
            <a:srgbClr val="5B9BD5"/>
          </a:solidFill>
          <a:ln/>
        </p:spPr>
      </p:sp>
      <p:sp>
        <p:nvSpPr>
          <p:cNvPr id="12" name="Text 9"/>
          <p:cNvSpPr txBox="1"/>
          <p:nvPr/>
        </p:nvSpPr>
        <p:spPr>
          <a:xfrm>
            <a:off x="886968" y="35204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554480" y="33375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The rows are full content width</a:t>
            </a:r>
            <a:endParaRPr lang="en-US" sz="2000" dirty="0"/>
          </a:p>
        </p:txBody>
      </p:sp>
      <p:sp>
        <p:nvSpPr>
          <p:cNvPr id="14" name="Text 11"/>
          <p:cNvSpPr txBox="1"/>
          <p:nvPr/>
        </p:nvSpPr>
        <p:spPr>
          <a:xfrm>
            <a:off x="1554480" y="37581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Which makes them read faster than columns from the back of a room.</a:t>
            </a:r>
            <a:endParaRPr lang="en-US" sz="1400" dirty="0"/>
          </a:p>
        </p:txBody>
      </p:sp>
      <p:sp>
        <p:nvSpPr>
          <p:cNvPr id="15" name="Shape 12"/>
          <p:cNvSpPr/>
          <p:nvPr/>
        </p:nvSpPr>
        <p:spPr>
          <a:xfrm>
            <a:off x="594360" y="4526280"/>
            <a:ext cx="11002975" cy="1207008"/>
          </a:xfrm>
          <a:prstGeom prst="roundRect">
            <a:avLst>
              <a:gd name="adj" fmla="val 4545"/>
            </a:avLst>
          </a:prstGeom>
          <a:solidFill>
            <a:srgbClr val="19242F"/>
          </a:solidFill>
          <a:ln/>
        </p:spPr>
      </p:sp>
      <p:sp>
        <p:nvSpPr>
          <p:cNvPr id="16" name="Shape 13"/>
          <p:cNvSpPr/>
          <p:nvPr/>
        </p:nvSpPr>
        <p:spPr>
          <a:xfrm>
            <a:off x="886968" y="4892040"/>
            <a:ext cx="475488" cy="475488"/>
          </a:xfrm>
          <a:prstGeom prst="ellipse">
            <a:avLst/>
          </a:prstGeom>
          <a:solidFill>
            <a:srgbClr val="46B98A"/>
          </a:solidFill>
          <a:ln/>
        </p:spPr>
      </p:sp>
      <p:sp>
        <p:nvSpPr>
          <p:cNvPr id="17" name="Text 14"/>
          <p:cNvSpPr txBox="1"/>
          <p:nvPr/>
        </p:nvSpPr>
        <p:spPr>
          <a:xfrm>
            <a:off x="886968" y="48920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554480" y="47091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Three is the comfortable number</a:t>
            </a:r>
            <a:endParaRPr lang="en-US" sz="2000" dirty="0"/>
          </a:p>
        </p:txBody>
      </p:sp>
      <p:sp>
        <p:nvSpPr>
          <p:cNvPr id="19" name="Text 16"/>
          <p:cNvSpPr txBox="1"/>
          <p:nvPr/>
        </p:nvSpPr>
        <p:spPr>
          <a:xfrm>
            <a:off x="1554480" y="51297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Four fits. Five means the slide wants to be two slides.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Two panels, equal weight</a:t>
            </a:r>
            <a:endParaRPr lang="en-US" sz="3600" dirty="0"/>
          </a:p>
        </p:txBody>
      </p:sp>
      <p:sp>
        <p:nvSpPr>
          <p:cNvPr id="5" name="Shape 2"/>
          <p:cNvSpPr/>
          <p:nvPr/>
        </p:nvSpPr>
        <p:spPr>
          <a:xfrm>
            <a:off x="594360" y="1783080"/>
            <a:ext cx="5257800" cy="3977640"/>
          </a:xfrm>
          <a:prstGeom prst="roundRect">
            <a:avLst>
              <a:gd name="adj" fmla="val 1379"/>
            </a:avLst>
          </a:prstGeom>
          <a:solidFill>
            <a:srgbClr val="19242F"/>
          </a:solidFill>
          <a:ln/>
        </p:spPr>
      </p:sp>
      <p:sp>
        <p:nvSpPr>
          <p:cNvPr id="6" name="Text 3"/>
          <p:cNvSpPr txBox="1"/>
          <p:nvPr/>
        </p:nvSpPr>
        <p:spPr>
          <a:xfrm>
            <a:off x="914400" y="2011680"/>
            <a:ext cx="4617720" cy="365760"/>
          </a:xfrm>
          <a:prstGeom prst="rect">
            <a:avLst/>
          </a:prstGeom>
          <a:noFill/>
          <a:ln/>
        </p:spPr>
        <p:txBody>
          <a:bodyPr wrap="square" lIns="0" tIns="0" rIns="0" bIns="0" rtlCol="0" anchor="ctr"/>
          <a:lstStyle/>
          <a:p>
            <a:pPr indent="0" marL="0">
              <a:buNone/>
            </a:pPr>
            <a:r>
              <a:rPr lang="en-US" sz="2100" b="1" dirty="0">
                <a:solidFill>
                  <a:srgbClr val="E0443E"/>
                </a:solidFill>
                <a:latin typeface="Calibri" pitchFamily="34" charset="0"/>
                <a:ea typeface="Calibri" pitchFamily="34" charset="-122"/>
                <a:cs typeface="Calibri" pitchFamily="34" charset="-120"/>
              </a:rPr>
              <a:t>The left one</a:t>
            </a:r>
            <a:endParaRPr lang="en-US" sz="2100" dirty="0"/>
          </a:p>
        </p:txBody>
      </p:sp>
      <p:sp>
        <p:nvSpPr>
          <p:cNvPr id="7" name="Text 4"/>
          <p:cNvSpPr txBox="1"/>
          <p:nvPr/>
        </p:nvSpPr>
        <p:spPr>
          <a:xfrm>
            <a:off x="960120" y="2395728"/>
            <a:ext cx="457200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 short bullet</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Another short bullet</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Keep them to one line each where you can</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Five is the ceiling</a:t>
            </a:r>
            <a:endParaRPr lang="en-US" sz="1500" dirty="0"/>
          </a:p>
        </p:txBody>
      </p:sp>
      <p:sp>
        <p:nvSpPr>
          <p:cNvPr id="8" name="Shape 5"/>
          <p:cNvSpPr/>
          <p:nvPr/>
        </p:nvSpPr>
        <p:spPr>
          <a:xfrm>
            <a:off x="6355080" y="1783080"/>
            <a:ext cx="5257800" cy="3977640"/>
          </a:xfrm>
          <a:prstGeom prst="roundRect">
            <a:avLst>
              <a:gd name="adj" fmla="val 1379"/>
            </a:avLst>
          </a:prstGeom>
          <a:solidFill>
            <a:srgbClr val="19242F"/>
          </a:solidFill>
          <a:ln/>
        </p:spPr>
      </p:sp>
      <p:sp>
        <p:nvSpPr>
          <p:cNvPr id="9" name="Text 6"/>
          <p:cNvSpPr txBox="1"/>
          <p:nvPr/>
        </p:nvSpPr>
        <p:spPr>
          <a:xfrm>
            <a:off x="6675120" y="2011680"/>
            <a:ext cx="4663440" cy="365760"/>
          </a:xfrm>
          <a:prstGeom prst="rect">
            <a:avLst/>
          </a:prstGeom>
          <a:noFill/>
          <a:ln/>
        </p:spPr>
        <p:txBody>
          <a:bodyPr wrap="square" lIns="0" tIns="0" rIns="0" bIns="0" rtlCol="0" anchor="ctr"/>
          <a:lstStyle/>
          <a:p>
            <a:pPr indent="0" marL="0">
              <a:buNone/>
            </a:pPr>
            <a:r>
              <a:rPr lang="en-US" sz="2100" b="1" dirty="0">
                <a:solidFill>
                  <a:srgbClr val="46B98A"/>
                </a:solidFill>
                <a:latin typeface="Calibri" pitchFamily="34" charset="0"/>
                <a:ea typeface="Calibri" pitchFamily="34" charset="-122"/>
                <a:cs typeface="Calibri" pitchFamily="34" charset="-120"/>
              </a:rPr>
              <a:t>The right one</a:t>
            </a:r>
            <a:endParaRPr lang="en-US" sz="2100" dirty="0"/>
          </a:p>
        </p:txBody>
      </p:sp>
      <p:sp>
        <p:nvSpPr>
          <p:cNvPr id="10" name="Text 7"/>
          <p:cNvSpPr txBox="1"/>
          <p:nvPr/>
        </p:nvSpPr>
        <p:spPr>
          <a:xfrm>
            <a:off x="6675120" y="256032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~3.5k</a:t>
            </a:r>
            <a:endParaRPr lang="en-US" sz="2700" dirty="0"/>
          </a:p>
        </p:txBody>
      </p:sp>
      <p:sp>
        <p:nvSpPr>
          <p:cNvPr id="11" name="Text 8"/>
          <p:cNvSpPr txBox="1"/>
          <p:nvPr/>
        </p:nvSpPr>
        <p:spPr>
          <a:xfrm>
            <a:off x="8183880" y="259689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 number worth saying out loud, with its unit spelled out beside it</a:t>
            </a:r>
            <a:endParaRPr lang="en-US" sz="1400" dirty="0"/>
          </a:p>
        </p:txBody>
      </p:sp>
      <p:sp>
        <p:nvSpPr>
          <p:cNvPr id="12" name="Text 9"/>
          <p:cNvSpPr txBox="1"/>
          <p:nvPr/>
        </p:nvSpPr>
        <p:spPr>
          <a:xfrm>
            <a:off x="6675120" y="361188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1/min</a:t>
            </a:r>
            <a:endParaRPr lang="en-US" sz="2700" dirty="0"/>
          </a:p>
        </p:txBody>
      </p:sp>
      <p:sp>
        <p:nvSpPr>
          <p:cNvPr id="13" name="Text 10"/>
          <p:cNvSpPr txBox="1"/>
          <p:nvPr/>
        </p:nvSpPr>
        <p:spPr>
          <a:xfrm>
            <a:off x="8183880" y="364845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second number</a:t>
            </a:r>
            <a:endParaRPr lang="en-US" sz="1400" dirty="0"/>
          </a:p>
        </p:txBody>
      </p:sp>
      <p:sp>
        <p:nvSpPr>
          <p:cNvPr id="14" name="Text 11"/>
          <p:cNvSpPr txBox="1"/>
          <p:nvPr/>
        </p:nvSpPr>
        <p:spPr>
          <a:xfrm>
            <a:off x="6675120" y="466344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0</a:t>
            </a:r>
            <a:endParaRPr lang="en-US" sz="2700" dirty="0"/>
          </a:p>
        </p:txBody>
      </p:sp>
      <p:sp>
        <p:nvSpPr>
          <p:cNvPr id="15" name="Text 12"/>
          <p:cNvSpPr txBox="1"/>
          <p:nvPr/>
        </p:nvSpPr>
        <p:spPr>
          <a:xfrm>
            <a:off x="8183880" y="470001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third number - zero is the most persuasive one you have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chain of consequences</a:t>
            </a:r>
            <a:endParaRPr lang="en-US" sz="3600" dirty="0"/>
          </a:p>
        </p:txBody>
      </p:sp>
      <p:sp>
        <p:nvSpPr>
          <p:cNvPr id="5" name="Shape 2"/>
          <p:cNvSpPr/>
          <p:nvPr/>
        </p:nvSpPr>
        <p:spPr>
          <a:xfrm>
            <a:off x="594360" y="1783080"/>
            <a:ext cx="11002975" cy="987552"/>
          </a:xfrm>
          <a:prstGeom prst="roundRect">
            <a:avLst>
              <a:gd name="adj" fmla="val 5556"/>
            </a:avLst>
          </a:prstGeom>
          <a:solidFill>
            <a:srgbClr val="19242F"/>
          </a:solidFill>
          <a:ln/>
        </p:spPr>
      </p:sp>
      <p:sp>
        <p:nvSpPr>
          <p:cNvPr id="6" name="Shape 3"/>
          <p:cNvSpPr/>
          <p:nvPr/>
        </p:nvSpPr>
        <p:spPr>
          <a:xfrm>
            <a:off x="868680" y="2029968"/>
            <a:ext cx="502920" cy="502920"/>
          </a:xfrm>
          <a:prstGeom prst="ellipse">
            <a:avLst/>
          </a:prstGeom>
          <a:solidFill>
            <a:srgbClr val="E8A33D"/>
          </a:solidFill>
          <a:ln/>
        </p:spPr>
      </p:sp>
      <p:sp>
        <p:nvSpPr>
          <p:cNvPr id="7" name="Text 4"/>
          <p:cNvSpPr txBox="1"/>
          <p:nvPr/>
        </p:nvSpPr>
        <p:spPr>
          <a:xfrm>
            <a:off x="868680" y="2029968"/>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47672"/>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first-host</a:t>
            </a:r>
            <a:endParaRPr lang="en-US" sz="1600" dirty="0"/>
          </a:p>
        </p:txBody>
      </p:sp>
      <p:sp>
        <p:nvSpPr>
          <p:cNvPr id="9" name="Text 6"/>
          <p:cNvSpPr txBox="1"/>
          <p:nvPr/>
        </p:nvSpPr>
        <p:spPr>
          <a:xfrm>
            <a:off x="1554480" y="2331720"/>
            <a:ext cx="2194560" cy="292608"/>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warning</a:t>
            </a:r>
            <a:endParaRPr lang="en-US" sz="1300" dirty="0"/>
          </a:p>
        </p:txBody>
      </p:sp>
      <p:sp>
        <p:nvSpPr>
          <p:cNvPr id="10" name="Text 7"/>
          <p:cNvSpPr txBox="1"/>
          <p:nvPr/>
        </p:nvSpPr>
        <p:spPr>
          <a:xfrm>
            <a:off x="3886200" y="2066544"/>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The quiet thing that started it, described in one line.</a:t>
            </a:r>
            <a:endParaRPr lang="en-US" sz="1500" dirty="0"/>
          </a:p>
        </p:txBody>
      </p:sp>
      <p:sp>
        <p:nvSpPr>
          <p:cNvPr id="11" name="Shape 8"/>
          <p:cNvSpPr/>
          <p:nvPr/>
        </p:nvSpPr>
        <p:spPr>
          <a:xfrm rot="10800000">
            <a:off x="1042416" y="2825496"/>
            <a:ext cx="155448" cy="118872"/>
          </a:xfrm>
          <a:prstGeom prst="triangle">
            <a:avLst/>
          </a:prstGeom>
          <a:solidFill>
            <a:srgbClr val="7C90A6"/>
          </a:solidFill>
          <a:ln/>
        </p:spPr>
      </p:sp>
      <p:sp>
        <p:nvSpPr>
          <p:cNvPr id="12" name="Shape 9"/>
          <p:cNvSpPr/>
          <p:nvPr/>
        </p:nvSpPr>
        <p:spPr>
          <a:xfrm>
            <a:off x="594360" y="2990088"/>
            <a:ext cx="11002975" cy="987552"/>
          </a:xfrm>
          <a:prstGeom prst="roundRect">
            <a:avLst>
              <a:gd name="adj" fmla="val 5556"/>
            </a:avLst>
          </a:prstGeom>
          <a:solidFill>
            <a:srgbClr val="19242F"/>
          </a:solidFill>
          <a:ln/>
        </p:spPr>
      </p:sp>
      <p:sp>
        <p:nvSpPr>
          <p:cNvPr id="13" name="Shape 10"/>
          <p:cNvSpPr/>
          <p:nvPr/>
        </p:nvSpPr>
        <p:spPr>
          <a:xfrm>
            <a:off x="868680" y="3236976"/>
            <a:ext cx="502920" cy="502920"/>
          </a:xfrm>
          <a:prstGeom prst="ellipse">
            <a:avLst/>
          </a:prstGeom>
          <a:solidFill>
            <a:srgbClr val="E0443E"/>
          </a:solidFill>
          <a:ln/>
        </p:spPr>
      </p:sp>
      <p:sp>
        <p:nvSpPr>
          <p:cNvPr id="14" name="Text 11"/>
          <p:cNvSpPr txBox="1"/>
          <p:nvPr/>
        </p:nvSpPr>
        <p:spPr>
          <a:xfrm>
            <a:off x="868680" y="3236976"/>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554480" y="3154680"/>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second-host</a:t>
            </a:r>
            <a:endParaRPr lang="en-US" sz="1600" dirty="0"/>
          </a:p>
        </p:txBody>
      </p:sp>
      <p:sp>
        <p:nvSpPr>
          <p:cNvPr id="16" name="Text 13"/>
          <p:cNvSpPr txBox="1"/>
          <p:nvPr/>
        </p:nvSpPr>
        <p:spPr>
          <a:xfrm>
            <a:off x="1554480" y="3538728"/>
            <a:ext cx="2194560" cy="292608"/>
          </a:xfrm>
          <a:prstGeom prst="rect">
            <a:avLst/>
          </a:prstGeom>
          <a:noFill/>
          <a:ln/>
        </p:spPr>
        <p:txBody>
          <a:bodyPr wrap="square" lIns="0" tIns="0" rIns="0" bIns="0" rtlCol="0" anchor="ctr"/>
          <a:lstStyle/>
          <a:p>
            <a:pPr indent="0" marL="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17" name="Text 14"/>
          <p:cNvSpPr txBox="1"/>
          <p:nvPr/>
        </p:nvSpPr>
        <p:spPr>
          <a:xfrm>
            <a:off x="3886200" y="3273552"/>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What that did downstream, on a different machine.</a:t>
            </a:r>
            <a:endParaRPr lang="en-US" sz="1500" dirty="0"/>
          </a:p>
        </p:txBody>
      </p:sp>
      <p:sp>
        <p:nvSpPr>
          <p:cNvPr id="18" name="Shape 15"/>
          <p:cNvSpPr/>
          <p:nvPr/>
        </p:nvSpPr>
        <p:spPr>
          <a:xfrm rot="10800000">
            <a:off x="1042416" y="4032504"/>
            <a:ext cx="155448" cy="118872"/>
          </a:xfrm>
          <a:prstGeom prst="triangle">
            <a:avLst/>
          </a:prstGeom>
          <a:solidFill>
            <a:srgbClr val="7C90A6"/>
          </a:solidFill>
          <a:ln/>
        </p:spPr>
      </p:sp>
      <p:sp>
        <p:nvSpPr>
          <p:cNvPr id="19" name="Shape 16"/>
          <p:cNvSpPr/>
          <p:nvPr/>
        </p:nvSpPr>
        <p:spPr>
          <a:xfrm>
            <a:off x="594360" y="4197096"/>
            <a:ext cx="11002975" cy="987552"/>
          </a:xfrm>
          <a:prstGeom prst="roundRect">
            <a:avLst>
              <a:gd name="adj" fmla="val 5556"/>
            </a:avLst>
          </a:prstGeom>
          <a:solidFill>
            <a:srgbClr val="19242F"/>
          </a:solidFill>
          <a:ln/>
        </p:spPr>
      </p:sp>
      <p:sp>
        <p:nvSpPr>
          <p:cNvPr id="20" name="Shape 17"/>
          <p:cNvSpPr/>
          <p:nvPr/>
        </p:nvSpPr>
        <p:spPr>
          <a:xfrm>
            <a:off x="868680" y="4443984"/>
            <a:ext cx="502920" cy="502920"/>
          </a:xfrm>
          <a:prstGeom prst="ellipse">
            <a:avLst/>
          </a:prstGeom>
          <a:solidFill>
            <a:srgbClr val="E0443E"/>
          </a:solidFill>
          <a:ln/>
        </p:spPr>
      </p:sp>
      <p:sp>
        <p:nvSpPr>
          <p:cNvPr id="21" name="Text 18"/>
          <p:cNvSpPr txBox="1"/>
          <p:nvPr/>
        </p:nvSpPr>
        <p:spPr>
          <a:xfrm>
            <a:off x="868680" y="4443984"/>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1554480" y="4361688"/>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third-host</a:t>
            </a:r>
            <a:endParaRPr lang="en-US" sz="1600" dirty="0"/>
          </a:p>
        </p:txBody>
      </p:sp>
      <p:sp>
        <p:nvSpPr>
          <p:cNvPr id="23" name="Text 20"/>
          <p:cNvSpPr txBox="1"/>
          <p:nvPr/>
        </p:nvSpPr>
        <p:spPr>
          <a:xfrm>
            <a:off x="1554480" y="4745736"/>
            <a:ext cx="2194560" cy="292608"/>
          </a:xfrm>
          <a:prstGeom prst="rect">
            <a:avLst/>
          </a:prstGeom>
          <a:noFill/>
          <a:ln/>
        </p:spPr>
        <p:txBody>
          <a:bodyPr wrap="square" lIns="0" tIns="0" rIns="0" bIns="0" rtlCol="0" anchor="ctr"/>
          <a:lstStyle/>
          <a:p>
            <a:pPr indent="0" marL="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24" name="Text 21"/>
          <p:cNvSpPr txBox="1"/>
          <p:nvPr/>
        </p:nvSpPr>
        <p:spPr>
          <a:xfrm>
            <a:off x="3886200" y="4480560"/>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What the user actually noticed.</a:t>
            </a:r>
            <a:endParaRPr lang="en-US" sz="1500" dirty="0"/>
          </a:p>
        </p:txBody>
      </p:sp>
      <p:sp>
        <p:nvSpPr>
          <p:cNvPr id="25" name="Shape 22"/>
          <p:cNvSpPr/>
          <p:nvPr/>
        </p:nvSpPr>
        <p:spPr>
          <a:xfrm>
            <a:off x="594360" y="5349240"/>
            <a:ext cx="11002975" cy="868680"/>
          </a:xfrm>
          <a:prstGeom prst="roundRect">
            <a:avLst>
              <a:gd name="adj" fmla="val 6316"/>
            </a:avLst>
          </a:prstGeom>
          <a:solidFill>
            <a:srgbClr val="223140"/>
          </a:solidFill>
          <a:ln/>
        </p:spPr>
      </p:sp>
      <p:sp>
        <p:nvSpPr>
          <p:cNvPr id="26" name="Text 23"/>
          <p:cNvSpPr txBox="1"/>
          <p:nvPr/>
        </p:nvSpPr>
        <p:spPr>
          <a:xfrm>
            <a:off x="868680" y="5550408"/>
            <a:ext cx="10454335" cy="502920"/>
          </a:xfrm>
          <a:prstGeom prst="rect">
            <a:avLst/>
          </a:prstGeom>
          <a:noFill/>
          <a:ln/>
        </p:spPr>
        <p:txBody>
          <a:bodyPr wrap="square" lIns="0" tIns="0" rIns="0" bIns="0" rtlCol="0" anchor="t"/>
          <a:lstStyle/>
          <a:p>
            <a:pPr indent="0" marL="0">
              <a:buNone/>
            </a:pPr>
            <a:r>
              <a:rPr lang="en-US" sz="1600" b="1" dirty="0">
                <a:solidFill>
                  <a:srgbClr val="46B98A"/>
                </a:solidFill>
                <a:latin typeface="Calibri" pitchFamily="34" charset="0"/>
                <a:ea typeface="Calibri" pitchFamily="34" charset="-122"/>
                <a:cs typeface="Calibri" pitchFamily="34" charset="-120"/>
              </a:rPr>
              <a:t>DO NOW  </a:t>
            </a:r>
            <a:pPr indent="0" marL="0">
              <a:buNone/>
            </a:pPr>
            <a:r>
              <a:rPr lang="en-US" sz="1600" dirty="0">
                <a:solidFill>
                  <a:srgbClr val="E9EFF6"/>
                </a:solidFill>
                <a:latin typeface="Calibri" pitchFamily="34" charset="0"/>
                <a:ea typeface="Calibri" pitchFamily="34" charset="-122"/>
                <a:cs typeface="Calibri" pitchFamily="34" charset="-120"/>
              </a:rPr>
              <a:t>The concrete first action, naming the thing to act 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wall of machine output</a:t>
            </a:r>
            <a:endParaRPr lang="en-US" sz="3600" dirty="0"/>
          </a:p>
        </p:txBody>
      </p:sp>
      <p:sp>
        <p:nvSpPr>
          <p:cNvPr id="5" name="Shape 2"/>
          <p:cNvSpPr/>
          <p:nvPr/>
        </p:nvSpPr>
        <p:spPr>
          <a:xfrm>
            <a:off x="594360" y="1600200"/>
            <a:ext cx="11002975" cy="1760220"/>
          </a:xfrm>
          <a:prstGeom prst="roundRect">
            <a:avLst>
              <a:gd name="adj" fmla="val 3117"/>
            </a:avLst>
          </a:prstGeom>
          <a:solidFill>
            <a:srgbClr val="19242F"/>
          </a:solidFill>
          <a:ln/>
        </p:spPr>
      </p:sp>
      <p:sp>
        <p:nvSpPr>
          <p:cNvPr id="6" name="Text 3"/>
          <p:cNvSpPr txBox="1"/>
          <p:nvPr/>
        </p:nvSpPr>
        <p:spPr>
          <a:xfrm>
            <a:off x="822960" y="173736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16:54:31</a:t>
            </a:r>
            <a:endParaRPr lang="en-US" sz="1100" dirty="0"/>
          </a:p>
        </p:txBody>
      </p:sp>
      <p:sp>
        <p:nvSpPr>
          <p:cNvPr id="7" name="Text 4"/>
          <p:cNvSpPr txBox="1"/>
          <p:nvPr/>
        </p:nvSpPr>
        <p:spPr>
          <a:xfrm>
            <a:off x="1783080" y="1737360"/>
            <a:ext cx="777240" cy="274320"/>
          </a:xfrm>
          <a:prstGeom prst="rect">
            <a:avLst/>
          </a:prstGeom>
          <a:noFill/>
          <a:ln/>
        </p:spPr>
        <p:txBody>
          <a:bodyPr wrap="square" lIns="0" tIns="0" rIns="0" bIns="0" rtlCol="0" anchor="ctr"/>
          <a:lstStyle/>
          <a:p>
            <a:pPr indent="0" marL="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8" name="Text 5"/>
          <p:cNvSpPr txBox="1"/>
          <p:nvPr/>
        </p:nvSpPr>
        <p:spPr>
          <a:xfrm>
            <a:off x="2651760" y="173736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sql-watch      sql-prod-03    Connection pool exhausted, 97 of 100 in use</a:t>
            </a:r>
            <a:endParaRPr lang="en-US" sz="1100" dirty="0"/>
          </a:p>
        </p:txBody>
      </p:sp>
      <p:sp>
        <p:nvSpPr>
          <p:cNvPr id="9" name="Text 6"/>
          <p:cNvSpPr txBox="1"/>
          <p:nvPr/>
        </p:nvSpPr>
        <p:spPr>
          <a:xfrm>
            <a:off x="822960" y="203454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16:54:30</a:t>
            </a:r>
            <a:endParaRPr lang="en-US" sz="1100" dirty="0"/>
          </a:p>
        </p:txBody>
      </p:sp>
      <p:sp>
        <p:nvSpPr>
          <p:cNvPr id="10" name="Text 7"/>
          <p:cNvSpPr txBox="1"/>
          <p:nvPr/>
        </p:nvSpPr>
        <p:spPr>
          <a:xfrm>
            <a:off x="1783080" y="2034540"/>
            <a:ext cx="777240" cy="274320"/>
          </a:xfrm>
          <a:prstGeom prst="rect">
            <a:avLst/>
          </a:prstGeom>
          <a:noFill/>
          <a:ln/>
        </p:spPr>
        <p:txBody>
          <a:bodyPr wrap="square" lIns="0" tIns="0" rIns="0" bIns="0" rtlCol="0" anchor="ctr"/>
          <a:lstStyle/>
          <a:p>
            <a:pPr indent="0" marL="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11" name="Text 8"/>
          <p:cNvSpPr txBox="1"/>
          <p:nvPr/>
        </p:nvSpPr>
        <p:spPr>
          <a:xfrm>
            <a:off x="2651760" y="203454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storage-watch  sql-prod-03    Disk read latency 480 ms, sustained</a:t>
            </a:r>
            <a:endParaRPr lang="en-US" sz="1100" dirty="0"/>
          </a:p>
        </p:txBody>
      </p:sp>
      <p:sp>
        <p:nvSpPr>
          <p:cNvPr id="12" name="Text 9"/>
          <p:cNvSpPr txBox="1"/>
          <p:nvPr/>
        </p:nvSpPr>
        <p:spPr>
          <a:xfrm>
            <a:off x="822960" y="233172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16:54:29</a:t>
            </a:r>
            <a:endParaRPr lang="en-US" sz="1100" dirty="0"/>
          </a:p>
        </p:txBody>
      </p:sp>
      <p:sp>
        <p:nvSpPr>
          <p:cNvPr id="13" name="Text 10"/>
          <p:cNvSpPr txBox="1"/>
          <p:nvPr/>
        </p:nvSpPr>
        <p:spPr>
          <a:xfrm>
            <a:off x="1783080" y="2331720"/>
            <a:ext cx="777240" cy="274320"/>
          </a:xfrm>
          <a:prstGeom prst="rect">
            <a:avLst/>
          </a:prstGeom>
          <a:noFill/>
          <a:ln/>
        </p:spPr>
        <p:txBody>
          <a:bodyPr wrap="square" lIns="0" tIns="0" rIns="0" bIns="0" rtlCol="0" anchor="ctr"/>
          <a:lstStyle/>
          <a:p>
            <a:pPr indent="0" marL="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14" name="Text 11"/>
          <p:cNvSpPr txBox="1"/>
          <p:nvPr/>
        </p:nvSpPr>
        <p:spPr>
          <a:xfrm>
            <a:off x="2651760" y="233172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backup-agent   backup-01      Nightly backup still running, 4 hours over window</a:t>
            </a:r>
            <a:endParaRPr lang="en-US" sz="1100" dirty="0"/>
          </a:p>
        </p:txBody>
      </p:sp>
      <p:sp>
        <p:nvSpPr>
          <p:cNvPr id="15" name="Text 12"/>
          <p:cNvSpPr txBox="1"/>
          <p:nvPr/>
        </p:nvSpPr>
        <p:spPr>
          <a:xfrm>
            <a:off x="822960" y="262890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16:54:28</a:t>
            </a:r>
            <a:endParaRPr lang="en-US" sz="1100" dirty="0"/>
          </a:p>
        </p:txBody>
      </p:sp>
      <p:sp>
        <p:nvSpPr>
          <p:cNvPr id="16" name="Text 13"/>
          <p:cNvSpPr txBox="1"/>
          <p:nvPr/>
        </p:nvSpPr>
        <p:spPr>
          <a:xfrm>
            <a:off x="1783080" y="2628900"/>
            <a:ext cx="777240" cy="274320"/>
          </a:xfrm>
          <a:prstGeom prst="rect">
            <a:avLst/>
          </a:prstGeom>
          <a:noFill/>
          <a:ln/>
        </p:spPr>
        <p:txBody>
          <a:bodyPr wrap="square" lIns="0" tIns="0" rIns="0" bIns="0" rtlCol="0" anchor="ctr"/>
          <a:lstStyle/>
          <a:p>
            <a:pPr indent="0" marL="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17" name="Text 14"/>
          <p:cNvSpPr txBox="1"/>
          <p:nvPr/>
        </p:nvSpPr>
        <p:spPr>
          <a:xfrm>
            <a:off x="2651760" y="262890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apm            app-web-01     Checkout failures 27 percent of requests</a:t>
            </a:r>
            <a:endParaRPr lang="en-US" sz="1100" dirty="0"/>
          </a:p>
        </p:txBody>
      </p:sp>
      <p:sp>
        <p:nvSpPr>
          <p:cNvPr id="18" name="Text 15"/>
          <p:cNvSpPr txBox="1"/>
          <p:nvPr/>
        </p:nvSpPr>
        <p:spPr>
          <a:xfrm>
            <a:off x="822960" y="292608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16:54:27</a:t>
            </a:r>
            <a:endParaRPr lang="en-US" sz="1100" dirty="0"/>
          </a:p>
        </p:txBody>
      </p:sp>
      <p:sp>
        <p:nvSpPr>
          <p:cNvPr id="19" name="Text 16"/>
          <p:cNvSpPr txBox="1"/>
          <p:nvPr/>
        </p:nvSpPr>
        <p:spPr>
          <a:xfrm>
            <a:off x="1783080" y="2926080"/>
            <a:ext cx="777240" cy="274320"/>
          </a:xfrm>
          <a:prstGeom prst="rect">
            <a:avLst/>
          </a:prstGeom>
          <a:noFill/>
          <a:ln/>
        </p:spPr>
        <p:txBody>
          <a:bodyPr wrap="square" lIns="0" tIns="0" rIns="0" bIns="0" rtlCol="0" anchor="ctr"/>
          <a:lstStyle/>
          <a:p>
            <a:pPr indent="0" marL="0">
              <a:buNone/>
            </a:pPr>
            <a:r>
              <a:rPr lang="en-US" sz="1100" b="1" dirty="0">
                <a:solidFill>
                  <a:srgbClr val="5B9BD5"/>
                </a:solidFill>
                <a:latin typeface="Courier New" pitchFamily="34" charset="0"/>
                <a:ea typeface="Courier New" pitchFamily="34" charset="-122"/>
                <a:cs typeface="Courier New" pitchFamily="34" charset="-120"/>
              </a:rPr>
              <a:t>info</a:t>
            </a:r>
            <a:endParaRPr lang="en-US" sz="1100" dirty="0"/>
          </a:p>
        </p:txBody>
      </p:sp>
      <p:sp>
        <p:nvSpPr>
          <p:cNvPr id="20" name="Text 17"/>
          <p:cNvSpPr txBox="1"/>
          <p:nvPr/>
        </p:nvSpPr>
        <p:spPr>
          <a:xfrm>
            <a:off x="2651760" y="292608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net-monitor    fw-edge-01     Carrier maintenance window opened</a:t>
            </a:r>
            <a:endParaRPr lang="en-US" sz="1100" dirty="0"/>
          </a:p>
        </p:txBody>
      </p:sp>
      <p:sp>
        <p:nvSpPr>
          <p:cNvPr id="21" name="Text 18"/>
          <p:cNvSpPr txBox="1"/>
          <p:nvPr/>
        </p:nvSpPr>
        <p:spPr>
          <a:xfrm>
            <a:off x="594360" y="3840480"/>
            <a:ext cx="11002975"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question you want them holding while they read it.</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flow, left to right</a:t>
            </a:r>
            <a:endParaRPr lang="en-US" sz="3600" dirty="0"/>
          </a:p>
        </p:txBody>
      </p:sp>
      <p:sp>
        <p:nvSpPr>
          <p:cNvPr id="5" name="Shape 2"/>
          <p:cNvSpPr/>
          <p:nvPr/>
        </p:nvSpPr>
        <p:spPr>
          <a:xfrm>
            <a:off x="594360" y="2148840"/>
            <a:ext cx="1965960" cy="1965960"/>
          </a:xfrm>
          <a:prstGeom prst="roundRect">
            <a:avLst>
              <a:gd name="adj" fmla="val 2791"/>
            </a:avLst>
          </a:prstGeom>
          <a:solidFill>
            <a:srgbClr val="19242F"/>
          </a:solidFill>
          <a:ln/>
        </p:spPr>
      </p:sp>
      <p:sp>
        <p:nvSpPr>
          <p:cNvPr id="6" name="Shape 3"/>
          <p:cNvSpPr/>
          <p:nvPr/>
        </p:nvSpPr>
        <p:spPr>
          <a:xfrm>
            <a:off x="1476756" y="1938528"/>
            <a:ext cx="201168" cy="201168"/>
          </a:xfrm>
          <a:prstGeom prst="ellipse">
            <a:avLst/>
          </a:prstGeom>
          <a:solidFill>
            <a:srgbClr val="5B9BD5"/>
          </a:solidFill>
          <a:ln/>
        </p:spPr>
      </p:sp>
      <p:sp>
        <p:nvSpPr>
          <p:cNvPr id="7" name="Text 4"/>
          <p:cNvSpPr txBox="1"/>
          <p:nvPr/>
        </p:nvSpPr>
        <p:spPr>
          <a:xfrm>
            <a:off x="594360"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one</a:t>
            </a:r>
            <a:endParaRPr lang="en-US" sz="1800" dirty="0"/>
          </a:p>
        </p:txBody>
      </p:sp>
      <p:sp>
        <p:nvSpPr>
          <p:cNvPr id="8" name="Text 5"/>
          <p:cNvSpPr txBox="1"/>
          <p:nvPr/>
        </p:nvSpPr>
        <p:spPr>
          <a:xfrm>
            <a:off x="731520"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9" name="Text 6"/>
          <p:cNvSpPr txBox="1"/>
          <p:nvPr/>
        </p:nvSpPr>
        <p:spPr>
          <a:xfrm>
            <a:off x="2560320"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10" name="Shape 7"/>
          <p:cNvSpPr/>
          <p:nvPr/>
        </p:nvSpPr>
        <p:spPr>
          <a:xfrm>
            <a:off x="2852928" y="2148840"/>
            <a:ext cx="1965960" cy="1965960"/>
          </a:xfrm>
          <a:prstGeom prst="roundRect">
            <a:avLst>
              <a:gd name="adj" fmla="val 2791"/>
            </a:avLst>
          </a:prstGeom>
          <a:solidFill>
            <a:srgbClr val="19242F"/>
          </a:solidFill>
          <a:ln/>
        </p:spPr>
      </p:sp>
      <p:sp>
        <p:nvSpPr>
          <p:cNvPr id="11" name="Shape 8"/>
          <p:cNvSpPr/>
          <p:nvPr/>
        </p:nvSpPr>
        <p:spPr>
          <a:xfrm>
            <a:off x="3735324" y="1938528"/>
            <a:ext cx="201168" cy="201168"/>
          </a:xfrm>
          <a:prstGeom prst="ellipse">
            <a:avLst/>
          </a:prstGeom>
          <a:solidFill>
            <a:srgbClr val="8FA3B8"/>
          </a:solidFill>
          <a:ln/>
        </p:spPr>
      </p:sp>
      <p:sp>
        <p:nvSpPr>
          <p:cNvPr id="12" name="Text 9"/>
          <p:cNvSpPr txBox="1"/>
          <p:nvPr/>
        </p:nvSpPr>
        <p:spPr>
          <a:xfrm>
            <a:off x="2852928"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two</a:t>
            </a:r>
            <a:endParaRPr lang="en-US" sz="1800" dirty="0"/>
          </a:p>
        </p:txBody>
      </p:sp>
      <p:sp>
        <p:nvSpPr>
          <p:cNvPr id="13" name="Text 10"/>
          <p:cNvSpPr txBox="1"/>
          <p:nvPr/>
        </p:nvSpPr>
        <p:spPr>
          <a:xfrm>
            <a:off x="2990088"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14" name="Text 11"/>
          <p:cNvSpPr txBox="1"/>
          <p:nvPr/>
        </p:nvSpPr>
        <p:spPr>
          <a:xfrm>
            <a:off x="4818888"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5111496" y="2148840"/>
            <a:ext cx="1965960" cy="1965960"/>
          </a:xfrm>
          <a:prstGeom prst="roundRect">
            <a:avLst>
              <a:gd name="adj" fmla="val 2791"/>
            </a:avLst>
          </a:prstGeom>
          <a:solidFill>
            <a:srgbClr val="19242F"/>
          </a:solidFill>
          <a:ln/>
        </p:spPr>
      </p:sp>
      <p:sp>
        <p:nvSpPr>
          <p:cNvPr id="16" name="Shape 13"/>
          <p:cNvSpPr/>
          <p:nvPr/>
        </p:nvSpPr>
        <p:spPr>
          <a:xfrm>
            <a:off x="5993892" y="1938528"/>
            <a:ext cx="201168" cy="201168"/>
          </a:xfrm>
          <a:prstGeom prst="ellipse">
            <a:avLst/>
          </a:prstGeom>
          <a:solidFill>
            <a:srgbClr val="E8A33D"/>
          </a:solidFill>
          <a:ln/>
        </p:spPr>
      </p:sp>
      <p:sp>
        <p:nvSpPr>
          <p:cNvPr id="17" name="Text 14"/>
          <p:cNvSpPr txBox="1"/>
          <p:nvPr/>
        </p:nvSpPr>
        <p:spPr>
          <a:xfrm>
            <a:off x="5111496"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three</a:t>
            </a:r>
            <a:endParaRPr lang="en-US" sz="1800" dirty="0"/>
          </a:p>
        </p:txBody>
      </p:sp>
      <p:sp>
        <p:nvSpPr>
          <p:cNvPr id="18" name="Text 15"/>
          <p:cNvSpPr txBox="1"/>
          <p:nvPr/>
        </p:nvSpPr>
        <p:spPr>
          <a:xfrm>
            <a:off x="5248656"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19" name="Text 16"/>
          <p:cNvSpPr txBox="1"/>
          <p:nvPr/>
        </p:nvSpPr>
        <p:spPr>
          <a:xfrm>
            <a:off x="7077456"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20" name="Shape 17"/>
          <p:cNvSpPr/>
          <p:nvPr/>
        </p:nvSpPr>
        <p:spPr>
          <a:xfrm>
            <a:off x="7370064" y="2148840"/>
            <a:ext cx="1965960" cy="1965960"/>
          </a:xfrm>
          <a:prstGeom prst="roundRect">
            <a:avLst>
              <a:gd name="adj" fmla="val 2791"/>
            </a:avLst>
          </a:prstGeom>
          <a:solidFill>
            <a:srgbClr val="19242F"/>
          </a:solidFill>
          <a:ln/>
        </p:spPr>
      </p:sp>
      <p:sp>
        <p:nvSpPr>
          <p:cNvPr id="21" name="Shape 18"/>
          <p:cNvSpPr/>
          <p:nvPr/>
        </p:nvSpPr>
        <p:spPr>
          <a:xfrm>
            <a:off x="8252460" y="1938528"/>
            <a:ext cx="201168" cy="201168"/>
          </a:xfrm>
          <a:prstGeom prst="ellipse">
            <a:avLst/>
          </a:prstGeom>
          <a:solidFill>
            <a:srgbClr val="8FA3B8"/>
          </a:solidFill>
          <a:ln/>
        </p:spPr>
      </p:sp>
      <p:sp>
        <p:nvSpPr>
          <p:cNvPr id="22" name="Text 19"/>
          <p:cNvSpPr txBox="1"/>
          <p:nvPr/>
        </p:nvSpPr>
        <p:spPr>
          <a:xfrm>
            <a:off x="7370064"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four</a:t>
            </a:r>
            <a:endParaRPr lang="en-US" sz="1800" dirty="0"/>
          </a:p>
        </p:txBody>
      </p:sp>
      <p:sp>
        <p:nvSpPr>
          <p:cNvPr id="23" name="Text 20"/>
          <p:cNvSpPr txBox="1"/>
          <p:nvPr/>
        </p:nvSpPr>
        <p:spPr>
          <a:xfrm>
            <a:off x="7507224"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24" name="Text 21"/>
          <p:cNvSpPr txBox="1"/>
          <p:nvPr/>
        </p:nvSpPr>
        <p:spPr>
          <a:xfrm>
            <a:off x="9336024"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25" name="Shape 22"/>
          <p:cNvSpPr/>
          <p:nvPr/>
        </p:nvSpPr>
        <p:spPr>
          <a:xfrm>
            <a:off x="9628632" y="2148840"/>
            <a:ext cx="1965960" cy="1965960"/>
          </a:xfrm>
          <a:prstGeom prst="roundRect">
            <a:avLst>
              <a:gd name="adj" fmla="val 2791"/>
            </a:avLst>
          </a:prstGeom>
          <a:solidFill>
            <a:srgbClr val="19242F"/>
          </a:solidFill>
          <a:ln/>
        </p:spPr>
      </p:sp>
      <p:sp>
        <p:nvSpPr>
          <p:cNvPr id="26" name="Shape 23"/>
          <p:cNvSpPr/>
          <p:nvPr/>
        </p:nvSpPr>
        <p:spPr>
          <a:xfrm>
            <a:off x="10511028" y="1938528"/>
            <a:ext cx="201168" cy="201168"/>
          </a:xfrm>
          <a:prstGeom prst="ellipse">
            <a:avLst/>
          </a:prstGeom>
          <a:solidFill>
            <a:srgbClr val="E0443E"/>
          </a:solidFill>
          <a:ln/>
        </p:spPr>
      </p:sp>
      <p:sp>
        <p:nvSpPr>
          <p:cNvPr id="27" name="Text 24"/>
          <p:cNvSpPr txBox="1"/>
          <p:nvPr/>
        </p:nvSpPr>
        <p:spPr>
          <a:xfrm>
            <a:off x="9628632"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five</a:t>
            </a:r>
            <a:endParaRPr lang="en-US" sz="1800" dirty="0"/>
          </a:p>
        </p:txBody>
      </p:sp>
      <p:sp>
        <p:nvSpPr>
          <p:cNvPr id="28" name="Text 25"/>
          <p:cNvSpPr txBox="1"/>
          <p:nvPr/>
        </p:nvSpPr>
        <p:spPr>
          <a:xfrm>
            <a:off x="9765792"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29" name="Shape 26"/>
          <p:cNvSpPr/>
          <p:nvPr/>
        </p:nvSpPr>
        <p:spPr>
          <a:xfrm>
            <a:off x="594360" y="4526280"/>
            <a:ext cx="11002975" cy="1234440"/>
          </a:xfrm>
          <a:prstGeom prst="roundRect">
            <a:avLst>
              <a:gd name="adj" fmla="val 4444"/>
            </a:avLst>
          </a:prstGeom>
          <a:solidFill>
            <a:srgbClr val="223140"/>
          </a:solidFill>
          <a:ln/>
        </p:spPr>
      </p:sp>
      <p:sp>
        <p:nvSpPr>
          <p:cNvPr id="30" name="Text 27"/>
          <p:cNvSpPr txBox="1"/>
          <p:nvPr/>
        </p:nvSpPr>
        <p:spPr>
          <a:xfrm>
            <a:off x="868680" y="4727448"/>
            <a:ext cx="10454335" cy="8686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thing about the diagram that is not obvious from the diagram. </a:t>
            </a:r>
            <a:pPr indent="0" marL="0">
              <a:buNone/>
            </a:pPr>
            <a:r>
              <a:rPr lang="en-US" sz="1500" dirty="0">
                <a:solidFill>
                  <a:srgbClr val="8FA3B8"/>
                </a:solidFill>
                <a:latin typeface="Calibri" pitchFamily="34" charset="0"/>
                <a:ea typeface="Calibri" pitchFamily="34" charset="-122"/>
                <a:cs typeface="Calibri" pitchFamily="34" charset="-120"/>
              </a:rPr>
              <a:t>Usually a design decision and why it was made that way.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621"/>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sp>
      <p:sp>
        <p:nvSpPr>
          <p:cNvPr id="4" name="Text 1"/>
          <p:cNvSpPr txBox="1"/>
          <p:nvPr/>
        </p:nvSpPr>
        <p:spPr>
          <a:xfrm>
            <a:off x="594360" y="2057400"/>
            <a:ext cx="5486400" cy="411480"/>
          </a:xfrm>
          <a:prstGeom prst="rect">
            <a:avLst/>
          </a:prstGeom>
          <a:noFill/>
          <a:ln/>
        </p:spPr>
        <p:txBody>
          <a:bodyPr wrap="square" lIns="0" tIns="0" rIns="0" bIns="0" rtlCol="0" anchor="ctr"/>
          <a:lstStyle/>
          <a:p>
            <a:pPr indent="0" marL="0">
              <a:buNone/>
            </a:pPr>
            <a:r>
              <a:rPr lang="en-US" sz="1600" b="1" spc="500" kern="0" dirty="0">
                <a:solidFill>
                  <a:srgbClr val="E8A33D"/>
                </a:solidFill>
                <a:latin typeface="Calibri" pitchFamily="34" charset="0"/>
                <a:ea typeface="Calibri" pitchFamily="34" charset="-122"/>
                <a:cs typeface="Calibri" pitchFamily="34" charset="-120"/>
              </a:rPr>
              <a:t>DEMO N</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What you are about to run</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command, verbatim, so you can read it off the screen</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What the room should watch for</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number that should change</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bit that always surprises people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Shape 1"/>
          <p:cNvSpPr/>
          <p:nvPr/>
        </p:nvSpPr>
        <p:spPr>
          <a:xfrm>
            <a:off x="2895448" y="1051560"/>
            <a:ext cx="6400800" cy="3602736"/>
          </a:xfrm>
          <a:prstGeom prst="roundRect">
            <a:avLst>
              <a:gd name="adj" fmla="val 1523"/>
            </a:avLst>
          </a:prstGeom>
          <a:solidFill>
            <a:srgbClr val="19242F"/>
          </a:solidFill>
          <a:ln/>
        </p:spPr>
      </p:sp>
      <p:sp>
        <p:nvSpPr>
          <p:cNvPr id="5" name="Text 2"/>
          <p:cNvSpPr txBox="1"/>
          <p:nvPr/>
        </p:nvSpPr>
        <p:spPr>
          <a:xfrm>
            <a:off x="2895448" y="2286000"/>
            <a:ext cx="6400800" cy="411480"/>
          </a:xfrm>
          <a:prstGeom prst="rect">
            <a:avLst/>
          </a:prstGeom>
          <a:noFill/>
          <a:ln/>
        </p:spPr>
        <p:txBody>
          <a:bodyPr wrap="square" lIns="0" tIns="0" rIns="0" bIns="0" rtlCol="0" anchor="ctr"/>
          <a:lstStyle/>
          <a:p>
            <a:pPr algn="ctr" indent="0" marL="0">
              <a:buNone/>
            </a:pPr>
            <a:r>
              <a:rPr lang="en-US" sz="2000" b="1" spc="300" kern="0" dirty="0">
                <a:solidFill>
                  <a:srgbClr val="E8A33D"/>
                </a:solidFill>
                <a:latin typeface="Calibri" pitchFamily="34" charset="0"/>
                <a:ea typeface="Calibri" pitchFamily="34" charset="-122"/>
                <a:cs typeface="Calibri" pitchFamily="34" charset="-120"/>
              </a:rPr>
              <a:t>DROP IMAGE HERE</a:t>
            </a:r>
            <a:endParaRPr lang="en-US" sz="2000" dirty="0"/>
          </a:p>
        </p:txBody>
      </p:sp>
      <p:sp>
        <p:nvSpPr>
          <p:cNvPr id="6" name="Text 3"/>
          <p:cNvSpPr txBox="1"/>
          <p:nvPr/>
        </p:nvSpPr>
        <p:spPr>
          <a:xfrm>
            <a:off x="3444088" y="2788920"/>
            <a:ext cx="5303520" cy="548640"/>
          </a:xfrm>
          <a:prstGeom prst="rect">
            <a:avLst/>
          </a:prstGeom>
          <a:noFill/>
          <a:ln/>
        </p:spPr>
        <p:txBody>
          <a:bodyPr wrap="square" lIns="0" tIns="0" rIns="0" bIns="0" rtlCol="0" anchor="t"/>
          <a:lstStyle/>
          <a:p>
            <a:pPr algn="ctr" indent="0" marL="0">
              <a:buNone/>
            </a:pPr>
            <a:r>
              <a:rPr lang="en-US" sz="1500" dirty="0">
                <a:solidFill>
                  <a:srgbClr val="8FA3B8"/>
                </a:solidFill>
                <a:latin typeface="Calibri" pitchFamily="34" charset="0"/>
                <a:ea typeface="Calibri" pitchFamily="34" charset="-122"/>
                <a:cs typeface="Calibri" pitchFamily="34" charset="-120"/>
              </a:rPr>
              <a:t>What image belongs here, described well enough that you can go find it.</a:t>
            </a:r>
            <a:endParaRPr lang="en-US" sz="1500" dirty="0"/>
          </a:p>
        </p:txBody>
      </p:sp>
      <p:sp>
        <p:nvSpPr>
          <p:cNvPr id="7" name="Text 4"/>
          <p:cNvSpPr txBox="1"/>
          <p:nvPr/>
        </p:nvSpPr>
        <p:spPr>
          <a:xfrm>
            <a:off x="2895448" y="3566160"/>
            <a:ext cx="6400800" cy="320040"/>
          </a:xfrm>
          <a:prstGeom prst="rect">
            <a:avLst/>
          </a:prstGeom>
          <a:noFill/>
          <a:ln/>
        </p:spPr>
        <p:txBody>
          <a:bodyPr wrap="square" lIns="0" tIns="0" rIns="0" bIns="0" rtlCol="0" anchor="ctr"/>
          <a:lstStyle/>
          <a:p>
            <a:pPr algn="ctr" indent="0" marL="0">
              <a:buNone/>
            </a:pPr>
            <a:r>
              <a:rPr lang="en-US" sz="1200" i="1" dirty="0">
                <a:solidFill>
                  <a:srgbClr val="7C90A6"/>
                </a:solidFill>
                <a:latin typeface="Calibri" pitchFamily="34" charset="0"/>
                <a:ea typeface="Calibri" pitchFamily="34" charset="-122"/>
                <a:cs typeface="Calibri" pitchFamily="34" charset="-120"/>
              </a:rPr>
              <a:t>about 1000 px wide  ·  under 3 MB  ·  cover this box, then delete it</a:t>
            </a:r>
            <a:endParaRPr lang="en-US" sz="1200" dirty="0"/>
          </a:p>
        </p:txBody>
      </p:sp>
      <p:sp>
        <p:nvSpPr>
          <p:cNvPr id="8" name="Text 5"/>
          <p:cNvSpPr txBox="1"/>
          <p:nvPr/>
        </p:nvSpPr>
        <p:spPr>
          <a:xfrm>
            <a:off x="594360" y="4956048"/>
            <a:ext cx="11002975" cy="868680"/>
          </a:xfrm>
          <a:prstGeom prst="rect">
            <a:avLst/>
          </a:prstGeom>
          <a:noFill/>
          <a:ln/>
        </p:spPr>
        <p:txBody>
          <a:bodyPr wrap="square" lIns="0" tIns="0" rIns="0" bIns="0" rtlCol="0" anchor="t"/>
          <a:lstStyle/>
          <a:p>
            <a:pPr algn="ctr" indent="0" marL="0">
              <a:buNone/>
            </a:pPr>
            <a:r>
              <a:rPr lang="en-US" sz="2700" b="1" dirty="0">
                <a:solidFill>
                  <a:srgbClr val="FFFFFF"/>
                </a:solidFill>
                <a:latin typeface="Calibri" pitchFamily="34" charset="0"/>
                <a:ea typeface="Calibri" pitchFamily="34" charset="-122"/>
                <a:cs typeface="Calibri" pitchFamily="34" charset="-120"/>
              </a:rPr>
              <a:t>The caption is the joke, or the point.</a:t>
            </a:r>
            <a:endParaRPr lang="en-US" sz="2700" dirty="0"/>
          </a:p>
        </p:txBody>
      </p:sp>
      <p:sp>
        <p:nvSpPr>
          <p:cNvPr id="9" name="Text 6"/>
          <p:cNvSpPr txBox="1"/>
          <p:nvPr/>
        </p:nvSpPr>
        <p:spPr>
          <a:xfrm>
            <a:off x="594360" y="5806440"/>
            <a:ext cx="11002975" cy="365760"/>
          </a:xfrm>
          <a:prstGeom prst="rect">
            <a:avLst/>
          </a:prstGeom>
          <a:noFill/>
          <a:ln/>
        </p:spPr>
        <p:txBody>
          <a:bodyPr wrap="square" lIns="0" tIns="0" rIns="0" bIns="0" rtlCol="0" anchor="ctr"/>
          <a:lstStyle/>
          <a:p>
            <a:pPr algn="ctr" indent="0" marL="0">
              <a:buNone/>
            </a:pPr>
            <a:r>
              <a:rPr lang="en-US" sz="1500" i="1" dirty="0">
                <a:solidFill>
                  <a:srgbClr val="8FA3B8"/>
                </a:solidFill>
                <a:latin typeface="Calibri" pitchFamily="34" charset="0"/>
                <a:ea typeface="Calibri" pitchFamily="34" charset="-122"/>
                <a:cs typeface="Calibri" pitchFamily="34" charset="-120"/>
              </a:rPr>
              <a:t>And an optional line underneath it.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1234440"/>
            <a:ext cx="10058400" cy="365760"/>
          </a:xfrm>
          <a:prstGeom prst="rect">
            <a:avLst/>
          </a:prstGeom>
          <a:noFill/>
          <a:ln/>
        </p:spPr>
        <p:txBody>
          <a:bodyPr wrap="square" lIns="0" tIns="0" rIns="0" bIns="0" rtlCol="0" anchor="ctr"/>
          <a:lstStyle/>
          <a:p>
            <a:pPr indent="0" marL="0">
              <a:buNone/>
            </a:pPr>
            <a:r>
              <a:rPr lang="en-US" sz="1500" b="1" spc="400" kern="0" dirty="0">
                <a:solidFill>
                  <a:srgbClr val="E8A33D"/>
                </a:solidFill>
                <a:latin typeface="Calibri" pitchFamily="34" charset="0"/>
                <a:ea typeface="Calibri" pitchFamily="34" charset="-122"/>
                <a:cs typeface="Calibri" pitchFamily="34" charset="-120"/>
              </a:rPr>
              <a:t>SMARTER MONITORING</a:t>
            </a:r>
            <a:endParaRPr lang="en-US" sz="1500" dirty="0"/>
          </a:p>
        </p:txBody>
      </p:sp>
      <p:sp>
        <p:nvSpPr>
          <p:cNvPr id="4" name="Text 1"/>
          <p:cNvSpPr txBox="1"/>
          <p:nvPr/>
        </p:nvSpPr>
        <p:spPr>
          <a:xfrm>
            <a:off x="594360" y="1645920"/>
            <a:ext cx="10515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2"/>
          <p:cNvSpPr txBox="1"/>
          <p:nvPr/>
        </p:nvSpPr>
        <p:spPr>
          <a:xfrm>
            <a:off x="594360" y="2743200"/>
            <a:ext cx="9144000" cy="365760"/>
          </a:xfrm>
          <a:prstGeom prst="rect">
            <a:avLst/>
          </a:prstGeom>
          <a:noFill/>
          <a:ln/>
        </p:spPr>
        <p:txBody>
          <a:bodyPr wrap="square" lIns="0" tIns="0" rIns="0" bIns="0" rtlCol="0" anchor="ctr"/>
          <a:lstStyle/>
          <a:p>
            <a:pPr indent="0" marL="0">
              <a:buNone/>
            </a:pPr>
            <a:r>
              <a:rPr lang="en-US" sz="1700" dirty="0">
                <a:solidFill>
                  <a:srgbClr val="8FA3B8"/>
                </a:solidFill>
                <a:latin typeface="Calibri" pitchFamily="34" charset="0"/>
                <a:ea typeface="Calibri" pitchFamily="34" charset="-122"/>
                <a:cs typeface="Calibri" pitchFamily="34" charset="-120"/>
              </a:rPr>
              <a:t>Donnie Taylor   ·   The Cloud &amp; AI Summit 2026</a:t>
            </a:r>
            <a:endParaRPr lang="en-US" sz="1700" dirty="0"/>
          </a:p>
        </p:txBody>
      </p:sp>
      <p:sp>
        <p:nvSpPr>
          <p:cNvPr id="6" name="Shape 3"/>
          <p:cNvSpPr/>
          <p:nvPr/>
        </p:nvSpPr>
        <p:spPr>
          <a:xfrm>
            <a:off x="594360" y="3383280"/>
            <a:ext cx="11002975" cy="2414016"/>
          </a:xfrm>
          <a:prstGeom prst="roundRect">
            <a:avLst>
              <a:gd name="adj" fmla="val 2273"/>
            </a:avLst>
          </a:prstGeom>
          <a:solidFill>
            <a:srgbClr val="19242F"/>
          </a:solidFill>
          <a:ln/>
        </p:spPr>
      </p:sp>
      <p:sp>
        <p:nvSpPr>
          <p:cNvPr id="7" name="Shape 4"/>
          <p:cNvSpPr/>
          <p:nvPr/>
        </p:nvSpPr>
        <p:spPr>
          <a:xfrm>
            <a:off x="914400" y="3721608"/>
            <a:ext cx="219456" cy="219456"/>
          </a:xfrm>
          <a:prstGeom prst="ellipse">
            <a:avLst/>
          </a:prstGeom>
          <a:solidFill>
            <a:srgbClr val="46B98A"/>
          </a:solidFill>
          <a:ln/>
        </p:spPr>
      </p:sp>
      <p:sp>
        <p:nvSpPr>
          <p:cNvPr id="8" name="Text 5"/>
          <p:cNvSpPr txBox="1"/>
          <p:nvPr/>
        </p:nvSpPr>
        <p:spPr>
          <a:xfrm>
            <a:off x="1371600" y="3611880"/>
            <a:ext cx="4480560" cy="438912"/>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github.com/donnietaylor</a:t>
            </a:r>
            <a:endParaRPr lang="en-US" sz="2000" dirty="0"/>
          </a:p>
        </p:txBody>
      </p:sp>
      <p:sp>
        <p:nvSpPr>
          <p:cNvPr id="9" name="Text 6"/>
          <p:cNvSpPr txBox="1"/>
          <p:nvPr/>
        </p:nvSpPr>
        <p:spPr>
          <a:xfrm>
            <a:off x="5943600" y="3611880"/>
            <a:ext cx="5394960" cy="438912"/>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code from today - Deploy-Azure.ps1 builds it in your tenant</a:t>
            </a:r>
            <a:endParaRPr lang="en-US" sz="1400" dirty="0"/>
          </a:p>
        </p:txBody>
      </p:sp>
      <p:sp>
        <p:nvSpPr>
          <p:cNvPr id="10" name="Shape 7"/>
          <p:cNvSpPr/>
          <p:nvPr/>
        </p:nvSpPr>
        <p:spPr>
          <a:xfrm>
            <a:off x="914400" y="4434840"/>
            <a:ext cx="219456" cy="219456"/>
          </a:xfrm>
          <a:prstGeom prst="ellipse">
            <a:avLst/>
          </a:prstGeom>
          <a:solidFill>
            <a:srgbClr val="5B9BD5"/>
          </a:solidFill>
          <a:ln/>
        </p:spPr>
      </p:sp>
      <p:sp>
        <p:nvSpPr>
          <p:cNvPr id="11" name="Text 8"/>
          <p:cNvSpPr txBox="1"/>
          <p:nvPr/>
        </p:nvSpPr>
        <p:spPr>
          <a:xfrm>
            <a:off x="1371600" y="4325112"/>
            <a:ext cx="4480560" cy="438912"/>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draith.com</a:t>
            </a:r>
            <a:endParaRPr lang="en-US" sz="2000" dirty="0"/>
          </a:p>
        </p:txBody>
      </p:sp>
      <p:sp>
        <p:nvSpPr>
          <p:cNvPr id="12" name="Text 9"/>
          <p:cNvSpPr txBox="1"/>
          <p:nvPr/>
        </p:nvSpPr>
        <p:spPr>
          <a:xfrm>
            <a:off x="5943600" y="4325112"/>
            <a:ext cx="5394960" cy="438912"/>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Blog and write-ups</a:t>
            </a:r>
            <a:endParaRPr lang="en-US" sz="1400" dirty="0"/>
          </a:p>
        </p:txBody>
      </p:sp>
      <p:sp>
        <p:nvSpPr>
          <p:cNvPr id="13" name="Shape 10"/>
          <p:cNvSpPr/>
          <p:nvPr/>
        </p:nvSpPr>
        <p:spPr>
          <a:xfrm>
            <a:off x="914400" y="5148072"/>
            <a:ext cx="219456" cy="219456"/>
          </a:xfrm>
          <a:prstGeom prst="ellipse">
            <a:avLst/>
          </a:prstGeom>
          <a:solidFill>
            <a:srgbClr val="E8A33D"/>
          </a:solidFill>
          <a:ln/>
        </p:spPr>
      </p:sp>
      <p:sp>
        <p:nvSpPr>
          <p:cNvPr id="14" name="Text 11"/>
          <p:cNvSpPr txBox="1"/>
          <p:nvPr/>
        </p:nvSpPr>
        <p:spPr>
          <a:xfrm>
            <a:off x="1371600" y="5038344"/>
            <a:ext cx="4480560" cy="438912"/>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donnietaylor.bsky.social</a:t>
            </a:r>
            <a:endParaRPr lang="en-US" sz="2000" dirty="0"/>
          </a:p>
        </p:txBody>
      </p:sp>
      <p:sp>
        <p:nvSpPr>
          <p:cNvPr id="15" name="Text 12"/>
          <p:cNvSpPr txBox="1"/>
          <p:nvPr/>
        </p:nvSpPr>
        <p:spPr>
          <a:xfrm>
            <a:off x="5943600" y="5038344"/>
            <a:ext cx="5394960" cy="438912"/>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Also on LinkedIn: linkedin.com/in/donnietaylor</a:t>
            </a:r>
            <a:endParaRPr lang="en-US" sz="1400" dirty="0"/>
          </a:p>
        </p:txBody>
      </p:sp>
      <p:sp>
        <p:nvSpPr>
          <p:cNvPr id="16" name="Text 13"/>
          <p:cNvSpPr txBox="1"/>
          <p:nvPr/>
        </p:nvSpPr>
        <p:spPr>
          <a:xfrm>
            <a:off x="594360" y="5852160"/>
            <a:ext cx="8229600" cy="365760"/>
          </a:xfrm>
          <a:prstGeom prst="rect">
            <a:avLst/>
          </a:prstGeom>
          <a:noFill/>
          <a:ln/>
        </p:spPr>
        <p:txBody>
          <a:bodyPr wrap="square" lIns="0" tIns="0" rIns="0" bIns="0" rtlCol="0" anchor="ctr"/>
          <a:lstStyle/>
          <a:p>
            <a:pPr indent="0" marL="0">
              <a:buNone/>
            </a:pPr>
            <a:r>
              <a:rPr lang="en-US" sz="1600" i="1" dirty="0">
                <a:solidFill>
                  <a:srgbClr val="7C90A6"/>
                </a:solidFill>
                <a:latin typeface="Calibri" pitchFamily="34" charset="0"/>
                <a:ea typeface="Calibri" pitchFamily="34" charset="-122"/>
                <a:cs typeface="Calibri" pitchFamily="34" charset="-120"/>
              </a:rPr>
              <a:t>Questions - now, or find me afterwards.</a:t>
            </a:r>
            <a:endParaRPr lang="en-US" sz="1600" dirty="0"/>
          </a:p>
        </p:txBody>
      </p:sp>
      <p:sp>
        <p:nvSpPr>
          <p:cNvPr id="17" name="Shape 14"/>
          <p:cNvSpPr/>
          <p:nvPr/>
        </p:nvSpPr>
        <p:spPr>
          <a:xfrm>
            <a:off x="10643616" y="5934456"/>
            <a:ext cx="201168" cy="201168"/>
          </a:xfrm>
          <a:prstGeom prst="ellipse">
            <a:avLst/>
          </a:prstGeom>
          <a:solidFill>
            <a:srgbClr val="E0443E"/>
          </a:solidFill>
          <a:ln/>
        </p:spPr>
      </p:sp>
      <p:sp>
        <p:nvSpPr>
          <p:cNvPr id="18" name="Shape 15"/>
          <p:cNvSpPr/>
          <p:nvPr/>
        </p:nvSpPr>
        <p:spPr>
          <a:xfrm>
            <a:off x="11027664" y="5934456"/>
            <a:ext cx="201168" cy="201168"/>
          </a:xfrm>
          <a:prstGeom prst="ellipse">
            <a:avLst/>
          </a:prstGeom>
          <a:solidFill>
            <a:srgbClr val="E8A33D"/>
          </a:solidFill>
          <a:ln/>
        </p:spPr>
      </p:sp>
      <p:sp>
        <p:nvSpPr>
          <p:cNvPr id="19" name="Shape 16"/>
          <p:cNvSpPr/>
          <p:nvPr/>
        </p:nvSpPr>
        <p:spPr>
          <a:xfrm>
            <a:off x="11411712" y="5934456"/>
            <a:ext cx="201168" cy="201168"/>
          </a:xfrm>
          <a:prstGeom prst="ellipse">
            <a:avLst/>
          </a:prstGeom>
          <a:solidFill>
            <a:srgbClr val="46B98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Smarter Monitoring - staging</dc:title>
  <dc:subject>PptxGenJS Presentation</dc:subject>
  <dc:creator>Donnie Taylor</dc:creator>
  <cp:lastModifiedBy>Donnie Taylor</cp:lastModifiedBy>
  <cp:revision>1</cp:revision>
  <dcterms:created xsi:type="dcterms:W3CDTF">2026-09-27T18:30:42Z</dcterms:created>
  <dcterms:modified xsi:type="dcterms:W3CDTF">2026-09-27T18:30:42Z</dcterms:modified>
</cp:coreProperties>
</file>